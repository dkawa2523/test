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 species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Si3N4</c:v>
                </c:pt>
                <c:pt idx="1">
                  <c:v>Diamond</c:v>
                </c:pt>
                <c:pt idx="2">
                  <c:v>Hydrocarbon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53</c:v>
                </c:pt>
                <c:pt idx="2">
                  <c:v>1268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FF-4649-868C-5C6C5DB5C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Integration time (s)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Direct solver</c:v>
                </c:pt>
                <c:pt idx="1">
                  <c:v>Preconditioned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21.1845</c:v>
                </c:pt>
                <c:pt idx="1">
                  <c:v>2.2235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2-B040-9B64-5FD1874794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pyMARS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</c:v>
                </c:pt>
                <c:pt idx="1">
                  <c:v>0.05</c:v>
                </c:pt>
                <c:pt idx="2">
                  <c:v>0.08</c:v>
                </c:pt>
                <c:pt idx="3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C9-F147-AE71-AAD1D7F4FB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 (merge)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</c:v>
                </c:pt>
                <c:pt idx="1">
                  <c:v>0.03</c:v>
                </c:pt>
                <c:pt idx="2">
                  <c:v>0.05</c:v>
                </c:pt>
                <c:pt idx="3">
                  <c:v>4.4999999999999998E-2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C9-F147-AE71-AAD1D7F4F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81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本スライドはコード全体像（データ生成→ネットワーク→縮退・評価）を俯瞰。
[Sources]
- https://www.cantera.org/3.1/examples/python/reactors/1D_pfr_surfchem.html (Si3N4 CVD例)
- https://niemeyer-research-group.github.io/pyMARS/usage.html (pyMARS概要)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(pyMARSの入力と縮退手法)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https://cantera.org/3.0/sphinx/html/matlab/importing.html (GRI30: 53 species / 325 reactions)
- https://www.cantera.org/3.2/examples/python/reactors/preconditioned_integration.html (n-hexane: 1268 species)
- https://www.cantera.org/3.1/examples/python/reactors/1D_pfr_surfchem.html (Si3N4 deposition example)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データ契約を固定し、縮退アルゴリズムを差し替えても評価器が変わらない構造にする。
[Sources]
- https://www.cantera.org/3.1/examples/python/reactors/1D_pfr_surfchem.html (gas+surface+bulkの出力例)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https://www.cantera.org/3.2/examples/python/reactors/preconditioned_integration.html (1268種機構の前処理あり/なし時間例)
- https://testing.cantera.org/stable/reference/releasenotes/v3.0.html (Cantera 3.0: 大規模機構の性能強化)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https://www.cantera.org/3.1/examples/python/reactors/1D_pfr_surfchem.html (gas+surface+bulkの構造)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(pyMARSはtarget speciesや誤差上限で削除)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https://www.cantera.org/3.1/examples/python/reactors/1D_pfr_surfchem.html (Si3N4 deposition from SiF4/NH3; gas+surface+bulk)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https://cantera.org/3.1/examples/python/kinetics/diamond_cvd.html (diamond CVD example; surface coverages)
- https://cantera.org/dev/examples/input/diamond.html (diamond.yaml: phases/species)
- https://cantera.org/3.0/sphinx/html/matlab/importing.html (GRI30 size)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https://www.cantera.org/3.2/examples/python/reactors/preconditioned_integration.html (n-hexane mechanism: 1268 species)
- https://github.com/Cantera/cantera-example-data (example_dataにn-hexane-NUIG-2015.yamlが含まれる)
- https://testing.cantera.org/stable/reference/releasenotes/v3.0.html (大規模機構の性能強化)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(targets, retained-species, method, error, sensitivity-analysis)
- https://niemeyer-research-group.github.io/pyMARS/drgep.html (create_drgep_matrix / get_importance_coeffs)
- https://niemeyer-research-group.github.io/pyMARS/sensitivity_analysis.html (SA stage)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https://niemeyer-research-group.github.io/pyMARS/pymars.html (pyMARS supported methods)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(pyMARSは削除中心)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(pyMARSの基本設計：削除・誤差上限)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https://niemeyer-research-group.github.io/pyMARS/drgep.html (pyMARSのグラフベース重要度)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(pyMARSの削除閾値と誤差上限)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(pyMARSは元機構からの削除)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https://www.cantera.org/3.1/examples/python/reactors/1D_pfr_surfchem.html (表面+バルクの例)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https://niemeyer-research-group.github.io/pyMARS/usage.html (pyMARSはerror limitを中心に縮退)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https://www.cantera.org/3.1/examples/python/reactors/1D_pfr_surfchem.html
- https://cantera.org/3.1/examples/python/kinetics/diamond_cvd.html
- https://cantera.org/stable/yaml/ck2yaml.html
- https://niemeyer-research-group.github.io/pyMARS/usage.html
- https://www.cantera.org/3.2/examples/python/reactors/preconditioned_integration.html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3.svg"/><Relationship Id="rId4" Type="http://schemas.openxmlformats.org/officeDocument/2006/relationships/image" Target="../media/image8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9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反応ネットワーク縮退コード（Semiconductor Kinetics Reduction Toolkit）概要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492240" cy="648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目的：半導体製造（CVD/ALD）における巨大反応機構を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「削除＋マージ＋任意状態化」で縮退し、物理妥当性を保ったまま高速化。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比較対象：pyMARS（DRG/DRGEP/PFA/SA）＋ Canteraの編集・自動実行。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26680" y="1920240"/>
            <a:ext cx="1234440" cy="4023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0" y="214884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99832" y="2926080"/>
            <a:ext cx="108813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多条件Cantera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自動実行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89720" y="1920240"/>
            <a:ext cx="1234440" cy="4023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235440" y="214884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Network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62872" y="2926080"/>
            <a:ext cx="108813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ν, r(t), F̄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特徴量化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52760" y="1920240"/>
            <a:ext cx="1234440" cy="4023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698480" y="214884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&amp;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25912" y="2926080"/>
            <a:ext cx="108813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pyMARS比較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Top4手法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39319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424160" y="39319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実装範囲：モジュール構成と責務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1277295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1981139" cy="457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Bench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176168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benchmarks/*/run_*.py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conditions.csv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mechanisms/*.yaml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77251" y="1325880"/>
            <a:ext cx="1981139" cy="4572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7251" y="144475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86979" y="1874520"/>
            <a:ext cx="176168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CaseResult (時系列)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ROP/生成速度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位相分割 (ALD)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2982" y="1325880"/>
            <a:ext cx="1981139" cy="4572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2982" y="144475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32710" y="1874520"/>
            <a:ext cx="176168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ν（化学量論）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A（元素行列）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F̄（フラックス統計）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68713" y="1325880"/>
            <a:ext cx="1981139" cy="457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8713" y="144475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Reduce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78441" y="1874520"/>
            <a:ext cx="176168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pyMARS-like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Top4手法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YAML再生成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14444" y="1325880"/>
            <a:ext cx="1981139" cy="45720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4444" y="1444752"/>
            <a:ext cx="19811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24172" y="1874520"/>
            <a:ext cx="176168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KPI誤差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保存則誤差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Pareto探索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58379" y="374904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04110" y="374904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9841" y="374904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95572" y="3749040"/>
            <a:ext cx="11887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57200" y="6355080"/>
            <a:ext cx="11277295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ポイント：どの縮退アルゴリズムでも「同一データ契約（CaseResult）」と「同一validate」に接続することで、手法追加が評価工数を増やさない。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大規模ベンチマーク3種（縮退ストレステスト）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3152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コードの有用性評価を安定化するため、(A)表面連成 (B)巨大気相 (C)多サイトを満たす3ケースを用意。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74980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69164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86200" y="169164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49240" y="169164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169164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74980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46504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10512" y="1746504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想定プロセス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59352" y="1746504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Gas規模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2392" y="1746504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Surface規模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85432" y="1746504"/>
            <a:ext cx="9966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主KPI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93392"/>
            <a:ext cx="74980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048256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(1) SiF4/NH3 → Si3N4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10512" y="2048256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熱CVD/PFR+表面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59352" y="2048256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中〜大（拡張）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22392" y="2048256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多サイト化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5432" y="2048256"/>
            <a:ext cx="9966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堆積速度・副生成物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95144"/>
            <a:ext cx="74980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350008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(2) Diamond CVD Large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10512" y="2350008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炭素成長/表面律速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59352" y="2350008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GRI30: 53 sp / 325 rxn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2350008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 sp / 60 rxn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85432" y="2350008"/>
            <a:ext cx="9966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成長率・被覆率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596896"/>
            <a:ext cx="74980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651760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(3) Hydrocarbon CVD Large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10512" y="2651760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a-C/CHM (巨大気相)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59352" y="2651760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n-hexane: 1268 sp (例)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22392" y="2651760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≥20 sp / ≥100 rxn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85432" y="2651760"/>
            <a:ext cx="9966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堆積速度・副生成物</a:t>
            </a:r>
            <a:endParaRPr lang="en-US" sz="12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8229600" y="1600200"/>
          <a:ext cx="3657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" name="Shape 31"/>
          <p:cNvSpPr/>
          <p:nvPr/>
        </p:nvSpPr>
        <p:spPr>
          <a:xfrm>
            <a:off x="8229600" y="4069080"/>
            <a:ext cx="3657600" cy="2011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45820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503920" y="4572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縮退手法が「多相・巨大・多条件」で破綻しないかを検証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pyMARS（削除のみ）と「削除＋マージ」を同じ評価器で比較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データ契約：CaseResult（時系列）→ Network tensors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94960" cy="5303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CaseResult (1条件)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4937760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69164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91640"/>
            <a:ext cx="49377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746504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30552" y="1746504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993392"/>
            <a:ext cx="49377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48256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t[k]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30552" y="2048256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 grid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295144"/>
            <a:ext cx="49377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350008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X_i(t)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0552" y="2350008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 mole fraction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596896"/>
            <a:ext cx="49377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651760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θ_m(t)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30552" y="2651760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coverages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898648"/>
            <a:ext cx="49377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53512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rop_j(t)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30552" y="2953512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 rate of progress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200400"/>
            <a:ext cx="49377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255264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ω_i(t)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30552" y="3255264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species source terms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502152"/>
            <a:ext cx="49377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557016"/>
            <a:ext cx="1225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30552" y="3557016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T,P,flows,phase,label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743200"/>
            <a:ext cx="73152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40880" y="1005840"/>
            <a:ext cx="46634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188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Network tensors</a:t>
            </a:r>
            <a:endParaRPr lang="en-US" sz="14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69480" y="1691640"/>
            <a:ext cx="4206240" cy="502920"/>
          </a:xfrm>
          <a:prstGeom prst="rect">
            <a:avLst/>
          </a:prstGeom>
        </p:spPr>
      </p:pic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69480" y="2240280"/>
            <a:ext cx="4206240" cy="502920"/>
          </a:xfrm>
          <a:prstGeom prst="rect">
            <a:avLst/>
          </a:prstGeom>
        </p:spPr>
      </p:pic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9480" y="2788920"/>
            <a:ext cx="4206240" cy="5029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269480" y="3337560"/>
            <a:ext cx="4206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縮退・学習で使う入力：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ν（s×r）疎行列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A（elements×species）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位相別 F̄（species×species）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多条件特徴量（ピーク・積分・感度など）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シミュレーション観点：Cantera数値計算性と自動化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49808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巨大機構では剛性が強く、ODE積分がボトルネック。Cantera 3.xは大規模機構向けに疎・反復ソルバと前処理を強化。</a:t>
            </a:r>
            <a:endParaRPr lang="en-US" sz="1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7607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600200"/>
            <a:ext cx="512064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1228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自動実行（多条件）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903720" y="228600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22592" y="23957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conditions.csv → ケース生成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0" y="278892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903720" y="297180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22592" y="30815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Cantera実行（0D/PFR/ALD-like）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0" y="347472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903720" y="365760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22592" y="37673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時系列保存（X, θ, rop, ω）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0" y="416052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903720" y="434340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22592" y="4453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ネットワーク化（ν, F̄, 特徴量）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0" y="484632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903720" y="5029200"/>
            <a:ext cx="44805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22592" y="5138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縮退→再実行→KPI誤差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反応ネットワーク：行列表現（ν, r, F̄）と縮退入力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基本式（気相/表面を同型に扱う）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08760"/>
            <a:ext cx="5577840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167128"/>
            <a:ext cx="5577840" cy="56692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2825496"/>
            <a:ext cx="5577840" cy="566928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240" y="3483864"/>
            <a:ext cx="5577840" cy="56692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77240" y="41605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 ̄F を「重要度」「クラスタリング」「階層抽出」の共通入力にする。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492240" y="9144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F̄（位相統計）ヒートマップ例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7269480" y="14173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SiF4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6492240" y="1938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SiF4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7744968" y="14173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NH3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492240" y="241401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NH3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8220456" y="14173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492240" y="288950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695944" y="14173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SiFx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492240" y="33649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SiFx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9171432" y="14173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NHx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492240" y="3840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NHx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9646920" y="1417320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Surf*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92240" y="43159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Surf*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7269480" y="1828800"/>
            <a:ext cx="4754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44968" y="1828800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220456" y="1828800"/>
            <a:ext cx="475488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95944" y="1828800"/>
            <a:ext cx="47548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171432" y="1828800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646920" y="1828800"/>
            <a:ext cx="475488" cy="475488"/>
          </a:xfrm>
          <a:prstGeom prst="rect">
            <a:avLst/>
          </a:prstGeom>
          <a:solidFill>
            <a:srgbClr val="93C5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269480" y="2304288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744968" y="2304288"/>
            <a:ext cx="4754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220456" y="2304288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695944" y="2304288"/>
            <a:ext cx="475488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171432" y="2304288"/>
            <a:ext cx="47548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46920" y="2304288"/>
            <a:ext cx="475488" cy="475488"/>
          </a:xfrm>
          <a:prstGeom prst="rect">
            <a:avLst/>
          </a:prstGeom>
          <a:solidFill>
            <a:srgbClr val="93C5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269480" y="2779776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744968" y="2779776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220456" y="2779776"/>
            <a:ext cx="4754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695944" y="2779776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171432" y="2779776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646920" y="2779776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269480" y="3255264"/>
            <a:ext cx="47548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744968" y="3255264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220456" y="3255264"/>
            <a:ext cx="475488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695944" y="3255264"/>
            <a:ext cx="4754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9171432" y="3255264"/>
            <a:ext cx="475488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9646920" y="3255264"/>
            <a:ext cx="475488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269480" y="3730752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744968" y="3730752"/>
            <a:ext cx="475488" cy="475488"/>
          </a:xfrm>
          <a:prstGeom prst="rect">
            <a:avLst/>
          </a:prstGeom>
          <a:solidFill>
            <a:srgbClr val="93C5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8220456" y="3730752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8695944" y="3730752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9171432" y="3730752"/>
            <a:ext cx="4754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646920" y="3730752"/>
            <a:ext cx="47548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7269480" y="4206240"/>
            <a:ext cx="475488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7744968" y="4206240"/>
            <a:ext cx="475488" cy="475488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8220456" y="4206240"/>
            <a:ext cx="475488" cy="47548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8695944" y="4206240"/>
            <a:ext cx="47548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9171432" y="4206240"/>
            <a:ext cx="475488" cy="475488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1"/>
          <p:cNvSpPr/>
          <p:nvPr/>
        </p:nvSpPr>
        <p:spPr>
          <a:xfrm>
            <a:off x="9646920" y="4206240"/>
            <a:ext cx="475488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269480" y="47274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 ←  F̄  → 強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9418320" y="4974336"/>
            <a:ext cx="201168" cy="16459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9619488" y="4974336"/>
            <a:ext cx="201168" cy="16459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9820656" y="4974336"/>
            <a:ext cx="201168" cy="164592"/>
          </a:xfrm>
          <a:prstGeom prst="rect">
            <a:avLst/>
          </a:prstGeom>
          <a:solidFill>
            <a:srgbClr val="BFDB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6"/>
          <p:cNvSpPr/>
          <p:nvPr/>
        </p:nvSpPr>
        <p:spPr>
          <a:xfrm>
            <a:off x="10021824" y="4974336"/>
            <a:ext cx="201168" cy="164592"/>
          </a:xfrm>
          <a:prstGeom prst="rect">
            <a:avLst/>
          </a:prstGeom>
          <a:solidFill>
            <a:srgbClr val="93C5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10222992" y="4974336"/>
            <a:ext cx="201168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10424160" y="4974336"/>
            <a:ext cx="201168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6492240" y="5349240"/>
            <a:ext cx="5394960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Text 60"/>
          <p:cNvSpPr/>
          <p:nvPr/>
        </p:nvSpPr>
        <p:spPr>
          <a:xfrm>
            <a:off x="6720840" y="5486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縮退で見るべき構造</a:t>
            </a:r>
            <a:endParaRPr lang="en-US" sz="1600" dirty="0"/>
          </a:p>
        </p:txBody>
      </p:sp>
      <p:sp>
        <p:nvSpPr>
          <p:cNvPr id="67" name="Text 61"/>
          <p:cNvSpPr/>
          <p:nvPr/>
        </p:nvSpPr>
        <p:spPr>
          <a:xfrm>
            <a:off x="6766560" y="58521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強結合サブグラフ（ループ/連鎖）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位相（ALD）でF̄が変化 → “条件依存”の縮退が必要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表面はサイト制約が強い（θの単体制約）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CVD/ALD縮退が難しい理由（物理・運転・数値）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035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ALD：位相切替（pulse/purge）で支配反応が切替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53949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154680"/>
            <a:ext cx="5029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2103120"/>
            <a:ext cx="0" cy="10515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2240280"/>
            <a:ext cx="41148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240280"/>
            <a:ext cx="41148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240280"/>
            <a:ext cx="411480" cy="868680"/>
          </a:xfrm>
          <a:prstGeom prst="rect">
            <a:avLst/>
          </a:prstGeom>
          <a:solidFill>
            <a:srgbClr val="DBEAFE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2240280"/>
            <a:ext cx="411480" cy="868680"/>
          </a:xfrm>
          <a:prstGeom prst="rect">
            <a:avLst/>
          </a:prstGeom>
          <a:solidFill>
            <a:srgbClr val="DCFCE7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1546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19202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097280"/>
            <a:ext cx="5120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09728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55480" y="109728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097280"/>
            <a:ext cx="512064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152144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難しさ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91272" y="1152144"/>
            <a:ext cx="15910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縮退で壊れやすい箇所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8632" y="1152144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本コードの工夫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1399032"/>
            <a:ext cx="5120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453896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多相（gas/surface/bulk）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91272" y="1453896"/>
            <a:ext cx="15910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サイト収支・境界フラックス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8632" y="1453896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サイト制約/元素保存をhardに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1700784"/>
            <a:ext cx="5120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1755648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非定常（ALD）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91272" y="1755648"/>
            <a:ext cx="15910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位相別支配反応の切替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28632" y="1755648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phase特徴量・MoE/条件別学習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83680" y="2002536"/>
            <a:ext cx="5120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2057400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巨大機構・剛性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91272" y="2057400"/>
            <a:ext cx="15910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ODE積分とJacobian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28632" y="2057400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Cantera前処理＋縮退で両面最適化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2304288"/>
            <a:ext cx="512064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2359152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循環・階層ネットワーク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91272" y="2359152"/>
            <a:ext cx="15910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重要度が単純閾値で決まらない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28632" y="2359152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F̄に基づく階層/Pooling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263640"/>
            <a:ext cx="11277295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結論：燃焼系の「削除のみ」縮退（pyMARS）をそのまま当てると、表面・位相・KPIの要件で不利になりやすい。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ベンチ(1)：SiF4/NH3 → Si3N4 成膜（gas+surface+bulk）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3152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想定：熱CVD（またはALD-like）でのSi3N4堆積。ガス相反応＋表面反応＋バルク堆積の連成。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6692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装置モデル（例：PFR/連続CSTR列）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4572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291840"/>
            <a:ext cx="4572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529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(SI3N4*)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3886200"/>
            <a:ext cx="20116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95935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Bulk deposition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(Si3N4)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2834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760720" y="26974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486400" cy="21031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想定する状態種（例）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10312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Gas：SiF4, NH3, HF, H2, N2 + SiFx, NHx, H, F などのフラグメント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Surface：*（サイト）, Si*, N*, NH*, Si–N*, F* など（多サイト化可）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Bulk：Si3N4(s) への正味堆積フラックス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3794760"/>
            <a:ext cx="5486400" cy="21031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状況（反応支配の切替）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42976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高温：ガス分解→表面供給増、HF生成が支配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低圧：輸送律速↔反応律速の切替（Da数依存）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ALD-like：パルスで表面被覆が周期的に切替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ベンチ(2)：Diamond CVD Large（GRI30 gas + 多サイト表面）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68096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想定：H2/CH4系でのダイヤ(100)表面成長。公開機構(diamond.yaml)をベースに多サイトへ展開し、縮退の難度を上げる。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852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相と状態種（公開機構の構造）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54864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10312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210312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03120"/>
            <a:ext cx="54864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157984"/>
            <a:ext cx="859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64792" y="2157984"/>
            <a:ext cx="28712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Species例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2312" y="2157984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404872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459736"/>
            <a:ext cx="859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64792" y="2459736"/>
            <a:ext cx="28712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H, H2, CH3, CH4（gri30から参照）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82312" y="2459736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供給/ラジカル供給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2706624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761488"/>
            <a:ext cx="859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64792" y="2761488"/>
            <a:ext cx="28712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c6HH, c6H*, c6** …（多サイト化で×N）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2761488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成長素過程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008376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063240"/>
            <a:ext cx="859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Bulk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64792" y="3063240"/>
            <a:ext cx="28712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C(d)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82312" y="3063240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堆積相</a:t>
            </a:r>
            <a:endParaRPr lang="en-US" sz="12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3977640"/>
            <a:ext cx="5486400" cy="548640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4526280"/>
            <a:ext cx="5486400" cy="54864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583680" y="155448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81228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多サイト化（同型ネットワークの複製）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6903720" y="214884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86600" y="225856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t_c6HH, t_c6H*, ...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086600" y="24963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同一係数を複製（まずは物理妥当性を崩さない）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903720" y="301752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086600" y="31272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s_c6HH, s_c6H*, ...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7086600" y="33649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同一係数を複製（まずは物理妥当性を崩さない）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903720" y="388620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086600" y="399592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k_c6HH, k_c6H*, ...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086600" y="42336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同一係数を複製（まずは物理妥当性を崩さない）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903720" y="4754880"/>
            <a:ext cx="4572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086600" y="486460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d_c6HH, d_c6H*, ...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7086600" y="51023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同一係数を複製（まずは物理妥当性を崩さない）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812280" y="6263640"/>
            <a:ext cx="5212080" cy="554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目的：クラスタリング/Poolingで「同型サブネット」を自動検出し、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マージ戦略の妥当性（lumpability）を評価する。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ベンチ(3)：Hydrocarbon CVD Large（巨大気相 + 合成表面）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86384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想定：炭化水素系前駆体の分解・重合を含む巨大気相＋表面吸着/脱離/成長。縮退アルゴのスケーラビリティを検証。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巨大気相（例：NUIG n-hexane）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148840"/>
            <a:ext cx="566928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ねらい：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gas≥100 / rxn≥500 を確実に満たすスケール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反応剛性が強く、縮退の効果が性能に直結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Cantera前処理＋縮退で二重に高速化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4251960"/>
            <a:ext cx="5669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425196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425196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4306824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313432" y="4306824"/>
            <a:ext cx="4059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455371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" y="4608576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前処理ソルバ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13432" y="4608576"/>
            <a:ext cx="4059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巨大機構の積分を現実時間にする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485546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4910328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削除（pyMARS）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13432" y="4910328"/>
            <a:ext cx="4059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重要種/反応だけ残す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5157216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50392" y="5212080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マージ（本コード）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313432" y="5212080"/>
            <a:ext cx="40599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状態数をさらに落として剛性を緩和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29400" y="1554480"/>
            <a:ext cx="50749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0" y="169164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表面：合成マイクロキネティック（≥20種/≥100反応）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949440" y="214884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86600" y="229514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Adsorption: G + * → G*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49440" y="297180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86600" y="31181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 rxn: G* + H* → P*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49440" y="379476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39410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Desorption: P* → P + *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949440" y="461772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86600" y="47640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Deposition: P* → C(bulk) + *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58000" y="6263640"/>
            <a:ext cx="5212080" cy="554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多サイト（T/S/K/D）へ複製 → “同型クラスタ” を作り、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Pooling/マージの検出性能を測る。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比較対象：pyMARS（DRG/DRGEP/PFA/SA）をどう組み込むか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7724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pyMARSは「削除（skeletal reduction）」の代表格。CVD/ALDでは評価KPIを置換し、同一ベンチでPareto比較する。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035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DRGEP：重要度（importance）計算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148840"/>
            <a:ext cx="566928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pyMARSはサンプル状態（T,P,Y）ごとに隣接行列を作り、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ターゲット種からの到達係数（誤差伝播）で残す種を決める。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4069080"/>
            <a:ext cx="56692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88920" y="406908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406908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392" y="4123944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pyMARS機能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862072" y="4123944"/>
            <a:ext cx="3511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今回のベンチでの使い方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37083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4425696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targets / safe species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862072" y="4425696"/>
            <a:ext cx="3511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表面連成を壊さない種を固定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467258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" y="4727448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error limit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862072" y="4727448"/>
            <a:ext cx="3511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成膜KPI（堆積速度/被覆率）で定義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4974336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" y="5029200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 stage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862072" y="5029200"/>
            <a:ext cx="35112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limbo種の削除影響を追加評価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583680" y="1600200"/>
            <a:ext cx="5120640" cy="21031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81228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pyMARSが苦手になりやすい点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858000" y="21031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「削除のみ」：マージ（代表状態化）がない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表面サイト制約や位相（ALD）KPIが標準の誤差定義に入らない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巨大機構では行列生成・探索が重くなる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83680" y="3794760"/>
            <a:ext cx="5120640" cy="23317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12280" y="3931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本コード側の工夫（比較の公平性）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0" y="42976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同一conditionsで状態点サンプリング（phase stratified）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誤差評価をKPIへ差し替え（GPC/堆積/副生成物/θ）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YAMLトリムを自前化（Cantera 3.x互換を優先）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本コードの縮退手法（Top4）と位置づけ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786384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pyMARS（削除）を基準に、「マージ」「階層」「再合成」「最大縮退」まで拡張した4系統を実装。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06040" y="160020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160020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160020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160020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00200"/>
            <a:ext cx="1124712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655064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79192" y="1655064"/>
            <a:ext cx="1956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主目的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82312" y="1655064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入力（ネットワーク/データ）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6952" y="1655064"/>
            <a:ext cx="1682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45752" y="1655064"/>
            <a:ext cx="21854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pyMARSとの差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1901952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956816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 LearnCK++/CRNN/SRNN + 射影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79192" y="1956816"/>
            <a:ext cx="1956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物理整合を保ちつつ強縮退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956816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ν, A, F̄ + y(t)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16952" y="1956816"/>
            <a:ext cx="1682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代表反応＋代表状態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45752" y="1956816"/>
            <a:ext cx="21854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削除ではなく再合成＋保存則hard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203704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258568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#2 Hypergraph/GNN Pooling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79192" y="2258568"/>
            <a:ext cx="1956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自動マージ（階層）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82312" y="2258568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二部グラフ/ハイパー + 特徴量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16952" y="2258568"/>
            <a:ext cx="1682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割当 S（種→代表）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45752" y="2258568"/>
            <a:ext cx="21854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マージを学習；縮退段を自動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505456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560320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#3 Prune→Merge（L0 gate）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79192" y="2560320"/>
            <a:ext cx="1956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巨大機構の現実解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82312" y="2560320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多条件の誤差＋スパース正則化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16952" y="2560320"/>
            <a:ext cx="1682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剪定反応＋S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45752" y="2560320"/>
            <a:ext cx="21854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削除を学習化し、多条件で安定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2807208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2862072"/>
            <a:ext cx="20025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#4 SINDy→CRN再構成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79192" y="2862072"/>
            <a:ext cx="1956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縮退効果最大化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82312" y="2862072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代表状態時系列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16952" y="2862072"/>
            <a:ext cx="16824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最小支配方程式/CRN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45752" y="2862072"/>
            <a:ext cx="21854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元機構に縛られず発見型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5806440"/>
            <a:ext cx="112471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縮退の階段：削除（skeletal） → マージ（lumping） → 代表反応再合成 → 最小CRN再構成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 LearnCK++ / CRNN / SRNN：代表状態＋代表反応の再合成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04672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データサイエンス観点：反応網を「解釈可能な低次元モデル」へ写像し、保存則を構造的に満たす。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写像：x(t) → y(t)=P x(t)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148840"/>
            <a:ext cx="539496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5840" y="2926080"/>
            <a:ext cx="4572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305409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学習：y(t), (T,P,phase) → r̃_k(t)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（少数のoverall reactions）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3840480"/>
            <a:ext cx="0" cy="5029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005840" y="438912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45262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出力：縮退機構（y, overall reactions）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Cantera外ODE / 代表YAML生成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1554480"/>
            <a:ext cx="5486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155448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2640" y="155448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1554480"/>
            <a:ext cx="54864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73952" y="1609344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特徴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54112" y="1609344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65792" y="1609344"/>
            <a:ext cx="20482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技術箇所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1856232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73952" y="1911096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解釈可能（反応式）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754112" y="1911096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縮退後の理解/検証が容易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765792" y="1911096"/>
            <a:ext cx="20482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overall reaction候補生成（F̄上位）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2157984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2212848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保存則をhard化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754112" y="2212848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外挿条件でも破綻しにくい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65792" y="2212848"/>
            <a:ext cx="20482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Aν=0, site収支を制約/射影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0" y="2459736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2514600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スパース学習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754112" y="2514600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反応数を直接削減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65792" y="2514600"/>
            <a:ext cx="20482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L1/L0近似ゲート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0" y="2761488"/>
            <a:ext cx="54864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3952" y="2816352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多条件学習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754112" y="2816352"/>
            <a:ext cx="18653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装置条件スイープに耐える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765792" y="2816352"/>
            <a:ext cx="20482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phase条件/DoEを入力に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400800" y="4434840"/>
            <a:ext cx="5486400" cy="16916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62940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pyMARSとの差（具体）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675120" y="4937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pyMARS：種/反応を“残す/消す”が中心 → マージなし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本手法：代表状態＋代表反応へ“再合成”し、状態数も削る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保存則射影で「負濃度」「サイト破綻」を抑制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 物理妥当性：保存則・サイト収支・射影（ANN-hard）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反応物理観点：縮退後も「元素」「電荷（必要なら）」「表面サイト」を破らない設計が必須。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Hard constraints（等式/不等式）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148840"/>
            <a:ext cx="5669280" cy="5486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697480"/>
            <a:ext cx="5669280" cy="5486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3246120"/>
            <a:ext cx="5669280" cy="54864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240" y="3794760"/>
            <a:ext cx="5669280" cy="7315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7240" y="4617720"/>
            <a:ext cx="566928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上：NNの出力（ソース項/反応速度）を制約面へ射影して破綻を防ぐ。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6294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射影イメージ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6949440" y="5303520"/>
            <a:ext cx="43891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1005840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制約面（Aω=0）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7315200" y="356616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498080" y="3520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ω_NN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8686800" y="292608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86968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ω̃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7397496" y="3648456"/>
            <a:ext cx="132588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8" name="Text 12"/>
          <p:cNvSpPr/>
          <p:nvPr/>
        </p:nvSpPr>
        <p:spPr>
          <a:xfrm>
            <a:off x="7955280" y="32461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最小距離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400800" y="5440680"/>
            <a:ext cx="5486400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629400" y="5577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pyMARSとの差（物理）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675120" y="59436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pyMARS：重要度で「削除」はできるが、代表状態の設計や射影によるhard制約は標準で持たない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本コード：多相の保存則（元素・サイト）を中核に据え、学習/マージで破綻しにくい縮退モデルを作る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#2 自動マージ：反応グラフ/ハイパーグラフPooling（S学習）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データサイエンス観点：反応ネットワークを入力として、種→代表種の割当行列 S を学習し階層縮退を生成。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入力：インシデンス行列 B（種×反応）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669280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2080" y="196596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46960" y="196596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96596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36720" y="196596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1600" y="196596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2082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75232" y="202082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0112" y="202082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202082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09872" y="202082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4752" y="202082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26771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32257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75232" y="232257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0112" y="232257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232257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09872" y="232257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4752" y="232257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56946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624328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75232" y="2624328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20112" y="2624328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2624328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09872" y="2624328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4752" y="2624328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871216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2926080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475232" y="2926080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20112" y="2926080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2926080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09872" y="2926080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4752" y="2926080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172968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227832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75232" y="3227832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20112" y="3227832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64992" y="3227832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09872" y="3227832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54752" y="3227832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3474720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352958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475232" y="352958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420112" y="352958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364992" y="352958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309872" y="352958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4752" y="3529584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377647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" y="383133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S6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475232" y="383133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420112" y="383133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364992" y="383133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309872" y="383133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254752" y="3831336"/>
            <a:ext cx="7985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" y="4434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出力：割当行列 S（種→代表ノード）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57200" y="4800600"/>
            <a:ext cx="56692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874520" y="4800600"/>
            <a:ext cx="0" cy="1810512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91840" y="4800600"/>
            <a:ext cx="0" cy="1810512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9160" y="4800600"/>
            <a:ext cx="0" cy="1810512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480060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485546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947672" y="485546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C1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364992" y="485546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C2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782312" y="485546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57200" y="510235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5157216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S1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1947672" y="5157216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364992" y="5157216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0.2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782312" y="5157216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57200" y="540410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" y="5458968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947672" y="5458968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0.7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364992" y="5458968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0.3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782312" y="5458968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57200" y="5705856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0352" y="576072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947672" y="576072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0.1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3364992" y="576072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0.9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782312" y="5760720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57200" y="6007608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0352" y="6062472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S4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1947672" y="6062472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3364992" y="6062472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4782312" y="6062472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0.8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457200" y="6309360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0352" y="636422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S5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1947672" y="636422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364992" y="636422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0.1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4782312" y="6364224"/>
            <a:ext cx="12710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0.9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6400800" y="155448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62940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行列表現（縮退後）</a:t>
            </a:r>
            <a:endParaRPr lang="en-US" sz="1400" dirty="0"/>
          </a:p>
        </p:txBody>
      </p:sp>
      <p:pic>
        <p:nvPicPr>
          <p:cNvPr id="9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2148840"/>
            <a:ext cx="5029200" cy="502920"/>
          </a:xfrm>
          <a:prstGeom prst="rect">
            <a:avLst/>
          </a:prstGeom>
        </p:spPr>
      </p:pic>
      <p:pic>
        <p:nvPicPr>
          <p:cNvPr id="9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9400" y="2651760"/>
            <a:ext cx="5029200" cy="502920"/>
          </a:xfrm>
          <a:prstGeom prst="rect">
            <a:avLst/>
          </a:prstGeom>
        </p:spPr>
      </p:pic>
      <p:pic>
        <p:nvPicPr>
          <p:cNvPr id="9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3154680"/>
            <a:ext cx="5029200" cy="594360"/>
          </a:xfrm>
          <a:prstGeom prst="rect">
            <a:avLst/>
          </a:prstGeom>
        </p:spPr>
      </p:pic>
      <p:sp>
        <p:nvSpPr>
          <p:cNvPr id="100" name="Shape 95"/>
          <p:cNvSpPr/>
          <p:nvPr/>
        </p:nvSpPr>
        <p:spPr>
          <a:xfrm>
            <a:off x="6629400" y="3794760"/>
            <a:ext cx="50292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1" name="Shape 96"/>
          <p:cNvSpPr/>
          <p:nvPr/>
        </p:nvSpPr>
        <p:spPr>
          <a:xfrm>
            <a:off x="8092440" y="3794760"/>
            <a:ext cx="0" cy="120700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>
            <a:off x="6629400" y="3794760"/>
            <a:ext cx="502920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6702552" y="3849624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</a:t>
            </a:r>
            <a:endParaRPr lang="en-US" sz="1200" dirty="0"/>
          </a:p>
        </p:txBody>
      </p:sp>
      <p:sp>
        <p:nvSpPr>
          <p:cNvPr id="104" name="Text 99"/>
          <p:cNvSpPr/>
          <p:nvPr/>
        </p:nvSpPr>
        <p:spPr>
          <a:xfrm>
            <a:off x="8165592" y="3849624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内容（例）</a:t>
            </a:r>
            <a:endParaRPr lang="en-US" sz="1200" dirty="0"/>
          </a:p>
        </p:txBody>
      </p:sp>
      <p:sp>
        <p:nvSpPr>
          <p:cNvPr id="105" name="Shape 100"/>
          <p:cNvSpPr/>
          <p:nvPr/>
        </p:nvSpPr>
        <p:spPr>
          <a:xfrm>
            <a:off x="6629400" y="4096512"/>
            <a:ext cx="50292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6702552" y="4151376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Hard mask</a:t>
            </a:r>
            <a:endParaRPr lang="en-US" sz="1200" dirty="0"/>
          </a:p>
        </p:txBody>
      </p:sp>
      <p:sp>
        <p:nvSpPr>
          <p:cNvPr id="107" name="Text 102"/>
          <p:cNvSpPr/>
          <p:nvPr/>
        </p:nvSpPr>
        <p:spPr>
          <a:xfrm>
            <a:off x="8165592" y="4151376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gas/surface混合禁止、サイト型混合禁止</a:t>
            </a:r>
            <a:endParaRPr lang="en-US" sz="1200" dirty="0"/>
          </a:p>
        </p:txBody>
      </p:sp>
      <p:sp>
        <p:nvSpPr>
          <p:cNvPr id="108" name="Shape 103"/>
          <p:cNvSpPr/>
          <p:nvPr/>
        </p:nvSpPr>
        <p:spPr>
          <a:xfrm>
            <a:off x="6629400" y="4398264"/>
            <a:ext cx="50292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6702552" y="4453128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Soft penalty</a:t>
            </a:r>
            <a:endParaRPr lang="en-US" sz="1200" dirty="0"/>
          </a:p>
        </p:txBody>
      </p:sp>
      <p:sp>
        <p:nvSpPr>
          <p:cNvPr id="110" name="Text 105"/>
          <p:cNvSpPr/>
          <p:nvPr/>
        </p:nvSpPr>
        <p:spPr>
          <a:xfrm>
            <a:off x="8165592" y="4453128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neutral↔radical跨ぎは罰則付き許可</a:t>
            </a:r>
            <a:endParaRPr lang="en-US" sz="1200" dirty="0"/>
          </a:p>
        </p:txBody>
      </p:sp>
      <p:sp>
        <p:nvSpPr>
          <p:cNvPr id="111" name="Shape 106"/>
          <p:cNvSpPr/>
          <p:nvPr/>
        </p:nvSpPr>
        <p:spPr>
          <a:xfrm>
            <a:off x="6629400" y="4700016"/>
            <a:ext cx="502920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12" name="Text 107"/>
          <p:cNvSpPr/>
          <p:nvPr/>
        </p:nvSpPr>
        <p:spPr>
          <a:xfrm>
            <a:off x="6702552" y="4754880"/>
            <a:ext cx="13167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Lumpability</a:t>
            </a:r>
            <a:endParaRPr lang="en-US" sz="1200" dirty="0"/>
          </a:p>
        </p:txBody>
      </p:sp>
      <p:sp>
        <p:nvSpPr>
          <p:cNvPr id="113" name="Text 108"/>
          <p:cNvSpPr/>
          <p:nvPr/>
        </p:nvSpPr>
        <p:spPr>
          <a:xfrm>
            <a:off x="8165592" y="4754880"/>
            <a:ext cx="3419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外向きフラックス分布が近いほど同クラスタ</a:t>
            </a:r>
            <a:endParaRPr lang="en-US" sz="1200" dirty="0"/>
          </a:p>
        </p:txBody>
      </p:sp>
      <p:sp>
        <p:nvSpPr>
          <p:cNvPr id="114" name="Text 109"/>
          <p:cNvSpPr/>
          <p:nvPr/>
        </p:nvSpPr>
        <p:spPr>
          <a:xfrm>
            <a:off x="6629400" y="6263640"/>
            <a:ext cx="530352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pyMARSとの差：削除ではなく「マージ」を学習し、縮退レベル（階層）を連続的に生成できる。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#3 Prune→Merge：L0ゲートで反応を選び、その後Poolingで集約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巨大機構の現実解：まず「多条件で効く反応」だけ残して探索空間を圧縮し、次にマージで状態数を減らす。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反応選択（ゲート）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057400"/>
            <a:ext cx="5669280" cy="5669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697480"/>
            <a:ext cx="5669280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342900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zはhard-concrete等で連続緩和→学習可能にする。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多条件・位相別誤差を損失に入れて「条件外破綻」を抑える。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4434840"/>
            <a:ext cx="566928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145687" y="4434840"/>
            <a:ext cx="0" cy="905256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96103" y="4434840"/>
            <a:ext cx="0" cy="905256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443484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0392" y="4489704"/>
            <a:ext cx="122214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18839" y="4489704"/>
            <a:ext cx="20041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369255" y="4489704"/>
            <a:ext cx="20041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本手法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77240" y="473659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50392" y="4791456"/>
            <a:ext cx="122214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削除判定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218839" y="4791456"/>
            <a:ext cx="20041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重要度閾値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369255" y="4791456"/>
            <a:ext cx="20041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誤差最小＋L0最小（多条件）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77240" y="503834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50392" y="5093208"/>
            <a:ext cx="122214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計算コスト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218839" y="5093208"/>
            <a:ext cx="20041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行列探索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369255" y="5093208"/>
            <a:ext cx="200411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学習＋並列再実行（評価器共有）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0" y="1554480"/>
            <a:ext cx="539496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20840" y="1691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パイプライン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903720" y="214884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03720" y="22585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Full mech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144000" y="274320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6903720" y="292608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03720" y="30358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Gate-prune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(reactions)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9144000" y="352044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6903720" y="370332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903720" y="38130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Pooling-merge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(species)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9144000" y="429768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6903720" y="448056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903720" y="45902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(KPI/constraints)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144000" y="5074920"/>
            <a:ext cx="0" cy="1554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903720" y="5257800"/>
            <a:ext cx="44805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03720" y="53675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Pareto frontier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#4 SINDy→CRN：発見型の最小モデル（縮退効果最大化）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41248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データサイエンス観点：元機構の反応式に縛られず、多条件時系列からスパース方程式を同定し、必要ならCRNへ変換。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スパース同定（例：weak/integral SINDy）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057400"/>
            <a:ext cx="5669280" cy="5669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697480"/>
            <a:ext cx="5669280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34290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代表状態 y は「元素モーメント＋サイトモーメント」等で設計し、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異組成マージでも保存則を保つ。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4160520"/>
            <a:ext cx="566928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11880" y="4160520"/>
            <a:ext cx="0" cy="905256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77240" y="416052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0392" y="4215384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長所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85032" y="4215384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77240" y="446227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0392" y="4517136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最小状態/反応へ行きやすい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685032" y="4517136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外挿で破綻しやすい→制約が重要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" y="476402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0392" y="4818888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条件共通構造（group sparsity）を取り込める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685032" y="4818888"/>
            <a:ext cx="26883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CRNへ戻すには追加最適化が必要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83680" y="1554480"/>
            <a:ext cx="53035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12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実装パイプライン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903720" y="2148840"/>
            <a:ext cx="4480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40880" y="22768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 multi-run → y(t)抽出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144000" y="2697480"/>
            <a:ext cx="0" cy="1188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903720" y="2862072"/>
            <a:ext cx="4480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40880" y="29900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位相別/条件別に回帰（共通構造）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144000" y="3410712"/>
            <a:ext cx="0" cy="1188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6903720" y="3575304"/>
            <a:ext cx="4480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040880" y="3703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スパースモデル選択（Pareto）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9144000" y="4123944"/>
            <a:ext cx="0" cy="1188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6903720" y="4288536"/>
            <a:ext cx="4480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040880" y="44165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（任意）CRNへ変換・YAML化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9144000" y="4837176"/>
            <a:ext cx="0" cy="118872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6903720" y="5001768"/>
            <a:ext cx="448056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040880" y="512978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Validate（KPI/保存則）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812280" y="6263640"/>
            <a:ext cx="5303520" cy="554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pyMARSとの差：元機構の反応集合に縛られず、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縮退効果を最大化できる一方、物理制約の入れ方が成否を左右。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制約パッケージ：半導体成膜で有用な理論制約（手法横断）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50392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物理理論に基づく制約を「学習」「マージ」「評価」に一貫して適用し、外挿破綻を抑える。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160020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160020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1600200"/>
            <a:ext cx="0" cy="2112264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1124712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55064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64792" y="1655064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制約（例）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65506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理論的根拠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34072" y="1655064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適用箇所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956816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64792" y="1956816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Aν=0, Aω=0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07992" y="195681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元素/電荷保存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4072" y="1956816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#1射影, #2マスク, #4状態設計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203704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258568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64792" y="2258568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Σ s_i θ_i =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07992" y="2258568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サイト占有・被覆率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34072" y="2258568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surfaceマージ禁止, 評価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505456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560320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非負性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64792" y="2560320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x≥0, θ∈[0,1]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07992" y="2560320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濃度/被覆率の実現可能領域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34072" y="2560320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活性化関数/射影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807208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2862072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詳細釣合い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764792" y="2862072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kf/kr=K_eq(T)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07992" y="2862072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平衡整合（可逆反応）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34072" y="2862072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#1再合成, モデル選択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108960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163824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lumpability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64792" y="3163824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外向きフラックス分布類似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07992" y="3163824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粗視化の妥当性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34072" y="3163824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#2損失, #3マージ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410712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3465576"/>
            <a:ext cx="108813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位相整合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64792" y="3465576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phase別誤差/特徴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07992" y="3465576"/>
            <a:ext cx="277977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ALDの非自律性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34072" y="3465576"/>
            <a:ext cx="41970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#2特徴, validate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5623560"/>
            <a:ext cx="11247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58978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制約の入れ方： (i) 候補生成を制約空間に限定  (ii) 学習損失に追加  (iii) 出力を射影で補正  (iv) validateで破綻検知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評価：KPI誤差＋保存則＋計算コストでParetoを作る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6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第三者が再現できるよう、縮退モデルごとに「誤差・削減率・速度」を同一フォーマットで出力。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126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代表KPI（例）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148840"/>
            <a:ext cx="5669280" cy="5029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240" y="2651760"/>
            <a:ext cx="566928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3246120"/>
            <a:ext cx="5669280" cy="5943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7240" y="3886200"/>
            <a:ext cx="5669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2057400" y="388620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77240" y="3886200"/>
            <a:ext cx="56692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50392" y="3941064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評価軸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130552" y="3941064"/>
            <a:ext cx="4242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77240" y="4187952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0392" y="4242816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精度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130552" y="4242816"/>
            <a:ext cx="4242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KPI＋時系列（位相別）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77240" y="4489704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50392" y="4544568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130552" y="4544568"/>
            <a:ext cx="4242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元素/サイト保存・非負性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77240" y="4791456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0392" y="4846320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性能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130552" y="4846320"/>
            <a:ext cx="4242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実行時間・メモリ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77240" y="5093208"/>
            <a:ext cx="566928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0392" y="5148072"/>
            <a:ext cx="113385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縮退度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130552" y="5148072"/>
            <a:ext cx="42428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#species/#reactions（gas/surface）</a:t>
            </a:r>
            <a:endParaRPr lang="en-US" sz="12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766560" y="1600200"/>
          <a:ext cx="51206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7" name="Shape 21"/>
          <p:cNvSpPr/>
          <p:nvPr/>
        </p:nvSpPr>
        <p:spPr>
          <a:xfrm>
            <a:off x="6766560" y="4617720"/>
            <a:ext cx="5120640" cy="1508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6995160" y="4754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実装ポイント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040880" y="51206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同一validate関数で全手法を評価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複数条件・位相別の誤差を集約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Pareto（誤差上限制約で最大縮退）を自動探索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0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全体処理フロー（第三者向け：再現手順）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20240" cy="8229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Bench run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(多条件)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468880" y="1691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34640" y="1280160"/>
            <a:ext cx="192024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(時系列)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20640" y="1280160"/>
            <a:ext cx="1920240" cy="8229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Network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(ν,F̄)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1691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1280160"/>
            <a:ext cx="192024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4. Reduce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(pyMARS/Top4)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1691640"/>
            <a:ext cx="3657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92640" y="1280160"/>
            <a:ext cx="1920240" cy="82296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5. 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(Pareto)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11247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560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実行例（CLI/スクリプト）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9718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A) ベンチ生成：  python benchmarks/&lt;case&gt;/run_sweep.py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B) ベースライン：python baselines/pymars_like/reduce_and_validate.py --config &lt;cfg&gt;.yaml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C) Top4：        python reduce/&lt;method&gt;/run.py --config &lt;cfg&gt;.yaml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D) 出力：        outputs/&lt;run_id&gt;/{timeseries,network,metrics,pareto}.json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11247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5303520"/>
            <a:ext cx="0" cy="150876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303520"/>
            <a:ext cx="1124712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5358384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主要参考（抜粋）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73552" y="5358384"/>
            <a:ext cx="8357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605272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5660136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 Si3N4 PFR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73552" y="5660136"/>
            <a:ext cx="8357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gas+surface+bulk成膜例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907024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5961888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 diamond CVD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73552" y="5961888"/>
            <a:ext cx="8357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diamond.yaml / 表面被覆率例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208776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6263640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Cantera ck2yaml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73552" y="6263640"/>
            <a:ext cx="8357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Chemkin→YAML変換（gas+surface）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510528"/>
            <a:ext cx="1124712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6565392"/>
            <a:ext cx="259689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pyMARS docs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73552" y="6565392"/>
            <a:ext cx="8357616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DRG/DRGEP/PFA/SAの入力・API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3404</Words>
  <Application>Microsoft Macintosh PowerPoint</Application>
  <PresentationFormat>ワイド画面</PresentationFormat>
  <Paragraphs>524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3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kawahito</cp:lastModifiedBy>
  <cp:revision>2</cp:revision>
  <dcterms:created xsi:type="dcterms:W3CDTF">2026-02-23T09:07:45Z</dcterms:created>
  <dcterms:modified xsi:type="dcterms:W3CDTF">2026-02-23T21:36:12Z</dcterms:modified>
</cp:coreProperties>
</file>