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46304"/>
            <a:ext cx="11567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上部Cell温度予測基盤 全体機能とワークフロー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CAE学習 → モデル比較 → 時系列予測 → 実測モニタリング → 残差解析・弱補正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1627632"/>
            <a:ext cx="32004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92040" y="1627632"/>
            <a:ext cx="32004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949440" y="1627632"/>
            <a:ext cx="32004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098280" y="2139696"/>
            <a:ext cx="0" cy="649224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69480" y="3383280"/>
            <a:ext cx="-32004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12080" y="3383280"/>
            <a:ext cx="-32004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54680" y="3383280"/>
            <a:ext cx="-32004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92640" y="3886200"/>
            <a:ext cx="0" cy="594360"/>
          </a:xfrm>
          <a:prstGeom prst="line">
            <a:avLst/>
          </a:prstGeom>
          <a:noFill/>
          <a:ln w="20320">
            <a:solidFill>
              <a:srgbClr val="008C8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326880" y="4663440"/>
            <a:ext cx="-5669280" cy="0"/>
          </a:xfrm>
          <a:prstGeom prst="line">
            <a:avLst/>
          </a:prstGeom>
          <a:noFill/>
          <a:ln w="20320">
            <a:solidFill>
              <a:srgbClr val="008C8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0" y="4663440"/>
            <a:ext cx="0" cy="-2423160"/>
          </a:xfrm>
          <a:prstGeom prst="line">
            <a:avLst/>
          </a:prstGeom>
          <a:noFill/>
          <a:ln w="20320">
            <a:solidFill>
              <a:srgbClr val="008C8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" y="105156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6510">
            <a:solidFill>
              <a:srgbClr val="1D5F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932688"/>
            <a:ext cx="292608" cy="292608"/>
          </a:xfrm>
          <a:prstGeom prst="ellipse">
            <a:avLst/>
          </a:prstGeom>
          <a:solidFill>
            <a:srgbClr val="0A3D76"/>
          </a:solidFill>
          <a:ln w="8890">
            <a:solidFill>
              <a:srgbClr val="0A3D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932688"/>
            <a:ext cx="2926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2648" y="1124712"/>
            <a:ext cx="1655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入力データ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612648" y="1481328"/>
            <a:ext cx="32689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998" y="1722730"/>
            <a:ext cx="211226" cy="79004"/>
          </a:xfrm>
          <a:prstGeom prst="rect">
            <a:avLst/>
          </a:prstGeom>
          <a:solidFill>
            <a:srgbClr val="1B9C85"/>
          </a:solidFill>
          <a:ln w="6350">
            <a:solidFill>
              <a:srgbClr val="1B9C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" y="1720535"/>
            <a:ext cx="211226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61288" y="1490472"/>
            <a:ext cx="10972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CAE温度時系列CSV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brine / heater / plasma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計測点 3点/4点など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3063240" y="105156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6510">
            <a:solidFill>
              <a:srgbClr val="1D5F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44368" y="932688"/>
            <a:ext cx="292608" cy="292608"/>
          </a:xfrm>
          <a:prstGeom prst="ellipse">
            <a:avLst/>
          </a:prstGeom>
          <a:solidFill>
            <a:srgbClr val="0A3D76"/>
          </a:solidFill>
          <a:ln w="8890">
            <a:solidFill>
              <a:srgbClr val="0A3D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932688"/>
            <a:ext cx="2926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172968" y="1124712"/>
            <a:ext cx="1655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3172968" y="1481328"/>
            <a:ext cx="502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721608" y="1490472"/>
            <a:ext cx="10972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条件抽出・dt確認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ファイル単位分割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標準化(trainのみfit)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120640" y="105156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6510">
            <a:solidFill>
              <a:srgbClr val="1D5F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01768" y="932688"/>
            <a:ext cx="292608" cy="292608"/>
          </a:xfrm>
          <a:prstGeom prst="ellipse">
            <a:avLst/>
          </a:prstGeom>
          <a:solidFill>
            <a:srgbClr val="0A3D76"/>
          </a:solidFill>
          <a:ln w="8890">
            <a:solidFill>
              <a:srgbClr val="0A3D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932688"/>
            <a:ext cx="2926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230368" y="1124712"/>
            <a:ext cx="1655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特徴量化</a:t>
            </a:r>
            <a:endParaRPr lang="en-US" sz="1420" dirty="0"/>
          </a:p>
        </p:txBody>
      </p:sp>
      <p:sp>
        <p:nvSpPr>
          <p:cNvPr id="33" name="Shape 31"/>
          <p:cNvSpPr/>
          <p:nvPr/>
        </p:nvSpPr>
        <p:spPr>
          <a:xfrm>
            <a:off x="5230368" y="1481328"/>
            <a:ext cx="502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30368" y="1627632"/>
            <a:ext cx="502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30368" y="1773936"/>
            <a:ext cx="502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56098" y="1481328"/>
            <a:ext cx="0" cy="438912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1828" y="1481328"/>
            <a:ext cx="0" cy="438912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07558" y="1481328"/>
            <a:ext cx="0" cy="438912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79008" y="1490472"/>
            <a:ext cx="10972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state/control履歴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ΔT教師データ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effective control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7269480" y="1051560"/>
            <a:ext cx="24231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6510">
            <a:solidFill>
              <a:srgbClr val="1D5F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50608" y="932688"/>
            <a:ext cx="292608" cy="292608"/>
          </a:xfrm>
          <a:prstGeom prst="ellipse">
            <a:avLst/>
          </a:prstGeom>
          <a:solidFill>
            <a:srgbClr val="0A3D76"/>
          </a:solidFill>
          <a:ln w="8890">
            <a:solidFill>
              <a:srgbClr val="0A3D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0608" y="932688"/>
            <a:ext cx="2926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379208" y="1124712"/>
            <a:ext cx="22037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学習モデル</a:t>
            </a:r>
            <a:endParaRPr lang="en-US" sz="1420" dirty="0"/>
          </a:p>
        </p:txBody>
      </p:sp>
      <p:sp>
        <p:nvSpPr>
          <p:cNvPr id="44" name="Shape 42"/>
          <p:cNvSpPr/>
          <p:nvPr/>
        </p:nvSpPr>
        <p:spPr>
          <a:xfrm>
            <a:off x="7406640" y="1463040"/>
            <a:ext cx="1211580" cy="201168"/>
          </a:xfrm>
          <a:prstGeom prst="roundRect">
            <a:avLst>
              <a:gd name="adj" fmla="val 36364"/>
            </a:avLst>
          </a:prstGeom>
          <a:solidFill>
            <a:srgbClr val="EAF3FF"/>
          </a:solidFill>
          <a:ln w="10160">
            <a:solidFill>
              <a:srgbClr val="1D5F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34072" y="1481328"/>
            <a:ext cx="115671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linear_rc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691372" y="1463040"/>
            <a:ext cx="1211580" cy="201168"/>
          </a:xfrm>
          <a:prstGeom prst="roundRect">
            <a:avLst>
              <a:gd name="adj" fmla="val 36364"/>
            </a:avLst>
          </a:prstGeom>
          <a:solidFill>
            <a:srgbClr val="EAF3FF"/>
          </a:solidFill>
          <a:ln w="10160">
            <a:solidFill>
              <a:srgbClr val="1D5F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18804" y="1481328"/>
            <a:ext cx="115671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mlp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406640" y="1719072"/>
            <a:ext cx="1211580" cy="201168"/>
          </a:xfrm>
          <a:prstGeom prst="roundRect">
            <a:avLst>
              <a:gd name="adj" fmla="val 36364"/>
            </a:avLst>
          </a:prstGeom>
          <a:solidFill>
            <a:srgbClr val="EAF3FF"/>
          </a:solidFill>
          <a:ln w="10160">
            <a:solidFill>
              <a:srgbClr val="1D5F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34072" y="1737360"/>
            <a:ext cx="115671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gru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691372" y="1719072"/>
            <a:ext cx="1211580" cy="201168"/>
          </a:xfrm>
          <a:prstGeom prst="roundRect">
            <a:avLst>
              <a:gd name="adj" fmla="val 36364"/>
            </a:avLst>
          </a:prstGeom>
          <a:solidFill>
            <a:srgbClr val="EAF3FF"/>
          </a:solidFill>
          <a:ln w="10160">
            <a:solidFill>
              <a:srgbClr val="1D5F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18804" y="1737360"/>
            <a:ext cx="115671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406640" y="1975104"/>
            <a:ext cx="1211580" cy="201168"/>
          </a:xfrm>
          <a:prstGeom prst="roundRect">
            <a:avLst>
              <a:gd name="adj" fmla="val 36364"/>
            </a:avLst>
          </a:prstGeom>
          <a:solidFill>
            <a:srgbClr val="E9F8F7"/>
          </a:solidFill>
          <a:ln w="10160">
            <a:solidFill>
              <a:srgbClr val="008C8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34072" y="1993392"/>
            <a:ext cx="115671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thermal_state_space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691372" y="1975104"/>
            <a:ext cx="1211580" cy="201168"/>
          </a:xfrm>
          <a:prstGeom prst="roundRect">
            <a:avLst>
              <a:gd name="adj" fmla="val 36364"/>
            </a:avLst>
          </a:prstGeom>
          <a:solidFill>
            <a:srgbClr val="E9F8F7"/>
          </a:solidFill>
          <a:ln w="10160">
            <a:solidFill>
              <a:srgbClr val="008C8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18804" y="1993392"/>
            <a:ext cx="115671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graph_rc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406640" y="2212848"/>
            <a:ext cx="2148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Neural ODE / PINN / DeepONet / FNO は対象外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02920" y="278892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6510">
            <a:solidFill>
              <a:srgbClr val="1D5FA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4048" y="2670048"/>
            <a:ext cx="292608" cy="292608"/>
          </a:xfrm>
          <a:prstGeom prst="ellipse">
            <a:avLst/>
          </a:prstGeom>
          <a:solidFill>
            <a:srgbClr val="0A3D76"/>
          </a:solidFill>
          <a:ln w="8890">
            <a:solidFill>
              <a:srgbClr val="0A3D7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612648" y="2862072"/>
            <a:ext cx="1655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</a:t>
            </a:r>
            <a:endParaRPr lang="en-US" sz="1420" dirty="0"/>
          </a:p>
        </p:txBody>
      </p:sp>
      <p:sp>
        <p:nvSpPr>
          <p:cNvPr id="61" name="Shape 59"/>
          <p:cNvSpPr/>
          <p:nvPr/>
        </p:nvSpPr>
        <p:spPr>
          <a:xfrm>
            <a:off x="652882" y="3328416"/>
            <a:ext cx="422453" cy="272125"/>
          </a:xfrm>
          <a:prstGeom prst="rect">
            <a:avLst/>
          </a:prstGeom>
          <a:solidFill>
            <a:srgbClr val="D7EAFE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2998" y="3297692"/>
            <a:ext cx="191110" cy="96561"/>
          </a:xfrm>
          <a:prstGeom prst="rect">
            <a:avLst/>
          </a:prstGeom>
          <a:solidFill>
            <a:srgbClr val="D7EAFE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61288" y="3227832"/>
            <a:ext cx="10972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model_package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予測CSV・学習曲線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rollout/error/graph診断</a:t>
            </a:r>
            <a:endParaRPr lang="en-US" sz="860" dirty="0"/>
          </a:p>
        </p:txBody>
      </p:sp>
      <p:sp>
        <p:nvSpPr>
          <p:cNvPr id="64" name="Shape 62"/>
          <p:cNvSpPr/>
          <p:nvPr/>
        </p:nvSpPr>
        <p:spPr>
          <a:xfrm>
            <a:off x="3063240" y="278892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6510">
            <a:solidFill>
              <a:srgbClr val="1D5FA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44368" y="2670048"/>
            <a:ext cx="292608" cy="292608"/>
          </a:xfrm>
          <a:prstGeom prst="ellipse">
            <a:avLst/>
          </a:prstGeom>
          <a:solidFill>
            <a:srgbClr val="0A3D76"/>
          </a:solidFill>
          <a:ln w="8890">
            <a:solidFill>
              <a:srgbClr val="0A3D7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44368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3172968" y="2862072"/>
            <a:ext cx="1655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推論・monitor</a:t>
            </a:r>
            <a:endParaRPr lang="en-US" sz="1420" dirty="0"/>
          </a:p>
        </p:txBody>
      </p:sp>
      <p:sp>
        <p:nvSpPr>
          <p:cNvPr id="68" name="Shape 66"/>
          <p:cNvSpPr/>
          <p:nvPr/>
        </p:nvSpPr>
        <p:spPr>
          <a:xfrm>
            <a:off x="3172968" y="3218688"/>
            <a:ext cx="502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33318" y="3495203"/>
            <a:ext cx="70409" cy="0"/>
          </a:xfrm>
          <a:prstGeom prst="line">
            <a:avLst/>
          </a:prstGeom>
          <a:noFill/>
          <a:ln w="16510">
            <a:solidFill>
              <a:srgbClr val="008C8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03727" y="3495203"/>
            <a:ext cx="60350" cy="-131674"/>
          </a:xfrm>
          <a:prstGeom prst="line">
            <a:avLst/>
          </a:prstGeom>
          <a:noFill/>
          <a:ln w="16510">
            <a:solidFill>
              <a:srgbClr val="008C8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64078" y="3363529"/>
            <a:ext cx="60350" cy="219456"/>
          </a:xfrm>
          <a:prstGeom prst="line">
            <a:avLst/>
          </a:prstGeom>
          <a:noFill/>
          <a:ln w="16510">
            <a:solidFill>
              <a:srgbClr val="008C8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24428" y="3582985"/>
            <a:ext cx="60350" cy="-166787"/>
          </a:xfrm>
          <a:prstGeom prst="line">
            <a:avLst/>
          </a:prstGeom>
          <a:noFill/>
          <a:ln w="16510">
            <a:solidFill>
              <a:srgbClr val="008C8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84778" y="3416198"/>
            <a:ext cx="90526" cy="0"/>
          </a:xfrm>
          <a:prstGeom prst="line">
            <a:avLst/>
          </a:prstGeom>
          <a:noFill/>
          <a:ln w="16510">
            <a:solidFill>
              <a:srgbClr val="008C8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21608" y="3227832"/>
            <a:ext cx="10972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forecast: schedule_csv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monitor: 実測ログ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resampling・残差監視</a:t>
            </a:r>
            <a:endParaRPr lang="en-US" sz="860" dirty="0"/>
          </a:p>
        </p:txBody>
      </p:sp>
      <p:sp>
        <p:nvSpPr>
          <p:cNvPr id="75" name="Shape 73"/>
          <p:cNvSpPr/>
          <p:nvPr/>
        </p:nvSpPr>
        <p:spPr>
          <a:xfrm>
            <a:off x="5120640" y="278892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6510">
            <a:solidFill>
              <a:srgbClr val="1D5FA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01768" y="2670048"/>
            <a:ext cx="292608" cy="292608"/>
          </a:xfrm>
          <a:prstGeom prst="ellipse">
            <a:avLst/>
          </a:prstGeom>
          <a:solidFill>
            <a:srgbClr val="0A3D76"/>
          </a:solidFill>
          <a:ln w="8890">
            <a:solidFill>
              <a:srgbClr val="0A3D7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01768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5230368" y="2862072"/>
            <a:ext cx="1655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学習・評価</a:t>
            </a:r>
            <a:endParaRPr lang="en-US" sz="1420" dirty="0"/>
          </a:p>
        </p:txBody>
      </p:sp>
      <p:sp>
        <p:nvSpPr>
          <p:cNvPr id="79" name="Shape 77"/>
          <p:cNvSpPr/>
          <p:nvPr/>
        </p:nvSpPr>
        <p:spPr>
          <a:xfrm>
            <a:off x="5230368" y="3218688"/>
            <a:ext cx="502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30952" y="3460090"/>
            <a:ext cx="60350" cy="109728"/>
          </a:xfrm>
          <a:prstGeom prst="rect">
            <a:avLst/>
          </a:prstGeom>
          <a:solidFill>
            <a:srgbClr val="1D5FA7"/>
          </a:solidFill>
          <a:ln w="6350">
            <a:solidFill>
              <a:srgbClr val="1D5FA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1536" y="3372307"/>
            <a:ext cx="60350" cy="197510"/>
          </a:xfrm>
          <a:prstGeom prst="rect">
            <a:avLst/>
          </a:prstGeom>
          <a:solidFill>
            <a:srgbClr val="008C8C"/>
          </a:solidFill>
          <a:ln w="6350">
            <a:solidFill>
              <a:srgbClr val="008C8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32120" y="3306470"/>
            <a:ext cx="60350" cy="263347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79008" y="3227832"/>
            <a:ext cx="10972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one-step / rollout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MAE, RMSE, endpoint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leaderboard・Graph診断</a:t>
            </a:r>
            <a:endParaRPr lang="en-US" sz="860" dirty="0"/>
          </a:p>
        </p:txBody>
      </p:sp>
      <p:sp>
        <p:nvSpPr>
          <p:cNvPr id="84" name="Shape 82"/>
          <p:cNvSpPr/>
          <p:nvPr/>
        </p:nvSpPr>
        <p:spPr>
          <a:xfrm>
            <a:off x="10012680" y="1051560"/>
            <a:ext cx="1874520" cy="3063240"/>
          </a:xfrm>
          <a:prstGeom prst="roundRect">
            <a:avLst>
              <a:gd name="adj" fmla="val 5854"/>
            </a:avLst>
          </a:prstGeom>
          <a:solidFill>
            <a:srgbClr val="E9F8F7"/>
          </a:solidFill>
          <a:ln w="16510">
            <a:solidFill>
              <a:srgbClr val="008C8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149840" y="1170432"/>
            <a:ext cx="1600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0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残差解析・弱補正</a:t>
            </a:r>
            <a:endParaRPr lang="en-US" sz="1340" dirty="0"/>
          </a:p>
        </p:txBody>
      </p:sp>
      <p:sp>
        <p:nvSpPr>
          <p:cNvPr id="86" name="Shape 84"/>
          <p:cNvSpPr/>
          <p:nvPr/>
        </p:nvSpPr>
        <p:spPr>
          <a:xfrm>
            <a:off x="10222992" y="1481328"/>
            <a:ext cx="3840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299802" y="1657350"/>
            <a:ext cx="46086" cy="80010"/>
          </a:xfrm>
          <a:prstGeom prst="rect">
            <a:avLst/>
          </a:prstGeom>
          <a:solidFill>
            <a:srgbClr val="1D5FA7"/>
          </a:solidFill>
          <a:ln w="6350">
            <a:solidFill>
              <a:srgbClr val="1D5FA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376611" y="1593342"/>
            <a:ext cx="46086" cy="144018"/>
          </a:xfrm>
          <a:prstGeom prst="rect">
            <a:avLst/>
          </a:prstGeom>
          <a:solidFill>
            <a:srgbClr val="008C8C"/>
          </a:solidFill>
          <a:ln w="6350">
            <a:solidFill>
              <a:srgbClr val="008C8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453421" y="1545336"/>
            <a:ext cx="46086" cy="192024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661904" y="1444752"/>
            <a:ext cx="71323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base予測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 実測</a:t>
            </a:r>
            <a:endParaRPr lang="en-US" sz="770" dirty="0"/>
          </a:p>
        </p:txBody>
      </p:sp>
      <p:sp>
        <p:nvSpPr>
          <p:cNvPr id="91" name="Shape 89"/>
          <p:cNvSpPr/>
          <p:nvPr/>
        </p:nvSpPr>
        <p:spPr>
          <a:xfrm>
            <a:off x="11393424" y="1627632"/>
            <a:ext cx="219456" cy="0"/>
          </a:xfrm>
          <a:prstGeom prst="line">
            <a:avLst/>
          </a:prstGeom>
          <a:noFill/>
          <a:ln w="20320">
            <a:solidFill>
              <a:srgbClr val="008C8C"/>
            </a:solidFill>
            <a:prstDash val="solid"/>
            <a:headEnd type="none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11649456" y="146304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649456" y="1569720"/>
            <a:ext cx="3200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649456" y="1676400"/>
            <a:ext cx="32004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729466" y="1463040"/>
            <a:ext cx="0" cy="32004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809476" y="1463040"/>
            <a:ext cx="0" cy="32004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89486" y="1463040"/>
            <a:ext cx="0" cy="32004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1356848" y="1874520"/>
            <a:ext cx="868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residual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</a:t>
            </a:r>
            <a:endParaRPr lang="en-US" sz="770" dirty="0"/>
          </a:p>
        </p:txBody>
      </p:sp>
      <p:sp>
        <p:nvSpPr>
          <p:cNvPr id="99" name="Shape 97"/>
          <p:cNvSpPr/>
          <p:nvPr/>
        </p:nvSpPr>
        <p:spPr>
          <a:xfrm>
            <a:off x="10204704" y="2194560"/>
            <a:ext cx="152704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008C8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32136" y="2212848"/>
            <a:ext cx="147218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offset補正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0204704" y="2542032"/>
            <a:ext cx="152704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008C8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232136" y="2560320"/>
            <a:ext cx="147218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EMA slow bias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10204704" y="2889504"/>
            <a:ext cx="1527048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008C8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232136" y="2907792"/>
            <a:ext cx="1472184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必要時のみ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Ridge / Huber residual</a:t>
            </a:r>
            <a:endParaRPr lang="en-US" sz="810" dirty="0"/>
          </a:p>
        </p:txBody>
      </p:sp>
      <p:sp>
        <p:nvSpPr>
          <p:cNvPr id="105" name="Text 103"/>
          <p:cNvSpPr/>
          <p:nvPr/>
        </p:nvSpPr>
        <p:spPr>
          <a:xfrm>
            <a:off x="10168128" y="3511296"/>
            <a:ext cx="16459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補正は小さく・解釈可能に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CAE surrogateを置き換えない</a:t>
            </a:r>
            <a:endParaRPr lang="en-US" sz="810" dirty="0"/>
          </a:p>
        </p:txBody>
      </p:sp>
      <p:sp>
        <p:nvSpPr>
          <p:cNvPr id="106" name="Shape 104"/>
          <p:cNvSpPr/>
          <p:nvPr/>
        </p:nvSpPr>
        <p:spPr>
          <a:xfrm>
            <a:off x="365760" y="5623560"/>
            <a:ext cx="11475720" cy="914400"/>
          </a:xfrm>
          <a:prstGeom prst="roundRect">
            <a:avLst>
              <a:gd name="adj" fmla="val 14000"/>
            </a:avLst>
          </a:prstGeom>
          <a:solidFill>
            <a:srgbClr val="F5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40080" y="5779008"/>
            <a:ext cx="3337560" cy="60350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5240">
            <a:solidFill>
              <a:srgbClr val="1D5FA7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95528" y="5925312"/>
            <a:ext cx="411480" cy="411480"/>
          </a:xfrm>
          <a:prstGeom prst="ellipse">
            <a:avLst/>
          </a:prstGeom>
          <a:solidFill>
            <a:srgbClr val="F1F8FF"/>
          </a:solidFill>
          <a:ln w="15240">
            <a:solidFill>
              <a:srgbClr val="1D5FA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95528" y="5916168"/>
            <a:ext cx="411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5FA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110" name="Text 108"/>
          <p:cNvSpPr/>
          <p:nvPr/>
        </p:nvSpPr>
        <p:spPr>
          <a:xfrm>
            <a:off x="1325880" y="5897880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5FA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少数計測点対応</a:t>
            </a:r>
            <a:endParaRPr lang="en-US" sz="1300" dirty="0"/>
          </a:p>
        </p:txBody>
      </p:sp>
      <p:sp>
        <p:nvSpPr>
          <p:cNvPr id="111" name="Text 109"/>
          <p:cNvSpPr/>
          <p:nvPr/>
        </p:nvSpPr>
        <p:spPr>
          <a:xfrm>
            <a:off x="1325880" y="6172200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3点/4点など柔軟に対応</a:t>
            </a:r>
            <a:endParaRPr lang="en-US" sz="980" dirty="0"/>
          </a:p>
        </p:txBody>
      </p:sp>
      <p:sp>
        <p:nvSpPr>
          <p:cNvPr id="112" name="Shape 110"/>
          <p:cNvSpPr/>
          <p:nvPr/>
        </p:nvSpPr>
        <p:spPr>
          <a:xfrm>
            <a:off x="4251960" y="5779008"/>
            <a:ext cx="3429000" cy="60350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5240">
            <a:solidFill>
              <a:srgbClr val="008C8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407408" y="5925312"/>
            <a:ext cx="411480" cy="411480"/>
          </a:xfrm>
          <a:prstGeom prst="ellipse">
            <a:avLst/>
          </a:prstGeom>
          <a:solidFill>
            <a:srgbClr val="F1F8FF"/>
          </a:solidFill>
          <a:ln w="15240">
            <a:solidFill>
              <a:srgbClr val="008C8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407408" y="5916168"/>
            <a:ext cx="411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◷</a:t>
            </a:r>
            <a:endParaRPr lang="en-US" sz="1800" dirty="0"/>
          </a:p>
        </p:txBody>
      </p:sp>
      <p:sp>
        <p:nvSpPr>
          <p:cNvPr id="115" name="Text 113"/>
          <p:cNvSpPr/>
          <p:nvPr/>
        </p:nvSpPr>
        <p:spPr>
          <a:xfrm>
            <a:off x="4937760" y="5897880"/>
            <a:ext cx="2651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時間変化入力対応</a:t>
            </a: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4937760" y="6172200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定数条件もscheduleも扱う</a:t>
            </a:r>
            <a:endParaRPr lang="en-US" sz="980" dirty="0"/>
          </a:p>
        </p:txBody>
      </p:sp>
      <p:sp>
        <p:nvSpPr>
          <p:cNvPr id="117" name="Shape 115"/>
          <p:cNvSpPr/>
          <p:nvPr/>
        </p:nvSpPr>
        <p:spPr>
          <a:xfrm>
            <a:off x="7955280" y="5779008"/>
            <a:ext cx="3520440" cy="60350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5240">
            <a:solidFill>
              <a:srgbClr val="1D5FA7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110728" y="5925312"/>
            <a:ext cx="411480" cy="411480"/>
          </a:xfrm>
          <a:prstGeom prst="ellipse">
            <a:avLst/>
          </a:prstGeom>
          <a:solidFill>
            <a:srgbClr val="F1F8FF"/>
          </a:solidFill>
          <a:ln w="15240">
            <a:solidFill>
              <a:srgbClr val="1D5FA7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110728" y="5916168"/>
            <a:ext cx="411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5FA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</a:t>
            </a:r>
            <a:endParaRPr lang="en-US" sz="1800" dirty="0"/>
          </a:p>
        </p:txBody>
      </p:sp>
      <p:sp>
        <p:nvSpPr>
          <p:cNvPr id="120" name="Text 118"/>
          <p:cNvSpPr/>
          <p:nvPr/>
        </p:nvSpPr>
        <p:spPr>
          <a:xfrm>
            <a:off x="8641080" y="5897880"/>
            <a:ext cx="2743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5FA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保守しやすい構成</a:t>
            </a:r>
            <a:endParaRPr lang="en-US" sz="1300" dirty="0"/>
          </a:p>
        </p:txBody>
      </p:sp>
      <p:sp>
        <p:nvSpPr>
          <p:cNvPr id="121" name="Text 119"/>
          <p:cNvSpPr/>
          <p:nvPr/>
        </p:nvSpPr>
        <p:spPr>
          <a:xfrm>
            <a:off x="8641080" y="6172200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シンプルなファイル構成で拡張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46304"/>
            <a:ext cx="11567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モデル学習基盤：データ・特徴量・Graph-RC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定数条件／時間変化列のCAEから、少数計測点でも使えるΔT更新モデルを学習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3291840" cy="4983480"/>
          </a:xfrm>
          <a:prstGeom prst="roundRect">
            <a:avLst>
              <a:gd name="adj" fmla="val 3333"/>
            </a:avLst>
          </a:prstGeom>
          <a:solidFill>
            <a:srgbClr val="F5FAFF"/>
          </a:solidFill>
          <a:ln w="16510">
            <a:solidFill>
              <a:srgbClr val="1D5F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124712"/>
            <a:ext cx="307238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データ入力と前処理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CAE CSV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1810512"/>
            <a:ext cx="32689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8718" y="2061972"/>
            <a:ext cx="211226" cy="82296"/>
          </a:xfrm>
          <a:prstGeom prst="rect">
            <a:avLst/>
          </a:prstGeom>
          <a:solidFill>
            <a:srgbClr val="1B9C85"/>
          </a:solidFill>
          <a:ln w="6350">
            <a:solidFill>
              <a:srgbClr val="1B9C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8718" y="2059686"/>
            <a:ext cx="211226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298448" y="1508760"/>
            <a:ext cx="20574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ヘッダーあり/なし/auto対応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ファイル名から条件抽出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CSV内control列があれば優先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sensor_colsで3点/4点を指定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1280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分割・標準化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063240"/>
            <a:ext cx="27432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時刻行ではなくファイル単位split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標準化はtrainのみfit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dt一致チェック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入力範囲外は警告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4480560"/>
            <a:ext cx="27889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state_hist, control_hist, control_next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教師は ΔT = T[t+1] - T[t]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effective control: 一次遅れ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optional rollout loss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0" y="1051560"/>
            <a:ext cx="3749040" cy="49834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6510">
            <a:solidFill>
              <a:srgbClr val="1D5F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1648" y="1124712"/>
            <a:ext cx="352958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モデルラインナップ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4160520" y="1554480"/>
            <a:ext cx="1536192" cy="749808"/>
          </a:xfrm>
          <a:prstGeom prst="roundRect">
            <a:avLst>
              <a:gd name="adj" fmla="val 9756"/>
            </a:avLst>
          </a:prstGeom>
          <a:solidFill>
            <a:srgbClr val="EAF3FF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1627632"/>
            <a:ext cx="14264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linear_rc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4233672" y="1883664"/>
            <a:ext cx="13898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最低限の物理寄りbaseline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5852160" y="1554480"/>
            <a:ext cx="1536192" cy="749808"/>
          </a:xfrm>
          <a:prstGeom prst="roundRect">
            <a:avLst>
              <a:gd name="adj" fmla="val 9756"/>
            </a:avLst>
          </a:prstGeom>
          <a:solidFill>
            <a:srgbClr val="EAF3FF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07024" y="1627632"/>
            <a:ext cx="14264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mlp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5925312" y="1883664"/>
            <a:ext cx="13898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履歴をflattenする軽量NN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4160520" y="2487168"/>
            <a:ext cx="1536192" cy="749808"/>
          </a:xfrm>
          <a:prstGeom prst="roundRect">
            <a:avLst>
              <a:gd name="adj" fmla="val 9756"/>
            </a:avLst>
          </a:prstGeom>
          <a:solidFill>
            <a:srgbClr val="EAF3FF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15384" y="2560320"/>
            <a:ext cx="14264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gru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4233672" y="2816352"/>
            <a:ext cx="13898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control履歴・時定数を扱う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5852160" y="2487168"/>
            <a:ext cx="1536192" cy="749808"/>
          </a:xfrm>
          <a:prstGeom prst="roundRect">
            <a:avLst>
              <a:gd name="adj" fmla="val 9756"/>
            </a:avLst>
          </a:prstGeom>
          <a:solidFill>
            <a:srgbClr val="EAF3FF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07024" y="2560320"/>
            <a:ext cx="14264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tcn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5925312" y="2816352"/>
            <a:ext cx="13898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固定dt時系列に強い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4160520" y="3419856"/>
            <a:ext cx="1536192" cy="749808"/>
          </a:xfrm>
          <a:prstGeom prst="roundRect">
            <a:avLst>
              <a:gd name="adj" fmla="val 9756"/>
            </a:avLst>
          </a:prstGeom>
          <a:solidFill>
            <a:srgbClr val="E9F8F7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15384" y="3493008"/>
            <a:ext cx="14264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thermal_state_space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4233672" y="3749040"/>
            <a:ext cx="13898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主力：平衡温度＋安定減衰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5852160" y="3419856"/>
            <a:ext cx="1536192" cy="749808"/>
          </a:xfrm>
          <a:prstGeom prst="roundRect">
            <a:avLst>
              <a:gd name="adj" fmla="val 9756"/>
            </a:avLst>
          </a:prstGeom>
          <a:solidFill>
            <a:srgbClr val="E9F8F7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07024" y="3493008"/>
            <a:ext cx="14264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graph_rc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5925312" y="3749040"/>
            <a:ext cx="13898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主力：熱抵抗表＋残差補正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4343400" y="4498848"/>
            <a:ext cx="3154680" cy="320040"/>
          </a:xfrm>
          <a:prstGeom prst="roundRect">
            <a:avLst>
              <a:gd name="adj" fmla="val 22857"/>
            </a:avLst>
          </a:prstGeom>
          <a:solidFill>
            <a:srgbClr val="F6F8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517136"/>
            <a:ext cx="30998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Neural ODE / PINN / DeepONet / FNO は対象外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4224528" y="4983480"/>
            <a:ext cx="868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選定基準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251960" y="5239512"/>
            <a:ext cx="2971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rollout RMSE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endpoint error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max abs error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Graph-RC診断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保守性・解釈性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955280" y="1051560"/>
            <a:ext cx="3566160" cy="4983480"/>
          </a:xfrm>
          <a:prstGeom prst="roundRect">
            <a:avLst>
              <a:gd name="adj" fmla="val 3077"/>
            </a:avLst>
          </a:prstGeom>
          <a:solidFill>
            <a:srgbClr val="E9F8F7"/>
          </a:solidFill>
          <a:ln w="16510">
            <a:solidFill>
              <a:srgbClr val="008C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65008" y="1124712"/>
            <a:ext cx="33467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Graph-RC：Cell熱構造の利用</a:t>
            </a:r>
            <a:endParaRPr lang="en-US" sz="1420" dirty="0"/>
          </a:p>
        </p:txBody>
      </p:sp>
      <p:sp>
        <p:nvSpPr>
          <p:cNvPr id="42" name="Shape 40"/>
          <p:cNvSpPr/>
          <p:nvPr/>
        </p:nvSpPr>
        <p:spPr>
          <a:xfrm>
            <a:off x="8885225" y="1726387"/>
            <a:ext cx="21031" cy="58887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06256" y="2315261"/>
            <a:ext cx="-504749" cy="5257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06256" y="2315261"/>
            <a:ext cx="504749" cy="5257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85225" y="1726387"/>
            <a:ext cx="-483718" cy="111465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85225" y="1726387"/>
            <a:ext cx="525780" cy="111465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01507" y="2841041"/>
            <a:ext cx="100949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59038" y="1600200"/>
            <a:ext cx="252374" cy="252374"/>
          </a:xfrm>
          <a:prstGeom prst="ellipse">
            <a:avLst/>
          </a:prstGeom>
          <a:solidFill>
            <a:srgbClr val="C8A2E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1819" y="1852574"/>
            <a:ext cx="546811" cy="1682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8780069" y="2189074"/>
            <a:ext cx="252374" cy="252374"/>
          </a:xfrm>
          <a:prstGeom prst="ellipse">
            <a:avLst/>
          </a:prstGeom>
          <a:solidFill>
            <a:srgbClr val="F87171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32850" y="2441448"/>
            <a:ext cx="546811" cy="1682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Center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8275320" y="2714854"/>
            <a:ext cx="252374" cy="252374"/>
          </a:xfrm>
          <a:prstGeom prst="ellipse">
            <a:avLst/>
          </a:prstGeom>
          <a:solidFill>
            <a:srgbClr val="A7D46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28102" y="2967228"/>
            <a:ext cx="546811" cy="1682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middle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9284818" y="2714854"/>
            <a:ext cx="252374" cy="252374"/>
          </a:xfrm>
          <a:prstGeom prst="ellipse">
            <a:avLst/>
          </a:prstGeom>
          <a:solidFill>
            <a:srgbClr val="FFD166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37599" y="2967228"/>
            <a:ext cx="546811" cy="1682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edge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9646920" y="1481328"/>
            <a:ext cx="1051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 table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646920" y="1783080"/>
            <a:ext cx="15544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sensor名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位置 x/y/z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thermal_mass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plasma/heater/brine 重み</a:t>
            </a:r>
            <a:endParaRPr lang="en-US" sz="870" dirty="0"/>
          </a:p>
        </p:txBody>
      </p:sp>
      <p:sp>
        <p:nvSpPr>
          <p:cNvPr id="58" name="Text 56"/>
          <p:cNvSpPr/>
          <p:nvPr/>
        </p:nvSpPr>
        <p:spPr>
          <a:xfrm>
            <a:off x="9646920" y="2788920"/>
            <a:ext cx="1051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edge table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646920" y="3081528"/>
            <a:ext cx="15544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src / dst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r_th_K_per_W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contact_type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learn or fixed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8275320" y="4187952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1430">
            <a:solidFill>
              <a:srgbClr val="008C8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94192" y="4297680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ΔT_i = 伝導項 + 入熱prior + NN残差</a:t>
            </a:r>
            <a:endParaRPr lang="en-US" sz="1020" dirty="0"/>
          </a:p>
        </p:txBody>
      </p:sp>
      <p:sp>
        <p:nvSpPr>
          <p:cNvPr id="62" name="Text 60"/>
          <p:cNvSpPr/>
          <p:nvPr/>
        </p:nvSpPr>
        <p:spPr>
          <a:xfrm>
            <a:off x="8394192" y="4617720"/>
            <a:ext cx="2468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熱抵抗 → conductance prior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3点サブグラフ対応 / 解釈しやすい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46304"/>
            <a:ext cx="11567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推論・実測モニタリング・残差解析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時間変化入力と実測ログを使い、CAE surrogateを守りながら弱補正する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22192" y="2240280"/>
            <a:ext cx="521208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516368" y="2240280"/>
            <a:ext cx="512064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22192" y="4709160"/>
            <a:ext cx="521208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516368" y="4709160"/>
            <a:ext cx="512064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109728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EAF3FF"/>
          </a:solidFill>
          <a:ln w="16510">
            <a:solidFill>
              <a:srgbClr val="1D5F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170432"/>
            <a:ext cx="30266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forecast：open-loop予測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713232" y="1508760"/>
            <a:ext cx="5303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9302" y="1770278"/>
            <a:ext cx="63642" cy="118872"/>
          </a:xfrm>
          <a:prstGeom prst="rect">
            <a:avLst/>
          </a:prstGeom>
          <a:solidFill>
            <a:srgbClr val="1D5FA7"/>
          </a:solidFill>
          <a:ln w="6350">
            <a:solidFill>
              <a:srgbClr val="1D5F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5373" y="1675181"/>
            <a:ext cx="63642" cy="213970"/>
          </a:xfrm>
          <a:prstGeom prst="rect">
            <a:avLst/>
          </a:prstGeom>
          <a:solidFill>
            <a:srgbClr val="008C8C"/>
          </a:solidFill>
          <a:ln w="6350">
            <a:solidFill>
              <a:srgbClr val="008C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1443" y="1603858"/>
            <a:ext cx="63642" cy="285293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1444752"/>
            <a:ext cx="2011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条件CSV + 初期温度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schedule_csvで時間変化入力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previous / linear 補間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 = T + ΔT を逐次更新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31520" y="2743200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出力: 予測温度時系列・範囲外警告・plot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343400" y="109728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E9F8F7"/>
          </a:solidFill>
          <a:ln w="16510">
            <a:solidFill>
              <a:srgbClr val="008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53128" y="1170432"/>
            <a:ext cx="30266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B. monitor：実測ログ監視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4553712" y="1508760"/>
            <a:ext cx="5303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354" y="1808317"/>
            <a:ext cx="74249" cy="0"/>
          </a:xfrm>
          <a:prstGeom prst="line">
            <a:avLst/>
          </a:prstGeom>
          <a:noFill/>
          <a:ln w="16510">
            <a:solidFill>
              <a:srgbClr val="008C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1604" y="1808317"/>
            <a:ext cx="63642" cy="-142646"/>
          </a:xfrm>
          <a:prstGeom prst="line">
            <a:avLst/>
          </a:prstGeom>
          <a:noFill/>
          <a:ln w="16510">
            <a:solidFill>
              <a:srgbClr val="008C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5246" y="1665671"/>
            <a:ext cx="63642" cy="237744"/>
          </a:xfrm>
          <a:prstGeom prst="line">
            <a:avLst/>
          </a:prstGeom>
          <a:noFill/>
          <a:ln w="16510">
            <a:solidFill>
              <a:srgbClr val="008C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18888" y="1903415"/>
            <a:ext cx="63642" cy="-180685"/>
          </a:xfrm>
          <a:prstGeom prst="line">
            <a:avLst/>
          </a:prstGeom>
          <a:noFill/>
          <a:ln w="16510">
            <a:solidFill>
              <a:srgbClr val="008C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82530" y="1722730"/>
            <a:ext cx="95463" cy="0"/>
          </a:xfrm>
          <a:prstGeom prst="line">
            <a:avLst/>
          </a:prstGeom>
          <a:noFill/>
          <a:ln w="16510">
            <a:solidFill>
              <a:srgbClr val="008C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444752"/>
            <a:ext cx="1874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実測T[t]を状態に使用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T[t+1]を1step予測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実測との差を残差化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resampling対応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4526280" y="2743200"/>
            <a:ext cx="2697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出力: meas / pred / err / residual_mae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046720" y="109728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56448" y="1170432"/>
            <a:ext cx="30266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残差解析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8275320" y="1444752"/>
            <a:ext cx="2743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residual_long.csv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sensor別・phase別・条件別集計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残差 vs 時間 / control / base温度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自己相関・ラグ相関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7532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目的: 補正が必要な理由を先に見える化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02920" y="3703320"/>
            <a:ext cx="32461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6510">
            <a:solidFill>
              <a:srgbClr val="008C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3776472"/>
            <a:ext cx="30266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弱補正の候補</a:t>
            </a:r>
            <a:endParaRPr lang="en-US" sz="1420" dirty="0"/>
          </a:p>
        </p:txBody>
      </p:sp>
      <p:sp>
        <p:nvSpPr>
          <p:cNvPr id="33" name="Shape 31"/>
          <p:cNvSpPr/>
          <p:nvPr/>
        </p:nvSpPr>
        <p:spPr>
          <a:xfrm>
            <a:off x="786384" y="4187952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E9F8F7"/>
          </a:solidFill>
          <a:ln w="10160">
            <a:solidFill>
              <a:srgbClr val="008C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" y="4206240"/>
            <a:ext cx="259689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sensor offset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6384" y="4553712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E9F8F7"/>
          </a:solidFill>
          <a:ln w="10160">
            <a:solidFill>
              <a:srgbClr val="008C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" y="4572000"/>
            <a:ext cx="259689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EMA slow bias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86384" y="4919472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E9F8F7"/>
          </a:solidFill>
          <a:ln w="10160">
            <a:solidFill>
              <a:srgbClr val="008C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" y="4937760"/>
            <a:ext cx="259689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必要時のみ Ridge / Huber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" y="5321808"/>
            <a:ext cx="2606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高自由度MLP補正は原則後段候補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4343400" y="3703320"/>
            <a:ext cx="3246120" cy="1965960"/>
          </a:xfrm>
          <a:prstGeom prst="roundRect">
            <a:avLst>
              <a:gd name="adj" fmla="val 5581"/>
            </a:avLst>
          </a:prstGeom>
          <a:solidFill>
            <a:srgbClr val="F6F8FA"/>
          </a:solidFill>
          <a:ln w="1651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53128" y="3776472"/>
            <a:ext cx="30266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補正の制約</a:t>
            </a:r>
            <a:endParaRPr lang="en-US" sz="1420" dirty="0"/>
          </a:p>
        </p:txBody>
      </p:sp>
      <p:sp>
        <p:nvSpPr>
          <p:cNvPr id="42" name="Text 40"/>
          <p:cNvSpPr/>
          <p:nvPr/>
        </p:nvSpPr>
        <p:spPr>
          <a:xfrm>
            <a:off x="4572000" y="4160520"/>
            <a:ext cx="26974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base modelはfreeze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補正量はclamp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補正前後を両方出力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correction-to-signal ratioを監視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補正が強い場合はCAE/Graph prior見直し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8046720" y="3703320"/>
            <a:ext cx="3246120" cy="1965960"/>
          </a:xfrm>
          <a:prstGeom prst="roundRect">
            <a:avLst>
              <a:gd name="adj" fmla="val 5581"/>
            </a:avLst>
          </a:prstGeom>
          <a:solidFill>
            <a:srgbClr val="F5FAFF"/>
          </a:solidFill>
          <a:ln w="16510">
            <a:solidFill>
              <a:srgbClr val="1D5F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56448" y="3776472"/>
            <a:ext cx="30266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最終出力</a:t>
            </a:r>
            <a:endParaRPr lang="en-US" sz="1420" dirty="0"/>
          </a:p>
        </p:txBody>
      </p:sp>
      <p:sp>
        <p:nvSpPr>
          <p:cNvPr id="45" name="Text 43"/>
          <p:cNvSpPr/>
          <p:nvPr/>
        </p:nvSpPr>
        <p:spPr>
          <a:xfrm>
            <a:off x="8275320" y="4160520"/>
            <a:ext cx="26974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base_T, corr_T, final_T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err_base, err_final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残差summary / 補正量summary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rollout図 / residual plot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model_package / prediction CSV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822960" y="6126480"/>
            <a:ext cx="10561320" cy="411480"/>
          </a:xfrm>
          <a:prstGeom prst="roundRect">
            <a:avLst>
              <a:gd name="adj" fmla="val 17778"/>
            </a:avLst>
          </a:prstGeom>
          <a:solidFill>
            <a:srgbClr val="FFF4C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" y="6199632"/>
            <a:ext cx="10424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運用方針：補正は「小さく・解釈可能に」。CAE surrogate の主役性を維持し、機差・ノイズ・弱い経時biasだけを扱う。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46304"/>
            <a:ext cx="11567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実装基盤：保守しやすいシンプル構成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201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深い階層や重いMLOpsを避け、解析目的に必要なファイルだけで構成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11155680" cy="5349240"/>
          </a:xfrm>
          <a:prstGeom prst="roundRect">
            <a:avLst>
              <a:gd name="adj" fmla="val 2051"/>
            </a:avLst>
          </a:prstGeom>
          <a:solidFill>
            <a:srgbClr val="F5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08760"/>
            <a:ext cx="1965960" cy="4160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1D5F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64208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5FA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configs/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16916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config_train.yaml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config_pred.yml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cell_nodes.csv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cell_edges.csv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017520" y="1508760"/>
            <a:ext cx="1965960" cy="4160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00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664208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src/celltemp/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057400"/>
            <a:ext cx="16916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data.py / preprocess.py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features.py / thermal_graph.py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models.py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train.py / evaluate.py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predict.py / correction.py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897880" y="1508760"/>
            <a:ext cx="1965960" cy="4160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664208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2057400"/>
            <a:ext cx="16916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raw/temp_*.csv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pred/conditions.csv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pred/schedule_csv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monitor_logs/*.csv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778240" y="1508760"/>
            <a:ext cx="1965960" cy="4160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1D5F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1664208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5FA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outputs/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0" y="2057400"/>
            <a:ext cx="16916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runs/&lt;run_name&gt;/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model_package/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predictions/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leaderboard.csv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697480" y="3246120"/>
            <a:ext cx="32004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57800" y="3246120"/>
            <a:ext cx="64008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0" y="3246120"/>
            <a:ext cx="91440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60120" y="5852160"/>
            <a:ext cx="2286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A3D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残すルールは3つだけ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3383280" y="58064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1D5F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5824728"/>
            <a:ext cx="204825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CSVファイル単位で分割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5669280" y="580644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008C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96712" y="5824728"/>
            <a:ext cx="259689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全モデルは標準化済み ΔT を返す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8549640" y="580644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1D5F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77072" y="5824728"/>
            <a:ext cx="213969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model_packageで推論再現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上部Cell温度予測基盤 全体機能とワークフロー</dc:title>
  <dc:subject>上部Cell温度予測基盤 全体機能とワークフロー</dc:subject>
  <dc:creator>OpenAI</dc:creator>
  <cp:lastModifiedBy>OpenAI</cp:lastModifiedBy>
  <cp:revision>1</cp:revision>
  <dcterms:created xsi:type="dcterms:W3CDTF">2026-05-11T00:32:44Z</dcterms:created>
  <dcterms:modified xsi:type="dcterms:W3CDTF">2026-05-11T00:32:44Z</dcterms:modified>
</cp:coreProperties>
</file>