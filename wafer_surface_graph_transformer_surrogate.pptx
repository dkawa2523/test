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2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3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1条件あたり計算時間（概念図）</c:v>
                </c:pt>
              </c:strCache>
            </c:strRef>
          </c:tx>
          <c:spPr>
            <a:solidFill>
              <a:srgbClr val="1F77B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5B677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HF MC 3D</c:v>
                  </c:pt>
                  <c:pt idx="1">
                    <c:v>サロゲート</c:v>
                  </c:pt>
                  <c:pt idx="2">
                    <c:v>可視化/評価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120</c:v>
                </c:pt>
                <c:pt idx="1">
                  <c:v>3</c:v>
                </c:pt>
                <c:pt idx="2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5B677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77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77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edge数（概念）</c:v>
                </c:pt>
              </c:strCache>
            </c:strRef>
          </c:tx>
          <c:spPr>
            <a:solidFill>
              <a:srgbClr val="D6272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5B677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全結合attention</c:v>
                  </c:pt>
                  <c:pt idx="1">
                    <c:v>疎attention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100</c:v>
                </c:pt>
                <c:pt idx="1">
                  <c:v>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5B677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77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77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単峰（例）</c:v>
                </c:pt>
              </c:strCache>
            </c:strRef>
          </c:tx>
          <c:spPr>
            <a:solidFill>
              <a:srgbClr val="C0504D"/>
            </a:solidFill>
            <a:ln w="25400" cap="flat">
              <a:solidFill>
                <a:srgbClr val="C0504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0504D"/>
              </a:solidFill>
              <a:ln w="9525" cap="flat">
                <a:solidFill>
                  <a:srgbClr val="C0504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  <c:pt idx="8">
                    <c:v>8</c:v>
                  </c:pt>
                  <c:pt idx="9">
                    <c:v>9</c:v>
                  </c:pt>
                  <c:pt idx="10">
                    <c:v>10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0.0006134267461370617</c:v>
                </c:pt>
                <c:pt idx="1">
                  <c:v>0.008793628879684868</c:v>
                </c:pt>
                <c:pt idx="2">
                  <c:v>0.06975808901308156</c:v>
                </c:pt>
                <c:pt idx="3">
                  <c:v>0.3062259800580424</c:v>
                </c:pt>
                <c:pt idx="4">
                  <c:v>0.7438930621376465</c:v>
                </c:pt>
                <c:pt idx="5">
                  <c:v>1</c:v>
                </c:pt>
                <c:pt idx="6">
                  <c:v>0.7438930621376465</c:v>
                </c:pt>
                <c:pt idx="7">
                  <c:v>0.3062259800580424</c:v>
                </c:pt>
                <c:pt idx="8">
                  <c:v>0.06975808901308156</c:v>
                </c:pt>
                <c:pt idx="9">
                  <c:v>0.008793628879684868</c:v>
                </c:pt>
                <c:pt idx="10">
                  <c:v>0.0006134267461370617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多峰（例）</c:v>
                </c:pt>
              </c:strCache>
            </c:strRef>
          </c:tx>
          <c:spPr>
            <a:solidFill>
              <a:srgbClr val="4F81BD"/>
            </a:solidFill>
            <a:ln w="25400" cap="flat">
              <a:solidFill>
                <a:srgbClr val="4F81B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4F81BD"/>
              </a:solidFill>
              <a:ln w="9525" cap="flat">
                <a:solidFill>
                  <a:srgbClr val="4F81B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  <c:pt idx="8">
                    <c:v>8</c:v>
                  </c:pt>
                  <c:pt idx="9">
                    <c:v>9</c:v>
                  </c:pt>
                  <c:pt idx="10">
                    <c:v>10</c:v>
                  </c:pt>
                </c:lvl>
              </c:multiLvlStrCache>
            </c:multiLvl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0.0013486249963856876</c:v>
                </c:pt>
                <c:pt idx="1">
                  <c:v>0.0378041500221151</c:v>
                </c:pt>
                <c:pt idx="2">
                  <c:v>0.3083342182484277</c:v>
                </c:pt>
                <c:pt idx="3">
                  <c:v>0.7317088042184505</c:v>
                </c:pt>
                <c:pt idx="4">
                  <c:v>0.5054133459538915</c:v>
                </c:pt>
                <c:pt idx="5">
                  <c:v>0.11403826191344636</c:v>
                </c:pt>
                <c:pt idx="6">
                  <c:v>0.18449207684754007</c:v>
                </c:pt>
                <c:pt idx="7">
                  <c:v>0.5331791909002995</c:v>
                </c:pt>
                <c:pt idx="8">
                  <c:v>0.33359236221905875</c:v>
                </c:pt>
                <c:pt idx="9">
                  <c:v>0.04375773051405805</c:v>
                </c:pt>
                <c:pt idx="10">
                  <c:v>0.0012031201153018224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77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dash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77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ViennaPSのレベルセット+MCレイトレーシング統合の説明: https://www.sciencedirect.com/science/article/pii/S2352711025004194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Level set / Fast marching 解説（MIT 18.086）: https://math.mit.edu/classes/18.086/2006/am57.pdf
- 半導体プロセスにおけるレベルセットの位置づけ（Sethian/Adalsteinsson）: https://math.berkeley.edu/~sethian/2006/Papers/sethian.vmic.june.1996.pdf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DRIE: narrow band level set + Monte Carlo（Micromachines 2018）: https://www.mdpi.com/2072-666X/9/2/74
- Etching/Deposition modeling with level set（Sethian/Adalsteinsson）: https://math.berkeley.edu/~sethian/2006/Papers/sethian.vmic.june.1996.pdf
- ViennaPS（レベルセット+H-RLE、MCレイトレーシング）: https://www.sciencedirect.com/science/article/pii/S2352711025004194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Marching Cubes（Lorensen &amp; Cline 1987）: https://www.cs.toronto.edu/~jacobson/seminar/lorenson-and-cline-1987.pdf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可視性推定をSDFの距離意味で高速化（L-Tracing, ECCV 2022）: https://www.ecva.net/papers/eccv_2022/papers_ECCV/papers/136750214.pdf
- MCレイトレーシングでview factor相関を学習（例）: https://arxiv.org/pdf/2304.02707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Graphormer（NeurIPS 2021 / arXiv 2106.05234）: https://arxiv.org/abs/2106.05234
- Point Transformer（ICCV 2021）: https://openaccess.thecvf.com/content/ICCV2021/papers/Zhao_Point_Transformer_ICCV_2021_paper.pdf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Graphormer（Transformerをグラフへ適用する際の構造エンコードの重要性）: https://arxiv.org/abs/2106.05234
- Point Transformer（点群向け注意機構の設計例）: https://openaccess.thecvf.com/content/ICCV2021/papers/Zhao_Point_Transformer_ICCV_2021_paper.pdf
- MeshGraphNets（メッシュ/グラフ上での物理ダイナミクス学習）: https://arxiv.org/abs/2010.03409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Learning Using Privileged Information（Vapnik, JMLR 2015）: https://jmlr.org/papers/volume16/vapnik15b/vapnik15b.pdf
- Knowledge Distillation（Hinton et al., 2015）: https://arxiv.org/abs/1503.02531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sbi reloaded（JOSS 2025）: https://joss.theoj.org/papers/10.21105/joss.07754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ViennaPS（レベルセット+H-RLE、MCレイトレーシング）: https://www.sciencedirect.com/science/article/pii/S2352711025004194
- Graphormer: https://arxiv.org/abs/2106.05234
- Point Transformer: https://openaccess.thecvf.com/content/ICCV2021/papers/Zhao_Point_Transformer_ICCV_2021_paper.pdf
- sbi reloaded: https://joss.theoj.org/papers/10.21105/joss.07754
- Marching Cubes: https://www.cs.toronto.edu/~jacobson/seminar/lorenson-and-cline-1987.pdf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371600"/>
            <a:ext cx="1118585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4AA3D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形状シミュレーションサロゲート（2位案）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02920" y="2148840"/>
            <a:ext cx="111858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表面 Graph Transformer + 非局所結合 + SDF（レベルセット）更新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02920" y="3017520"/>
            <a:ext cx="2090867" cy="731520"/>
          </a:xfrm>
          <a:prstGeom prst="roundRect">
            <a:avLst/>
          </a:prstGeom>
          <a:solidFill>
            <a:srgbClr val="EDE7F6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12648" y="3063240"/>
            <a:ext cx="1871411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MC/voxel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593787" y="3383280"/>
            <a:ext cx="182880" cy="0"/>
          </a:xfrm>
          <a:prstGeom prst="line">
            <a:avLst/>
          </a:prstGeom>
          <a:noFill/>
          <a:ln w="25400">
            <a:solidFill>
              <a:srgbClr val="1F77B4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776667" y="3017520"/>
            <a:ext cx="2090867" cy="731520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886395" y="3063240"/>
            <a:ext cx="1871411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SDF化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867534" y="3383280"/>
            <a:ext cx="182880" cy="0"/>
          </a:xfrm>
          <a:prstGeom prst="line">
            <a:avLst/>
          </a:prstGeom>
          <a:noFill/>
          <a:ln w="25400">
            <a:solidFill>
              <a:srgbClr val="1F77B4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050414" y="3017520"/>
            <a:ext cx="2090867" cy="73152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60142" y="3063240"/>
            <a:ext cx="1871411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表面化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141281" y="3383280"/>
            <a:ext cx="182880" cy="0"/>
          </a:xfrm>
          <a:prstGeom prst="line">
            <a:avLst/>
          </a:prstGeom>
          <a:noFill/>
          <a:ln w="25400">
            <a:solidFill>
              <a:srgbClr val="1F77B4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7324161" y="3017520"/>
            <a:ext cx="2090867" cy="731520"/>
          </a:xfrm>
          <a:prstGeom prst="roundRect">
            <a:avLst/>
          </a:prstGeom>
          <a:solidFill>
            <a:srgbClr val="FFF3E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33889" y="3063240"/>
            <a:ext cx="1871411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Graph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Transformer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415028" y="3383280"/>
            <a:ext cx="182880" cy="0"/>
          </a:xfrm>
          <a:prstGeom prst="line">
            <a:avLst/>
          </a:prstGeom>
          <a:noFill/>
          <a:ln w="25400">
            <a:solidFill>
              <a:srgbClr val="1F77B4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9597908" y="3017520"/>
            <a:ext cx="2090867" cy="731520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707636" y="3063240"/>
            <a:ext cx="1871411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SDF更新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02920" y="4023360"/>
            <a:ext cx="111858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対象：MC粒子フラックス×voxel表面の3D形状シミュレーションを高速代替し、SEMで未知パラメータを同定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6611112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© Project: 形状シミュレーション — Manager-ready overview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118585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AA3D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背景：現状の高忠実度シミュレーションと課題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11185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MC（粒子）×voxel（表面）で物理は豊富だが、探索・同定に時間が掛かる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2920" y="932688"/>
            <a:ext cx="11185855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005840"/>
            <a:ext cx="5806440" cy="5257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38100" dist="1524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1097280"/>
            <a:ext cx="5440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現状（MC/voxel）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1554480"/>
            <a:ext cx="2011680" cy="594360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2688" y="1600200"/>
            <a:ext cx="17922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フラックス：粒子MC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22960" y="2240280"/>
            <a:ext cx="2011680" cy="59436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2688" y="2286000"/>
            <a:ext cx="17922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表面：voxel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22960" y="2926080"/>
            <a:ext cx="2011680" cy="594360"/>
          </a:xfrm>
          <a:prstGeom prst="roundRect">
            <a:avLst/>
          </a:prstGeom>
          <a:solidFill>
            <a:srgbClr val="FFF3E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2971800"/>
            <a:ext cx="17922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反応：エッチ/デポ/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スパッタ/反射/拡散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22960" y="3657600"/>
            <a:ext cx="2011680" cy="594360"/>
          </a:xfrm>
          <a:prstGeom prst="roundRect">
            <a:avLst/>
          </a:prstGeom>
          <a:solidFill>
            <a:srgbClr val="F3E5F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32688" y="3703320"/>
            <a:ext cx="17922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出力：時間発展→最終形状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108960" y="1508760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課題（プロジェクト与件）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108960" y="1874520"/>
            <a:ext cx="306324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3D計算：1条件あたり2時間以上＋メモリ重い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入力変数が多く、学習データが膨大になりがち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実測は主にSEM最終形状のみ→不足物理が特定しづらい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装置ノブと形状が直結しない（探索・同定が難しい）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過去：1万条件規模の学習でも運用コスト高・実測再現困難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492240" y="1005840"/>
            <a:ext cx="5196535" cy="5257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38100" dist="15240" dir="27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675120" y="1097280"/>
            <a:ext cx="483077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サロゲートに求めること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675120" y="1554480"/>
            <a:ext cx="2278228" cy="502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CA02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75120" y="1673352"/>
            <a:ext cx="22782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高速推論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9227668" y="1554480"/>
            <a:ext cx="2278228" cy="502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CA02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27668" y="1673352"/>
            <a:ext cx="22782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時間発展出力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675120" y="2240280"/>
            <a:ext cx="2278228" cy="502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CA02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75120" y="2359152"/>
            <a:ext cx="22782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形状連続性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9227668" y="2240280"/>
            <a:ext cx="2278228" cy="502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CA02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227668" y="2359152"/>
            <a:ext cx="22782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少データ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675120" y="2926080"/>
            <a:ext cx="2278228" cy="502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F77B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75120" y="3044952"/>
            <a:ext cx="22782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SEM吸収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9227668" y="2926080"/>
            <a:ext cx="2278228" cy="502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7F0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227668" y="3044952"/>
            <a:ext cx="22782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原因分解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675120" y="3840480"/>
            <a:ext cx="4830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体積を直接学習せず、表面＋非局所性を効率よく表現する設計が有効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" y="6611112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Surface Graph Transformer + Nonlocal Coupling + SDF update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118585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AA3D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本コード（サロゲート）なしの場合の課題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11185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探索・同定・条件スイープが高忠実度MCに縛られ、意思決定が遅れる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2920" y="932688"/>
            <a:ext cx="11185855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005840"/>
            <a:ext cx="5806440" cy="5257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38100" dist="1524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1097280"/>
            <a:ext cx="5440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意思決定ループの遅延（例）</a:t>
            </a:r>
            <a:endParaRPr lang="en-US" sz="14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868680" y="1783080"/>
          <a:ext cx="512064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868680" y="489204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※MCは「2時間以上」がボトルネック。サロゲートは分オーダーを狙う。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492240" y="1005840"/>
            <a:ext cx="5196535" cy="5257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38100" dist="15240" dir="27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675120" y="1097280"/>
            <a:ext cx="483077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起きること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675120" y="1645920"/>
            <a:ext cx="5013655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装置条件の探索（レシピ探索）が遅い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SEMに合うパラメータ同定が回せない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条件数が増えず、原因切り分けが進まない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学習データ作成に計算資源が固定化される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6675120" y="3886200"/>
            <a:ext cx="5013655" cy="548640"/>
          </a:xfrm>
          <a:prstGeom prst="roundRect">
            <a:avLst/>
          </a:prstGeom>
          <a:solidFill>
            <a:srgbClr val="FFF3E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784848" y="3931920"/>
            <a:ext cx="479419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（遅い） 予測 → 実験/SEM → 調整 → 再計算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858000" y="4572000"/>
            <a:ext cx="4647895" cy="1463040"/>
          </a:xfrm>
          <a:prstGeom prst="arc">
            <a:avLst/>
          </a:prstGeom>
          <a:noFill/>
          <a:ln w="25400">
            <a:solidFill>
              <a:srgbClr val="1F77B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675120" y="5897880"/>
            <a:ext cx="50136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6272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MCが律速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02920" y="6611112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Surface Graph Transformer + Nonlocal Coupling + SDF update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118585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AA3D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提案：表面中心サロゲートの全体像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11185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表面Graph TransformerでVnを推定し、SDF（レベルセット）で形状を安定更新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2920" y="932688"/>
            <a:ext cx="11185855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371600"/>
            <a:ext cx="2054291" cy="914400"/>
          </a:xfrm>
          <a:prstGeom prst="roundRect">
            <a:avLst/>
          </a:prstGeom>
          <a:solidFill>
            <a:srgbClr val="EDE7F6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12648" y="1417320"/>
            <a:ext cx="183483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HF MC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(voxel+粒子)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557211" y="1828800"/>
            <a:ext cx="228600" cy="0"/>
          </a:xfrm>
          <a:prstGeom prst="line">
            <a:avLst/>
          </a:prstGeom>
          <a:noFill/>
          <a:ln w="25400">
            <a:solidFill>
              <a:srgbClr val="1F77B4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785811" y="1371600"/>
            <a:ext cx="2054291" cy="914400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95539" y="1417320"/>
            <a:ext cx="183483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SDF化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φ(x,t)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840102" y="1828800"/>
            <a:ext cx="228600" cy="0"/>
          </a:xfrm>
          <a:prstGeom prst="line">
            <a:avLst/>
          </a:prstGeom>
          <a:noFill/>
          <a:ln w="25400">
            <a:solidFill>
              <a:srgbClr val="1F77B4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068702" y="1371600"/>
            <a:ext cx="2054291" cy="91440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78430" y="1417320"/>
            <a:ext cx="183483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表面化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mesh/points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122993" y="1828800"/>
            <a:ext cx="228600" cy="0"/>
          </a:xfrm>
          <a:prstGeom prst="line">
            <a:avLst/>
          </a:prstGeom>
          <a:noFill/>
          <a:ln w="25400">
            <a:solidFill>
              <a:srgbClr val="1F77B4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351593" y="1371600"/>
            <a:ext cx="2054291" cy="914400"/>
          </a:xfrm>
          <a:prstGeom prst="roundRect">
            <a:avLst/>
          </a:prstGeom>
          <a:solidFill>
            <a:srgbClr val="FFF3E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61321" y="1417320"/>
            <a:ext cx="183483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Graph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Transformer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405884" y="1828800"/>
            <a:ext cx="228600" cy="0"/>
          </a:xfrm>
          <a:prstGeom prst="line">
            <a:avLst/>
          </a:prstGeom>
          <a:noFill/>
          <a:ln w="25400">
            <a:solidFill>
              <a:srgbClr val="1F77B4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9634484" y="1371600"/>
            <a:ext cx="2054291" cy="914400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744212" y="1417320"/>
            <a:ext cx="183483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SDF更新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(level-set)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02920" y="2560320"/>
            <a:ext cx="11185855" cy="3611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38100" dist="15240" dir="27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85800" y="2651760"/>
            <a:ext cx="108200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学習・推論・同定（高速ループ）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77240" y="2926080"/>
            <a:ext cx="2743200" cy="594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86968" y="2971800"/>
            <a:ext cx="25237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表面特徴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(pos, normal, κ, vis)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840480" y="2926080"/>
            <a:ext cx="2926080" cy="59436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950208" y="2971800"/>
            <a:ext cx="27066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Vn予測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(Graph Transformer)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132320" y="2926080"/>
            <a:ext cx="3108960" cy="59436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242048" y="2971800"/>
            <a:ext cx="28895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SDF更新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φ←φ-dt·Vn|∇φ|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520440" y="3227832"/>
            <a:ext cx="320040" cy="0"/>
          </a:xfrm>
          <a:prstGeom prst="line">
            <a:avLst/>
          </a:prstGeom>
          <a:noFill/>
          <a:ln w="25400">
            <a:solidFill>
              <a:srgbClr val="1F77B4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766560" y="3227832"/>
            <a:ext cx="365760" cy="0"/>
          </a:xfrm>
          <a:prstGeom prst="line">
            <a:avLst/>
          </a:prstGeom>
          <a:noFill/>
          <a:ln w="25400">
            <a:solidFill>
              <a:srgbClr val="1F77B4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8686800" y="3520440"/>
            <a:ext cx="0" cy="777240"/>
          </a:xfrm>
          <a:prstGeom prst="line">
            <a:avLst/>
          </a:prstGeom>
          <a:noFill/>
          <a:ln w="25400">
            <a:solidFill>
              <a:srgbClr val="1F77B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520440" y="4297680"/>
            <a:ext cx="5166360" cy="0"/>
          </a:xfrm>
          <a:prstGeom prst="line">
            <a:avLst/>
          </a:prstGeom>
          <a:noFill/>
          <a:ln w="25400">
            <a:solidFill>
              <a:srgbClr val="1F77B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520440" y="4297680"/>
            <a:ext cx="0" cy="-502920"/>
          </a:xfrm>
          <a:prstGeom prst="line">
            <a:avLst/>
          </a:prstGeom>
          <a:noFill/>
          <a:ln w="25400">
            <a:solidFill>
              <a:srgbClr val="1F77B4"/>
            </a:solidFill>
            <a:prstDash val="solid"/>
            <a:tailEnd type="triangle"/>
          </a:ln>
        </p:spPr>
      </p:sp>
      <p:sp>
        <p:nvSpPr>
          <p:cNvPr id="32" name="Text 30"/>
          <p:cNvSpPr/>
          <p:nvPr/>
        </p:nvSpPr>
        <p:spPr>
          <a:xfrm>
            <a:off x="3703320" y="47091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繰り返し（時間発展）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777240" y="4892040"/>
            <a:ext cx="365760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86968" y="4937760"/>
            <a:ext cx="34381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実測SEM→特徴抽出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(CD/角度/曲率...)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754880" y="4892040"/>
            <a:ext cx="3291840" cy="5943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64608" y="4937760"/>
            <a:ext cx="30723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潜在 z 同定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(MAP / SBI)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8321040" y="4892040"/>
            <a:ext cx="192024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430768" y="4937760"/>
            <a:ext cx="17007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z固定で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推論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434840" y="5193792"/>
            <a:ext cx="320040" cy="0"/>
          </a:xfrm>
          <a:prstGeom prst="line">
            <a:avLst/>
          </a:prstGeom>
          <a:noFill/>
          <a:ln w="25400">
            <a:solidFill>
              <a:srgbClr val="FF7F0E"/>
            </a:solidFill>
            <a:prstDash val="solid"/>
            <a:headEnd type="none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8046720" y="5193792"/>
            <a:ext cx="274320" cy="0"/>
          </a:xfrm>
          <a:prstGeom prst="line">
            <a:avLst/>
          </a:prstGeom>
          <a:noFill/>
          <a:ln w="25400">
            <a:solidFill>
              <a:srgbClr val="FF7F0E"/>
            </a:solidFill>
            <a:prstDash val="solid"/>
            <a:headEnd type="none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8321040" y="5669280"/>
            <a:ext cx="1920240" cy="64008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430768" y="5715000"/>
            <a:ext cx="17007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出力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断面/3D/指標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9281160" y="5486400"/>
            <a:ext cx="0" cy="182880"/>
          </a:xfrm>
          <a:prstGeom prst="line">
            <a:avLst/>
          </a:prstGeom>
          <a:noFill/>
          <a:ln w="25400">
            <a:solidFill>
              <a:srgbClr val="2CA02C"/>
            </a:solidFill>
            <a:prstDash val="solid"/>
            <a:headEnd type="none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02920" y="6611112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Surface Graph Transformer + Nonlocal Coupling + SDF update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118585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AA3D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Voxel → 表面データ化の効果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11185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体積 O(N^3) から表面 O(N^2) へ：計算・メモリのスケール則を変える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2920" y="932688"/>
            <a:ext cx="11185855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005840"/>
            <a:ext cx="5806440" cy="5257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38100" dist="1524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1097280"/>
            <a:ext cx="5440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概念図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60120" y="1691640"/>
            <a:ext cx="219456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325880" y="1691640"/>
            <a:ext cx="0" cy="219456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0120" y="2057400"/>
            <a:ext cx="219456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691640" y="1691640"/>
            <a:ext cx="0" cy="219456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60120" y="2423160"/>
            <a:ext cx="219456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057400" y="1691640"/>
            <a:ext cx="0" cy="219456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60120" y="2788920"/>
            <a:ext cx="219456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423160" y="1691640"/>
            <a:ext cx="0" cy="219456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0120" y="3154680"/>
            <a:ext cx="219456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88920" y="1691640"/>
            <a:ext cx="0" cy="219456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60120" y="3520440"/>
            <a:ext cx="219456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325880" y="2057400"/>
            <a:ext cx="365760" cy="365760"/>
          </a:xfrm>
          <a:prstGeom prst="rect">
            <a:avLst/>
          </a:prstGeom>
          <a:solidFill>
            <a:srgbClr val="C7E7FF"/>
          </a:solidFill>
          <a:ln w="12700">
            <a:solidFill>
              <a:srgbClr val="C7E7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057400" y="3154680"/>
            <a:ext cx="365760" cy="365760"/>
          </a:xfrm>
          <a:prstGeom prst="rect">
            <a:avLst/>
          </a:prstGeom>
          <a:solidFill>
            <a:srgbClr val="C7E7FF"/>
          </a:solidFill>
          <a:ln w="12700">
            <a:solidFill>
              <a:srgbClr val="C7E7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423160" y="2788920"/>
            <a:ext cx="365760" cy="365760"/>
          </a:xfrm>
          <a:prstGeom prst="rect">
            <a:avLst/>
          </a:prstGeom>
          <a:solidFill>
            <a:srgbClr val="C7E7FF"/>
          </a:solidFill>
          <a:ln w="12700">
            <a:solidFill>
              <a:srgbClr val="C7E7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0120" y="402336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Voxel（体積）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計算点 ~ N³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794760" y="1691640"/>
            <a:ext cx="219456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977640" y="1965960"/>
            <a:ext cx="1828800" cy="-109728"/>
          </a:xfrm>
          <a:prstGeom prst="line">
            <a:avLst/>
          </a:prstGeom>
          <a:noFill/>
          <a:ln w="25400">
            <a:solidFill>
              <a:srgbClr val="9CD3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977640" y="2286000"/>
            <a:ext cx="1828800" cy="-54864"/>
          </a:xfrm>
          <a:prstGeom prst="line">
            <a:avLst/>
          </a:prstGeom>
          <a:noFill/>
          <a:ln w="25400">
            <a:solidFill>
              <a:srgbClr val="9CD3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977640" y="2606040"/>
            <a:ext cx="1828800" cy="-109728"/>
          </a:xfrm>
          <a:prstGeom prst="line">
            <a:avLst/>
          </a:prstGeom>
          <a:noFill/>
          <a:ln w="25400">
            <a:solidFill>
              <a:srgbClr val="9CD3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977640" y="2926080"/>
            <a:ext cx="1828800" cy="-54864"/>
          </a:xfrm>
          <a:prstGeom prst="line">
            <a:avLst/>
          </a:prstGeom>
          <a:noFill/>
          <a:ln w="25400">
            <a:solidFill>
              <a:srgbClr val="9CD3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977640" y="3246120"/>
            <a:ext cx="1828800" cy="-109728"/>
          </a:xfrm>
          <a:prstGeom prst="line">
            <a:avLst/>
          </a:prstGeom>
          <a:noFill/>
          <a:ln w="25400">
            <a:solidFill>
              <a:srgbClr val="9CD3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023360" y="1920240"/>
            <a:ext cx="822960" cy="1737360"/>
          </a:xfrm>
          <a:prstGeom prst="line">
            <a:avLst/>
          </a:prstGeom>
          <a:noFill/>
          <a:ln w="12700">
            <a:solidFill>
              <a:srgbClr val="D1FAE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343400" y="1920240"/>
            <a:ext cx="822960" cy="1737360"/>
          </a:xfrm>
          <a:prstGeom prst="line">
            <a:avLst/>
          </a:prstGeom>
          <a:noFill/>
          <a:ln w="12700">
            <a:solidFill>
              <a:srgbClr val="D1FAE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63440" y="1920240"/>
            <a:ext cx="822960" cy="1737360"/>
          </a:xfrm>
          <a:prstGeom prst="line">
            <a:avLst/>
          </a:prstGeom>
          <a:noFill/>
          <a:ln w="12700">
            <a:solidFill>
              <a:srgbClr val="D1FAE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983480" y="1920240"/>
            <a:ext cx="822960" cy="1737360"/>
          </a:xfrm>
          <a:prstGeom prst="line">
            <a:avLst/>
          </a:prstGeom>
          <a:noFill/>
          <a:ln w="12700">
            <a:solidFill>
              <a:srgbClr val="D1FAE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303520" y="1920240"/>
            <a:ext cx="822960" cy="1737360"/>
          </a:xfrm>
          <a:prstGeom prst="line">
            <a:avLst/>
          </a:prstGeom>
          <a:noFill/>
          <a:ln w="12700">
            <a:solidFill>
              <a:srgbClr val="D1FAE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623560" y="1920240"/>
            <a:ext cx="822960" cy="1737360"/>
          </a:xfrm>
          <a:prstGeom prst="line">
            <a:avLst/>
          </a:prstGeom>
          <a:noFill/>
          <a:ln w="12700">
            <a:solidFill>
              <a:srgbClr val="D1FAE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794760" y="402336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表面（mesh/点群）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計算点 ~ N²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3429000" y="2788920"/>
            <a:ext cx="91440" cy="0"/>
          </a:xfrm>
          <a:prstGeom prst="line">
            <a:avLst/>
          </a:prstGeom>
          <a:noFill/>
          <a:ln w="25400">
            <a:solidFill>
              <a:srgbClr val="FF7F0E"/>
            </a:solidFill>
            <a:prstDash val="solid"/>
            <a:headEnd type="none"/>
            <a:tailEnd type="triangle"/>
          </a:ln>
        </p:spPr>
      </p:sp>
      <p:sp>
        <p:nvSpPr>
          <p:cNvPr id="36" name="Text 34"/>
          <p:cNvSpPr/>
          <p:nvPr/>
        </p:nvSpPr>
        <p:spPr>
          <a:xfrm>
            <a:off x="3429000" y="2468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表面化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492240" y="1005840"/>
            <a:ext cx="5196535" cy="5257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38100" dist="15240" dir="2700000">
              <a:srgbClr val="000000">
                <a:alpha val="12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6675120" y="1097280"/>
            <a:ext cx="483077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実務上の効果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6675120" y="1691640"/>
            <a:ext cx="1604370" cy="347472"/>
          </a:xfrm>
          <a:prstGeom prst="rect">
            <a:avLst/>
          </a:prstGeom>
          <a:solidFill>
            <a:srgbClr val="E9F3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729984" y="1737360"/>
            <a:ext cx="149464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観点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8279490" y="1691640"/>
            <a:ext cx="3409286" cy="347472"/>
          </a:xfrm>
          <a:prstGeom prst="rect">
            <a:avLst/>
          </a:prstGeom>
          <a:solidFill>
            <a:srgbClr val="E9F3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334354" y="1737360"/>
            <a:ext cx="329955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表面中心の利点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6675120" y="2039112"/>
            <a:ext cx="1604370" cy="77175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729984" y="2084832"/>
            <a:ext cx="1494642" cy="6803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計算/メモリ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8279490" y="2039112"/>
            <a:ext cx="3409286" cy="77175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334354" y="2084832"/>
            <a:ext cx="3299558" cy="6803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体積(N³)→表面(N²)。エッジ数でさらに制御。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6675120" y="2810866"/>
            <a:ext cx="1604370" cy="77175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729984" y="2856586"/>
            <a:ext cx="1494642" cy="6803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非局所性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8279490" y="2810866"/>
            <a:ext cx="3409286" cy="77175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334354" y="2856586"/>
            <a:ext cx="3299558" cy="6803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反射・遮蔽を「表面点間結合」として表現しやすい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6675120" y="3582619"/>
            <a:ext cx="1604370" cy="77175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729984" y="3628339"/>
            <a:ext cx="1494642" cy="6803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微細丸み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8279490" y="3582619"/>
            <a:ext cx="3409286" cy="77175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334354" y="3628339"/>
            <a:ext cx="3299558" cy="6803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法線・曲率を直接特徴にできる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6675120" y="4354373"/>
            <a:ext cx="1604370" cy="77175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729984" y="4400093"/>
            <a:ext cx="1494642" cy="6803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学習データ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8279490" y="4354373"/>
            <a:ext cx="3409286" cy="77175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334354" y="4400093"/>
            <a:ext cx="3299558" cy="6803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表面パッチで大量サンプル化しやすい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6675120" y="5126126"/>
            <a:ext cx="1604370" cy="77175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729984" y="5171846"/>
            <a:ext cx="1494642" cy="6803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運用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8279490" y="5126126"/>
            <a:ext cx="3409286" cy="77175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334354" y="5171846"/>
            <a:ext cx="3299558" cy="6803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SDF更新で位相変化・自己交差を回避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6675120" y="5989320"/>
            <a:ext cx="50136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※更新の安定性はSDF（レベルセット）が担保</a:t>
            </a:r>
            <a:endParaRPr lang="en-US" sz="1200" dirty="0"/>
          </a:p>
        </p:txBody>
      </p:sp>
      <p:sp>
        <p:nvSpPr>
          <p:cNvPr id="64" name="Shape 6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02920" y="6611112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Surface Graph Transformer + Nonlocal Coupling + SDF update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118585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AA3D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SDF（Signed Distance Field）を“更新基盤”にする理由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11185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表面モデルの弱点（自己交差・位相変化・再メッシュ）をSDF更新で解決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2920" y="932688"/>
            <a:ext cx="11185855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005840"/>
            <a:ext cx="5806440" cy="5257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38100" dist="1524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1097280"/>
            <a:ext cx="5440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SDFの直感（2D断面イメージ）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051560" y="1645920"/>
            <a:ext cx="530352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508760" y="4206240"/>
            <a:ext cx="822960" cy="-640080"/>
          </a:xfrm>
          <a:prstGeom prst="line">
            <a:avLst/>
          </a:prstGeom>
          <a:noFill/>
          <a:ln w="50800">
            <a:solidFill>
              <a:srgbClr val="1F77B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331720" y="3566160"/>
            <a:ext cx="822960" cy="-365760"/>
          </a:xfrm>
          <a:prstGeom prst="line">
            <a:avLst/>
          </a:prstGeom>
          <a:noFill/>
          <a:ln w="50800">
            <a:solidFill>
              <a:srgbClr val="1F77B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154680" y="3200400"/>
            <a:ext cx="822960" cy="-182880"/>
          </a:xfrm>
          <a:prstGeom prst="line">
            <a:avLst/>
          </a:prstGeom>
          <a:noFill/>
          <a:ln w="50800">
            <a:solidFill>
              <a:srgbClr val="1F77B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977640" y="3017520"/>
            <a:ext cx="914400" cy="91440"/>
          </a:xfrm>
          <a:prstGeom prst="line">
            <a:avLst/>
          </a:prstGeom>
          <a:noFill/>
          <a:ln w="50800">
            <a:solidFill>
              <a:srgbClr val="1F77B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92040" y="3108960"/>
            <a:ext cx="914400" cy="365760"/>
          </a:xfrm>
          <a:prstGeom prst="line">
            <a:avLst/>
          </a:prstGeom>
          <a:noFill/>
          <a:ln w="50800">
            <a:solidFill>
              <a:srgbClr val="1F77B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508760" y="4041648"/>
            <a:ext cx="822960" cy="-640080"/>
          </a:xfrm>
          <a:prstGeom prst="line">
            <a:avLst/>
          </a:prstGeom>
          <a:noFill/>
          <a:ln w="12700">
            <a:solidFill>
              <a:srgbClr val="DCEBF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08760" y="4370832"/>
            <a:ext cx="822960" cy="-640080"/>
          </a:xfrm>
          <a:prstGeom prst="line">
            <a:avLst/>
          </a:prstGeom>
          <a:noFill/>
          <a:ln w="12700">
            <a:solidFill>
              <a:srgbClr val="E7F6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331720" y="3401568"/>
            <a:ext cx="822960" cy="-365760"/>
          </a:xfrm>
          <a:prstGeom prst="line">
            <a:avLst/>
          </a:prstGeom>
          <a:noFill/>
          <a:ln w="12700">
            <a:solidFill>
              <a:srgbClr val="DCEBF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331720" y="3730752"/>
            <a:ext cx="822960" cy="-365760"/>
          </a:xfrm>
          <a:prstGeom prst="line">
            <a:avLst/>
          </a:prstGeom>
          <a:noFill/>
          <a:ln w="12700">
            <a:solidFill>
              <a:srgbClr val="E7F6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154680" y="3035808"/>
            <a:ext cx="822960" cy="-182880"/>
          </a:xfrm>
          <a:prstGeom prst="line">
            <a:avLst/>
          </a:prstGeom>
          <a:noFill/>
          <a:ln w="12700">
            <a:solidFill>
              <a:srgbClr val="DCEBF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154680" y="3364992"/>
            <a:ext cx="822960" cy="-182880"/>
          </a:xfrm>
          <a:prstGeom prst="line">
            <a:avLst/>
          </a:prstGeom>
          <a:noFill/>
          <a:ln w="12700">
            <a:solidFill>
              <a:srgbClr val="E7F6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977640" y="2852928"/>
            <a:ext cx="914400" cy="91440"/>
          </a:xfrm>
          <a:prstGeom prst="line">
            <a:avLst/>
          </a:prstGeom>
          <a:noFill/>
          <a:ln w="12700">
            <a:solidFill>
              <a:srgbClr val="DCEBF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977640" y="3182112"/>
            <a:ext cx="914400" cy="91440"/>
          </a:xfrm>
          <a:prstGeom prst="line">
            <a:avLst/>
          </a:prstGeom>
          <a:noFill/>
          <a:ln w="12700">
            <a:solidFill>
              <a:srgbClr val="E7F6E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92040" y="2944368"/>
            <a:ext cx="914400" cy="365760"/>
          </a:xfrm>
          <a:prstGeom prst="line">
            <a:avLst/>
          </a:prstGeom>
          <a:noFill/>
          <a:ln w="12700">
            <a:solidFill>
              <a:srgbClr val="DCEBF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92040" y="3273552"/>
            <a:ext cx="914400" cy="365760"/>
          </a:xfrm>
          <a:prstGeom prst="line">
            <a:avLst/>
          </a:prstGeom>
          <a:noFill/>
          <a:ln w="12700">
            <a:solidFill>
              <a:srgbClr val="E7F6E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508760" y="3877056"/>
            <a:ext cx="822960" cy="-640080"/>
          </a:xfrm>
          <a:prstGeom prst="line">
            <a:avLst/>
          </a:prstGeom>
          <a:noFill/>
          <a:ln w="12700">
            <a:solidFill>
              <a:srgbClr val="DCEBF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508760" y="4535424"/>
            <a:ext cx="822960" cy="-640080"/>
          </a:xfrm>
          <a:prstGeom prst="line">
            <a:avLst/>
          </a:prstGeom>
          <a:noFill/>
          <a:ln w="12700">
            <a:solidFill>
              <a:srgbClr val="E7F6E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31720" y="3236976"/>
            <a:ext cx="822960" cy="-365760"/>
          </a:xfrm>
          <a:prstGeom prst="line">
            <a:avLst/>
          </a:prstGeom>
          <a:noFill/>
          <a:ln w="12700">
            <a:solidFill>
              <a:srgbClr val="DCEBF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331720" y="3895344"/>
            <a:ext cx="822960" cy="-365760"/>
          </a:xfrm>
          <a:prstGeom prst="line">
            <a:avLst/>
          </a:prstGeom>
          <a:noFill/>
          <a:ln w="12700">
            <a:solidFill>
              <a:srgbClr val="E7F6E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154680" y="2871216"/>
            <a:ext cx="822960" cy="-182880"/>
          </a:xfrm>
          <a:prstGeom prst="line">
            <a:avLst/>
          </a:prstGeom>
          <a:noFill/>
          <a:ln w="12700">
            <a:solidFill>
              <a:srgbClr val="DCEBF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154680" y="3529584"/>
            <a:ext cx="822960" cy="-182880"/>
          </a:xfrm>
          <a:prstGeom prst="line">
            <a:avLst/>
          </a:prstGeom>
          <a:noFill/>
          <a:ln w="12700">
            <a:solidFill>
              <a:srgbClr val="E7F6E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977640" y="2688336"/>
            <a:ext cx="914400" cy="91440"/>
          </a:xfrm>
          <a:prstGeom prst="line">
            <a:avLst/>
          </a:prstGeom>
          <a:noFill/>
          <a:ln w="12700">
            <a:solidFill>
              <a:srgbClr val="DCEBF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977640" y="3346704"/>
            <a:ext cx="914400" cy="91440"/>
          </a:xfrm>
          <a:prstGeom prst="line">
            <a:avLst/>
          </a:prstGeom>
          <a:noFill/>
          <a:ln w="12700">
            <a:solidFill>
              <a:srgbClr val="E7F6E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92040" y="2779776"/>
            <a:ext cx="914400" cy="365760"/>
          </a:xfrm>
          <a:prstGeom prst="line">
            <a:avLst/>
          </a:prstGeom>
          <a:noFill/>
          <a:ln w="12700">
            <a:solidFill>
              <a:srgbClr val="DCEBF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892040" y="3438144"/>
            <a:ext cx="914400" cy="365760"/>
          </a:xfrm>
          <a:prstGeom prst="line">
            <a:avLst/>
          </a:prstGeom>
          <a:noFill/>
          <a:ln w="12700">
            <a:solidFill>
              <a:srgbClr val="E7F6E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508760" y="3712464"/>
            <a:ext cx="822960" cy="-640080"/>
          </a:xfrm>
          <a:prstGeom prst="line">
            <a:avLst/>
          </a:prstGeom>
          <a:noFill/>
          <a:ln w="12700">
            <a:solidFill>
              <a:srgbClr val="DCEBF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508760" y="4700016"/>
            <a:ext cx="822960" cy="-640080"/>
          </a:xfrm>
          <a:prstGeom prst="line">
            <a:avLst/>
          </a:prstGeom>
          <a:noFill/>
          <a:ln w="12700">
            <a:solidFill>
              <a:srgbClr val="E7F6E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331720" y="3072384"/>
            <a:ext cx="822960" cy="-365760"/>
          </a:xfrm>
          <a:prstGeom prst="line">
            <a:avLst/>
          </a:prstGeom>
          <a:noFill/>
          <a:ln w="12700">
            <a:solidFill>
              <a:srgbClr val="DCEBF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331720" y="4059936"/>
            <a:ext cx="822960" cy="-365760"/>
          </a:xfrm>
          <a:prstGeom prst="line">
            <a:avLst/>
          </a:prstGeom>
          <a:noFill/>
          <a:ln w="12700">
            <a:solidFill>
              <a:srgbClr val="E7F6E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154680" y="2706624"/>
            <a:ext cx="822960" cy="-182880"/>
          </a:xfrm>
          <a:prstGeom prst="line">
            <a:avLst/>
          </a:prstGeom>
          <a:noFill/>
          <a:ln w="12700">
            <a:solidFill>
              <a:srgbClr val="DCEBF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154680" y="3694176"/>
            <a:ext cx="822960" cy="-182880"/>
          </a:xfrm>
          <a:prstGeom prst="line">
            <a:avLst/>
          </a:prstGeom>
          <a:noFill/>
          <a:ln w="12700">
            <a:solidFill>
              <a:srgbClr val="E7F6E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977640" y="2523744"/>
            <a:ext cx="914400" cy="91440"/>
          </a:xfrm>
          <a:prstGeom prst="line">
            <a:avLst/>
          </a:prstGeom>
          <a:noFill/>
          <a:ln w="12700">
            <a:solidFill>
              <a:srgbClr val="DCEBF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977640" y="3511296"/>
            <a:ext cx="914400" cy="91440"/>
          </a:xfrm>
          <a:prstGeom prst="line">
            <a:avLst/>
          </a:prstGeom>
          <a:noFill/>
          <a:ln w="12700">
            <a:solidFill>
              <a:srgbClr val="E7F6EE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892040" y="2615184"/>
            <a:ext cx="914400" cy="365760"/>
          </a:xfrm>
          <a:prstGeom prst="line">
            <a:avLst/>
          </a:prstGeom>
          <a:noFill/>
          <a:ln w="12700">
            <a:solidFill>
              <a:srgbClr val="DCEBF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892040" y="3602736"/>
            <a:ext cx="914400" cy="365760"/>
          </a:xfrm>
          <a:prstGeom prst="line">
            <a:avLst/>
          </a:prstGeom>
          <a:noFill/>
          <a:ln w="12700">
            <a:solidFill>
              <a:srgbClr val="E7F6EE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508760" y="3547872"/>
            <a:ext cx="822960" cy="-640080"/>
          </a:xfrm>
          <a:prstGeom prst="line">
            <a:avLst/>
          </a:prstGeom>
          <a:noFill/>
          <a:ln w="12700">
            <a:solidFill>
              <a:srgbClr val="DCEBF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508760" y="4864608"/>
            <a:ext cx="822960" cy="-640080"/>
          </a:xfrm>
          <a:prstGeom prst="line">
            <a:avLst/>
          </a:prstGeom>
          <a:noFill/>
          <a:ln w="12700">
            <a:solidFill>
              <a:srgbClr val="E7F6EE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331720" y="2907792"/>
            <a:ext cx="822960" cy="-365760"/>
          </a:xfrm>
          <a:prstGeom prst="line">
            <a:avLst/>
          </a:prstGeom>
          <a:noFill/>
          <a:ln w="12700">
            <a:solidFill>
              <a:srgbClr val="DCEBF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331720" y="4224528"/>
            <a:ext cx="822960" cy="-365760"/>
          </a:xfrm>
          <a:prstGeom prst="line">
            <a:avLst/>
          </a:prstGeom>
          <a:noFill/>
          <a:ln w="12700">
            <a:solidFill>
              <a:srgbClr val="E7F6EE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154680" y="2542032"/>
            <a:ext cx="822960" cy="-182880"/>
          </a:xfrm>
          <a:prstGeom prst="line">
            <a:avLst/>
          </a:prstGeom>
          <a:noFill/>
          <a:ln w="12700">
            <a:solidFill>
              <a:srgbClr val="DCEBFA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154680" y="3858768"/>
            <a:ext cx="822960" cy="-182880"/>
          </a:xfrm>
          <a:prstGeom prst="line">
            <a:avLst/>
          </a:prstGeom>
          <a:noFill/>
          <a:ln w="12700">
            <a:solidFill>
              <a:srgbClr val="E7F6EE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977640" y="2359152"/>
            <a:ext cx="914400" cy="91440"/>
          </a:xfrm>
          <a:prstGeom prst="line">
            <a:avLst/>
          </a:prstGeom>
          <a:noFill/>
          <a:ln w="12700">
            <a:solidFill>
              <a:srgbClr val="DCEBFA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977640" y="3675888"/>
            <a:ext cx="914400" cy="91440"/>
          </a:xfrm>
          <a:prstGeom prst="line">
            <a:avLst/>
          </a:prstGeom>
          <a:noFill/>
          <a:ln w="12700">
            <a:solidFill>
              <a:srgbClr val="E7F6EE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892040" y="2450592"/>
            <a:ext cx="914400" cy="365760"/>
          </a:xfrm>
          <a:prstGeom prst="line">
            <a:avLst/>
          </a:prstGeom>
          <a:noFill/>
          <a:ln w="12700">
            <a:solidFill>
              <a:srgbClr val="DCEBFA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892040" y="3767328"/>
            <a:ext cx="914400" cy="365760"/>
          </a:xfrm>
          <a:prstGeom prst="line">
            <a:avLst/>
          </a:prstGeom>
          <a:noFill/>
          <a:ln w="12700">
            <a:solidFill>
              <a:srgbClr val="E7F6E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234440" y="1783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77B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φ=0（界面）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4983480" y="1828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φ&gt;0（外側）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4983480" y="43891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φ&lt;0（内側）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1143000" y="5166360"/>
            <a:ext cx="5394960" cy="7772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252728" y="5212080"/>
            <a:ext cx="517550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更新：  φ(t+Δt)=φ(t)−Δt·Vn·|∇φ|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（Vnは表面モデルが推定）</a:t>
            </a:r>
            <a:endParaRPr lang="en-US" sz="1400" dirty="0"/>
          </a:p>
        </p:txBody>
      </p:sp>
      <p:sp>
        <p:nvSpPr>
          <p:cNvPr id="58" name="Shape 56"/>
          <p:cNvSpPr/>
          <p:nvPr/>
        </p:nvSpPr>
        <p:spPr>
          <a:xfrm>
            <a:off x="6492240" y="1005840"/>
            <a:ext cx="5196535" cy="5257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38100" dist="15240" dir="2700000">
              <a:srgbClr val="000000">
                <a:alpha val="12000"/>
              </a:srgbClr>
            </a:outerShdw>
          </a:effectLst>
        </p:spPr>
      </p:sp>
      <p:sp>
        <p:nvSpPr>
          <p:cNvPr id="59" name="Text 57"/>
          <p:cNvSpPr/>
          <p:nvPr/>
        </p:nvSpPr>
        <p:spPr>
          <a:xfrm>
            <a:off x="6675120" y="1097280"/>
            <a:ext cx="483077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SDF更新が解決すること</a:t>
            </a:r>
            <a:endParaRPr lang="en-US" sz="1400" dirty="0"/>
          </a:p>
        </p:txBody>
      </p:sp>
      <p:sp>
        <p:nvSpPr>
          <p:cNvPr id="60" name="Text 58"/>
          <p:cNvSpPr/>
          <p:nvPr/>
        </p:nvSpPr>
        <p:spPr>
          <a:xfrm>
            <a:off x="6675120" y="1645920"/>
            <a:ext cx="5013655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表面点を直接動かすと起きる「自己交差」や「再メッシュ問題」を回避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位相変化（穴が開く/塞がる）にも強い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断面・等値面（φ=0）で常に可視化可能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narrow bandで計算を表面近傍に限定できる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6675120" y="45262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SDF維持（再距離化）</a:t>
            </a:r>
            <a:endParaRPr lang="en-US" sz="1400" dirty="0"/>
          </a:p>
        </p:txBody>
      </p:sp>
      <p:sp>
        <p:nvSpPr>
          <p:cNvPr id="62" name="Shape 60"/>
          <p:cNvSpPr/>
          <p:nvPr/>
        </p:nvSpPr>
        <p:spPr>
          <a:xfrm>
            <a:off x="6675120" y="4846320"/>
            <a:ext cx="1754779" cy="347472"/>
          </a:xfrm>
          <a:prstGeom prst="rect">
            <a:avLst/>
          </a:prstGeom>
          <a:solidFill>
            <a:srgbClr val="E9F3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729984" y="4892040"/>
            <a:ext cx="1645051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方法</a:t>
            </a:r>
            <a:endParaRPr lang="en-US" sz="1200" dirty="0"/>
          </a:p>
        </p:txBody>
      </p:sp>
      <p:sp>
        <p:nvSpPr>
          <p:cNvPr id="64" name="Shape 62"/>
          <p:cNvSpPr/>
          <p:nvPr/>
        </p:nvSpPr>
        <p:spPr>
          <a:xfrm>
            <a:off x="8429899" y="4846320"/>
            <a:ext cx="3258876" cy="347472"/>
          </a:xfrm>
          <a:prstGeom prst="rect">
            <a:avLst/>
          </a:prstGeom>
          <a:solidFill>
            <a:srgbClr val="E9F3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8484763" y="4892040"/>
            <a:ext cx="31491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特徴</a:t>
            </a:r>
            <a:endParaRPr lang="en-US" sz="1200" dirty="0"/>
          </a:p>
        </p:txBody>
      </p:sp>
      <p:sp>
        <p:nvSpPr>
          <p:cNvPr id="66" name="Shape 64"/>
          <p:cNvSpPr/>
          <p:nvPr/>
        </p:nvSpPr>
        <p:spPr>
          <a:xfrm>
            <a:off x="6675120" y="5193792"/>
            <a:ext cx="1754779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729984" y="5239512"/>
            <a:ext cx="1645051" cy="3063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Fast marching</a:t>
            </a:r>
            <a:endParaRPr lang="en-US" sz="1200" dirty="0"/>
          </a:p>
        </p:txBody>
      </p:sp>
      <p:sp>
        <p:nvSpPr>
          <p:cNvPr id="68" name="Shape 66"/>
          <p:cNvSpPr/>
          <p:nvPr/>
        </p:nvSpPr>
        <p:spPr>
          <a:xfrm>
            <a:off x="8429899" y="5193792"/>
            <a:ext cx="3258876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8484763" y="5239512"/>
            <a:ext cx="3149148" cy="3063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高速・安定。narrow bandで部分再距離化も可</a:t>
            </a:r>
            <a:endParaRPr lang="en-US" sz="1200" dirty="0"/>
          </a:p>
        </p:txBody>
      </p:sp>
      <p:sp>
        <p:nvSpPr>
          <p:cNvPr id="70" name="Shape 68"/>
          <p:cNvSpPr/>
          <p:nvPr/>
        </p:nvSpPr>
        <p:spPr>
          <a:xfrm>
            <a:off x="6675120" y="5591556"/>
            <a:ext cx="1754779" cy="3977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729984" y="5637276"/>
            <a:ext cx="1645051" cy="3063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PDE再初期化</a:t>
            </a:r>
            <a:endParaRPr lang="en-US" sz="1200" dirty="0"/>
          </a:p>
        </p:txBody>
      </p:sp>
      <p:sp>
        <p:nvSpPr>
          <p:cNvPr id="72" name="Shape 70"/>
          <p:cNvSpPr/>
          <p:nvPr/>
        </p:nvSpPr>
        <p:spPr>
          <a:xfrm>
            <a:off x="8429899" y="5591556"/>
            <a:ext cx="3258876" cy="3977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8484763" y="5637276"/>
            <a:ext cx="3149148" cy="3063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高精度だが重い（必要時のみ）</a:t>
            </a:r>
            <a:endParaRPr lang="en-US" sz="1200" dirty="0"/>
          </a:p>
        </p:txBody>
      </p:sp>
      <p:sp>
        <p:nvSpPr>
          <p:cNvPr id="74" name="Shape 7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502920" y="6611112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Surface Graph Transformer + Nonlocal Coupling + SDF update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118585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AA3D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SDF系の手法を分解（実装観点）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11185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voxel→SDF→narrow band→表面抽出→SDF更新→再距離化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2920" y="932688"/>
            <a:ext cx="11185855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005840"/>
            <a:ext cx="11185855" cy="5257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38100" dist="1524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1097280"/>
            <a:ext cx="108200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SDF処理パイプライン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1691640"/>
            <a:ext cx="1567129" cy="82296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2688" y="1737360"/>
            <a:ext cx="1347673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voxel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(材料/空隙)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390089" y="2103120"/>
            <a:ext cx="228600" cy="0"/>
          </a:xfrm>
          <a:prstGeom prst="line">
            <a:avLst/>
          </a:prstGeom>
          <a:noFill/>
          <a:ln w="25400">
            <a:solidFill>
              <a:srgbClr val="1F77B4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618689" y="1691640"/>
            <a:ext cx="1567129" cy="822960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28417" y="1737360"/>
            <a:ext cx="1347673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距離変換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(in/out)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185818" y="2103120"/>
            <a:ext cx="228600" cy="0"/>
          </a:xfrm>
          <a:prstGeom prst="line">
            <a:avLst/>
          </a:prstGeom>
          <a:noFill/>
          <a:ln w="25400">
            <a:solidFill>
              <a:srgbClr val="1F77B4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414418" y="1691640"/>
            <a:ext cx="1567129" cy="822960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24146" y="1737360"/>
            <a:ext cx="1347673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符号付け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SDF φ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981548" y="2103120"/>
            <a:ext cx="228600" cy="0"/>
          </a:xfrm>
          <a:prstGeom prst="line">
            <a:avLst/>
          </a:prstGeom>
          <a:noFill/>
          <a:ln w="25400">
            <a:solidFill>
              <a:srgbClr val="1F77B4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210148" y="1691640"/>
            <a:ext cx="1567129" cy="82296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19876" y="1737360"/>
            <a:ext cx="1347673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narrow band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|φ|&lt;w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777277" y="2103120"/>
            <a:ext cx="228600" cy="0"/>
          </a:xfrm>
          <a:prstGeom prst="line">
            <a:avLst/>
          </a:prstGeom>
          <a:noFill/>
          <a:ln w="25400">
            <a:solidFill>
              <a:srgbClr val="1F77B4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8005877" y="1691640"/>
            <a:ext cx="1567129" cy="82296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15605" y="1737360"/>
            <a:ext cx="1347673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表面抽出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MCubes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573006" y="2103120"/>
            <a:ext cx="228600" cy="0"/>
          </a:xfrm>
          <a:prstGeom prst="line">
            <a:avLst/>
          </a:prstGeom>
          <a:noFill/>
          <a:ln w="25400">
            <a:solidFill>
              <a:srgbClr val="1F77B4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9801606" y="1691640"/>
            <a:ext cx="1567129" cy="82296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911334" y="1737360"/>
            <a:ext cx="1347673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再距離化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(必要時)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22960" y="2834640"/>
            <a:ext cx="5897880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38100" dist="15240" dir="27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1005840" y="2926080"/>
            <a:ext cx="5532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narrow band の狙い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005840" y="2971800"/>
            <a:ext cx="5532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φ=0の近傍だけに計算資源を集中（表面近傍シェル）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1280160" y="3383280"/>
            <a:ext cx="23774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691640" y="3931920"/>
            <a:ext cx="1554480" cy="1188720"/>
          </a:xfrm>
          <a:prstGeom prst="ellipse">
            <a:avLst/>
          </a:prstGeom>
          <a:solidFill>
            <a:srgbClr val="FFFFFF">
              <a:alpha val="0"/>
            </a:srgbClr>
          </a:solidFill>
          <a:ln w="38100">
            <a:solidFill>
              <a:srgbClr val="1F77B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554480" y="3794760"/>
            <a:ext cx="1828800" cy="1463040"/>
          </a:xfrm>
          <a:prstGeom prst="ellipse">
            <a:avLst/>
          </a:prstGeom>
          <a:solidFill>
            <a:srgbClr val="C7E7FF">
              <a:alpha val="40000"/>
            </a:srgbClr>
          </a:solidFill>
          <a:ln w="12700">
            <a:solidFill>
              <a:srgbClr val="C7E7FF">
                <a:alpha val="3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280160" y="53035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77B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|φ|&lt;w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3886200" y="3383280"/>
            <a:ext cx="26517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格子全体(N³)ではなく、薄い殻のみを保持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表面抽出・可視化・更新が安定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再距離化は数ステップごとに実施（必要な範囲だけ）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903720" y="2834640"/>
            <a:ext cx="4785055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38100" dist="15240" dir="27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7086600" y="2926080"/>
            <a:ext cx="44192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半導体プロセスでの実績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7086600" y="3063240"/>
            <a:ext cx="4602175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DRIEで narrow band level set + Monte Carlo による3D形状シミュレーション例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レベルセットはエッチ/デポの界面追跡で古典的に確立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ViennaPS：高性能レベルセット（H-RLE）＋必要に応じてMCレイトレーシング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2920" y="6611112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Surface Graph Transformer + Nonlocal Coupling + SDF update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118585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AA3D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表面抽出とサンプリング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11185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SDFからメッシュ/点群へ（Marching Cubes）→ 学習しやすい点群へ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2920" y="932688"/>
            <a:ext cx="11185855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005840"/>
            <a:ext cx="5806440" cy="5257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38100" dist="1524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1097280"/>
            <a:ext cx="5440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SDF → mesh/points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005840" y="1783080"/>
            <a:ext cx="1737360" cy="640080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15568" y="1828800"/>
            <a:ext cx="15179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SDF φ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(格子)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063240" y="1783080"/>
            <a:ext cx="1920240" cy="64008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72968" y="1828800"/>
            <a:ext cx="17007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Marching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Cubes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257800" y="1783080"/>
            <a:ext cx="173736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67528" y="1828800"/>
            <a:ext cx="15179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mesh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(三角形)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0" y="2103120"/>
            <a:ext cx="320040" cy="0"/>
          </a:xfrm>
          <a:prstGeom prst="line">
            <a:avLst/>
          </a:prstGeom>
          <a:noFill/>
          <a:ln w="25400">
            <a:solidFill>
              <a:srgbClr val="1F77B4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983480" y="2103120"/>
            <a:ext cx="274320" cy="0"/>
          </a:xfrm>
          <a:prstGeom prst="line">
            <a:avLst/>
          </a:prstGeom>
          <a:noFill/>
          <a:ln w="25400">
            <a:solidFill>
              <a:srgbClr val="1F77B4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029200" y="2697480"/>
            <a:ext cx="11887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29200" y="2697480"/>
            <a:ext cx="1188720" cy="1005840"/>
          </a:xfrm>
          <a:prstGeom prst="line">
            <a:avLst/>
          </a:prstGeom>
          <a:noFill/>
          <a:ln w="12700">
            <a:solidFill>
              <a:srgbClr val="9CD3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17920" y="2697480"/>
            <a:ext cx="-1188720" cy="1005840"/>
          </a:xfrm>
          <a:prstGeom prst="line">
            <a:avLst/>
          </a:prstGeom>
          <a:noFill/>
          <a:ln w="12700">
            <a:solidFill>
              <a:srgbClr val="9CD3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623560" y="2697480"/>
            <a:ext cx="0" cy="1005840"/>
          </a:xfrm>
          <a:prstGeom prst="line">
            <a:avLst/>
          </a:prstGeom>
          <a:noFill/>
          <a:ln w="12700">
            <a:solidFill>
              <a:srgbClr val="9CD3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0" y="3200400"/>
            <a:ext cx="1188720" cy="0"/>
          </a:xfrm>
          <a:prstGeom prst="line">
            <a:avLst/>
          </a:prstGeom>
          <a:noFill/>
          <a:ln w="12700">
            <a:solidFill>
              <a:srgbClr val="9CD3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0" y="37490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三角形分割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063240" y="3154680"/>
            <a:ext cx="1920240" cy="64008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172968" y="3200400"/>
            <a:ext cx="17007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点群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サンプリング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126480" y="2423160"/>
            <a:ext cx="-2103120" cy="731520"/>
          </a:xfrm>
          <a:prstGeom prst="line">
            <a:avLst/>
          </a:prstGeom>
          <a:noFill/>
          <a:ln w="25400">
            <a:solidFill>
              <a:srgbClr val="FF7F0E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3429000" y="3429000"/>
            <a:ext cx="26517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11880" y="3611880"/>
            <a:ext cx="54864" cy="54864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867912" y="3630168"/>
            <a:ext cx="54864" cy="54864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123944" y="3648456"/>
            <a:ext cx="54864" cy="54864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325112" y="3666744"/>
            <a:ext cx="54864" cy="54864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81144" y="3611880"/>
            <a:ext cx="54864" cy="54864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37176" y="3630168"/>
            <a:ext cx="54864" cy="54864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038344" y="3648456"/>
            <a:ext cx="54864" cy="54864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294376" y="3666744"/>
            <a:ext cx="54864" cy="54864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550408" y="3611880"/>
            <a:ext cx="54864" cy="54864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51576" y="3630168"/>
            <a:ext cx="54864" cy="54864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630168" y="4059936"/>
            <a:ext cx="54864" cy="54864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886200" y="4078224"/>
            <a:ext cx="54864" cy="54864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087368" y="4023360"/>
            <a:ext cx="54864" cy="54864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343400" y="4041648"/>
            <a:ext cx="54864" cy="54864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599432" y="4059936"/>
            <a:ext cx="54864" cy="54864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800600" y="4078224"/>
            <a:ext cx="54864" cy="54864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056632" y="4023360"/>
            <a:ext cx="54864" cy="54864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312664" y="4041648"/>
            <a:ext cx="54864" cy="54864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513832" y="4059936"/>
            <a:ext cx="54864" cy="54864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769864" y="4078224"/>
            <a:ext cx="54864" cy="54864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648456" y="4434840"/>
            <a:ext cx="54864" cy="54864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849624" y="4453128"/>
            <a:ext cx="54864" cy="54864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105656" y="4471416"/>
            <a:ext cx="54864" cy="54864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361688" y="4489704"/>
            <a:ext cx="54864" cy="54864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562856" y="4434840"/>
            <a:ext cx="54864" cy="54864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818888" y="4453128"/>
            <a:ext cx="54864" cy="54864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074920" y="4471416"/>
            <a:ext cx="54864" cy="54864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276088" y="4489704"/>
            <a:ext cx="54864" cy="54864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532120" y="4434840"/>
            <a:ext cx="54864" cy="54864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788152" y="4453128"/>
            <a:ext cx="54864" cy="54864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611880" y="4882896"/>
            <a:ext cx="54864" cy="54864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3867912" y="4901184"/>
            <a:ext cx="54864" cy="54864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123944" y="4846320"/>
            <a:ext cx="54864" cy="54864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325112" y="4864608"/>
            <a:ext cx="54864" cy="54864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581144" y="4882896"/>
            <a:ext cx="54864" cy="54864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837176" y="4901184"/>
            <a:ext cx="54864" cy="54864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038344" y="4846320"/>
            <a:ext cx="54864" cy="54864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5294376" y="4864608"/>
            <a:ext cx="54864" cy="54864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5550408" y="4882896"/>
            <a:ext cx="54864" cy="54864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5751576" y="4901184"/>
            <a:ext cx="54864" cy="54864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429000" y="53949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点群入力（N点）</a:t>
            </a:r>
            <a:endParaRPr lang="en-US" sz="1200" dirty="0"/>
          </a:p>
        </p:txBody>
      </p:sp>
      <p:sp>
        <p:nvSpPr>
          <p:cNvPr id="66" name="Shape 64"/>
          <p:cNvSpPr/>
          <p:nvPr/>
        </p:nvSpPr>
        <p:spPr>
          <a:xfrm>
            <a:off x="6492240" y="1005840"/>
            <a:ext cx="5196535" cy="5257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38100" dist="15240" dir="2700000">
              <a:srgbClr val="000000">
                <a:alpha val="12000"/>
              </a:srgbClr>
            </a:outerShdw>
          </a:effectLst>
        </p:spPr>
      </p:sp>
      <p:sp>
        <p:nvSpPr>
          <p:cNvPr id="67" name="Text 65"/>
          <p:cNvSpPr/>
          <p:nvPr/>
        </p:nvSpPr>
        <p:spPr>
          <a:xfrm>
            <a:off x="6675120" y="1097280"/>
            <a:ext cx="483077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サンプリング方針（実務）</a:t>
            </a:r>
            <a:endParaRPr lang="en-US" sz="1400" dirty="0"/>
          </a:p>
        </p:txBody>
      </p:sp>
      <p:sp>
        <p:nvSpPr>
          <p:cNvPr id="68" name="Shape 66"/>
          <p:cNvSpPr/>
          <p:nvPr/>
        </p:nvSpPr>
        <p:spPr>
          <a:xfrm>
            <a:off x="6675120" y="1691640"/>
            <a:ext cx="1754779" cy="347472"/>
          </a:xfrm>
          <a:prstGeom prst="rect">
            <a:avLst/>
          </a:prstGeom>
          <a:solidFill>
            <a:srgbClr val="E9F3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729984" y="1737360"/>
            <a:ext cx="1645051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方針</a:t>
            </a:r>
            <a:endParaRPr lang="en-US" sz="1200" dirty="0"/>
          </a:p>
        </p:txBody>
      </p:sp>
      <p:sp>
        <p:nvSpPr>
          <p:cNvPr id="70" name="Shape 68"/>
          <p:cNvSpPr/>
          <p:nvPr/>
        </p:nvSpPr>
        <p:spPr>
          <a:xfrm>
            <a:off x="8429899" y="1691640"/>
            <a:ext cx="3258876" cy="347472"/>
          </a:xfrm>
          <a:prstGeom prst="rect">
            <a:avLst/>
          </a:prstGeom>
          <a:solidFill>
            <a:srgbClr val="E9F3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8484763" y="1737360"/>
            <a:ext cx="31491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狙い</a:t>
            </a:r>
            <a:endParaRPr lang="en-US" sz="1200" dirty="0"/>
          </a:p>
        </p:txBody>
      </p:sp>
      <p:sp>
        <p:nvSpPr>
          <p:cNvPr id="72" name="Shape 70"/>
          <p:cNvSpPr/>
          <p:nvPr/>
        </p:nvSpPr>
        <p:spPr>
          <a:xfrm>
            <a:off x="6675120" y="2039112"/>
            <a:ext cx="1754779" cy="10332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729984" y="2084832"/>
            <a:ext cx="1645051" cy="941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重要部を高密度</a:t>
            </a:r>
            <a:endParaRPr lang="en-US" sz="1200" dirty="0"/>
          </a:p>
        </p:txBody>
      </p:sp>
      <p:sp>
        <p:nvSpPr>
          <p:cNvPr id="74" name="Shape 72"/>
          <p:cNvSpPr/>
          <p:nvPr/>
        </p:nvSpPr>
        <p:spPr>
          <a:xfrm>
            <a:off x="8429899" y="2039112"/>
            <a:ext cx="3258876" cy="10332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8484763" y="2084832"/>
            <a:ext cx="3149148" cy="941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底/肩/マスク近傍の精度を優先</a:t>
            </a:r>
            <a:endParaRPr lang="en-US" sz="1200" dirty="0"/>
          </a:p>
        </p:txBody>
      </p:sp>
      <p:sp>
        <p:nvSpPr>
          <p:cNvPr id="76" name="Shape 74"/>
          <p:cNvSpPr/>
          <p:nvPr/>
        </p:nvSpPr>
        <p:spPr>
          <a:xfrm>
            <a:off x="6675120" y="3072384"/>
            <a:ext cx="1754779" cy="103327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6729984" y="3118104"/>
            <a:ext cx="1645051" cy="941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パッチ学習</a:t>
            </a:r>
            <a:endParaRPr lang="en-US" sz="1200" dirty="0"/>
          </a:p>
        </p:txBody>
      </p:sp>
      <p:sp>
        <p:nvSpPr>
          <p:cNvPr id="78" name="Shape 76"/>
          <p:cNvSpPr/>
          <p:nvPr/>
        </p:nvSpPr>
        <p:spPr>
          <a:xfrm>
            <a:off x="8429899" y="3072384"/>
            <a:ext cx="3258876" cy="103327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8484763" y="3118104"/>
            <a:ext cx="3149148" cy="941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Nを固定して学習安定化（例: 2万点/step）</a:t>
            </a:r>
            <a:endParaRPr lang="en-US" sz="1200" dirty="0"/>
          </a:p>
        </p:txBody>
      </p:sp>
      <p:sp>
        <p:nvSpPr>
          <p:cNvPr id="80" name="Shape 78"/>
          <p:cNvSpPr/>
          <p:nvPr/>
        </p:nvSpPr>
        <p:spPr>
          <a:xfrm>
            <a:off x="6675120" y="4105656"/>
            <a:ext cx="1754779" cy="10332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6729984" y="4151376"/>
            <a:ext cx="1645051" cy="941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表面正則化</a:t>
            </a:r>
            <a:endParaRPr lang="en-US" sz="1200" dirty="0"/>
          </a:p>
        </p:txBody>
      </p:sp>
      <p:sp>
        <p:nvSpPr>
          <p:cNvPr id="82" name="Shape 80"/>
          <p:cNvSpPr/>
          <p:nvPr/>
        </p:nvSpPr>
        <p:spPr>
          <a:xfrm>
            <a:off x="8429899" y="4105656"/>
            <a:ext cx="3258876" cy="10332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8484763" y="4151376"/>
            <a:ext cx="3149148" cy="941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法線/曲率のノイズを抑える軽い平滑化</a:t>
            </a:r>
            <a:endParaRPr lang="en-US" sz="1200" dirty="0"/>
          </a:p>
        </p:txBody>
      </p:sp>
      <p:sp>
        <p:nvSpPr>
          <p:cNvPr id="84" name="Shape 82"/>
          <p:cNvSpPr/>
          <p:nvPr/>
        </p:nvSpPr>
        <p:spPr>
          <a:xfrm>
            <a:off x="6675120" y="5138928"/>
            <a:ext cx="1754779" cy="103327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6729984" y="5184648"/>
            <a:ext cx="1645051" cy="941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時刻正規化</a:t>
            </a:r>
            <a:endParaRPr lang="en-US" sz="1200" dirty="0"/>
          </a:p>
        </p:txBody>
      </p:sp>
      <p:sp>
        <p:nvSpPr>
          <p:cNvPr id="86" name="Shape 84"/>
          <p:cNvSpPr/>
          <p:nvPr/>
        </p:nvSpPr>
        <p:spPr>
          <a:xfrm>
            <a:off x="8429899" y="5138928"/>
            <a:ext cx="3258876" cy="103327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8484763" y="5184648"/>
            <a:ext cx="3149148" cy="941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Δtは「進行量一定（nm/step）」で安定化</a:t>
            </a:r>
            <a:endParaRPr lang="en-US" sz="1200" dirty="0"/>
          </a:p>
        </p:txBody>
      </p:sp>
      <p:sp>
        <p:nvSpPr>
          <p:cNvPr id="88" name="Text 86"/>
          <p:cNvSpPr/>
          <p:nvPr/>
        </p:nvSpPr>
        <p:spPr>
          <a:xfrm>
            <a:off x="6675120" y="5989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Marching Cubesは等値面（三角形メッシュ）生成の代表的手法</a:t>
            </a:r>
            <a:endParaRPr lang="en-US" sz="1200" dirty="0"/>
          </a:p>
        </p:txBody>
      </p:sp>
      <p:sp>
        <p:nvSpPr>
          <p:cNvPr id="89" name="Shape 87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502920" y="6611112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Surface Graph Transformer + Nonlocal Coupling + SDF update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118585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AA3D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表面特徴量（入力）設計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11185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局所幾何 + プロセス条件 +（任意）可視性/遮蔽特徴で内部影響を取り込む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2920" y="932688"/>
            <a:ext cx="11185855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005840"/>
            <a:ext cx="5806440" cy="5257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38100" dist="1524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1097280"/>
            <a:ext cx="5440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ノード特徴（点ごと）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1691640"/>
            <a:ext cx="1305763" cy="347472"/>
          </a:xfrm>
          <a:prstGeom prst="rect">
            <a:avLst/>
          </a:prstGeom>
          <a:solidFill>
            <a:srgbClr val="E9F3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77824" y="1737360"/>
            <a:ext cx="119603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カテゴリ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128723" y="1691640"/>
            <a:ext cx="2067458" cy="347472"/>
          </a:xfrm>
          <a:prstGeom prst="rect">
            <a:avLst/>
          </a:prstGeom>
          <a:solidFill>
            <a:srgbClr val="E9F3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83587" y="1737360"/>
            <a:ext cx="195773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特徴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196182" y="1691640"/>
            <a:ext cx="2067458" cy="347472"/>
          </a:xfrm>
          <a:prstGeom prst="rect">
            <a:avLst/>
          </a:prstGeom>
          <a:solidFill>
            <a:srgbClr val="E9F3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51046" y="1737360"/>
            <a:ext cx="195773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狙い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22960" y="2039112"/>
            <a:ext cx="1305763" cy="10332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7824" y="2084832"/>
            <a:ext cx="1196035" cy="941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幾何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128723" y="2039112"/>
            <a:ext cx="2067458" cy="10332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183587" y="2084832"/>
            <a:ext cx="1957730" cy="941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pos, normal n, curvature κ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196182" y="2039112"/>
            <a:ext cx="2067458" cy="10332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51046" y="2084832"/>
            <a:ext cx="1957730" cy="941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丸み/テーパ/局所角を表現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22960" y="3072384"/>
            <a:ext cx="1305763" cy="103327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77824" y="3118104"/>
            <a:ext cx="1196035" cy="941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材料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128723" y="3072384"/>
            <a:ext cx="2067458" cy="103327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183587" y="3118104"/>
            <a:ext cx="1957730" cy="941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material_id / mask_id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196182" y="3072384"/>
            <a:ext cx="2067458" cy="103327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51046" y="3118104"/>
            <a:ext cx="1957730" cy="941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反応・移動制約の差を表現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22960" y="4105656"/>
            <a:ext cx="1305763" cy="10332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77824" y="4151376"/>
            <a:ext cx="1196035" cy="941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可視性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128723" y="4105656"/>
            <a:ext cx="2067458" cy="10332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183587" y="4151376"/>
            <a:ext cx="1957730" cy="941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遮蔽率, 開口角, 平均自由行程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196182" y="4105656"/>
            <a:ext cx="2067458" cy="10332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251046" y="4151376"/>
            <a:ext cx="1957730" cy="941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shadowing/到達性を近似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22960" y="5138928"/>
            <a:ext cx="1305763" cy="103327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77824" y="5184648"/>
            <a:ext cx="1196035" cy="941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状態(任意)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2128723" y="5138928"/>
            <a:ext cx="2067458" cy="103327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183587" y="5184648"/>
            <a:ext cx="1957730" cy="941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被覆率/ポリマー厚（潜在）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196182" y="5138928"/>
            <a:ext cx="2067458" cy="103327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251046" y="5184648"/>
            <a:ext cx="1957730" cy="941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履歴効果を表面状態として保持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822960" y="5577840"/>
            <a:ext cx="5440680" cy="59436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32688" y="5623560"/>
            <a:ext cx="52212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ポイント：非局所性は「入力（可視性特徴）」＋「非局所エッジ」で二段構え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492240" y="1005840"/>
            <a:ext cx="5196535" cy="5257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38100" dist="15240" dir="2700000">
              <a:srgbClr val="000000">
                <a:alpha val="12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6675120" y="1097280"/>
            <a:ext cx="483077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条件（global）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6675120" y="1691640"/>
            <a:ext cx="5013655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レシピ要約 c：圧力/RF/温度/ガス比など（上位ノブ）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潜在 z：測れないフラックス/反応を低次元に集約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zはSEMから同定（MAP/SBI）し、推論ループへ注入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766560" y="3977640"/>
            <a:ext cx="2011680" cy="685800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876288" y="4023360"/>
            <a:ext cx="179222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c（ノブ）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8961120" y="3977640"/>
            <a:ext cx="2011680" cy="685800"/>
          </a:xfrm>
          <a:prstGeom prst="roundRect">
            <a:avLst/>
          </a:prstGeom>
          <a:solidFill>
            <a:srgbClr val="F3E5F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070848" y="4023360"/>
            <a:ext cx="179222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z（潜在）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7772400" y="4709160"/>
            <a:ext cx="91440" cy="548640"/>
          </a:xfrm>
          <a:prstGeom prst="line">
            <a:avLst/>
          </a:prstGeom>
          <a:noFill/>
          <a:ln w="25400">
            <a:solidFill>
              <a:srgbClr val="1F77B4"/>
            </a:solidFill>
            <a:prstDash val="solid"/>
            <a:headEnd type="none"/>
            <a:tailEnd type="triangle"/>
          </a:ln>
        </p:spPr>
      </p:sp>
      <p:sp>
        <p:nvSpPr>
          <p:cNvPr id="47" name="Shape 45"/>
          <p:cNvSpPr/>
          <p:nvPr/>
        </p:nvSpPr>
        <p:spPr>
          <a:xfrm>
            <a:off x="9966960" y="4709160"/>
            <a:ext cx="-91440" cy="548640"/>
          </a:xfrm>
          <a:prstGeom prst="line">
            <a:avLst/>
          </a:prstGeom>
          <a:noFill/>
          <a:ln w="25400">
            <a:solidFill>
              <a:srgbClr val="FF7F0E"/>
            </a:solidFill>
            <a:prstDash val="solid"/>
            <a:headEnd type="none"/>
            <a:tailEnd type="triangle"/>
          </a:ln>
        </p:spPr>
      </p:sp>
      <p:sp>
        <p:nvSpPr>
          <p:cNvPr id="48" name="Shape 46"/>
          <p:cNvSpPr/>
          <p:nvPr/>
        </p:nvSpPr>
        <p:spPr>
          <a:xfrm>
            <a:off x="7863840" y="5257800"/>
            <a:ext cx="3108960" cy="64008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973568" y="5303520"/>
            <a:ext cx="28895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Graph Transformer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（注意：条件注入）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02920" y="6611112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Surface Graph Transformer + Nonlocal Coupling + SDF update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118585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AA3D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非局所結合（内部影響）の入れ方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11185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遮蔽・反射・再入射を「表面点間結合」として表現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2920" y="932688"/>
            <a:ext cx="11185855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005840"/>
            <a:ext cx="11185855" cy="5257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38100" dist="1524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1097280"/>
            <a:ext cx="108200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3つの実装オプション（推奨順）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1691640"/>
            <a:ext cx="3362858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38100" dist="15240" dir="27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22960" y="1691640"/>
            <a:ext cx="3362858" cy="502920"/>
          </a:xfrm>
          <a:prstGeom prst="rect">
            <a:avLst/>
          </a:prstGeom>
          <a:solidFill>
            <a:srgbClr val="FFFFFF"/>
          </a:solidFill>
          <a:ln w="38100">
            <a:solidFill>
              <a:srgbClr val="2CA02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764792"/>
            <a:ext cx="317997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A) 可視性エッジ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（SDFレイキャスト）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051560" y="2423160"/>
            <a:ext cx="2905658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417320" y="3520440"/>
            <a:ext cx="109728" cy="109728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500018" y="2971800"/>
            <a:ext cx="109728" cy="109728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527048" y="3575304"/>
            <a:ext cx="1972970" cy="-548640"/>
          </a:xfrm>
          <a:prstGeom prst="line">
            <a:avLst/>
          </a:prstGeom>
          <a:noFill/>
          <a:ln w="25400">
            <a:solidFill>
              <a:srgbClr val="2CA02C"/>
            </a:solidFill>
            <a:prstDash val="solid"/>
            <a:headEnd type="none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1143000" y="2514600"/>
            <a:ext cx="27227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A0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可視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51560" y="4023360"/>
            <a:ext cx="2905658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点p→方向サンプル→最初に当たる点qを結ぶ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遮蔽構造に近い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エッジ数を制御しやすい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414418" y="1691640"/>
            <a:ext cx="3362858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38100" dist="15240" dir="27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414418" y="1691640"/>
            <a:ext cx="3362858" cy="502920"/>
          </a:xfrm>
          <a:prstGeom prst="rect">
            <a:avLst/>
          </a:prstGeom>
          <a:solidFill>
            <a:srgbClr val="FFFFFF"/>
          </a:solidFill>
          <a:ln w="38100">
            <a:solidFill>
              <a:srgbClr val="FF7F0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05858" y="1764792"/>
            <a:ext cx="317997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B) view-factor近似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643018" y="2423160"/>
            <a:ext cx="2905658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08778" y="3520440"/>
            <a:ext cx="109728" cy="109728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091477" y="2971800"/>
            <a:ext cx="109728" cy="109728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34458" y="2514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7F0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Kij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145938" y="2606040"/>
            <a:ext cx="502920" cy="502920"/>
          </a:xfrm>
          <a:prstGeom prst="rect">
            <a:avLst/>
          </a:prstGeom>
          <a:solidFill>
            <a:srgbClr val="FFF7ED"/>
          </a:solidFill>
          <a:ln w="12700">
            <a:solidFill>
              <a:srgbClr val="FF7F0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694578" y="2606040"/>
            <a:ext cx="502920" cy="502920"/>
          </a:xfrm>
          <a:prstGeom prst="rect">
            <a:avLst/>
          </a:prstGeom>
          <a:solidFill>
            <a:srgbClr val="EFF6FF"/>
          </a:solidFill>
          <a:ln w="12700">
            <a:solidFill>
              <a:srgbClr val="FF7F0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145938" y="3154680"/>
            <a:ext cx="502920" cy="502920"/>
          </a:xfrm>
          <a:prstGeom prst="rect">
            <a:avLst/>
          </a:prstGeom>
          <a:solidFill>
            <a:srgbClr val="EFF6FF"/>
          </a:solidFill>
          <a:ln w="12700">
            <a:solidFill>
              <a:srgbClr val="FF7F0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694578" y="3154680"/>
            <a:ext cx="502920" cy="502920"/>
          </a:xfrm>
          <a:prstGeom prst="rect">
            <a:avLst/>
          </a:prstGeom>
          <a:solidFill>
            <a:srgbClr val="FFF7ED"/>
          </a:solidFill>
          <a:ln w="12700">
            <a:solidFill>
              <a:srgbClr val="FF7F0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118506" y="3575304"/>
            <a:ext cx="1972970" cy="-548640"/>
          </a:xfrm>
          <a:prstGeom prst="line">
            <a:avLst/>
          </a:prstGeom>
          <a:noFill/>
          <a:ln w="25400">
            <a:solidFill>
              <a:srgbClr val="FF7F0E"/>
            </a:solidFill>
            <a:prstDash val="solid"/>
            <a:headEnd type="none"/>
            <a:tailEnd type="triangle"/>
          </a:ln>
        </p:spPr>
      </p:sp>
      <p:sp>
        <p:nvSpPr>
          <p:cNvPr id="28" name="Text 26"/>
          <p:cNvSpPr/>
          <p:nvPr/>
        </p:nvSpPr>
        <p:spPr>
          <a:xfrm>
            <a:off x="4643018" y="4023360"/>
            <a:ext cx="2905658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面間結合係数Kijを近似/学習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反射寄与を係数化し解釈性が高い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近似設計が必要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005877" y="1691640"/>
            <a:ext cx="3362858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38100" dist="15240" dir="27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005877" y="1691640"/>
            <a:ext cx="3362858" cy="502920"/>
          </a:xfrm>
          <a:prstGeom prst="rect">
            <a:avLst/>
          </a:prstGeom>
          <a:solidFill>
            <a:srgbClr val="FFFFFF"/>
          </a:solidFill>
          <a:ln w="38100">
            <a:solidFill>
              <a:srgbClr val="1F77B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097317" y="1764792"/>
            <a:ext cx="317997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C) Global token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8234477" y="2423160"/>
            <a:ext cx="2905658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600237" y="3520440"/>
            <a:ext cx="109728" cy="109728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682935" y="2971800"/>
            <a:ext cx="109728" cy="109728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504426" y="2926080"/>
            <a:ext cx="365760" cy="365760"/>
          </a:xfrm>
          <a:prstGeom prst="ellipse">
            <a:avLst/>
          </a:prstGeom>
          <a:solidFill>
            <a:srgbClr val="E0F2FE"/>
          </a:solidFill>
          <a:ln w="25400">
            <a:solidFill>
              <a:srgbClr val="1F77B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504426" y="2926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77B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8709965" y="3575304"/>
            <a:ext cx="977341" cy="-466344"/>
          </a:xfrm>
          <a:prstGeom prst="line">
            <a:avLst/>
          </a:prstGeom>
          <a:noFill/>
          <a:ln w="25400">
            <a:solidFill>
              <a:srgbClr val="1F77B4"/>
            </a:solidFill>
            <a:prstDash val="solid"/>
            <a:headEnd type="none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10682935" y="3026664"/>
            <a:ext cx="-812749" cy="82296"/>
          </a:xfrm>
          <a:prstGeom prst="line">
            <a:avLst/>
          </a:prstGeom>
          <a:noFill/>
          <a:ln w="25400">
            <a:solidFill>
              <a:srgbClr val="1F77B4"/>
            </a:solidFill>
            <a:prstDash val="solid"/>
            <a:headEnd type="none"/>
            <a:tailEnd type="triangle"/>
          </a:ln>
        </p:spPr>
      </p:sp>
      <p:sp>
        <p:nvSpPr>
          <p:cNvPr id="39" name="Text 37"/>
          <p:cNvSpPr/>
          <p:nvPr/>
        </p:nvSpPr>
        <p:spPr>
          <a:xfrm>
            <a:off x="8234477" y="4023360"/>
            <a:ext cx="2905658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非局所をグローバルトークンへ集約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実装が簡単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解釈性は弱い（簡易版）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822960" y="6080760"/>
            <a:ext cx="105457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非局所性は「入力特徴」でも補助しつつ、主に“エッジ”で表現するのが堅い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2920" y="6611112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Surface Graph Transformer + Nonlocal Coupling + SDF update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118585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AA3D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グラフ構築（local + nonlocal）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11185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エッジ数を制御して計算量を破綻させない（疎attention）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2920" y="932688"/>
            <a:ext cx="11185855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005840"/>
            <a:ext cx="5806440" cy="5257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38100" dist="1524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1097280"/>
            <a:ext cx="5440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構築手順（図）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051560" y="1737360"/>
            <a:ext cx="26517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34440" y="1920240"/>
            <a:ext cx="45720" cy="4572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463040" y="1929384"/>
            <a:ext cx="45720" cy="4572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691640" y="1938528"/>
            <a:ext cx="45720" cy="4572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892808" y="1947672"/>
            <a:ext cx="45720" cy="4572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121408" y="1956816"/>
            <a:ext cx="45720" cy="4572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350008" y="1920240"/>
            <a:ext cx="45720" cy="4572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51176" y="1929384"/>
            <a:ext cx="45720" cy="4572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79776" y="1938528"/>
            <a:ext cx="45720" cy="4572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008376" y="1947672"/>
            <a:ext cx="45720" cy="4572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9544" y="1956816"/>
            <a:ext cx="45720" cy="4572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438144" y="1920240"/>
            <a:ext cx="45720" cy="4572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52728" y="2276856"/>
            <a:ext cx="45720" cy="4572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453896" y="2286000"/>
            <a:ext cx="45720" cy="4572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682496" y="2295144"/>
            <a:ext cx="45720" cy="4572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911096" y="2304288"/>
            <a:ext cx="45720" cy="4572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112264" y="2267712"/>
            <a:ext cx="45720" cy="4572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340864" y="2276856"/>
            <a:ext cx="45720" cy="4572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69464" y="2286000"/>
            <a:ext cx="45720" cy="4572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770632" y="2295144"/>
            <a:ext cx="45720" cy="4572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999232" y="2304288"/>
            <a:ext cx="45720" cy="4572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27832" y="2267712"/>
            <a:ext cx="45720" cy="4572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429000" y="2276856"/>
            <a:ext cx="45720" cy="4572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243584" y="2633472"/>
            <a:ext cx="45720" cy="4572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472184" y="2642616"/>
            <a:ext cx="45720" cy="4572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673352" y="2651760"/>
            <a:ext cx="45720" cy="4572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901952" y="2615184"/>
            <a:ext cx="45720" cy="4572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130552" y="2624328"/>
            <a:ext cx="45720" cy="4572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331720" y="2633472"/>
            <a:ext cx="45720" cy="4572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560320" y="2642616"/>
            <a:ext cx="45720" cy="4572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788920" y="2651760"/>
            <a:ext cx="45720" cy="4572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990088" y="2615184"/>
            <a:ext cx="45720" cy="4572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218688" y="2624328"/>
            <a:ext cx="45720" cy="4572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447288" y="2633472"/>
            <a:ext cx="45720" cy="4572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234440" y="2990088"/>
            <a:ext cx="45720" cy="4572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463040" y="2999232"/>
            <a:ext cx="45720" cy="4572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691640" y="2962656"/>
            <a:ext cx="45720" cy="4572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892808" y="2971800"/>
            <a:ext cx="45720" cy="4572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121408" y="2980944"/>
            <a:ext cx="45720" cy="4572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350008" y="2990088"/>
            <a:ext cx="45720" cy="4572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551176" y="2999232"/>
            <a:ext cx="45720" cy="4572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779776" y="2962656"/>
            <a:ext cx="45720" cy="4572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008376" y="2971800"/>
            <a:ext cx="45720" cy="4572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209544" y="2980944"/>
            <a:ext cx="45720" cy="4572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438144" y="2990088"/>
            <a:ext cx="45720" cy="4572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252728" y="3346704"/>
            <a:ext cx="45720" cy="4572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453896" y="3310128"/>
            <a:ext cx="45720" cy="4572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682496" y="3319272"/>
            <a:ext cx="45720" cy="4572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911096" y="3328416"/>
            <a:ext cx="45720" cy="4572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2112264" y="3337560"/>
            <a:ext cx="45720" cy="4572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2340864" y="3346704"/>
            <a:ext cx="45720" cy="4572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569464" y="3310128"/>
            <a:ext cx="45720" cy="4572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2770632" y="3319272"/>
            <a:ext cx="45720" cy="4572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2999232" y="3328416"/>
            <a:ext cx="45720" cy="4572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3227832" y="3337560"/>
            <a:ext cx="45720" cy="4572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3429000" y="3346704"/>
            <a:ext cx="45720" cy="4572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1051560" y="37947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表面点群</a:t>
            </a:r>
            <a:endParaRPr lang="en-US" sz="1200" dirty="0"/>
          </a:p>
        </p:txBody>
      </p:sp>
      <p:sp>
        <p:nvSpPr>
          <p:cNvPr id="64" name="Shape 62"/>
          <p:cNvSpPr/>
          <p:nvPr/>
        </p:nvSpPr>
        <p:spPr>
          <a:xfrm>
            <a:off x="3977640" y="1874520"/>
            <a:ext cx="2560320" cy="59436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087368" y="1920240"/>
            <a:ext cx="23408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local: kNN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(k=16〜32)</a:t>
            </a:r>
            <a:endParaRPr lang="en-US" sz="1200" dirty="0"/>
          </a:p>
        </p:txBody>
      </p:sp>
      <p:sp>
        <p:nvSpPr>
          <p:cNvPr id="66" name="Shape 64"/>
          <p:cNvSpPr/>
          <p:nvPr/>
        </p:nvSpPr>
        <p:spPr>
          <a:xfrm>
            <a:off x="3977640" y="2651760"/>
            <a:ext cx="2560320" cy="59436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087368" y="2697480"/>
            <a:ext cx="23408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nonlocal: visibility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(k=4〜16)</a:t>
            </a:r>
            <a:endParaRPr lang="en-US" sz="1200" dirty="0"/>
          </a:p>
        </p:txBody>
      </p:sp>
      <p:sp>
        <p:nvSpPr>
          <p:cNvPr id="68" name="Shape 66"/>
          <p:cNvSpPr/>
          <p:nvPr/>
        </p:nvSpPr>
        <p:spPr>
          <a:xfrm>
            <a:off x="3749040" y="2743200"/>
            <a:ext cx="228600" cy="-594360"/>
          </a:xfrm>
          <a:prstGeom prst="line">
            <a:avLst/>
          </a:prstGeom>
          <a:noFill/>
          <a:ln w="25400">
            <a:solidFill>
              <a:srgbClr val="1F77B4"/>
            </a:solidFill>
            <a:prstDash val="solid"/>
            <a:headEnd type="none"/>
            <a:tailEnd type="triangle"/>
          </a:ln>
        </p:spPr>
      </p:sp>
      <p:sp>
        <p:nvSpPr>
          <p:cNvPr id="69" name="Shape 67"/>
          <p:cNvSpPr/>
          <p:nvPr/>
        </p:nvSpPr>
        <p:spPr>
          <a:xfrm>
            <a:off x="3749040" y="2743200"/>
            <a:ext cx="228600" cy="210312"/>
          </a:xfrm>
          <a:prstGeom prst="line">
            <a:avLst/>
          </a:prstGeom>
          <a:noFill/>
          <a:ln w="25400">
            <a:solidFill>
              <a:srgbClr val="FF7F0E"/>
            </a:solidFill>
            <a:prstDash val="solid"/>
            <a:headEnd type="none"/>
            <a:tailEnd type="triangle"/>
          </a:ln>
        </p:spPr>
      </p:sp>
      <p:sp>
        <p:nvSpPr>
          <p:cNvPr id="70" name="Shape 68"/>
          <p:cNvSpPr/>
          <p:nvPr/>
        </p:nvSpPr>
        <p:spPr>
          <a:xfrm>
            <a:off x="6720840" y="2240280"/>
            <a:ext cx="1920240" cy="868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830568" y="2286000"/>
            <a:ext cx="170078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edge_attr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Δx, d, n·n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vis-score</a:t>
            </a:r>
            <a:endParaRPr lang="en-US" sz="1200" dirty="0"/>
          </a:p>
        </p:txBody>
      </p:sp>
      <p:sp>
        <p:nvSpPr>
          <p:cNvPr id="72" name="Shape 70"/>
          <p:cNvSpPr/>
          <p:nvPr/>
        </p:nvSpPr>
        <p:spPr>
          <a:xfrm>
            <a:off x="6537960" y="2148840"/>
            <a:ext cx="182880" cy="502920"/>
          </a:xfrm>
          <a:prstGeom prst="line">
            <a:avLst/>
          </a:prstGeom>
          <a:noFill/>
          <a:ln w="25400">
            <a:solidFill>
              <a:srgbClr val="5B6770"/>
            </a:solidFill>
            <a:prstDash val="solid"/>
            <a:headEnd type="none"/>
            <a:tailEnd type="triangle"/>
          </a:ln>
        </p:spPr>
      </p:sp>
      <p:sp>
        <p:nvSpPr>
          <p:cNvPr id="73" name="Shape 71"/>
          <p:cNvSpPr/>
          <p:nvPr/>
        </p:nvSpPr>
        <p:spPr>
          <a:xfrm>
            <a:off x="6537960" y="2953512"/>
            <a:ext cx="182880" cy="-301752"/>
          </a:xfrm>
          <a:prstGeom prst="line">
            <a:avLst/>
          </a:prstGeom>
          <a:noFill/>
          <a:ln w="25400">
            <a:solidFill>
              <a:srgbClr val="5B6770"/>
            </a:solidFill>
            <a:prstDash val="solid"/>
            <a:headEnd type="none"/>
            <a:tailEnd type="triangle"/>
          </a:ln>
        </p:spPr>
      </p:sp>
      <p:sp>
        <p:nvSpPr>
          <p:cNvPr id="74" name="Text 72"/>
          <p:cNvSpPr/>
          <p:nvPr/>
        </p:nvSpPr>
        <p:spPr>
          <a:xfrm>
            <a:off x="1051560" y="411480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計算量の制御</a:t>
            </a:r>
            <a:endParaRPr lang="en-US" sz="1400" dirty="0"/>
          </a:p>
        </p:txBody>
      </p:sp>
      <p:graphicFrame>
        <p:nvGraphicFramePr>
          <p:cNvPr id="75" name="Chart 0" descr=""/>
          <p:cNvGraphicFramePr/>
          <p:nvPr/>
        </p:nvGraphicFramePr>
        <p:xfrm>
          <a:off x="1051560" y="4434840"/>
          <a:ext cx="5212080" cy="1554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6" name="Text 73"/>
          <p:cNvSpPr/>
          <p:nvPr/>
        </p:nvSpPr>
        <p:spPr>
          <a:xfrm>
            <a:off x="1051560" y="603504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全結合（O(N²)）は禁止。E= N·(k_local+k_nonlocal)に抑える。</a:t>
            </a:r>
            <a:endParaRPr lang="en-US" sz="1200" dirty="0"/>
          </a:p>
        </p:txBody>
      </p:sp>
      <p:sp>
        <p:nvSpPr>
          <p:cNvPr id="77" name="Shape 74"/>
          <p:cNvSpPr/>
          <p:nvPr/>
        </p:nvSpPr>
        <p:spPr>
          <a:xfrm>
            <a:off x="6492240" y="1005840"/>
            <a:ext cx="5196535" cy="5257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38100" dist="15240" dir="2700000">
              <a:srgbClr val="000000">
                <a:alpha val="12000"/>
              </a:srgbClr>
            </a:outerShdw>
          </a:effectLst>
        </p:spPr>
      </p:sp>
      <p:sp>
        <p:nvSpPr>
          <p:cNvPr id="78" name="Text 75"/>
          <p:cNvSpPr/>
          <p:nvPr/>
        </p:nvSpPr>
        <p:spPr>
          <a:xfrm>
            <a:off x="6675120" y="1097280"/>
            <a:ext cx="483077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関連技術（なぜTransformer）</a:t>
            </a:r>
            <a:endParaRPr lang="en-US" sz="1400" dirty="0"/>
          </a:p>
        </p:txBody>
      </p:sp>
      <p:sp>
        <p:nvSpPr>
          <p:cNvPr id="79" name="Text 76"/>
          <p:cNvSpPr/>
          <p:nvPr/>
        </p:nvSpPr>
        <p:spPr>
          <a:xfrm>
            <a:off x="6675120" y="1691640"/>
            <a:ext cx="5013655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非局所影響：どの面から寄与が来るかが状況で変わる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注意機構：エッジ属性で重み付けしやすい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Graphormer：グラフ構造のエンコードが重要（Transformerの適用例）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Point Transformer：点群に自己注意を適用する設計例</a:t>
            </a:r>
            <a:endParaRPr lang="en-US" sz="1600" dirty="0"/>
          </a:p>
        </p:txBody>
      </p:sp>
      <p:sp>
        <p:nvSpPr>
          <p:cNvPr id="80" name="Shape 77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1" name="Text 78"/>
          <p:cNvSpPr/>
          <p:nvPr/>
        </p:nvSpPr>
        <p:spPr>
          <a:xfrm>
            <a:off x="502920" y="6611112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Surface Graph Transformer + Nonlocal Coupling + SDF update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118585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AA3D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ネットワーク構成：Surface Graph Transformer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11185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local/nonlocalエッジを使ったEdge-conditioned AttentionでVnを推定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2920" y="932688"/>
            <a:ext cx="11185855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005840"/>
            <a:ext cx="11185855" cy="5257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38100" dist="1524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1097280"/>
            <a:ext cx="108200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アーキテクチャ（詳細図）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14400" y="1645920"/>
            <a:ext cx="2286000" cy="77724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24128" y="1691640"/>
            <a:ext cx="206654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Node features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pos, n, κ, mat/mask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+ vis-feat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14400" y="2651760"/>
            <a:ext cx="2286000" cy="59436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24128" y="2697480"/>
            <a:ext cx="20665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Edges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local + nonlocal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14400" y="3474720"/>
            <a:ext cx="2286000" cy="685800"/>
          </a:xfrm>
          <a:prstGeom prst="roundRect">
            <a:avLst/>
          </a:prstGeom>
          <a:solidFill>
            <a:srgbClr val="F3E5F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24128" y="3520440"/>
            <a:ext cx="206654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Global cond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recipe c + latent z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520440" y="1645920"/>
            <a:ext cx="1828800" cy="777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30168" y="1691640"/>
            <a:ext cx="160934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Node Encoder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(MLP)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00400" y="2029968"/>
            <a:ext cx="320040" cy="0"/>
          </a:xfrm>
          <a:prstGeom prst="line">
            <a:avLst/>
          </a:prstGeom>
          <a:noFill/>
          <a:ln w="25400">
            <a:solidFill>
              <a:srgbClr val="1F77B4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577840" y="1600200"/>
            <a:ext cx="2103120" cy="2697480"/>
          </a:xfrm>
          <a:prstGeom prst="roundRect">
            <a:avLst/>
          </a:prstGeom>
          <a:solidFill>
            <a:srgbClr val="FFF7ED"/>
          </a:solidFill>
          <a:ln w="25400">
            <a:solidFill>
              <a:srgbClr val="FF7F0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77840" y="173736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Graph Transformer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Blocks × L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806440" y="2286000"/>
            <a:ext cx="164592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16168" y="2331720"/>
            <a:ext cx="14264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Edge-conditioned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Attention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806440" y="2926080"/>
            <a:ext cx="164592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16168" y="2971800"/>
            <a:ext cx="14264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FFN + Norm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806440" y="3474720"/>
            <a:ext cx="164592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16168" y="3520440"/>
            <a:ext cx="14264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Local + Nonlocal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message mixing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349240" y="2029968"/>
            <a:ext cx="228600" cy="896112"/>
          </a:xfrm>
          <a:prstGeom prst="line">
            <a:avLst/>
          </a:prstGeom>
          <a:noFill/>
          <a:ln w="25400">
            <a:solidFill>
              <a:srgbClr val="1F77B4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3200400" y="3822192"/>
            <a:ext cx="3429000" cy="-1536192"/>
          </a:xfrm>
          <a:prstGeom prst="line">
            <a:avLst/>
          </a:prstGeom>
          <a:noFill/>
          <a:ln w="25400">
            <a:solidFill>
              <a:srgbClr val="FF7F0E"/>
            </a:solidFill>
            <a:prstDash val="solid"/>
            <a:headEnd type="none"/>
            <a:tailEnd type="triangle"/>
          </a:ln>
        </p:spPr>
      </p:sp>
      <p:sp>
        <p:nvSpPr>
          <p:cNvPr id="26" name="Text 24"/>
          <p:cNvSpPr/>
          <p:nvPr/>
        </p:nvSpPr>
        <p:spPr>
          <a:xfrm>
            <a:off x="5394960" y="21945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FiLM/concat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183880" y="2286000"/>
            <a:ext cx="1828800" cy="777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93608" y="2331720"/>
            <a:ext cx="160934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Head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(MLP)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680960" y="2697480"/>
            <a:ext cx="502920" cy="0"/>
          </a:xfrm>
          <a:prstGeom prst="line">
            <a:avLst/>
          </a:prstGeom>
          <a:noFill/>
          <a:ln w="25400">
            <a:solidFill>
              <a:srgbClr val="1F77B4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10287000" y="2286000"/>
            <a:ext cx="2103120" cy="77724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396728" y="2331720"/>
            <a:ext cx="188366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Output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Vn on surface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10012680" y="2697480"/>
            <a:ext cx="274320" cy="0"/>
          </a:xfrm>
          <a:prstGeom prst="line">
            <a:avLst/>
          </a:prstGeom>
          <a:noFill/>
          <a:ln w="25400">
            <a:solidFill>
              <a:srgbClr val="2CA02C"/>
            </a:solidFill>
            <a:prstDash val="solid"/>
            <a:headEnd type="none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914400" y="4572000"/>
            <a:ext cx="10362895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97280" y="47091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ポイント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2560320" y="4709160"/>
            <a:ext cx="8808415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全結合attentionではなく、local/nonlocalエッジによる疎attentionでスケールさせる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非局所エッジは「可視性（SDFレイ）」や「view-factor近似」で物理寄りに設計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必要なら Vn を成分分解（etch/depo/sputter…）して原因分析に活用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2920" y="6611112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Surface Graph Transformer + Nonlocal Coupling + SDF update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118585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AA3D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学習ターゲット：表面法線速度 Vn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11185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SDFの時刻差分から教師ラベルを作り、表面で学ぶ（データ効率を最大化）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2920" y="932688"/>
            <a:ext cx="11185855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005840"/>
            <a:ext cx="5806440" cy="5257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38100" dist="1524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1097280"/>
            <a:ext cx="5440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教師生成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051560" y="1737360"/>
            <a:ext cx="2377440" cy="731520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61288" y="1783080"/>
            <a:ext cx="215798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SDF φ(t)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格子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703320" y="1737360"/>
            <a:ext cx="2377440" cy="731520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13048" y="1783080"/>
            <a:ext cx="215798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SDF φ(t+Δt)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格子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429000" y="2103120"/>
            <a:ext cx="274320" cy="0"/>
          </a:xfrm>
          <a:prstGeom prst="line">
            <a:avLst/>
          </a:prstGeom>
          <a:noFill/>
          <a:ln w="25400">
            <a:solidFill>
              <a:srgbClr val="1F77B4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1051560" y="2834640"/>
            <a:ext cx="5029200" cy="82296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61288" y="2880360"/>
            <a:ext cx="480974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表面点 p（φ=0）で補間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Vn(p) ≈ (φ(t,p)−φ(t+Δt,p)) / (Δt·|∇φ(t,p)|)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51560" y="3749040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φ(t,p)=0 なので  Vn(p) ≈ −φ(t+Δt,p)/Δt  としても扱える（符号規約に注意）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280160" y="4434840"/>
            <a:ext cx="47548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737360" y="5394960"/>
            <a:ext cx="3657600" cy="-457200"/>
          </a:xfrm>
          <a:prstGeom prst="line">
            <a:avLst/>
          </a:prstGeom>
          <a:noFill/>
          <a:ln w="38100">
            <a:solidFill>
              <a:srgbClr val="1F77B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011680" y="5486400"/>
            <a:ext cx="3657600" cy="-457200"/>
          </a:xfrm>
          <a:prstGeom prst="line">
            <a:avLst/>
          </a:prstGeom>
          <a:noFill/>
          <a:ln w="38100">
            <a:solidFill>
              <a:srgbClr val="FF7F0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840480" y="5120640"/>
            <a:ext cx="0" cy="320040"/>
          </a:xfrm>
          <a:prstGeom prst="line">
            <a:avLst/>
          </a:prstGeom>
          <a:noFill/>
          <a:ln w="25400">
            <a:solidFill>
              <a:srgbClr val="2CA02C"/>
            </a:solidFill>
            <a:prstDash val="solid"/>
            <a:headEnd type="none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4023360" y="5212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界面移動量 → Vn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463040" y="54864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77B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463040" y="46634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7F0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t+Δt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92240" y="1005840"/>
            <a:ext cx="5196535" cy="5257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38100" dist="15240" dir="27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675120" y="1097280"/>
            <a:ext cx="483077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なぜVnが良い？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675120" y="1691640"/>
            <a:ext cx="5013655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複雑なMC物理を「形状進化に必要な閉包」として吸収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 run から表面点×時間の大量教師が取れる → 少runで学習しやすい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更新はSDF（幾何エンジン）に任せ、ロールアウト破綻を抑える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675120" y="3840480"/>
            <a:ext cx="1804916" cy="347472"/>
          </a:xfrm>
          <a:prstGeom prst="rect">
            <a:avLst/>
          </a:prstGeom>
          <a:solidFill>
            <a:srgbClr val="E9F3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29984" y="3886200"/>
            <a:ext cx="16951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学習ターゲット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480036" y="3840480"/>
            <a:ext cx="3208739" cy="347472"/>
          </a:xfrm>
          <a:prstGeom prst="rect">
            <a:avLst/>
          </a:prstGeom>
          <a:solidFill>
            <a:srgbClr val="E9F3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534900" y="3886200"/>
            <a:ext cx="3099011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特徴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675120" y="4187952"/>
            <a:ext cx="1804916" cy="63093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29984" y="4233672"/>
            <a:ext cx="1695188" cy="539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voxel直接予測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480036" y="4187952"/>
            <a:ext cx="3208739" cy="63093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534900" y="4233672"/>
            <a:ext cx="3099011" cy="539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3Dで重い／誤差蓄積で破綻しやすい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675120" y="4818888"/>
            <a:ext cx="1804916" cy="630936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729984" y="4864608"/>
            <a:ext cx="1695188" cy="539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Vn（表面）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8480036" y="4818888"/>
            <a:ext cx="3208739" cy="630936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534900" y="4864608"/>
            <a:ext cx="3099011" cy="539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閉包として学ぶ／更新はSDFが担保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675120" y="5449824"/>
            <a:ext cx="1804916" cy="63093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729984" y="5495544"/>
            <a:ext cx="1695188" cy="539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係数場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8480036" y="5449824"/>
            <a:ext cx="3208739" cy="63093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534900" y="5495544"/>
            <a:ext cx="3099011" cy="539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解釈性↑だが設計コスト↑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2920" y="6611112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Surface Graph Transformer + Nonlocal Coupling + SDF update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118585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AA3D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（任意だが強力）Teacher–Student蒸留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11185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学習時のみMC内部ログを使い、運用時は表面データのみで内部影響を反映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2920" y="932688"/>
            <a:ext cx="11185855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005840"/>
            <a:ext cx="11185855" cy="5257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38100" dist="1524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1097280"/>
            <a:ext cx="108200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蒸留の構造（LUPI / Knowledge Distillation）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005840" y="1737360"/>
            <a:ext cx="2926080" cy="640080"/>
          </a:xfrm>
          <a:prstGeom prst="roundRect">
            <a:avLst/>
          </a:prstGeom>
          <a:solidFill>
            <a:srgbClr val="EDE7F6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15568" y="1783080"/>
            <a:ext cx="27066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Teacher入力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表面特徴 + レシピ + 内部ログ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005840" y="2651760"/>
            <a:ext cx="2926080" cy="64008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15568" y="2697480"/>
            <a:ext cx="27066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Teacher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Graph Transformer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005840" y="3566160"/>
            <a:ext cx="2926080" cy="64008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15568" y="3611880"/>
            <a:ext cx="27066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Teacher出力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Vn（高精度）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468880" y="2377440"/>
            <a:ext cx="0" cy="274320"/>
          </a:xfrm>
          <a:prstGeom prst="line">
            <a:avLst/>
          </a:prstGeom>
          <a:noFill/>
          <a:ln w="25400">
            <a:solidFill>
              <a:srgbClr val="1F77B4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2468880" y="3291840"/>
            <a:ext cx="0" cy="274320"/>
          </a:xfrm>
          <a:prstGeom prst="line">
            <a:avLst/>
          </a:prstGeom>
          <a:noFill/>
          <a:ln w="25400">
            <a:solidFill>
              <a:srgbClr val="1F77B4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526280" y="1737360"/>
            <a:ext cx="2926080" cy="640080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36008" y="1783080"/>
            <a:ext cx="27066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Student入力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表面特徴 + レシピ + 潜在 z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26280" y="2651760"/>
            <a:ext cx="2926080" cy="64008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36008" y="2697480"/>
            <a:ext cx="27066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Student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Graph Transformer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26280" y="3566160"/>
            <a:ext cx="2926080" cy="64008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36008" y="3611880"/>
            <a:ext cx="27066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Student出力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Vn（運用）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989320" y="2377440"/>
            <a:ext cx="0" cy="274320"/>
          </a:xfrm>
          <a:prstGeom prst="line">
            <a:avLst/>
          </a:prstGeom>
          <a:noFill/>
          <a:ln w="25400">
            <a:solidFill>
              <a:srgbClr val="1F77B4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5989320" y="3291840"/>
            <a:ext cx="0" cy="274320"/>
          </a:xfrm>
          <a:prstGeom prst="line">
            <a:avLst/>
          </a:prstGeom>
          <a:noFill/>
          <a:ln w="25400">
            <a:solidFill>
              <a:srgbClr val="1F77B4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3931920" y="2971800"/>
            <a:ext cx="594360" cy="0"/>
          </a:xfrm>
          <a:prstGeom prst="line">
            <a:avLst/>
          </a:prstGeom>
          <a:noFill/>
          <a:ln w="25400">
            <a:solidFill>
              <a:srgbClr val="FF7F0E"/>
            </a:solidFill>
            <a:prstDash val="solid"/>
            <a:headEnd type="none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3931920" y="2697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7F0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蒸留（表現/出力）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772400" y="1737360"/>
            <a:ext cx="3916375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38100" dist="15240" dir="27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955280" y="1828800"/>
            <a:ext cx="35506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内部ログ例（学習時のみ）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955280" y="2011680"/>
            <a:ext cx="3733495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直接/反射寄与フラックス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入射角・エネルギー分布（ヒスト）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再入射回数・反射回数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表面拡散の統計（任意）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1005840" y="4389120"/>
            <a:ext cx="10180015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38100" dist="15240" dir="27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1188720" y="4480560"/>
            <a:ext cx="98142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期待効果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188720" y="4663440"/>
            <a:ext cx="981425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内部影響（遮蔽/反射/二次反応）を取り込みつつ、運用は軽量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実測合わせ（z同定）時に、内部ログが無くても近い挙動を再現しやすい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" y="6611112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Surface Graph Transformer + Nonlocal Coupling + SDF update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118585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AA3D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推論（高速形状シミュレータ）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11185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Vn（表面）→ SDF格子へ投影 → レベルセット更新 を繰り返す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2920" y="932688"/>
            <a:ext cx="11185855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005840"/>
            <a:ext cx="5806440" cy="5257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38100" dist="1524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1097280"/>
            <a:ext cx="5440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推論ループ（1条件）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005840" y="1783080"/>
            <a:ext cx="5212080" cy="548640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15568" y="1828800"/>
            <a:ext cx="49926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1) 初期形状：voxel → SDF φ0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005840" y="2468880"/>
            <a:ext cx="5212080" cy="54864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15568" y="2514600"/>
            <a:ext cx="49926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2) 表面抽出・点群サンプル（N点）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005840" y="3154680"/>
            <a:ext cx="5212080" cy="54864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15568" y="3200400"/>
            <a:ext cx="49926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3) Graph Transformer → Vn(p) 推定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05840" y="3840480"/>
            <a:ext cx="5212080" cy="5486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15568" y="3886200"/>
            <a:ext cx="49926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4) VnをSDF格子（narrow band）へ投影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005840" y="4526280"/>
            <a:ext cx="5212080" cy="548640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15568" y="4572000"/>
            <a:ext cx="49926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5) レベルセット更新：φ←φ−dt·Vn|∇φ|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005840" y="5212080"/>
            <a:ext cx="5212080" cy="54864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15568" y="5257800"/>
            <a:ext cx="49926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6) 必要なら再距離化（fast marching 等）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005840" y="5897880"/>
            <a:ext cx="5212080" cy="54864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15568" y="5943600"/>
            <a:ext cx="49926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7) 出力：SDF/等値面/断面/指標（時刻ごと）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1188720" y="2331720"/>
            <a:ext cx="822960" cy="3291840"/>
          </a:xfrm>
          <a:prstGeom prst="arc">
            <a:avLst/>
          </a:prstGeom>
          <a:noFill/>
          <a:ln w="25400">
            <a:solidFill>
              <a:srgbClr val="1F77B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600200" y="5852160"/>
            <a:ext cx="0" cy="-3383280"/>
          </a:xfrm>
          <a:prstGeom prst="line">
            <a:avLst/>
          </a:prstGeom>
          <a:noFill/>
          <a:ln w="25400">
            <a:solidFill>
              <a:srgbClr val="1F77B4"/>
            </a:solidFill>
            <a:prstDash val="solid"/>
            <a:headEnd type="none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1188720" y="384048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時間ステップで反復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492240" y="1005840"/>
            <a:ext cx="5196535" cy="5257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38100" dist="15240" dir="27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675120" y="1097280"/>
            <a:ext cx="483077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ポイント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675120" y="1691640"/>
            <a:ext cx="5013655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体積全体をNNに入れない（表面だけ）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形状更新はSDFが担保→破綻しにくい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非局所性は「非局所エッジ」で表現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出力は断面比較・3D可視化へ直結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675120" y="38404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出力例（概念）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675120" y="4160520"/>
            <a:ext cx="24688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949440" y="5257800"/>
            <a:ext cx="1920240" cy="-822960"/>
          </a:xfrm>
          <a:prstGeom prst="line">
            <a:avLst/>
          </a:prstGeom>
          <a:noFill/>
          <a:ln w="38100">
            <a:solidFill>
              <a:srgbClr val="1F77B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675120" y="56692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断面輪郭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9326880" y="4160520"/>
            <a:ext cx="24688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966960" y="4480560"/>
            <a:ext cx="1188720" cy="822960"/>
          </a:xfrm>
          <a:prstGeom prst="ellipse">
            <a:avLst/>
          </a:prstGeom>
          <a:solidFill>
            <a:srgbClr val="FFFFFF">
              <a:alpha val="0"/>
            </a:srgbClr>
          </a:solidFill>
          <a:ln w="38100">
            <a:solidFill>
              <a:srgbClr val="FF7F0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326880" y="56692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等値面(φ=0)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2920" y="6611112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Surface Graph Transformer + Nonlocal Coupling + SDF update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118585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AA3D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実測SEMへの合わせ込み（同定）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11185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未知フラックス/反応を潜在 z に集約し、SEM特徴でMAP/SBI同定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2920" y="932688"/>
            <a:ext cx="11185855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005840"/>
            <a:ext cx="5806440" cy="5257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38100" dist="1524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1097280"/>
            <a:ext cx="5440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同定フロー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005840" y="1783080"/>
            <a:ext cx="256032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15568" y="1828800"/>
            <a:ext cx="23408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SEM画像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（断面）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840480" y="1783080"/>
            <a:ext cx="2651760" cy="685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50208" y="1828800"/>
            <a:ext cx="243230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特徴抽出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CD/角度/曲率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566160" y="2130552"/>
            <a:ext cx="274320" cy="0"/>
          </a:xfrm>
          <a:prstGeom prst="line">
            <a:avLst/>
          </a:prstGeom>
          <a:noFill/>
          <a:ln w="25400">
            <a:solidFill>
              <a:srgbClr val="1F77B4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423160" y="2788920"/>
            <a:ext cx="4069080" cy="77724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32888" y="2834640"/>
            <a:ext cx="384962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同定： z* = argmin ||feat(pred(z))−feat(SEM)||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または  posterior p(z|feat)（SBI）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166360" y="2468880"/>
            <a:ext cx="-731520" cy="320040"/>
          </a:xfrm>
          <a:prstGeom prst="line">
            <a:avLst/>
          </a:prstGeom>
          <a:noFill/>
          <a:ln w="25400">
            <a:solidFill>
              <a:srgbClr val="FF7F0E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2423160" y="3840480"/>
            <a:ext cx="4069080" cy="68580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32888" y="3886200"/>
            <a:ext cx="384962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z を固定して高速推論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（Graph Transformer + SDF更新）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434840" y="3566160"/>
            <a:ext cx="0" cy="274320"/>
          </a:xfrm>
          <a:prstGeom prst="line">
            <a:avLst/>
          </a:prstGeom>
          <a:noFill/>
          <a:ln w="25400">
            <a:solidFill>
              <a:srgbClr val="2CA02C"/>
            </a:solidFill>
            <a:prstDash val="solid"/>
            <a:headEnd type="none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1005840" y="47091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SBIのイメージ（事後分布）</a:t>
            </a:r>
            <a:endParaRPr lang="en-US" sz="1200" dirty="0"/>
          </a:p>
        </p:txBody>
      </p:sp>
      <p:graphicFrame>
        <p:nvGraphicFramePr>
          <p:cNvPr id="19" name="Chart 0" descr=""/>
          <p:cNvGraphicFramePr/>
          <p:nvPr/>
        </p:nvGraphicFramePr>
        <p:xfrm>
          <a:off x="1005840" y="5029200"/>
          <a:ext cx="5486400" cy="1600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0" name="Text 17"/>
          <p:cNvSpPr/>
          <p:nvPr/>
        </p:nvSpPr>
        <p:spPr>
          <a:xfrm>
            <a:off x="1005840" y="66751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多峰性・不確かさを保持 → 追加実験/追加Simの意思決定に使える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6492240" y="1005840"/>
            <a:ext cx="5196535" cy="5257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38100" dist="15240" dir="2700000">
              <a:srgbClr val="000000">
                <a:alpha val="12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6675120" y="1097280"/>
            <a:ext cx="483077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MAP vs SBI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6675120" y="1691640"/>
            <a:ext cx="1253414" cy="347472"/>
          </a:xfrm>
          <a:prstGeom prst="rect">
            <a:avLst/>
          </a:prstGeom>
          <a:solidFill>
            <a:srgbClr val="E9F3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729984" y="1737360"/>
            <a:ext cx="114368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方式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7928534" y="1691640"/>
            <a:ext cx="2105735" cy="347472"/>
          </a:xfrm>
          <a:prstGeom prst="rect">
            <a:avLst/>
          </a:prstGeom>
          <a:solidFill>
            <a:srgbClr val="E9F3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983398" y="1737360"/>
            <a:ext cx="1996007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強み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10034269" y="1691640"/>
            <a:ext cx="1654506" cy="347472"/>
          </a:xfrm>
          <a:prstGeom prst="rect">
            <a:avLst/>
          </a:prstGeom>
          <a:solidFill>
            <a:srgbClr val="E9F3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0089133" y="1737360"/>
            <a:ext cx="154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注意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6675120" y="2039112"/>
            <a:ext cx="1253414" cy="119786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729984" y="2084832"/>
            <a:ext cx="1143686" cy="11064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MAP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7928534" y="2039112"/>
            <a:ext cx="2105735" cy="119786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7983398" y="2084832"/>
            <a:ext cx="1996007" cy="11064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実装が軽い・速い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10034269" y="2039112"/>
            <a:ext cx="1654506" cy="119786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10089133" y="2084832"/>
            <a:ext cx="1544778" cy="11064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多峰性に弱い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6675120" y="3236976"/>
            <a:ext cx="1253414" cy="11978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729984" y="3282696"/>
            <a:ext cx="1143686" cy="11064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SBI</a:t>
            </a:r>
            <a:endParaRPr lang="en-US" sz="1200" dirty="0"/>
          </a:p>
        </p:txBody>
      </p:sp>
      <p:sp>
        <p:nvSpPr>
          <p:cNvPr id="37" name="Shape 34"/>
          <p:cNvSpPr/>
          <p:nvPr/>
        </p:nvSpPr>
        <p:spPr>
          <a:xfrm>
            <a:off x="7928534" y="3236976"/>
            <a:ext cx="2105735" cy="11978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7983398" y="3282696"/>
            <a:ext cx="1996007" cy="11064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尤度不要・分布で推定</a:t>
            </a:r>
            <a:endParaRPr lang="en-US" sz="1200" dirty="0"/>
          </a:p>
        </p:txBody>
      </p:sp>
      <p:sp>
        <p:nvSpPr>
          <p:cNvPr id="39" name="Shape 36"/>
          <p:cNvSpPr/>
          <p:nvPr/>
        </p:nvSpPr>
        <p:spPr>
          <a:xfrm>
            <a:off x="10034269" y="3236976"/>
            <a:ext cx="1654506" cy="11978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10089133" y="3282696"/>
            <a:ext cx="1544778" cy="11064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学習/設計コスト</a:t>
            </a:r>
            <a:endParaRPr lang="en-US" sz="1200" dirty="0"/>
          </a:p>
        </p:txBody>
      </p:sp>
      <p:sp>
        <p:nvSpPr>
          <p:cNvPr id="41" name="Text 38"/>
          <p:cNvSpPr/>
          <p:nvPr/>
        </p:nvSpPr>
        <p:spPr>
          <a:xfrm>
            <a:off x="6675120" y="4663440"/>
            <a:ext cx="5013655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実測が少数（10条件）でも、まずMAPで回し、安定後にSBIへ拡張するのが現実的</a:t>
            </a:r>
            <a:endParaRPr lang="en-US" sz="1600" dirty="0"/>
          </a:p>
        </p:txBody>
      </p:sp>
      <p:sp>
        <p:nvSpPr>
          <p:cNvPr id="42" name="Shape 39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502920" y="6611112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Surface Graph Transformer + Nonlocal Coupling + SDF update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118585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AA3D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学習評価：断面輪郭比較とメトリクス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11185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Validation/Testで「横断面輪郭（pred vs gt/SEM）」と工学KPIを同時に見る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2920" y="932688"/>
            <a:ext cx="11185855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005840"/>
            <a:ext cx="5806440" cy="5257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38100" dist="1524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1097280"/>
            <a:ext cx="5440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断面輪郭比較（概念図）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005840" y="1783080"/>
            <a:ext cx="53035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63040" y="2148840"/>
            <a:ext cx="0" cy="2926080"/>
          </a:xfrm>
          <a:prstGeom prst="line">
            <a:avLst/>
          </a:prstGeom>
          <a:noFill/>
          <a:ln w="12700">
            <a:solidFill>
              <a:srgbClr val="5B677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463040" y="5074920"/>
            <a:ext cx="4480560" cy="0"/>
          </a:xfrm>
          <a:prstGeom prst="line">
            <a:avLst/>
          </a:prstGeom>
          <a:noFill/>
          <a:ln w="12700">
            <a:solidFill>
              <a:srgbClr val="5B677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737360" y="4892040"/>
            <a:ext cx="3566160" cy="-2377440"/>
          </a:xfrm>
          <a:prstGeom prst="line">
            <a:avLst/>
          </a:prstGeom>
          <a:noFill/>
          <a:ln w="38100">
            <a:solidFill>
              <a:srgbClr val="1F77B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783080" y="4846320"/>
            <a:ext cx="3611880" cy="-2286000"/>
          </a:xfrm>
          <a:prstGeom prst="line">
            <a:avLst/>
          </a:prstGeom>
          <a:noFill/>
          <a:ln w="38100">
            <a:solidFill>
              <a:srgbClr val="FF7F0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55648" y="4873752"/>
            <a:ext cx="3566160" cy="-2331720"/>
          </a:xfrm>
          <a:prstGeom prst="line">
            <a:avLst/>
          </a:prstGeom>
          <a:noFill/>
          <a:ln w="25400">
            <a:solidFill>
              <a:srgbClr val="2CA02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303520" y="2377440"/>
            <a:ext cx="164592" cy="164592"/>
          </a:xfrm>
          <a:prstGeom prst="rect">
            <a:avLst/>
          </a:prstGeom>
          <a:solidFill>
            <a:srgbClr val="1F77B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32120" y="23317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GT（HF sim）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303520" y="2670048"/>
            <a:ext cx="164592" cy="164592"/>
          </a:xfrm>
          <a:prstGeom prst="rect">
            <a:avLst/>
          </a:prstGeom>
          <a:solidFill>
            <a:srgbClr val="FF7F0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32120" y="26243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Pred（surrogate）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303520" y="2962656"/>
            <a:ext cx="164592" cy="164592"/>
          </a:xfrm>
          <a:prstGeom prst="rect">
            <a:avLst/>
          </a:prstGeom>
          <a:solidFill>
            <a:srgbClr val="2CA02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532120" y="291693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SEM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828800" y="2286000"/>
            <a:ext cx="1280160" cy="41148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F7F0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828800" y="235000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角度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651760" y="4526280"/>
            <a:ext cx="1463040" cy="41148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459028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CD@高さ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0" y="4526280"/>
            <a:ext cx="1463040" cy="41148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2CA02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0" y="459028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底形状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492240" y="1005840"/>
            <a:ext cx="5196535" cy="5257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38100" dist="15240" dir="27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675120" y="1097280"/>
            <a:ext cx="483077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評価メトリクス（例）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675120" y="1691640"/>
            <a:ext cx="1403823" cy="347472"/>
          </a:xfrm>
          <a:prstGeom prst="rect">
            <a:avLst/>
          </a:prstGeom>
          <a:solidFill>
            <a:srgbClr val="E9F3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29984" y="1737360"/>
            <a:ext cx="129409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カテゴリ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078943" y="1691640"/>
            <a:ext cx="3609832" cy="347472"/>
          </a:xfrm>
          <a:prstGeom prst="rect">
            <a:avLst/>
          </a:prstGeom>
          <a:solidFill>
            <a:srgbClr val="E9F3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133807" y="1737360"/>
            <a:ext cx="35001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指標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675120" y="2039112"/>
            <a:ext cx="1403823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729984" y="2084832"/>
            <a:ext cx="1294095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幾何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8078943" y="2039112"/>
            <a:ext cx="3609832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33807" y="2084832"/>
            <a:ext cx="3500104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輪郭距離（Chamfer/Hausdorff）、SDF誤差（band内）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675120" y="2807208"/>
            <a:ext cx="1403823" cy="768096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729984" y="2852928"/>
            <a:ext cx="1294095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工学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8078943" y="2807208"/>
            <a:ext cx="3609832" cy="768096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133807" y="2852928"/>
            <a:ext cx="3500104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CD@複数高さ、sidewall angle、ボトム曲率/フッティング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675120" y="3575304"/>
            <a:ext cx="1403823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729984" y="3621024"/>
            <a:ext cx="1294095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安定性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8078943" y="3575304"/>
            <a:ext cx="3609832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133807" y="3621024"/>
            <a:ext cx="3500104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ロールアウト破綻率、SDF再距離化頻度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675120" y="45720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学習曲線（概念）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6675120" y="4892040"/>
            <a:ext cx="5013655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903720" y="5943600"/>
            <a:ext cx="4389120" cy="-822960"/>
          </a:xfrm>
          <a:prstGeom prst="line">
            <a:avLst/>
          </a:prstGeom>
          <a:noFill/>
          <a:ln w="25400">
            <a:solidFill>
              <a:srgbClr val="FF7F0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675120" y="60807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epoch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702552" y="4846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loss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02920" y="6611112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Surface Graph Transformer + Nonlocal Coupling + SDF update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118585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AA3D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必要データと形式（目安）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11185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少runでも「表面点×時間」で学習サンプルを増幅。非局所性の学習には多様性が重要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2920" y="932688"/>
            <a:ext cx="11185855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005840"/>
            <a:ext cx="5806440" cy="5257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38100" dist="1524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1097280"/>
            <a:ext cx="5440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データ数の目安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1691640"/>
            <a:ext cx="1958645" cy="347472"/>
          </a:xfrm>
          <a:prstGeom prst="rect">
            <a:avLst/>
          </a:prstGeom>
          <a:solidFill>
            <a:srgbClr val="E9F3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77824" y="1737360"/>
            <a:ext cx="1848917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区分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81605" y="1691640"/>
            <a:ext cx="1305763" cy="347472"/>
          </a:xfrm>
          <a:prstGeom prst="rect">
            <a:avLst/>
          </a:prstGeom>
          <a:solidFill>
            <a:srgbClr val="E9F3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36469" y="1737360"/>
            <a:ext cx="119603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目安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087368" y="1691640"/>
            <a:ext cx="2176272" cy="347472"/>
          </a:xfrm>
          <a:prstGeom prst="rect">
            <a:avLst/>
          </a:prstGeom>
          <a:solidFill>
            <a:srgbClr val="E9F3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42232" y="1737360"/>
            <a:ext cx="20665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コメント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22960" y="2039112"/>
            <a:ext cx="1958645" cy="51892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7824" y="2084832"/>
            <a:ext cx="1848917" cy="42748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HF run数（MVP）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781605" y="2039112"/>
            <a:ext cx="1305763" cy="51892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836469" y="2084832"/>
            <a:ext cx="1196035" cy="42748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20〜40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087368" y="2039112"/>
            <a:ext cx="2176272" cy="51892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42232" y="2084832"/>
            <a:ext cx="2066544" cy="42748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非局所性を学ぶため条件多様性が必要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22960" y="2558034"/>
            <a:ext cx="1958645" cy="51892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77824" y="2603754"/>
            <a:ext cx="1848917" cy="42748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HF run数（標準）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781605" y="2558034"/>
            <a:ext cx="1305763" cy="51892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836469" y="2603754"/>
            <a:ext cx="1196035" cy="42748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60〜120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087368" y="2558034"/>
            <a:ext cx="2176272" cy="51892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42232" y="2603754"/>
            <a:ext cx="2066544" cy="42748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複数レジームをカバー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22960" y="3076956"/>
            <a:ext cx="1958645" cy="51892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77824" y="3122676"/>
            <a:ext cx="1848917" cy="42748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snapshot/run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781605" y="3076956"/>
            <a:ext cx="1305763" cy="51892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836469" y="3122676"/>
            <a:ext cx="1196035" cy="42748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20〜50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087368" y="3076956"/>
            <a:ext cx="2176272" cy="51892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42232" y="3122676"/>
            <a:ext cx="2066544" cy="42748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I/Oと学習安定性のバランス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22960" y="3595878"/>
            <a:ext cx="1958645" cy="51892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77824" y="3641598"/>
            <a:ext cx="1848917" cy="42748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点群/step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2781605" y="3595878"/>
            <a:ext cx="1305763" cy="51892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836469" y="3641598"/>
            <a:ext cx="1196035" cy="42748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1万〜20万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087368" y="3595878"/>
            <a:ext cx="2176272" cy="51892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142232" y="3641598"/>
            <a:ext cx="2066544" cy="42748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学習はサブサンプル（例:2万）でOK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822960" y="4251960"/>
            <a:ext cx="5440680" cy="82296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32688" y="4297680"/>
            <a:ext cx="522122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ポイント：N（点数）よりも「条件の多様性」＋「非局所エッジ設計」が精度に効く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492240" y="1005840"/>
            <a:ext cx="5196535" cy="5257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38100" dist="15240" dir="2700000">
              <a:srgbClr val="000000">
                <a:alpha val="12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6675120" y="1097280"/>
            <a:ext cx="483077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推奨データ形式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6675120" y="1691640"/>
            <a:ext cx="1754779" cy="347472"/>
          </a:xfrm>
          <a:prstGeom prst="rect">
            <a:avLst/>
          </a:prstGeom>
          <a:solidFill>
            <a:srgbClr val="E9F3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729984" y="1737360"/>
            <a:ext cx="1645051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用途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8429899" y="1691640"/>
            <a:ext cx="1253414" cy="347472"/>
          </a:xfrm>
          <a:prstGeom prst="rect">
            <a:avLst/>
          </a:prstGeom>
          <a:solidFill>
            <a:srgbClr val="E9F3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484763" y="1737360"/>
            <a:ext cx="114368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形式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9683313" y="1691640"/>
            <a:ext cx="2005462" cy="347472"/>
          </a:xfrm>
          <a:prstGeom prst="rect">
            <a:avLst/>
          </a:prstGeom>
          <a:solidFill>
            <a:srgbClr val="E9F3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738177" y="1737360"/>
            <a:ext cx="189573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メモ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6675120" y="2039112"/>
            <a:ext cx="1754779" cy="5989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729984" y="2084832"/>
            <a:ext cx="1645051" cy="5074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SDF格子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8429899" y="2039112"/>
            <a:ext cx="1253414" cy="5989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484763" y="2084832"/>
            <a:ext cx="1143686" cy="5074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HDF5/Zarr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9683313" y="2039112"/>
            <a:ext cx="2005462" cy="5989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9738177" y="2084832"/>
            <a:ext cx="1895734" cy="5074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φ(t)をchunk+圧縮（float16可）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6675120" y="2638044"/>
            <a:ext cx="1754779" cy="59893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729984" y="2683764"/>
            <a:ext cx="1645051" cy="5074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表面点群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8429899" y="2638044"/>
            <a:ext cx="1253414" cy="59893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484763" y="2683764"/>
            <a:ext cx="1143686" cy="5074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HDF5/Zarr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9683313" y="2638044"/>
            <a:ext cx="2005462" cy="59893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9738177" y="2683764"/>
            <a:ext cx="1895734" cy="5074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pos/normal/κ + edge_index/attr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6675120" y="3236976"/>
            <a:ext cx="1754779" cy="5989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729984" y="3282696"/>
            <a:ext cx="1645051" cy="5074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SEM特徴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8429899" y="3236976"/>
            <a:ext cx="1253414" cy="5989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484763" y="3282696"/>
            <a:ext cx="1143686" cy="5074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CSV/JSON</a:t>
            </a:r>
            <a:endParaRPr lang="en-US" sz="1200" dirty="0"/>
          </a:p>
        </p:txBody>
      </p:sp>
      <p:sp>
        <p:nvSpPr>
          <p:cNvPr id="63" name="Shape 61"/>
          <p:cNvSpPr/>
          <p:nvPr/>
        </p:nvSpPr>
        <p:spPr>
          <a:xfrm>
            <a:off x="9683313" y="3236976"/>
            <a:ext cx="2005462" cy="5989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9738177" y="3282696"/>
            <a:ext cx="1895734" cy="5074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CD/角度/曲率など少次元</a:t>
            </a:r>
            <a:endParaRPr lang="en-US" sz="1200" dirty="0"/>
          </a:p>
        </p:txBody>
      </p:sp>
      <p:sp>
        <p:nvSpPr>
          <p:cNvPr id="65" name="Shape 63"/>
          <p:cNvSpPr/>
          <p:nvPr/>
        </p:nvSpPr>
        <p:spPr>
          <a:xfrm>
            <a:off x="6675120" y="3835908"/>
            <a:ext cx="1754779" cy="59893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729984" y="3881628"/>
            <a:ext cx="1645051" cy="5074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可視化</a:t>
            </a:r>
            <a:endParaRPr lang="en-US" sz="1200" dirty="0"/>
          </a:p>
        </p:txBody>
      </p:sp>
      <p:sp>
        <p:nvSpPr>
          <p:cNvPr id="67" name="Shape 65"/>
          <p:cNvSpPr/>
          <p:nvPr/>
        </p:nvSpPr>
        <p:spPr>
          <a:xfrm>
            <a:off x="8429899" y="3835908"/>
            <a:ext cx="1253414" cy="59893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8484763" y="3881628"/>
            <a:ext cx="1143686" cy="5074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VTI/PNG</a:t>
            </a:r>
            <a:endParaRPr lang="en-US" sz="1200" dirty="0"/>
          </a:p>
        </p:txBody>
      </p:sp>
      <p:sp>
        <p:nvSpPr>
          <p:cNvPr id="69" name="Shape 67"/>
          <p:cNvSpPr/>
          <p:nvPr/>
        </p:nvSpPr>
        <p:spPr>
          <a:xfrm>
            <a:off x="9683313" y="3835908"/>
            <a:ext cx="2005462" cy="59893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9738177" y="3881628"/>
            <a:ext cx="1895734" cy="5074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時系列出力（PVD/VTI）</a:t>
            </a:r>
            <a:endParaRPr lang="en-US" sz="1200" dirty="0"/>
          </a:p>
        </p:txBody>
      </p:sp>
      <p:sp>
        <p:nvSpPr>
          <p:cNvPr id="71" name="Shape 69"/>
          <p:cNvSpPr/>
          <p:nvPr/>
        </p:nvSpPr>
        <p:spPr>
          <a:xfrm>
            <a:off x="6675120" y="4754880"/>
            <a:ext cx="5013655" cy="1417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784848" y="4800600"/>
            <a:ext cx="4794199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例：/runs/{id}/steps/{t}/pos[N,3], normal[N,3], feat[N,F],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edge_index[2,E], edge_attr[E,A], vn_target[N,1], recipe[C]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502920" y="6611112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Surface Graph Transformer + Nonlocal Coupling + SDF update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118585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AA3D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想定課題と対策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11185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表面抽出ノイズ／非局所エッジ生成コスト／Transformerスケールを計画的に潰す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2920" y="932688"/>
            <a:ext cx="11185855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005840"/>
            <a:ext cx="11185855" cy="5257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38100" dist="1524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1097280"/>
            <a:ext cx="108200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リスク一覧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1691640"/>
            <a:ext cx="2320071" cy="347472"/>
          </a:xfrm>
          <a:prstGeom prst="rect">
            <a:avLst/>
          </a:prstGeom>
          <a:solidFill>
            <a:srgbClr val="E9F3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77824" y="1737360"/>
            <a:ext cx="2210343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リスク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143031" y="1691640"/>
            <a:ext cx="4218310" cy="347472"/>
          </a:xfrm>
          <a:prstGeom prst="rect">
            <a:avLst/>
          </a:prstGeom>
          <a:solidFill>
            <a:srgbClr val="E9F3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97895" y="1737360"/>
            <a:ext cx="410858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何が起きる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61341" y="1691640"/>
            <a:ext cx="4007395" cy="347472"/>
          </a:xfrm>
          <a:prstGeom prst="rect">
            <a:avLst/>
          </a:prstGeom>
          <a:solidFill>
            <a:srgbClr val="E9F3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16205" y="1737360"/>
            <a:ext cx="3897667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対策（実装）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22960" y="2039112"/>
            <a:ext cx="2320071" cy="82661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7824" y="2084832"/>
            <a:ext cx="2210343" cy="73517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表面ノイズ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143031" y="2039112"/>
            <a:ext cx="4218310" cy="82661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97895" y="2084832"/>
            <a:ext cx="4108582" cy="73517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法線/曲率が不安定、学習が揺れる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361341" y="2039112"/>
            <a:ext cx="4007395" cy="82661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16205" y="2084832"/>
            <a:ext cx="3897667" cy="73517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平滑化、重要部高密度サンプル、法線再推定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22960" y="2865730"/>
            <a:ext cx="2320071" cy="82661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77824" y="2911450"/>
            <a:ext cx="2210343" cy="73517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非局所コスト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143031" y="2865730"/>
            <a:ext cx="4218310" cy="82661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197895" y="2911450"/>
            <a:ext cx="4108582" cy="73517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レイキャストが重い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361341" y="2865730"/>
            <a:ext cx="4007395" cy="82661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16205" y="2911450"/>
            <a:ext cx="3897667" cy="73517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方向数削減、キャッシュ、パッチ処理、近似Kij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22960" y="3692347"/>
            <a:ext cx="2320071" cy="82661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77824" y="3738067"/>
            <a:ext cx="2210343" cy="73517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Transformer重い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143031" y="3692347"/>
            <a:ext cx="4218310" cy="82661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197895" y="3738067"/>
            <a:ext cx="4108582" cy="73517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N増大で遅い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361341" y="3692347"/>
            <a:ext cx="4007395" cy="82661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16205" y="3738067"/>
            <a:ext cx="3897667" cy="73517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疎attention、階層化、クラスタリング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22960" y="4518965"/>
            <a:ext cx="2320071" cy="82661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77824" y="4564685"/>
            <a:ext cx="2210343" cy="73517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投影ぼけ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3143031" y="4518965"/>
            <a:ext cx="4218310" cy="82661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197895" y="4564685"/>
            <a:ext cx="4108582" cy="73517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Vn→格子が平滑化される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7361341" y="4518965"/>
            <a:ext cx="4007395" cy="82661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416205" y="4564685"/>
            <a:ext cx="3897667" cy="73517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密度制御、補間改善、TV正則化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822960" y="5345582"/>
            <a:ext cx="2320071" cy="82661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77824" y="5391302"/>
            <a:ext cx="2210343" cy="73517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同定非一意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3143031" y="5345582"/>
            <a:ext cx="4218310" cy="82661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197895" y="5391302"/>
            <a:ext cx="4108582" cy="73517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複数zが同形状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7361341" y="5345582"/>
            <a:ext cx="4007395" cy="82661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416205" y="5391302"/>
            <a:ext cx="3897667" cy="73517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SBIで分布推定、事前制約、追加観測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822960" y="6080760"/>
            <a:ext cx="105457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優先度：安定化（SDF更新）→非局所エッジ→蒸留/同定の順に段階導入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02920" y="6611112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Surface Graph Transformer + Nonlocal Coupling + SDF update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118585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AA3D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まとめ：本方式の位置づけと次の拡張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11185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「内部影響（非局所性）」を表面結合で表現できるのが2位案の強み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2920" y="932688"/>
            <a:ext cx="11185855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005840"/>
            <a:ext cx="5806440" cy="5257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38100" dist="1524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1097280"/>
            <a:ext cx="5440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この方式が強い領域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88720" y="1783080"/>
            <a:ext cx="53492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遮蔽・反射・再入射など、MCの“非局所性”が支配的なプロセス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体積voxelを直接学習すると重い／破綻しやすいケース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表面の微細形状（丸み・角度）を優先して再現したいケース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188720" y="3703320"/>
            <a:ext cx="53492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17320" y="37947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非局所性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349240" y="56692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形状複雑度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188720" y="3703320"/>
            <a:ext cx="5349240" cy="2286000"/>
          </a:xfrm>
          <a:prstGeom prst="rtTriangle">
            <a:avLst/>
          </a:prstGeom>
          <a:solidFill>
            <a:srgbClr val="E0F2FE">
              <a:alpha val="40000"/>
            </a:srgbClr>
          </a:solidFill>
          <a:ln w="12700">
            <a:solidFill>
              <a:srgbClr val="E0F2FE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46120" y="438912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77B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本方式が効く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F77B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（非局所×複雑）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92240" y="1005840"/>
            <a:ext cx="5196535" cy="5257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38100" dist="1524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675120" y="1097280"/>
            <a:ext cx="483077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次の拡張（ロードマップ）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675120" y="1783080"/>
            <a:ext cx="5013655" cy="594360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84848" y="1828800"/>
            <a:ext cx="4794199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P1: 可視化/評価出力（VTI/断面比較/グラフ）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675120" y="2514600"/>
            <a:ext cx="5013655" cy="59436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84848" y="2560320"/>
            <a:ext cx="4794199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P2: 非局所エッジ強化（view-factor近似、キャッシュ）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675120" y="3246120"/>
            <a:ext cx="5013655" cy="594360"/>
          </a:xfrm>
          <a:prstGeom prst="roundRect">
            <a:avLst/>
          </a:prstGeom>
          <a:solidFill>
            <a:srgbClr val="F3E5F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84848" y="3291840"/>
            <a:ext cx="4794199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P2: 蒸留（内部ログ→Student）＋SEM同定（SBI）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675120" y="3977640"/>
            <a:ext cx="5013655" cy="59436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84848" y="4023360"/>
            <a:ext cx="4794199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P3: 多忠実度/能動学習＋レシピ探索（BO/MFBO）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02920" y="5989320"/>
            <a:ext cx="111858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結論：表面中心×非局所結合により、MCの“内部影響”を学習に取り込みつつ、SDF更新で時間発展を安定化できる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6611112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Surface Graph Transformer + Nonlocal Coupling + SDF update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Project 形状シミュレーション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Wafer shape surrogate (Surface Graph Transformer)</dc:title>
  <dc:subject>Surface Graph Transformer + Nonlocal Coupling + SDF update</dc:subject>
  <dc:creator>Codex Handoff / Surrogate Modeling</dc:creator>
  <cp:lastModifiedBy>Codex Handoff / Surrogate Modeling</cp:lastModifiedBy>
  <cp:revision>1</cp:revision>
  <dcterms:created xsi:type="dcterms:W3CDTF">2026-02-15T03:49:29Z</dcterms:created>
  <dcterms:modified xsi:type="dcterms:W3CDTF">2026-02-15T03:49:29Z</dcterms:modified>
</cp:coreProperties>
</file>