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6.png"/><Relationship Id="rId10" Type="http://schemas.openxmlformats.org/officeDocument/2006/relationships/image" Target="../media/image-1-7.png"/><Relationship Id="rId11" Type="http://schemas.openxmlformats.org/officeDocument/2006/relationships/image" Target="../media/image-1-8.png"/><Relationship Id="rId12" Type="http://schemas.openxmlformats.org/officeDocument/2006/relationships/image" Target="../media/image-1-6.png"/><Relationship Id="rId13" Type="http://schemas.openxmlformats.org/officeDocument/2006/relationships/image" Target="../media/image-1-7.png"/><Relationship Id="rId14" Type="http://schemas.openxmlformats.org/officeDocument/2006/relationships/image" Target="../media/image-1-8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1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image" Target="../media/image-3-40.png"/><Relationship Id="rId41" Type="http://schemas.openxmlformats.org/officeDocument/2006/relationships/image" Target="../media/image-3-41.png"/><Relationship Id="rId42" Type="http://schemas.openxmlformats.org/officeDocument/2006/relationships/image" Target="../media/image-3-42.png"/><Relationship Id="rId43" Type="http://schemas.openxmlformats.org/officeDocument/2006/relationships/image" Target="../media/image-3-43.png"/><Relationship Id="rId44" Type="http://schemas.openxmlformats.org/officeDocument/2006/relationships/image" Target="../media/image-3-44.png"/><Relationship Id="rId45" Type="http://schemas.openxmlformats.org/officeDocument/2006/relationships/image" Target="../media/image-3-45.png"/><Relationship Id="rId46" Type="http://schemas.openxmlformats.org/officeDocument/2006/relationships/image" Target="../media/image-3-46.png"/><Relationship Id="rId47" Type="http://schemas.openxmlformats.org/officeDocument/2006/relationships/image" Target="../media/image-3-47.png"/><Relationship Id="rId48" Type="http://schemas.openxmlformats.org/officeDocument/2006/relationships/image" Target="../media/image-3-48.png"/><Relationship Id="rId49" Type="http://schemas.openxmlformats.org/officeDocument/2006/relationships/image" Target="../media/image-3-49.png"/><Relationship Id="rId50" Type="http://schemas.openxmlformats.org/officeDocument/2006/relationships/image" Target="../media/image-3-50.png"/><Relationship Id="rId51" Type="http://schemas.openxmlformats.org/officeDocument/2006/relationships/image" Target="../media/image-3-51.png"/><Relationship Id="rId52" Type="http://schemas.openxmlformats.org/officeDocument/2006/relationships/image" Target="../media/image-3-52.png"/><Relationship Id="rId53" Type="http://schemas.openxmlformats.org/officeDocument/2006/relationships/slideLayout" Target="../slideLayouts/slideLayout1.xml"/><Relationship Id="rId5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8640"/>
            <a:ext cx="12191695" cy="5465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進め方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541680" y="874559"/>
            <a:ext cx="1093753" cy="0"/>
          </a:xfrm>
          <a:prstGeom prst="line">
            <a:avLst/>
          </a:prstGeom>
          <a:noFill/>
          <a:ln w="38100">
            <a:solidFill>
              <a:srgbClr val="045ACB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386459" y="1676238"/>
            <a:ext cx="1385420" cy="189487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045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002" y="1384718"/>
            <a:ext cx="408334" cy="408128"/>
          </a:xfrm>
          <a:prstGeom prst="ellipse">
            <a:avLst/>
          </a:prstGeom>
          <a:solidFill>
            <a:srgbClr val="045ACB"/>
          </a:solidFill>
          <a:ln w="6350">
            <a:solidFill>
              <a:srgbClr val="045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5002" y="1392006"/>
            <a:ext cx="408334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22918" y="1880302"/>
            <a:ext cx="1312503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特定部署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特定課題</a:t>
            </a:r>
            <a:endParaRPr lang="en-US" sz="1700" dirty="0"/>
          </a:p>
        </p:txBody>
      </p:sp>
      <p:pic>
        <p:nvPicPr>
          <p:cNvPr id="8" name="Image 0" descr="/mnt/data/ppt_assets_fix/s1_step1_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52" y="2551018"/>
            <a:ext cx="845835" cy="72835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12506" y="1676238"/>
            <a:ext cx="1385420" cy="189487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047B9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1049" y="1384718"/>
            <a:ext cx="408334" cy="408128"/>
          </a:xfrm>
          <a:prstGeom prst="ellipse">
            <a:avLst/>
          </a:prstGeom>
          <a:solidFill>
            <a:srgbClr val="047B91"/>
          </a:solidFill>
          <a:ln w="6350">
            <a:solidFill>
              <a:srgbClr val="047B9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1049" y="1392006"/>
            <a:ext cx="408334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748965" y="1880302"/>
            <a:ext cx="1312503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7B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目的特化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47B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アイテム</a:t>
            </a:r>
            <a:endParaRPr lang="en-US" sz="1700" dirty="0"/>
          </a:p>
        </p:txBody>
      </p:sp>
      <p:pic>
        <p:nvPicPr>
          <p:cNvPr id="13" name="Image 1" descr="/mnt/data/ppt_assets_fix/s1_step2_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549" y="2612577"/>
            <a:ext cx="933336" cy="66354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885428" y="1676238"/>
            <a:ext cx="1385420" cy="189487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045AC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73971" y="1384718"/>
            <a:ext cx="408334" cy="408128"/>
          </a:xfrm>
          <a:prstGeom prst="ellipse">
            <a:avLst/>
          </a:prstGeom>
          <a:solidFill>
            <a:srgbClr val="045ACB"/>
          </a:solidFill>
          <a:ln w="6350">
            <a:solidFill>
              <a:srgbClr val="045AC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373971" y="1392006"/>
            <a:ext cx="408334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4921887" y="1880302"/>
            <a:ext cx="1312503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ユースケース収集</a:t>
            </a:r>
            <a:endParaRPr lang="en-US" sz="1300" dirty="0"/>
          </a:p>
        </p:txBody>
      </p:sp>
      <p:pic>
        <p:nvPicPr>
          <p:cNvPr id="18" name="Image 2" descr="/mnt/data/ppt_assets_fix/s1_step3_people_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553" y="2681844"/>
            <a:ext cx="1079169" cy="53958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970850" y="1676238"/>
            <a:ext cx="1385420" cy="189487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047B9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59392" y="1384718"/>
            <a:ext cx="408334" cy="408128"/>
          </a:xfrm>
          <a:prstGeom prst="ellipse">
            <a:avLst/>
          </a:prstGeom>
          <a:solidFill>
            <a:srgbClr val="047B91"/>
          </a:solidFill>
          <a:ln w="6350">
            <a:solidFill>
              <a:srgbClr val="047B9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459392" y="1392006"/>
            <a:ext cx="408334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7007308" y="1880302"/>
            <a:ext cx="1312503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7B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共通機能化</a:t>
            </a:r>
            <a:endParaRPr lang="en-US" sz="1700" dirty="0"/>
          </a:p>
        </p:txBody>
      </p:sp>
      <p:pic>
        <p:nvPicPr>
          <p:cNvPr id="23" name="Image 3" descr="/mnt/data/ppt_assets_fix/s1_step4_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5635" y="2514357"/>
            <a:ext cx="795849" cy="765239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881271" y="1676238"/>
            <a:ext cx="1385420" cy="189487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3970">
            <a:solidFill>
              <a:srgbClr val="045AC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369814" y="1384718"/>
            <a:ext cx="408334" cy="408128"/>
          </a:xfrm>
          <a:prstGeom prst="ellipse">
            <a:avLst/>
          </a:prstGeom>
          <a:solidFill>
            <a:srgbClr val="045ACB"/>
          </a:solidFill>
          <a:ln w="6350">
            <a:solidFill>
              <a:srgbClr val="045AC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9369814" y="1392006"/>
            <a:ext cx="408334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8917729" y="1880302"/>
            <a:ext cx="1312503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複数拠点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展開</a:t>
            </a:r>
            <a:endParaRPr lang="en-US" sz="1700" dirty="0"/>
          </a:p>
        </p:txBody>
      </p:sp>
      <p:pic>
        <p:nvPicPr>
          <p:cNvPr id="28" name="Image 4" descr="/mnt/data/ppt_assets_fix/s1_step5_glob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2521" y="2430946"/>
            <a:ext cx="1122919" cy="815453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2070838" y="2375885"/>
            <a:ext cx="328126" cy="349824"/>
          </a:xfrm>
          <a:prstGeom prst="rightArrow">
            <a:avLst/>
          </a:prstGeom>
          <a:solidFill>
            <a:srgbClr val="CCD3DF"/>
          </a:solidFill>
          <a:ln w="12700">
            <a:solidFill>
              <a:srgbClr val="CCD3DF">
                <a:alpha val="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338552" y="2375885"/>
            <a:ext cx="328126" cy="349824"/>
          </a:xfrm>
          <a:prstGeom prst="rightArrow">
            <a:avLst/>
          </a:prstGeom>
          <a:solidFill>
            <a:srgbClr val="CCD3DF"/>
          </a:solidFill>
          <a:ln w="12700">
            <a:solidFill>
              <a:srgbClr val="CCD3DF">
                <a:alpha val="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453140" y="2375885"/>
            <a:ext cx="328126" cy="349824"/>
          </a:xfrm>
          <a:prstGeom prst="rightArrow">
            <a:avLst/>
          </a:prstGeom>
          <a:solidFill>
            <a:srgbClr val="CCD3DF"/>
          </a:solidFill>
          <a:ln w="12700">
            <a:solidFill>
              <a:srgbClr val="CCD3DF">
                <a:alpha val="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436478" y="2375885"/>
            <a:ext cx="328126" cy="349824"/>
          </a:xfrm>
          <a:prstGeom prst="rightArrow">
            <a:avLst/>
          </a:prstGeom>
          <a:solidFill>
            <a:srgbClr val="CCD3DF"/>
          </a:solidFill>
          <a:ln w="12700">
            <a:solidFill>
              <a:srgbClr val="CCD3DF">
                <a:alpha val="0"/>
              </a:srgbClr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109375" y="3920939"/>
            <a:ext cx="2296880" cy="0"/>
          </a:xfrm>
          <a:prstGeom prst="line">
            <a:avLst/>
          </a:prstGeom>
          <a:noFill/>
          <a:ln w="57150">
            <a:solidFill>
              <a:srgbClr val="045ACB"/>
            </a:solidFill>
            <a:prstDash val="solid"/>
            <a:headEnd type="none"/>
            <a:tailEnd type="none"/>
          </a:ln>
        </p:spPr>
      </p:sp>
      <p:sp>
        <p:nvSpPr>
          <p:cNvPr id="34" name="Shape 27"/>
          <p:cNvSpPr/>
          <p:nvPr/>
        </p:nvSpPr>
        <p:spPr>
          <a:xfrm>
            <a:off x="2406256" y="3920939"/>
            <a:ext cx="0" cy="-240504"/>
          </a:xfrm>
          <a:prstGeom prst="line">
            <a:avLst/>
          </a:prstGeom>
          <a:noFill/>
          <a:ln w="57150">
            <a:solidFill>
              <a:srgbClr val="045ACB"/>
            </a:solidFill>
            <a:prstDash val="solid"/>
            <a:headEnd type="none"/>
            <a:tailEnd type="none"/>
          </a:ln>
        </p:spPr>
      </p:sp>
      <p:sp>
        <p:nvSpPr>
          <p:cNvPr id="35" name="Shape 28"/>
          <p:cNvSpPr/>
          <p:nvPr/>
        </p:nvSpPr>
        <p:spPr>
          <a:xfrm>
            <a:off x="2406256" y="3680436"/>
            <a:ext cx="2114588" cy="0"/>
          </a:xfrm>
          <a:prstGeom prst="line">
            <a:avLst/>
          </a:prstGeom>
          <a:noFill/>
          <a:ln w="57150">
            <a:solidFill>
              <a:srgbClr val="045ACB"/>
            </a:solidFill>
            <a:prstDash val="solid"/>
            <a:headEnd type="none"/>
            <a:tailEnd type="none"/>
          </a:ln>
        </p:spPr>
      </p:sp>
      <p:sp>
        <p:nvSpPr>
          <p:cNvPr id="36" name="Shape 29"/>
          <p:cNvSpPr/>
          <p:nvPr/>
        </p:nvSpPr>
        <p:spPr>
          <a:xfrm>
            <a:off x="4520844" y="3680436"/>
            <a:ext cx="0" cy="-102032"/>
          </a:xfrm>
          <a:prstGeom prst="line">
            <a:avLst/>
          </a:prstGeom>
          <a:noFill/>
          <a:ln w="57150">
            <a:solidFill>
              <a:srgbClr val="045ACB"/>
            </a:solidFill>
            <a:prstDash val="solid"/>
            <a:headEnd type="none"/>
            <a:tailEnd type="none"/>
          </a:ln>
        </p:spPr>
      </p:sp>
      <p:sp>
        <p:nvSpPr>
          <p:cNvPr id="37" name="Shape 30"/>
          <p:cNvSpPr/>
          <p:nvPr/>
        </p:nvSpPr>
        <p:spPr>
          <a:xfrm>
            <a:off x="4520844" y="3578404"/>
            <a:ext cx="3952093" cy="0"/>
          </a:xfrm>
          <a:prstGeom prst="line">
            <a:avLst/>
          </a:prstGeom>
          <a:noFill/>
          <a:ln w="57150">
            <a:solidFill>
              <a:srgbClr val="045ACB"/>
            </a:solidFill>
            <a:prstDash val="solid"/>
            <a:headEnd type="none"/>
            <a:tailEnd type="none"/>
          </a:ln>
        </p:spPr>
      </p:sp>
      <p:sp>
        <p:nvSpPr>
          <p:cNvPr id="38" name="Shape 31"/>
          <p:cNvSpPr/>
          <p:nvPr/>
        </p:nvSpPr>
        <p:spPr>
          <a:xfrm>
            <a:off x="8472936" y="3578404"/>
            <a:ext cx="0" cy="-116608"/>
          </a:xfrm>
          <a:prstGeom prst="line">
            <a:avLst/>
          </a:prstGeom>
          <a:noFill/>
          <a:ln w="57150">
            <a:solidFill>
              <a:srgbClr val="045ACB"/>
            </a:solidFill>
            <a:prstDash val="solid"/>
            <a:headEnd type="none"/>
            <a:tailEnd type="none"/>
          </a:ln>
        </p:spPr>
      </p:sp>
      <p:sp>
        <p:nvSpPr>
          <p:cNvPr id="39" name="Shape 32"/>
          <p:cNvSpPr/>
          <p:nvPr/>
        </p:nvSpPr>
        <p:spPr>
          <a:xfrm>
            <a:off x="8472936" y="3461796"/>
            <a:ext cx="1976046" cy="0"/>
          </a:xfrm>
          <a:prstGeom prst="line">
            <a:avLst/>
          </a:prstGeom>
          <a:noFill/>
          <a:ln w="57150">
            <a:solidFill>
              <a:srgbClr val="045ACB"/>
            </a:solidFill>
            <a:prstDash val="solid"/>
            <a:headEnd type="none"/>
            <a:tailEnd type="none"/>
          </a:ln>
        </p:spPr>
      </p:sp>
      <p:sp>
        <p:nvSpPr>
          <p:cNvPr id="40" name="Shape 33"/>
          <p:cNvSpPr/>
          <p:nvPr/>
        </p:nvSpPr>
        <p:spPr>
          <a:xfrm>
            <a:off x="10448983" y="3461796"/>
            <a:ext cx="0" cy="-619479"/>
          </a:xfrm>
          <a:prstGeom prst="line">
            <a:avLst/>
          </a:prstGeom>
          <a:noFill/>
          <a:ln w="57150">
            <a:solidFill>
              <a:srgbClr val="045ACB"/>
            </a:solidFill>
            <a:prstDash val="solid"/>
            <a:headEnd type="none"/>
            <a:tailEnd type="none"/>
          </a:ln>
        </p:spPr>
      </p:sp>
      <p:sp>
        <p:nvSpPr>
          <p:cNvPr id="41" name="Shape 34"/>
          <p:cNvSpPr/>
          <p:nvPr/>
        </p:nvSpPr>
        <p:spPr>
          <a:xfrm>
            <a:off x="10448983" y="2842317"/>
            <a:ext cx="1108336" cy="0"/>
          </a:xfrm>
          <a:prstGeom prst="line">
            <a:avLst/>
          </a:prstGeom>
          <a:noFill/>
          <a:ln w="57150">
            <a:solidFill>
              <a:srgbClr val="045ACB"/>
            </a:solidFill>
            <a:prstDash val="solid"/>
            <a:headEnd type="none"/>
            <a:tailEnd type="triangle"/>
          </a:ln>
        </p:spPr>
      </p:sp>
      <p:sp>
        <p:nvSpPr>
          <p:cNvPr id="42" name="Text 35"/>
          <p:cNvSpPr/>
          <p:nvPr/>
        </p:nvSpPr>
        <p:spPr>
          <a:xfrm>
            <a:off x="525001" y="3993819"/>
            <a:ext cx="1385420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まず小さく開始</a:t>
            </a:r>
            <a:endParaRPr lang="en-US" sz="1240" dirty="0"/>
          </a:p>
        </p:txBody>
      </p:sp>
      <p:sp>
        <p:nvSpPr>
          <p:cNvPr id="43" name="Text 36"/>
          <p:cNvSpPr/>
          <p:nvPr/>
        </p:nvSpPr>
        <p:spPr>
          <a:xfrm>
            <a:off x="2552089" y="3753316"/>
            <a:ext cx="1677087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課題に合わせた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最小構成で構築</a:t>
            </a:r>
            <a:endParaRPr lang="en-US" sz="1220" dirty="0"/>
          </a:p>
        </p:txBody>
      </p:sp>
      <p:sp>
        <p:nvSpPr>
          <p:cNvPr id="44" name="Text 37"/>
          <p:cNvSpPr/>
          <p:nvPr/>
        </p:nvSpPr>
        <p:spPr>
          <a:xfrm>
            <a:off x="4739594" y="3775180"/>
            <a:ext cx="1895838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ユーザーとともに運用し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知見・事例を蓄積</a:t>
            </a:r>
            <a:endParaRPr lang="en-US" sz="1210" dirty="0"/>
          </a:p>
        </p:txBody>
      </p:sp>
      <p:sp>
        <p:nvSpPr>
          <p:cNvPr id="45" name="Text 38"/>
          <p:cNvSpPr/>
          <p:nvPr/>
        </p:nvSpPr>
        <p:spPr>
          <a:xfrm>
            <a:off x="6963558" y="3775180"/>
            <a:ext cx="1822921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繰り返し使う要素を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整理し、共通化</a:t>
            </a:r>
            <a:endParaRPr lang="en-US" sz="1210" dirty="0"/>
          </a:p>
        </p:txBody>
      </p:sp>
      <p:sp>
        <p:nvSpPr>
          <p:cNvPr id="46" name="Text 39"/>
          <p:cNvSpPr/>
          <p:nvPr/>
        </p:nvSpPr>
        <p:spPr>
          <a:xfrm>
            <a:off x="8822937" y="3775180"/>
            <a:ext cx="2041671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標準を活用しながら</a:t>
            </a:r>
            <a:endParaRPr lang="en-US" sz="1210" dirty="0"/>
          </a:p>
          <a:p>
            <a:pPr algn="ctr" indent="0" marL="0">
              <a:buNone/>
            </a:pPr>
            <a:r>
              <a:rPr lang="en-US" sz="121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各拠点へ横展開</a:t>
            </a:r>
            <a:endParaRPr lang="en-US" sz="1210" dirty="0"/>
          </a:p>
        </p:txBody>
      </p:sp>
      <p:sp>
        <p:nvSpPr>
          <p:cNvPr id="47" name="Shape 40"/>
          <p:cNvSpPr/>
          <p:nvPr/>
        </p:nvSpPr>
        <p:spPr>
          <a:xfrm>
            <a:off x="131250" y="4591435"/>
            <a:ext cx="2041671" cy="1370142"/>
          </a:xfrm>
          <a:prstGeom prst="roundRect">
            <a:avLst>
              <a:gd name="adj" fmla="val 3193"/>
            </a:avLst>
          </a:prstGeom>
          <a:solidFill>
            <a:srgbClr val="FFFFFF"/>
          </a:solidFill>
          <a:ln w="10160">
            <a:solidFill>
              <a:srgbClr val="045ACB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729168" y="4460251"/>
            <a:ext cx="597918" cy="218640"/>
          </a:xfrm>
          <a:prstGeom prst="roundRect">
            <a:avLst>
              <a:gd name="adj" fmla="val 40020"/>
            </a:avLst>
          </a:prstGeom>
          <a:solidFill>
            <a:srgbClr val="045ACB"/>
          </a:solidFill>
          <a:ln w="1270">
            <a:solidFill>
              <a:srgbClr val="045ACB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772918" y="4467539"/>
            <a:ext cx="510418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A工場の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</a:t>
            </a:r>
            <a:endParaRPr lang="en-US" sz="810" dirty="0"/>
          </a:p>
        </p:txBody>
      </p:sp>
      <p:pic>
        <p:nvPicPr>
          <p:cNvPr id="50" name="Image 5" descr="/mnt/data/ppt_assets/icon_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969" y="4780922"/>
            <a:ext cx="204064" cy="204064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481251" y="4780922"/>
            <a:ext cx="510418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ターゲット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1166669" y="4780922"/>
            <a:ext cx="889585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品質不良の低減</a:t>
            </a:r>
            <a:endParaRPr lang="en-US" sz="850" dirty="0"/>
          </a:p>
        </p:txBody>
      </p:sp>
      <p:pic>
        <p:nvPicPr>
          <p:cNvPr id="53" name="Image 6" descr="/mnt/data/ppt_assets/icon_calend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969" y="5130746"/>
            <a:ext cx="204064" cy="204064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481251" y="5130746"/>
            <a:ext cx="510418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計画</a:t>
            </a:r>
            <a:endParaRPr lang="en-US" sz="850" dirty="0"/>
          </a:p>
        </p:txBody>
      </p:sp>
      <p:sp>
        <p:nvSpPr>
          <p:cNvPr id="55" name="Text 46"/>
          <p:cNvSpPr/>
          <p:nvPr/>
        </p:nvSpPr>
        <p:spPr>
          <a:xfrm>
            <a:off x="1166669" y="5130746"/>
            <a:ext cx="889585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3か月トライアル</a:t>
            </a:r>
            <a:endParaRPr lang="en-US" sz="850" dirty="0"/>
          </a:p>
        </p:txBody>
      </p:sp>
      <p:pic>
        <p:nvPicPr>
          <p:cNvPr id="56" name="Image 7" descr="/mnt/data/ppt_assets/icon_peop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969" y="5480570"/>
            <a:ext cx="204064" cy="204064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481251" y="5480570"/>
            <a:ext cx="510418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体制</a:t>
            </a:r>
            <a:endParaRPr lang="en-US" sz="850" dirty="0"/>
          </a:p>
        </p:txBody>
      </p:sp>
      <p:sp>
        <p:nvSpPr>
          <p:cNvPr id="58" name="Text 48"/>
          <p:cNvSpPr/>
          <p:nvPr/>
        </p:nvSpPr>
        <p:spPr>
          <a:xfrm>
            <a:off x="1166669" y="5480570"/>
            <a:ext cx="889585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製造×品質×DX</a:t>
            </a:r>
            <a:endParaRPr lang="en-US" sz="850" dirty="0"/>
          </a:p>
        </p:txBody>
      </p:sp>
      <p:sp>
        <p:nvSpPr>
          <p:cNvPr id="59" name="Shape 49"/>
          <p:cNvSpPr/>
          <p:nvPr/>
        </p:nvSpPr>
        <p:spPr>
          <a:xfrm>
            <a:off x="2260422" y="4576859"/>
            <a:ext cx="2843757" cy="0"/>
          </a:xfrm>
          <a:prstGeom prst="line">
            <a:avLst/>
          </a:prstGeom>
          <a:noFill/>
          <a:ln w="12700">
            <a:solidFill>
              <a:srgbClr val="A8B0BF"/>
            </a:solidFill>
            <a:prstDash val="solid"/>
            <a:headEnd type="none"/>
            <a:tailEnd type="none"/>
          </a:ln>
        </p:spPr>
      </p:sp>
      <p:sp>
        <p:nvSpPr>
          <p:cNvPr id="60" name="Shape 50"/>
          <p:cNvSpPr/>
          <p:nvPr/>
        </p:nvSpPr>
        <p:spPr>
          <a:xfrm>
            <a:off x="5104179" y="4576859"/>
            <a:ext cx="0" cy="1297262"/>
          </a:xfrm>
          <a:prstGeom prst="line">
            <a:avLst/>
          </a:prstGeom>
          <a:noFill/>
          <a:ln w="12700">
            <a:solidFill>
              <a:srgbClr val="A8B0BF"/>
            </a:solidFill>
            <a:prstDash val="solid"/>
            <a:headEnd type="none"/>
            <a:tailEnd type="none"/>
          </a:ln>
        </p:spPr>
      </p:sp>
      <p:sp>
        <p:nvSpPr>
          <p:cNvPr id="61" name="Shape 51"/>
          <p:cNvSpPr/>
          <p:nvPr/>
        </p:nvSpPr>
        <p:spPr>
          <a:xfrm>
            <a:off x="5104179" y="5874121"/>
            <a:ext cx="-2843757" cy="0"/>
          </a:xfrm>
          <a:prstGeom prst="line">
            <a:avLst/>
          </a:prstGeom>
          <a:noFill/>
          <a:ln w="12700">
            <a:solidFill>
              <a:srgbClr val="A8B0BF"/>
            </a:solidFill>
            <a:prstDash val="solid"/>
            <a:headEnd type="none"/>
            <a:tailEnd type="none"/>
          </a:ln>
        </p:spPr>
      </p:sp>
      <p:sp>
        <p:nvSpPr>
          <p:cNvPr id="62" name="Shape 52"/>
          <p:cNvSpPr/>
          <p:nvPr/>
        </p:nvSpPr>
        <p:spPr>
          <a:xfrm>
            <a:off x="2260422" y="5874121"/>
            <a:ext cx="0" cy="-1297262"/>
          </a:xfrm>
          <a:prstGeom prst="line">
            <a:avLst/>
          </a:prstGeom>
          <a:noFill/>
          <a:ln w="12700">
            <a:solidFill>
              <a:srgbClr val="A8B0BF"/>
            </a:solidFill>
            <a:prstDash val="solid"/>
            <a:headEnd type="none"/>
            <a:tailEnd type="none"/>
          </a:ln>
        </p:spPr>
      </p:sp>
      <p:sp>
        <p:nvSpPr>
          <p:cNvPr id="63" name="Text 53"/>
          <p:cNvSpPr/>
          <p:nvPr/>
        </p:nvSpPr>
        <p:spPr>
          <a:xfrm>
            <a:off x="2880215" y="4489403"/>
            <a:ext cx="1604170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拠点ごとに異なる</a:t>
            </a:r>
            <a:endParaRPr lang="en-US" sz="1220" dirty="0"/>
          </a:p>
        </p:txBody>
      </p:sp>
      <p:sp>
        <p:nvSpPr>
          <p:cNvPr id="64" name="Shape 54"/>
          <p:cNvSpPr/>
          <p:nvPr/>
        </p:nvSpPr>
        <p:spPr>
          <a:xfrm>
            <a:off x="2347922" y="4882954"/>
            <a:ext cx="1297920" cy="889135"/>
          </a:xfrm>
          <a:prstGeom prst="roundRect">
            <a:avLst>
              <a:gd name="adj" fmla="val 4921"/>
            </a:avLst>
          </a:prstGeom>
          <a:solidFill>
            <a:srgbClr val="FFFFFF"/>
          </a:solidFill>
          <a:ln w="11430">
            <a:solidFill>
              <a:srgbClr val="047B91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2479172" y="4780922"/>
            <a:ext cx="619793" cy="174912"/>
          </a:xfrm>
          <a:prstGeom prst="roundRect">
            <a:avLst>
              <a:gd name="adj" fmla="val 50025"/>
            </a:avLst>
          </a:prstGeom>
          <a:solidFill>
            <a:srgbClr val="047B91"/>
          </a:solidFill>
          <a:ln w="1270">
            <a:solidFill>
              <a:srgbClr val="047B91"/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2522923" y="4788210"/>
            <a:ext cx="532293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B工場の例</a:t>
            </a:r>
            <a:endParaRPr lang="en-US" sz="830" dirty="0"/>
          </a:p>
        </p:txBody>
      </p:sp>
      <p:pic>
        <p:nvPicPr>
          <p:cNvPr id="67" name="Image 8" descr="/mnt/data/ppt_assets/icon_targ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1921" y="5065154"/>
            <a:ext cx="160336" cy="160336"/>
          </a:xfrm>
          <a:prstGeom prst="rect">
            <a:avLst/>
          </a:prstGeom>
        </p:spPr>
      </p:pic>
      <p:sp>
        <p:nvSpPr>
          <p:cNvPr id="68" name="Text 57"/>
          <p:cNvSpPr/>
          <p:nvPr/>
        </p:nvSpPr>
        <p:spPr>
          <a:xfrm>
            <a:off x="2697923" y="5057866"/>
            <a:ext cx="860419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設備停止の削減</a:t>
            </a:r>
            <a:endParaRPr lang="en-US" sz="720" dirty="0"/>
          </a:p>
        </p:txBody>
      </p:sp>
      <p:pic>
        <p:nvPicPr>
          <p:cNvPr id="69" name="Image 9" descr="/mnt/data/ppt_assets/icon_calenda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1921" y="5305658"/>
            <a:ext cx="160336" cy="160336"/>
          </a:xfrm>
          <a:prstGeom prst="rect">
            <a:avLst/>
          </a:prstGeom>
        </p:spPr>
      </p:pic>
      <p:sp>
        <p:nvSpPr>
          <p:cNvPr id="70" name="Text 58"/>
          <p:cNvSpPr/>
          <p:nvPr/>
        </p:nvSpPr>
        <p:spPr>
          <a:xfrm>
            <a:off x="2697923" y="5298370"/>
            <a:ext cx="860419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4か月トライアル</a:t>
            </a:r>
            <a:endParaRPr lang="en-US" sz="720" dirty="0"/>
          </a:p>
        </p:txBody>
      </p:sp>
      <p:pic>
        <p:nvPicPr>
          <p:cNvPr id="71" name="Image 10" descr="/mnt/data/ppt_assets/icon_peopl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71921" y="5546162"/>
            <a:ext cx="160336" cy="160336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2697923" y="5538874"/>
            <a:ext cx="860419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保全×製造×DX</a:t>
            </a:r>
            <a:endParaRPr lang="en-US" sz="720" dirty="0"/>
          </a:p>
        </p:txBody>
      </p:sp>
      <p:sp>
        <p:nvSpPr>
          <p:cNvPr id="73" name="Shape 60"/>
          <p:cNvSpPr/>
          <p:nvPr/>
        </p:nvSpPr>
        <p:spPr>
          <a:xfrm>
            <a:off x="3791676" y="4882954"/>
            <a:ext cx="1297920" cy="889135"/>
          </a:xfrm>
          <a:prstGeom prst="roundRect">
            <a:avLst>
              <a:gd name="adj" fmla="val 4921"/>
            </a:avLst>
          </a:prstGeom>
          <a:solidFill>
            <a:srgbClr val="FFFFFF"/>
          </a:solidFill>
          <a:ln w="11430">
            <a:solidFill>
              <a:srgbClr val="045ACB"/>
            </a:solidFill>
            <a:prstDash val="solid"/>
          </a:ln>
        </p:spPr>
      </p:sp>
      <p:sp>
        <p:nvSpPr>
          <p:cNvPr id="74" name="Shape 61"/>
          <p:cNvSpPr/>
          <p:nvPr/>
        </p:nvSpPr>
        <p:spPr>
          <a:xfrm>
            <a:off x="3922926" y="4780922"/>
            <a:ext cx="619793" cy="174912"/>
          </a:xfrm>
          <a:prstGeom prst="roundRect">
            <a:avLst>
              <a:gd name="adj" fmla="val 50025"/>
            </a:avLst>
          </a:prstGeom>
          <a:solidFill>
            <a:srgbClr val="045ACB"/>
          </a:solidFill>
          <a:ln w="1270">
            <a:solidFill>
              <a:srgbClr val="045ACB"/>
            </a:solidFill>
            <a:prstDash val="solid"/>
          </a:ln>
        </p:spPr>
      </p:sp>
      <p:sp>
        <p:nvSpPr>
          <p:cNvPr id="75" name="Text 62"/>
          <p:cNvSpPr/>
          <p:nvPr/>
        </p:nvSpPr>
        <p:spPr>
          <a:xfrm>
            <a:off x="3966676" y="4788210"/>
            <a:ext cx="532293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C工場の例</a:t>
            </a:r>
            <a:endParaRPr lang="en-US" sz="830" dirty="0"/>
          </a:p>
        </p:txBody>
      </p:sp>
      <p:pic>
        <p:nvPicPr>
          <p:cNvPr id="76" name="Image 11" descr="/mnt/data/ppt_assets/icon_targe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15675" y="5065154"/>
            <a:ext cx="160336" cy="160336"/>
          </a:xfrm>
          <a:prstGeom prst="rect">
            <a:avLst/>
          </a:prstGeom>
        </p:spPr>
      </p:pic>
      <p:sp>
        <p:nvSpPr>
          <p:cNvPr id="77" name="Text 63"/>
          <p:cNvSpPr/>
          <p:nvPr/>
        </p:nvSpPr>
        <p:spPr>
          <a:xfrm>
            <a:off x="4141676" y="5057866"/>
            <a:ext cx="860419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生産性の向上</a:t>
            </a:r>
            <a:endParaRPr lang="en-US" sz="720" dirty="0"/>
          </a:p>
        </p:txBody>
      </p:sp>
      <p:pic>
        <p:nvPicPr>
          <p:cNvPr id="78" name="Image 12" descr="/mnt/data/ppt_assets/icon_calendar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15675" y="5305658"/>
            <a:ext cx="160336" cy="160336"/>
          </a:xfrm>
          <a:prstGeom prst="rect">
            <a:avLst/>
          </a:prstGeom>
        </p:spPr>
      </p:pic>
      <p:sp>
        <p:nvSpPr>
          <p:cNvPr id="79" name="Text 64"/>
          <p:cNvSpPr/>
          <p:nvPr/>
        </p:nvSpPr>
        <p:spPr>
          <a:xfrm>
            <a:off x="4141676" y="5298370"/>
            <a:ext cx="860419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3か月トライアル</a:t>
            </a:r>
            <a:endParaRPr lang="en-US" sz="720" dirty="0"/>
          </a:p>
        </p:txBody>
      </p:sp>
      <p:pic>
        <p:nvPicPr>
          <p:cNvPr id="80" name="Image 13" descr="/mnt/data/ppt_assets/icon_peopl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15675" y="5546162"/>
            <a:ext cx="160336" cy="160336"/>
          </a:xfrm>
          <a:prstGeom prst="rect">
            <a:avLst/>
          </a:prstGeom>
        </p:spPr>
      </p:pic>
      <p:sp>
        <p:nvSpPr>
          <p:cNvPr id="81" name="Text 65"/>
          <p:cNvSpPr/>
          <p:nvPr/>
        </p:nvSpPr>
        <p:spPr>
          <a:xfrm>
            <a:off x="4141676" y="5538874"/>
            <a:ext cx="860419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製造×生技×DX</a:t>
            </a:r>
            <a:endParaRPr lang="en-US" sz="720" dirty="0"/>
          </a:p>
        </p:txBody>
      </p:sp>
      <p:sp>
        <p:nvSpPr>
          <p:cNvPr id="82" name="Shape 66"/>
          <p:cNvSpPr/>
          <p:nvPr/>
        </p:nvSpPr>
        <p:spPr>
          <a:xfrm>
            <a:off x="10645858" y="3425356"/>
            <a:ext cx="1276045" cy="0"/>
          </a:xfrm>
          <a:prstGeom prst="line">
            <a:avLst/>
          </a:prstGeom>
          <a:noFill/>
          <a:ln w="13970">
            <a:solidFill>
              <a:srgbClr val="9EA8B7"/>
            </a:solidFill>
            <a:prstDash val="solid"/>
            <a:headEnd type="none"/>
            <a:tailEnd type="none"/>
          </a:ln>
        </p:spPr>
      </p:sp>
      <p:sp>
        <p:nvSpPr>
          <p:cNvPr id="83" name="Shape 67"/>
          <p:cNvSpPr/>
          <p:nvPr/>
        </p:nvSpPr>
        <p:spPr>
          <a:xfrm>
            <a:off x="11921903" y="3425356"/>
            <a:ext cx="0" cy="2128094"/>
          </a:xfrm>
          <a:prstGeom prst="line">
            <a:avLst/>
          </a:prstGeom>
          <a:noFill/>
          <a:ln w="13970">
            <a:solidFill>
              <a:srgbClr val="9EA8B7"/>
            </a:solidFill>
            <a:prstDash val="solid"/>
            <a:headEnd type="none"/>
            <a:tailEnd type="none"/>
          </a:ln>
        </p:spPr>
      </p:sp>
      <p:sp>
        <p:nvSpPr>
          <p:cNvPr id="84" name="Shape 68"/>
          <p:cNvSpPr/>
          <p:nvPr/>
        </p:nvSpPr>
        <p:spPr>
          <a:xfrm>
            <a:off x="11921903" y="5553450"/>
            <a:ext cx="-1276045" cy="0"/>
          </a:xfrm>
          <a:prstGeom prst="line">
            <a:avLst/>
          </a:prstGeom>
          <a:noFill/>
          <a:ln w="13970">
            <a:solidFill>
              <a:srgbClr val="9EA8B7"/>
            </a:solidFill>
            <a:prstDash val="solid"/>
            <a:headEnd type="none"/>
            <a:tailEnd type="none"/>
          </a:ln>
        </p:spPr>
      </p:sp>
      <p:sp>
        <p:nvSpPr>
          <p:cNvPr id="85" name="Shape 69"/>
          <p:cNvSpPr/>
          <p:nvPr/>
        </p:nvSpPr>
        <p:spPr>
          <a:xfrm>
            <a:off x="10645858" y="5553450"/>
            <a:ext cx="0" cy="-2128094"/>
          </a:xfrm>
          <a:prstGeom prst="line">
            <a:avLst/>
          </a:prstGeom>
          <a:noFill/>
          <a:ln w="13970">
            <a:solidFill>
              <a:srgbClr val="9EA8B7"/>
            </a:solidFill>
            <a:prstDash val="solid"/>
            <a:headEnd type="none"/>
            <a:tailEnd type="none"/>
          </a:ln>
        </p:spPr>
      </p:sp>
      <p:sp>
        <p:nvSpPr>
          <p:cNvPr id="86" name="Text 70"/>
          <p:cNvSpPr/>
          <p:nvPr/>
        </p:nvSpPr>
        <p:spPr>
          <a:xfrm>
            <a:off x="10762525" y="3578404"/>
            <a:ext cx="1035419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B55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一律導入ではない</a:t>
            </a:r>
            <a:endParaRPr lang="en-US" sz="1050" dirty="0"/>
          </a:p>
        </p:txBody>
      </p:sp>
      <p:pic>
        <p:nvPicPr>
          <p:cNvPr id="87" name="Image 14" descr="/mnt/data/ppt_assets_fix/s1_cross_global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33358" y="3940484"/>
            <a:ext cx="1093753" cy="937502"/>
          </a:xfrm>
          <a:prstGeom prst="rect">
            <a:avLst/>
          </a:prstGeom>
        </p:spPr>
      </p:pic>
      <p:sp>
        <p:nvSpPr>
          <p:cNvPr id="88" name="Text 71"/>
          <p:cNvSpPr/>
          <p:nvPr/>
        </p:nvSpPr>
        <p:spPr>
          <a:xfrm>
            <a:off x="10842734" y="4919394"/>
            <a:ext cx="875002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55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最初から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4B556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全面展開</a:t>
            </a:r>
            <a:endParaRPr lang="en-US" sz="1150" dirty="0"/>
          </a:p>
        </p:txBody>
      </p:sp>
      <p:sp>
        <p:nvSpPr>
          <p:cNvPr id="89" name="Shape 72"/>
          <p:cNvSpPr/>
          <p:nvPr/>
        </p:nvSpPr>
        <p:spPr>
          <a:xfrm>
            <a:off x="5322929" y="5721073"/>
            <a:ext cx="6693766" cy="903711"/>
          </a:xfrm>
          <a:prstGeom prst="roundRect">
            <a:avLst>
              <a:gd name="adj" fmla="val 4841"/>
            </a:avLst>
          </a:prstGeom>
          <a:solidFill>
            <a:srgbClr val="FFFFFF"/>
          </a:solidFill>
          <a:ln w="10160">
            <a:solidFill>
              <a:srgbClr val="047B91"/>
            </a:solidFill>
            <a:prstDash val="solid"/>
          </a:ln>
        </p:spPr>
      </p:sp>
      <p:pic>
        <p:nvPicPr>
          <p:cNvPr id="90" name="Image 15" descr="/mnt/data/ppt_assets_fix/s1_lightbulb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41680" y="5884047"/>
            <a:ext cx="583335" cy="548612"/>
          </a:xfrm>
          <a:prstGeom prst="rect">
            <a:avLst/>
          </a:prstGeom>
        </p:spPr>
      </p:pic>
      <p:sp>
        <p:nvSpPr>
          <p:cNvPr id="91" name="Text 73"/>
          <p:cNvSpPr/>
          <p:nvPr/>
        </p:nvSpPr>
        <p:spPr>
          <a:xfrm>
            <a:off x="6161473" y="5859545"/>
            <a:ext cx="5104179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各拠点の目的・計画・体制に合わせて段階的に拡大</a:t>
            </a:r>
            <a:endParaRPr lang="en-US" sz="1800" dirty="0"/>
          </a:p>
        </p:txBody>
      </p:sp>
      <p:sp>
        <p:nvSpPr>
          <p:cNvPr id="92" name="Text 74"/>
          <p:cNvSpPr/>
          <p:nvPr/>
        </p:nvSpPr>
        <p:spPr>
          <a:xfrm>
            <a:off x="6161473" y="6136489"/>
            <a:ext cx="4739594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小さく始め、学び、共通化し、柔軟に横展開する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8751" y="182200"/>
            <a:ext cx="11739611" cy="6486312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5209" y="400840"/>
            <a:ext cx="3463550" cy="1238959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1016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8A96A8">
                <a:alpha val="16000"/>
              </a:srgbClr>
            </a:outerShdw>
          </a:effectLst>
        </p:spPr>
      </p:sp>
      <p:pic>
        <p:nvPicPr>
          <p:cNvPr id="4" name="Image 0" descr="/mnt/data/ppt_assets_fix/s2_plasma_full.png">    </p:cNvPr>
          <p:cNvPicPr>
            <a:picLocks noChangeAspect="1"/>
          </p:cNvPicPr>
          <p:nvPr/>
        </p:nvPicPr>
        <p:blipFill>
          <a:blip r:embed="rId1"/>
          <a:srcRect l="0" r="0" t="890" b="890"/>
          <a:stretch/>
        </p:blipFill>
        <p:spPr>
          <a:xfrm>
            <a:off x="328126" y="488295"/>
            <a:ext cx="1895838" cy="1064047"/>
          </a:xfrm>
          <a:prstGeom prst="rect">
            <a:avLst/>
          </a:prstGeom>
        </p:spPr>
      </p:pic>
      <p:pic>
        <p:nvPicPr>
          <p:cNvPr id="5" name="Image 1" descr="/mnt/data/ppt_assets/circle_plas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8863" y="765239"/>
            <a:ext cx="422704" cy="4227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807298" y="743375"/>
            <a:ext cx="875002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6D2BC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Plasma</a:t>
            </a:r>
            <a:endParaRPr lang="en-US" sz="1380" dirty="0"/>
          </a:p>
        </p:txBody>
      </p:sp>
      <p:sp>
        <p:nvSpPr>
          <p:cNvPr id="7" name="Shape 3"/>
          <p:cNvSpPr/>
          <p:nvPr/>
        </p:nvSpPr>
        <p:spPr>
          <a:xfrm>
            <a:off x="2821882" y="1238959"/>
            <a:ext cx="218751" cy="0"/>
          </a:xfrm>
          <a:prstGeom prst="line">
            <a:avLst/>
          </a:prstGeom>
          <a:noFill/>
          <a:ln w="15240">
            <a:solidFill>
              <a:srgbClr val="6D2BC1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255209" y="1749118"/>
            <a:ext cx="3463550" cy="1238959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1016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8A96A8">
                <a:alpha val="16000"/>
              </a:srgbClr>
            </a:outerShdw>
          </a:effectLst>
        </p:spPr>
      </p:sp>
      <p:pic>
        <p:nvPicPr>
          <p:cNvPr id="9" name="Image 2" descr="/mnt/data/ppt_assets_fix/s2_fluid_full.png">    </p:cNvPr>
          <p:cNvPicPr>
            <a:picLocks noChangeAspect="1"/>
          </p:cNvPicPr>
          <p:nvPr/>
        </p:nvPicPr>
        <p:blipFill>
          <a:blip r:embed="rId3"/>
          <a:srcRect l="2578" r="2578" t="0" b="0"/>
          <a:stretch/>
        </p:blipFill>
        <p:spPr>
          <a:xfrm>
            <a:off x="328126" y="1836574"/>
            <a:ext cx="1895838" cy="1064047"/>
          </a:xfrm>
          <a:prstGeom prst="rect">
            <a:avLst/>
          </a:prstGeom>
        </p:spPr>
      </p:pic>
      <p:pic>
        <p:nvPicPr>
          <p:cNvPr id="10" name="Image 3" descr="/mnt/data/ppt_assets/circle_flui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8863" y="2113518"/>
            <a:ext cx="422704" cy="4227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07298" y="2091654"/>
            <a:ext cx="875002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Fluid</a:t>
            </a:r>
            <a:endParaRPr lang="en-US" sz="1380" dirty="0"/>
          </a:p>
        </p:txBody>
      </p:sp>
      <p:sp>
        <p:nvSpPr>
          <p:cNvPr id="12" name="Shape 6"/>
          <p:cNvSpPr/>
          <p:nvPr/>
        </p:nvSpPr>
        <p:spPr>
          <a:xfrm>
            <a:off x="2821882" y="2587237"/>
            <a:ext cx="218751" cy="0"/>
          </a:xfrm>
          <a:prstGeom prst="line">
            <a:avLst/>
          </a:prstGeom>
          <a:noFill/>
          <a:ln w="15240">
            <a:solidFill>
              <a:srgbClr val="045ACB"/>
            </a:solidFill>
            <a:prstDash val="solid"/>
            <a:headEnd type="none"/>
            <a:tailEnd type="none"/>
          </a:ln>
        </p:spPr>
      </p:sp>
      <p:sp>
        <p:nvSpPr>
          <p:cNvPr id="13" name="Shape 7"/>
          <p:cNvSpPr/>
          <p:nvPr/>
        </p:nvSpPr>
        <p:spPr>
          <a:xfrm>
            <a:off x="255209" y="3097396"/>
            <a:ext cx="3463550" cy="1238959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1016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8A96A8">
                <a:alpha val="16000"/>
              </a:srgbClr>
            </a:outerShdw>
          </a:effectLst>
        </p:spPr>
      </p:sp>
      <p:pic>
        <p:nvPicPr>
          <p:cNvPr id="14" name="Image 4" descr="/mnt/data/ppt_assets_fix/s2_structure_full.png">    </p:cNvPr>
          <p:cNvPicPr>
            <a:picLocks noChangeAspect="1"/>
          </p:cNvPicPr>
          <p:nvPr/>
        </p:nvPicPr>
        <p:blipFill>
          <a:blip r:embed="rId5"/>
          <a:srcRect l="2936" r="2936" t="0" b="0"/>
          <a:stretch/>
        </p:blipFill>
        <p:spPr>
          <a:xfrm>
            <a:off x="328126" y="3184852"/>
            <a:ext cx="1895838" cy="1064047"/>
          </a:xfrm>
          <a:prstGeom prst="rect">
            <a:avLst/>
          </a:prstGeom>
        </p:spPr>
      </p:pic>
      <p:pic>
        <p:nvPicPr>
          <p:cNvPr id="15" name="Image 5" descr="/mnt/data/ppt_assets/circle_stru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8863" y="3461796"/>
            <a:ext cx="422704" cy="42270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807298" y="3439932"/>
            <a:ext cx="875002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Structure</a:t>
            </a:r>
            <a:endParaRPr lang="en-US" sz="1380" dirty="0"/>
          </a:p>
        </p:txBody>
      </p:sp>
      <p:sp>
        <p:nvSpPr>
          <p:cNvPr id="17" name="Shape 9"/>
          <p:cNvSpPr/>
          <p:nvPr/>
        </p:nvSpPr>
        <p:spPr>
          <a:xfrm>
            <a:off x="2821882" y="3935515"/>
            <a:ext cx="218751" cy="0"/>
          </a:xfrm>
          <a:prstGeom prst="line">
            <a:avLst/>
          </a:prstGeom>
          <a:noFill/>
          <a:ln w="15240">
            <a:solidFill>
              <a:srgbClr val="045ACB"/>
            </a:solidFill>
            <a:prstDash val="solid"/>
            <a:headEnd type="none"/>
            <a:tailEnd type="none"/>
          </a:ln>
        </p:spPr>
      </p:sp>
      <p:sp>
        <p:nvSpPr>
          <p:cNvPr id="18" name="Shape 10"/>
          <p:cNvSpPr/>
          <p:nvPr/>
        </p:nvSpPr>
        <p:spPr>
          <a:xfrm>
            <a:off x="255209" y="4445675"/>
            <a:ext cx="3463550" cy="1238959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1016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8A96A8">
                <a:alpha val="16000"/>
              </a:srgbClr>
            </a:outerShdw>
          </a:effectLst>
        </p:spPr>
      </p:sp>
      <p:pic>
        <p:nvPicPr>
          <p:cNvPr id="19" name="Image 6" descr="/mnt/data/ppt_assets_fix/s2_thermal_full.png">    </p:cNvPr>
          <p:cNvPicPr>
            <a:picLocks noChangeAspect="1"/>
          </p:cNvPicPr>
          <p:nvPr/>
        </p:nvPicPr>
        <p:blipFill>
          <a:blip r:embed="rId7"/>
          <a:srcRect l="2936" r="2936" t="0" b="0"/>
          <a:stretch/>
        </p:blipFill>
        <p:spPr>
          <a:xfrm>
            <a:off x="328126" y="4533131"/>
            <a:ext cx="1895838" cy="1064047"/>
          </a:xfrm>
          <a:prstGeom prst="rect">
            <a:avLst/>
          </a:prstGeom>
        </p:spPr>
      </p:pic>
      <p:pic>
        <p:nvPicPr>
          <p:cNvPr id="20" name="Image 7" descr="/mnt/data/ppt_assets/circle_therm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8863" y="4810074"/>
            <a:ext cx="422704" cy="422704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2807298" y="4788210"/>
            <a:ext cx="875002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047B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Thermal</a:t>
            </a:r>
            <a:endParaRPr lang="en-US" sz="1380" dirty="0"/>
          </a:p>
        </p:txBody>
      </p:sp>
      <p:sp>
        <p:nvSpPr>
          <p:cNvPr id="22" name="Shape 12"/>
          <p:cNvSpPr/>
          <p:nvPr/>
        </p:nvSpPr>
        <p:spPr>
          <a:xfrm>
            <a:off x="2821882" y="5283794"/>
            <a:ext cx="218751" cy="0"/>
          </a:xfrm>
          <a:prstGeom prst="line">
            <a:avLst/>
          </a:prstGeom>
          <a:noFill/>
          <a:ln w="15240">
            <a:solidFill>
              <a:srgbClr val="047B91"/>
            </a:solidFill>
            <a:prstDash val="solid"/>
            <a:headEnd type="none"/>
            <a:tailEnd type="none"/>
          </a:ln>
        </p:spPr>
      </p:sp>
      <p:sp>
        <p:nvSpPr>
          <p:cNvPr id="23" name="Shape 13"/>
          <p:cNvSpPr/>
          <p:nvPr/>
        </p:nvSpPr>
        <p:spPr>
          <a:xfrm>
            <a:off x="8254186" y="400840"/>
            <a:ext cx="3682300" cy="1238959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1016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8A96A8">
                <a:alpha val="16000"/>
              </a:srgbClr>
            </a:outerShdw>
          </a:effectLst>
        </p:spPr>
      </p:sp>
      <p:pic>
        <p:nvPicPr>
          <p:cNvPr id="24" name="Image 8" descr="/mnt/data/ppt_assets/circle_circui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2002" y="765239"/>
            <a:ext cx="422704" cy="422704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005229" y="743375"/>
            <a:ext cx="875002" cy="42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6D2BC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Circuit</a:t>
            </a:r>
            <a:endParaRPr lang="en-US" sz="1540" dirty="0"/>
          </a:p>
        </p:txBody>
      </p:sp>
      <p:sp>
        <p:nvSpPr>
          <p:cNvPr id="26" name="Shape 15"/>
          <p:cNvSpPr/>
          <p:nvPr/>
        </p:nvSpPr>
        <p:spPr>
          <a:xfrm>
            <a:off x="9019813" y="1238959"/>
            <a:ext cx="226042" cy="0"/>
          </a:xfrm>
          <a:prstGeom prst="line">
            <a:avLst/>
          </a:prstGeom>
          <a:noFill/>
          <a:ln w="15240">
            <a:solidFill>
              <a:srgbClr val="6D2BC1"/>
            </a:solidFill>
            <a:prstDash val="solid"/>
            <a:headEnd type="none"/>
            <a:tailEnd type="none"/>
          </a:ln>
        </p:spPr>
      </p:sp>
      <p:pic>
        <p:nvPicPr>
          <p:cNvPr id="27" name="Image 9" descr="/mnt/data/ppt_assets_fix/s2_circuit_ful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9607" y="674901"/>
            <a:ext cx="1713546" cy="690837"/>
          </a:xfrm>
          <a:prstGeom prst="rect">
            <a:avLst/>
          </a:prstGeom>
        </p:spPr>
      </p:pic>
      <p:sp>
        <p:nvSpPr>
          <p:cNvPr id="28" name="Shape 16"/>
          <p:cNvSpPr/>
          <p:nvPr/>
        </p:nvSpPr>
        <p:spPr>
          <a:xfrm>
            <a:off x="8254186" y="1749118"/>
            <a:ext cx="3682300" cy="1238959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1016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8A96A8">
                <a:alpha val="16000"/>
              </a:srgbClr>
            </a:outerShdw>
          </a:effectLst>
        </p:spPr>
      </p:sp>
      <p:pic>
        <p:nvPicPr>
          <p:cNvPr id="29" name="Image 10" descr="/mnt/data/ppt_assets/circle_wafe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2002" y="2113518"/>
            <a:ext cx="422704" cy="422704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9005229" y="2091654"/>
            <a:ext cx="875002" cy="42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Wafer</a:t>
            </a:r>
            <a:endParaRPr lang="en-US" sz="1540" dirty="0"/>
          </a:p>
          <a:p>
            <a:pPr algn="l" indent="0" marL="0">
              <a:buNone/>
            </a:pPr>
            <a:r>
              <a:rPr lang="en-US" sz="154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Shape</a:t>
            </a:r>
            <a:endParaRPr lang="en-US" sz="1540" dirty="0"/>
          </a:p>
        </p:txBody>
      </p:sp>
      <p:sp>
        <p:nvSpPr>
          <p:cNvPr id="31" name="Shape 18"/>
          <p:cNvSpPr/>
          <p:nvPr/>
        </p:nvSpPr>
        <p:spPr>
          <a:xfrm>
            <a:off x="9019813" y="2587237"/>
            <a:ext cx="226042" cy="0"/>
          </a:xfrm>
          <a:prstGeom prst="line">
            <a:avLst/>
          </a:prstGeom>
          <a:noFill/>
          <a:ln w="15240">
            <a:solidFill>
              <a:srgbClr val="045ACB"/>
            </a:solidFill>
            <a:prstDash val="solid"/>
            <a:headEnd type="none"/>
            <a:tailEnd type="none"/>
          </a:ln>
        </p:spPr>
      </p:sp>
      <p:pic>
        <p:nvPicPr>
          <p:cNvPr id="32" name="Image 11" descr="/mnt/data/ppt_assets_fix/s2_wafer_full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89607" y="1949802"/>
            <a:ext cx="1713546" cy="837591"/>
          </a:xfrm>
          <a:prstGeom prst="rect">
            <a:avLst/>
          </a:prstGeom>
        </p:spPr>
      </p:pic>
      <p:sp>
        <p:nvSpPr>
          <p:cNvPr id="33" name="Shape 19"/>
          <p:cNvSpPr/>
          <p:nvPr/>
        </p:nvSpPr>
        <p:spPr>
          <a:xfrm>
            <a:off x="8254186" y="3097396"/>
            <a:ext cx="3682300" cy="1238959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1016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8A96A8">
                <a:alpha val="16000"/>
              </a:srgbClr>
            </a:outerShdw>
          </a:effectLst>
        </p:spPr>
      </p:sp>
      <p:pic>
        <p:nvPicPr>
          <p:cNvPr id="34" name="Image 12" descr="/mnt/data/ppt_assets/circle_particl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22002" y="3461796"/>
            <a:ext cx="422704" cy="422704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9005229" y="3439932"/>
            <a:ext cx="875002" cy="42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6D2BC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Particle</a:t>
            </a:r>
            <a:endParaRPr lang="en-US" sz="1540" dirty="0"/>
          </a:p>
        </p:txBody>
      </p:sp>
      <p:sp>
        <p:nvSpPr>
          <p:cNvPr id="36" name="Shape 21"/>
          <p:cNvSpPr/>
          <p:nvPr/>
        </p:nvSpPr>
        <p:spPr>
          <a:xfrm>
            <a:off x="9019813" y="3935515"/>
            <a:ext cx="226042" cy="0"/>
          </a:xfrm>
          <a:prstGeom prst="line">
            <a:avLst/>
          </a:prstGeom>
          <a:noFill/>
          <a:ln w="15240">
            <a:solidFill>
              <a:srgbClr val="6D2BC1"/>
            </a:solidFill>
            <a:prstDash val="solid"/>
            <a:headEnd type="none"/>
            <a:tailEnd type="none"/>
          </a:ln>
        </p:spPr>
      </p:sp>
      <p:pic>
        <p:nvPicPr>
          <p:cNvPr id="37" name="Image 13" descr="/mnt/data/ppt_assets_fix/s2_particle_full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51627" y="3265020"/>
            <a:ext cx="1589506" cy="903711"/>
          </a:xfrm>
          <a:prstGeom prst="rect">
            <a:avLst/>
          </a:prstGeom>
        </p:spPr>
      </p:pic>
      <p:sp>
        <p:nvSpPr>
          <p:cNvPr id="38" name="Shape 22"/>
          <p:cNvSpPr/>
          <p:nvPr/>
        </p:nvSpPr>
        <p:spPr>
          <a:xfrm>
            <a:off x="8254186" y="4445675"/>
            <a:ext cx="3682300" cy="1238959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10160">
            <a:solidFill>
              <a:srgbClr val="DCE4EF"/>
            </a:solidFill>
            <a:prstDash val="solid"/>
          </a:ln>
          <a:effectLst>
            <a:outerShdw sx="100000" sy="100000" kx="0" ky="0" algn="bl" rotWithShape="0" blurRad="25400" dist="50800" dir="2700000">
              <a:srgbClr val="8A96A8">
                <a:alpha val="16000"/>
              </a:srgbClr>
            </a:outerShdw>
          </a:effectLst>
        </p:spPr>
      </p:sp>
      <p:pic>
        <p:nvPicPr>
          <p:cNvPr id="39" name="Image 14" descr="/mnt/data/ppt_assets/circle_reaction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22002" y="4810074"/>
            <a:ext cx="422704" cy="422704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9005229" y="4788210"/>
            <a:ext cx="875002" cy="422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40" b="1" dirty="0">
                <a:solidFill>
                  <a:srgbClr val="047B9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Reaction</a:t>
            </a:r>
            <a:endParaRPr lang="en-US" sz="1540" dirty="0"/>
          </a:p>
        </p:txBody>
      </p:sp>
      <p:sp>
        <p:nvSpPr>
          <p:cNvPr id="41" name="Shape 24"/>
          <p:cNvSpPr/>
          <p:nvPr/>
        </p:nvSpPr>
        <p:spPr>
          <a:xfrm>
            <a:off x="9019813" y="5283794"/>
            <a:ext cx="226042" cy="0"/>
          </a:xfrm>
          <a:prstGeom prst="line">
            <a:avLst/>
          </a:prstGeom>
          <a:noFill/>
          <a:ln w="15240">
            <a:solidFill>
              <a:srgbClr val="047B91"/>
            </a:solidFill>
            <a:prstDash val="solid"/>
            <a:headEnd type="none"/>
            <a:tailEnd type="none"/>
          </a:ln>
        </p:spPr>
      </p:sp>
      <p:pic>
        <p:nvPicPr>
          <p:cNvPr id="42" name="Image 15" descr="/mnt/data/ppt_assets_fix/s2_reaction_full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89607" y="4666737"/>
            <a:ext cx="1713546" cy="796834"/>
          </a:xfrm>
          <a:prstGeom prst="rect">
            <a:avLst/>
          </a:prstGeom>
        </p:spPr>
      </p:pic>
      <p:pic>
        <p:nvPicPr>
          <p:cNvPr id="43" name="Image 16" descr="/mnt/data/ppt_assets/ring_larg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92718" y="1166079"/>
            <a:ext cx="3791676" cy="3789756"/>
          </a:xfrm>
          <a:prstGeom prst="rect">
            <a:avLst/>
          </a:prstGeom>
        </p:spPr>
      </p:pic>
      <p:sp>
        <p:nvSpPr>
          <p:cNvPr id="44" name="Shape 25"/>
          <p:cNvSpPr/>
          <p:nvPr/>
        </p:nvSpPr>
        <p:spPr>
          <a:xfrm>
            <a:off x="4776053" y="1749118"/>
            <a:ext cx="2625006" cy="2623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7E8"/>
            </a:solidFill>
            <a:prstDash val="solid"/>
          </a:ln>
        </p:spPr>
      </p:sp>
      <p:pic>
        <p:nvPicPr>
          <p:cNvPr id="45" name="Image 17" descr="/mnt/data/ppt_assets/platform_logo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60593" y="1967758"/>
            <a:ext cx="641343" cy="641343"/>
          </a:xfrm>
          <a:prstGeom prst="rect">
            <a:avLst/>
          </a:prstGeom>
        </p:spPr>
      </p:pic>
      <p:sp>
        <p:nvSpPr>
          <p:cNvPr id="46" name="Text 26"/>
          <p:cNvSpPr/>
          <p:nvPr/>
        </p:nvSpPr>
        <p:spPr>
          <a:xfrm>
            <a:off x="4848970" y="2660117"/>
            <a:ext cx="2479172" cy="6559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5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Engineering</a:t>
            </a:r>
            <a:endParaRPr lang="en-US" sz="2750" dirty="0"/>
          </a:p>
          <a:p>
            <a:pPr algn="ctr" indent="0" marL="0">
              <a:buNone/>
            </a:pPr>
            <a:r>
              <a:rPr lang="en-US" sz="275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Platform</a:t>
            </a:r>
            <a:endParaRPr lang="en-US" sz="2750" dirty="0"/>
          </a:p>
        </p:txBody>
      </p:sp>
      <p:sp>
        <p:nvSpPr>
          <p:cNvPr id="47" name="Text 27"/>
          <p:cNvSpPr/>
          <p:nvPr/>
        </p:nvSpPr>
        <p:spPr>
          <a:xfrm>
            <a:off x="4994803" y="3425356"/>
            <a:ext cx="218750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Simulation • Data • Workflow</a:t>
            </a:r>
            <a:endParaRPr lang="en-US" sz="1320" dirty="0"/>
          </a:p>
        </p:txBody>
      </p:sp>
      <p:sp>
        <p:nvSpPr>
          <p:cNvPr id="48" name="Shape 28"/>
          <p:cNvSpPr/>
          <p:nvPr/>
        </p:nvSpPr>
        <p:spPr>
          <a:xfrm>
            <a:off x="3718759" y="1020319"/>
            <a:ext cx="619793" cy="583039"/>
          </a:xfrm>
          <a:prstGeom prst="line">
            <a:avLst/>
          </a:prstGeom>
          <a:noFill/>
          <a:ln w="16510">
            <a:solidFill>
              <a:srgbClr val="6D2BC1"/>
            </a:solidFill>
            <a:prstDash val="solid"/>
            <a:headEnd type="none"/>
            <a:tailEnd type="none"/>
          </a:ln>
        </p:spPr>
      </p:sp>
      <p:sp>
        <p:nvSpPr>
          <p:cNvPr id="49" name="Shape 29"/>
          <p:cNvSpPr/>
          <p:nvPr/>
        </p:nvSpPr>
        <p:spPr>
          <a:xfrm>
            <a:off x="3718759" y="2368597"/>
            <a:ext cx="627085" cy="0"/>
          </a:xfrm>
          <a:prstGeom prst="line">
            <a:avLst/>
          </a:prstGeom>
          <a:noFill/>
          <a:ln w="16510">
            <a:solidFill>
              <a:srgbClr val="10B8D7"/>
            </a:solidFill>
            <a:prstDash val="solid"/>
            <a:headEnd type="none"/>
            <a:tailEnd type="none"/>
          </a:ln>
        </p:spPr>
      </p:sp>
      <p:sp>
        <p:nvSpPr>
          <p:cNvPr id="50" name="Shape 30"/>
          <p:cNvSpPr/>
          <p:nvPr/>
        </p:nvSpPr>
        <p:spPr>
          <a:xfrm>
            <a:off x="3718759" y="3716876"/>
            <a:ext cx="627085" cy="0"/>
          </a:xfrm>
          <a:prstGeom prst="line">
            <a:avLst/>
          </a:prstGeom>
          <a:noFill/>
          <a:ln w="16510">
            <a:solidFill>
              <a:srgbClr val="045ACB"/>
            </a:solidFill>
            <a:prstDash val="solid"/>
            <a:headEnd type="none"/>
            <a:tailEnd type="none"/>
          </a:ln>
        </p:spPr>
      </p:sp>
      <p:sp>
        <p:nvSpPr>
          <p:cNvPr id="51" name="Shape 31"/>
          <p:cNvSpPr/>
          <p:nvPr/>
        </p:nvSpPr>
        <p:spPr>
          <a:xfrm>
            <a:off x="3718759" y="5065154"/>
            <a:ext cx="619793" cy="-546599"/>
          </a:xfrm>
          <a:prstGeom prst="line">
            <a:avLst/>
          </a:prstGeom>
          <a:noFill/>
          <a:ln w="16510">
            <a:solidFill>
              <a:srgbClr val="047B91"/>
            </a:solidFill>
            <a:prstDash val="solid"/>
            <a:headEnd type="none"/>
            <a:tailEnd type="none"/>
          </a:ln>
        </p:spPr>
      </p:sp>
      <p:sp>
        <p:nvSpPr>
          <p:cNvPr id="52" name="Shape 32"/>
          <p:cNvSpPr/>
          <p:nvPr/>
        </p:nvSpPr>
        <p:spPr>
          <a:xfrm>
            <a:off x="8254186" y="1020319"/>
            <a:ext cx="-415626" cy="583039"/>
          </a:xfrm>
          <a:prstGeom prst="line">
            <a:avLst/>
          </a:prstGeom>
          <a:noFill/>
          <a:ln w="16510">
            <a:solidFill>
              <a:srgbClr val="6D2BC1"/>
            </a:solidFill>
            <a:prstDash val="solid"/>
            <a:headEnd type="none"/>
            <a:tailEnd type="none"/>
          </a:ln>
        </p:spPr>
      </p:sp>
      <p:sp>
        <p:nvSpPr>
          <p:cNvPr id="53" name="Shape 33"/>
          <p:cNvSpPr/>
          <p:nvPr/>
        </p:nvSpPr>
        <p:spPr>
          <a:xfrm>
            <a:off x="8254186" y="2368597"/>
            <a:ext cx="-408334" cy="0"/>
          </a:xfrm>
          <a:prstGeom prst="line">
            <a:avLst/>
          </a:prstGeom>
          <a:noFill/>
          <a:ln w="16510">
            <a:solidFill>
              <a:srgbClr val="10B8D7"/>
            </a:solidFill>
            <a:prstDash val="solid"/>
            <a:headEnd type="none"/>
            <a:tailEnd type="none"/>
          </a:ln>
        </p:spPr>
      </p:sp>
      <p:sp>
        <p:nvSpPr>
          <p:cNvPr id="54" name="Shape 34"/>
          <p:cNvSpPr/>
          <p:nvPr/>
        </p:nvSpPr>
        <p:spPr>
          <a:xfrm>
            <a:off x="8254186" y="3716876"/>
            <a:ext cx="-408334" cy="0"/>
          </a:xfrm>
          <a:prstGeom prst="line">
            <a:avLst/>
          </a:prstGeom>
          <a:noFill/>
          <a:ln w="16510">
            <a:solidFill>
              <a:srgbClr val="6D2BC1"/>
            </a:solidFill>
            <a:prstDash val="solid"/>
            <a:headEnd type="none"/>
            <a:tailEnd type="none"/>
          </a:ln>
        </p:spPr>
      </p:sp>
      <p:sp>
        <p:nvSpPr>
          <p:cNvPr id="55" name="Shape 35"/>
          <p:cNvSpPr/>
          <p:nvPr/>
        </p:nvSpPr>
        <p:spPr>
          <a:xfrm>
            <a:off x="8254186" y="5065154"/>
            <a:ext cx="-408334" cy="-546599"/>
          </a:xfrm>
          <a:prstGeom prst="line">
            <a:avLst/>
          </a:prstGeom>
          <a:noFill/>
          <a:ln w="16510">
            <a:solidFill>
              <a:srgbClr val="047B91"/>
            </a:solidFill>
            <a:prstDash val="solid"/>
            <a:headEnd type="none"/>
            <a:tailEnd type="none"/>
          </a:ln>
        </p:spPr>
      </p:sp>
      <p:sp>
        <p:nvSpPr>
          <p:cNvPr id="56" name="Shape 36"/>
          <p:cNvSpPr/>
          <p:nvPr/>
        </p:nvSpPr>
        <p:spPr>
          <a:xfrm>
            <a:off x="3653134" y="954727"/>
            <a:ext cx="131250" cy="131184"/>
          </a:xfrm>
          <a:prstGeom prst="ellipse">
            <a:avLst/>
          </a:prstGeom>
          <a:solidFill>
            <a:srgbClr val="6D2B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37"/>
          <p:cNvSpPr/>
          <p:nvPr/>
        </p:nvSpPr>
        <p:spPr>
          <a:xfrm>
            <a:off x="3653134" y="2303005"/>
            <a:ext cx="131250" cy="131184"/>
          </a:xfrm>
          <a:prstGeom prst="ellipse">
            <a:avLst/>
          </a:prstGeom>
          <a:solidFill>
            <a:srgbClr val="10B8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38"/>
          <p:cNvSpPr/>
          <p:nvPr/>
        </p:nvSpPr>
        <p:spPr>
          <a:xfrm>
            <a:off x="3653134" y="3651284"/>
            <a:ext cx="131250" cy="131184"/>
          </a:xfrm>
          <a:prstGeom prst="ellipse">
            <a:avLst/>
          </a:prstGeom>
          <a:solidFill>
            <a:srgbClr val="045AC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39"/>
          <p:cNvSpPr/>
          <p:nvPr/>
        </p:nvSpPr>
        <p:spPr>
          <a:xfrm>
            <a:off x="3653134" y="4999562"/>
            <a:ext cx="131250" cy="131184"/>
          </a:xfrm>
          <a:prstGeom prst="ellipse">
            <a:avLst/>
          </a:prstGeom>
          <a:solidFill>
            <a:srgbClr val="047B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40"/>
          <p:cNvSpPr/>
          <p:nvPr/>
        </p:nvSpPr>
        <p:spPr>
          <a:xfrm>
            <a:off x="8188561" y="954727"/>
            <a:ext cx="131250" cy="131184"/>
          </a:xfrm>
          <a:prstGeom prst="ellipse">
            <a:avLst/>
          </a:prstGeom>
          <a:solidFill>
            <a:srgbClr val="6D2B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41"/>
          <p:cNvSpPr/>
          <p:nvPr/>
        </p:nvSpPr>
        <p:spPr>
          <a:xfrm>
            <a:off x="8188561" y="2303005"/>
            <a:ext cx="131250" cy="131184"/>
          </a:xfrm>
          <a:prstGeom prst="ellipse">
            <a:avLst/>
          </a:prstGeom>
          <a:solidFill>
            <a:srgbClr val="10B8D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42"/>
          <p:cNvSpPr/>
          <p:nvPr/>
        </p:nvSpPr>
        <p:spPr>
          <a:xfrm>
            <a:off x="8188561" y="3651284"/>
            <a:ext cx="131250" cy="131184"/>
          </a:xfrm>
          <a:prstGeom prst="ellipse">
            <a:avLst/>
          </a:prstGeom>
          <a:solidFill>
            <a:srgbClr val="6D2BC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43"/>
          <p:cNvSpPr/>
          <p:nvPr/>
        </p:nvSpPr>
        <p:spPr>
          <a:xfrm>
            <a:off x="8188561" y="4999562"/>
            <a:ext cx="131250" cy="131184"/>
          </a:xfrm>
          <a:prstGeom prst="ellipse">
            <a:avLst/>
          </a:prstGeom>
          <a:solidFill>
            <a:srgbClr val="047B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44"/>
          <p:cNvSpPr/>
          <p:nvPr/>
        </p:nvSpPr>
        <p:spPr>
          <a:xfrm>
            <a:off x="255209" y="5721073"/>
            <a:ext cx="11666694" cy="816255"/>
          </a:xfrm>
          <a:prstGeom prst="roundRect">
            <a:avLst>
              <a:gd name="adj" fmla="val 8933"/>
            </a:avLst>
          </a:prstGeom>
          <a:solidFill>
            <a:srgbClr val="FFFFFF"/>
          </a:solidFill>
          <a:ln w="10160">
            <a:solidFill>
              <a:srgbClr val="DCE4EF"/>
            </a:solidFill>
            <a:prstDash val="solid"/>
          </a:ln>
        </p:spPr>
      </p:sp>
      <p:sp>
        <p:nvSpPr>
          <p:cNvPr id="65" name="Shape 45"/>
          <p:cNvSpPr/>
          <p:nvPr/>
        </p:nvSpPr>
        <p:spPr>
          <a:xfrm>
            <a:off x="3500008" y="5888697"/>
            <a:ext cx="0" cy="524735"/>
          </a:xfrm>
          <a:prstGeom prst="line">
            <a:avLst/>
          </a:prstGeom>
          <a:noFill/>
          <a:ln w="1016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66" name="Shape 46"/>
          <p:cNvSpPr/>
          <p:nvPr/>
        </p:nvSpPr>
        <p:spPr>
          <a:xfrm>
            <a:off x="6343765" y="5888697"/>
            <a:ext cx="0" cy="524735"/>
          </a:xfrm>
          <a:prstGeom prst="line">
            <a:avLst/>
          </a:prstGeom>
          <a:noFill/>
          <a:ln w="10160">
            <a:solidFill>
              <a:srgbClr val="C8D0DC"/>
            </a:solidFill>
            <a:prstDash val="solid"/>
            <a:headEnd type="none"/>
            <a:tailEnd type="none"/>
          </a:ln>
        </p:spPr>
      </p:sp>
      <p:sp>
        <p:nvSpPr>
          <p:cNvPr id="67" name="Shape 47"/>
          <p:cNvSpPr/>
          <p:nvPr/>
        </p:nvSpPr>
        <p:spPr>
          <a:xfrm>
            <a:off x="9187522" y="5888697"/>
            <a:ext cx="0" cy="524735"/>
          </a:xfrm>
          <a:prstGeom prst="line">
            <a:avLst/>
          </a:prstGeom>
          <a:noFill/>
          <a:ln w="10160">
            <a:solidFill>
              <a:srgbClr val="C8D0DC"/>
            </a:solidFill>
            <a:prstDash val="solid"/>
            <a:headEnd type="none"/>
            <a:tailEnd type="none"/>
          </a:ln>
        </p:spPr>
      </p:sp>
      <p:pic>
        <p:nvPicPr>
          <p:cNvPr id="68" name="Image 18" descr="/mnt/data/ppt_assets/icon_gea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2187" y="5917849"/>
            <a:ext cx="400840" cy="400840"/>
          </a:xfrm>
          <a:prstGeom prst="rect">
            <a:avLst/>
          </a:prstGeom>
        </p:spPr>
      </p:pic>
      <p:sp>
        <p:nvSpPr>
          <p:cNvPr id="69" name="Text 48"/>
          <p:cNvSpPr/>
          <p:nvPr/>
        </p:nvSpPr>
        <p:spPr>
          <a:xfrm>
            <a:off x="1312503" y="5881409"/>
            <a:ext cx="1166669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Automate</a:t>
            </a:r>
            <a:endParaRPr lang="en-US" sz="1500" dirty="0"/>
          </a:p>
        </p:txBody>
      </p:sp>
      <p:sp>
        <p:nvSpPr>
          <p:cNvPr id="70" name="Text 49"/>
          <p:cNvSpPr/>
          <p:nvPr/>
        </p:nvSpPr>
        <p:spPr>
          <a:xfrm>
            <a:off x="1312503" y="6165641"/>
            <a:ext cx="1385420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14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Accelerate workflows</a:t>
            </a:r>
            <a:endParaRPr lang="en-US" sz="880" dirty="0"/>
          </a:p>
        </p:txBody>
      </p:sp>
      <p:pic>
        <p:nvPicPr>
          <p:cNvPr id="71" name="Image 19" descr="/mnt/data/ppt_assets/icon_balance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791777" y="5917849"/>
            <a:ext cx="400840" cy="400840"/>
          </a:xfrm>
          <a:prstGeom prst="rect">
            <a:avLst/>
          </a:prstGeom>
        </p:spPr>
      </p:pic>
      <p:sp>
        <p:nvSpPr>
          <p:cNvPr id="72" name="Text 50"/>
          <p:cNvSpPr/>
          <p:nvPr/>
        </p:nvSpPr>
        <p:spPr>
          <a:xfrm>
            <a:off x="4302093" y="5881409"/>
            <a:ext cx="1166669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Compare</a:t>
            </a:r>
            <a:endParaRPr lang="en-US" sz="1500" dirty="0"/>
          </a:p>
        </p:txBody>
      </p:sp>
      <p:sp>
        <p:nvSpPr>
          <p:cNvPr id="73" name="Text 51"/>
          <p:cNvSpPr/>
          <p:nvPr/>
        </p:nvSpPr>
        <p:spPr>
          <a:xfrm>
            <a:off x="4302093" y="6165641"/>
            <a:ext cx="1385420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14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Evaluate with confidence</a:t>
            </a:r>
            <a:endParaRPr lang="en-US" sz="880" dirty="0"/>
          </a:p>
        </p:txBody>
      </p:sp>
      <p:pic>
        <p:nvPicPr>
          <p:cNvPr id="74" name="Image 20" descr="/mnt/data/ppt_assets/icon_documents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744909" y="5917849"/>
            <a:ext cx="400840" cy="400840"/>
          </a:xfrm>
          <a:prstGeom prst="rect">
            <a:avLst/>
          </a:prstGeom>
        </p:spPr>
      </p:pic>
      <p:sp>
        <p:nvSpPr>
          <p:cNvPr id="75" name="Text 52"/>
          <p:cNvSpPr/>
          <p:nvPr/>
        </p:nvSpPr>
        <p:spPr>
          <a:xfrm>
            <a:off x="7255225" y="5881409"/>
            <a:ext cx="1166669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Reuse</a:t>
            </a:r>
            <a:endParaRPr lang="en-US" sz="1500" dirty="0"/>
          </a:p>
        </p:txBody>
      </p:sp>
      <p:sp>
        <p:nvSpPr>
          <p:cNvPr id="76" name="Text 53"/>
          <p:cNvSpPr/>
          <p:nvPr/>
        </p:nvSpPr>
        <p:spPr>
          <a:xfrm>
            <a:off x="7255225" y="6165641"/>
            <a:ext cx="1385420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14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Leverage proven assets</a:t>
            </a:r>
            <a:endParaRPr lang="en-US" sz="880" dirty="0"/>
          </a:p>
        </p:txBody>
      </p:sp>
      <p:pic>
        <p:nvPicPr>
          <p:cNvPr id="77" name="Image 21" descr="/mnt/data/ppt_assets/icon_scale_chart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79290" y="5917849"/>
            <a:ext cx="400840" cy="400840"/>
          </a:xfrm>
          <a:prstGeom prst="rect">
            <a:avLst/>
          </a:prstGeom>
        </p:spPr>
      </p:pic>
      <p:sp>
        <p:nvSpPr>
          <p:cNvPr id="78" name="Text 54"/>
          <p:cNvSpPr/>
          <p:nvPr/>
        </p:nvSpPr>
        <p:spPr>
          <a:xfrm>
            <a:off x="9989607" y="5881409"/>
            <a:ext cx="1166669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Scale</a:t>
            </a:r>
            <a:endParaRPr lang="en-US" sz="1500" dirty="0"/>
          </a:p>
        </p:txBody>
      </p:sp>
      <p:sp>
        <p:nvSpPr>
          <p:cNvPr id="79" name="Text 55"/>
          <p:cNvSpPr/>
          <p:nvPr/>
        </p:nvSpPr>
        <p:spPr>
          <a:xfrm>
            <a:off x="9989607" y="6165641"/>
            <a:ext cx="1385420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414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From design to fab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917" y="145760"/>
            <a:ext cx="4119801" cy="2842317"/>
          </a:xfrm>
          <a:prstGeom prst="roundRect">
            <a:avLst>
              <a:gd name="adj" fmla="val 2565"/>
            </a:avLst>
          </a:prstGeom>
          <a:solidFill>
            <a:srgbClr val="FFFFFF"/>
          </a:solidFill>
          <a:ln w="8890">
            <a:solidFill>
              <a:srgbClr val="C8D6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00" y="145760"/>
            <a:ext cx="2406256" cy="364400"/>
          </a:xfrm>
          <a:prstGeom prst="roundRect">
            <a:avLst>
              <a:gd name="adj" fmla="val 24012"/>
            </a:avLst>
          </a:prstGeom>
          <a:solidFill>
            <a:srgbClr val="045ACB"/>
          </a:solidFill>
          <a:ln w="1270">
            <a:solidFill>
              <a:srgbClr val="045ACB"/>
            </a:solidFill>
            <a:prstDash val="solid"/>
          </a:ln>
        </p:spPr>
      </p:sp>
      <p:pic>
        <p:nvPicPr>
          <p:cNvPr id="4" name="Image 0" descr="/mnt/data/ppt_assets/platfor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08" y="182200"/>
            <a:ext cx="291520" cy="29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10418" y="145760"/>
            <a:ext cx="19322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シミュレーション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04167" y="626767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5209" y="663207"/>
            <a:ext cx="189584" cy="189488"/>
          </a:xfrm>
          <a:prstGeom prst="ellipse">
            <a:avLst/>
          </a:prstGeom>
          <a:solidFill>
            <a:srgbClr val="045ACB"/>
          </a:solidFill>
          <a:ln w="6350">
            <a:solidFill>
              <a:srgbClr val="045AC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5209" y="667580"/>
            <a:ext cx="189584" cy="18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5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605" dirty="0"/>
          </a:p>
        </p:txBody>
      </p:sp>
      <p:sp>
        <p:nvSpPr>
          <p:cNvPr id="9" name="Text 6"/>
          <p:cNvSpPr/>
          <p:nvPr/>
        </p:nvSpPr>
        <p:spPr>
          <a:xfrm>
            <a:off x="466668" y="641343"/>
            <a:ext cx="568751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プラズマ</a:t>
            </a:r>
            <a:endParaRPr lang="en-US" sz="840" dirty="0"/>
          </a:p>
        </p:txBody>
      </p:sp>
      <p:pic>
        <p:nvPicPr>
          <p:cNvPr id="10" name="Image 1" descr="/mnt/data/ppt_assets/s3_sim_plas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90" y="896423"/>
            <a:ext cx="552556" cy="69235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544" y="626767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239586" y="663207"/>
            <a:ext cx="189584" cy="189488"/>
          </a:xfrm>
          <a:prstGeom prst="ellipse">
            <a:avLst/>
          </a:prstGeom>
          <a:solidFill>
            <a:srgbClr val="045ACB"/>
          </a:solidFill>
          <a:ln w="6350">
            <a:solidFill>
              <a:srgbClr val="045AC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239586" y="667580"/>
            <a:ext cx="189584" cy="18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5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605" dirty="0"/>
          </a:p>
        </p:txBody>
      </p:sp>
      <p:sp>
        <p:nvSpPr>
          <p:cNvPr id="14" name="Text 10"/>
          <p:cNvSpPr/>
          <p:nvPr/>
        </p:nvSpPr>
        <p:spPr>
          <a:xfrm>
            <a:off x="1451045" y="641343"/>
            <a:ext cx="568751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流体</a:t>
            </a:r>
            <a:endParaRPr lang="en-US" sz="840" dirty="0"/>
          </a:p>
        </p:txBody>
      </p:sp>
      <p:pic>
        <p:nvPicPr>
          <p:cNvPr id="15" name="Image 2" descr="/mnt/data/ppt_assets/s3_sim_flui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439" y="896423"/>
            <a:ext cx="559213" cy="69235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172922" y="626767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223964" y="663207"/>
            <a:ext cx="189584" cy="189488"/>
          </a:xfrm>
          <a:prstGeom prst="ellipse">
            <a:avLst/>
          </a:prstGeom>
          <a:solidFill>
            <a:srgbClr val="045ACB"/>
          </a:solidFill>
          <a:ln w="6350">
            <a:solidFill>
              <a:srgbClr val="045AC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2223964" y="667580"/>
            <a:ext cx="189584" cy="18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5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605" dirty="0"/>
          </a:p>
        </p:txBody>
      </p:sp>
      <p:sp>
        <p:nvSpPr>
          <p:cNvPr id="19" name="Text 14"/>
          <p:cNvSpPr/>
          <p:nvPr/>
        </p:nvSpPr>
        <p:spPr>
          <a:xfrm>
            <a:off x="2435422" y="641343"/>
            <a:ext cx="568751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</a:t>
            </a:r>
            <a:endParaRPr lang="en-US" sz="840" dirty="0"/>
          </a:p>
        </p:txBody>
      </p:sp>
      <p:pic>
        <p:nvPicPr>
          <p:cNvPr id="20" name="Image 3" descr="/mnt/data/ppt_assets/s3_sim_structu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473" y="896423"/>
            <a:ext cx="545899" cy="692359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157299" y="626767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208341" y="663207"/>
            <a:ext cx="189584" cy="189488"/>
          </a:xfrm>
          <a:prstGeom prst="ellipse">
            <a:avLst/>
          </a:prstGeom>
          <a:solidFill>
            <a:srgbClr val="045ACB"/>
          </a:solidFill>
          <a:ln w="6350">
            <a:solidFill>
              <a:srgbClr val="045AC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208341" y="667580"/>
            <a:ext cx="189584" cy="18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5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605" dirty="0"/>
          </a:p>
        </p:txBody>
      </p:sp>
      <p:sp>
        <p:nvSpPr>
          <p:cNvPr id="24" name="Text 18"/>
          <p:cNvSpPr/>
          <p:nvPr/>
        </p:nvSpPr>
        <p:spPr>
          <a:xfrm>
            <a:off x="3419800" y="641343"/>
            <a:ext cx="568751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電熱</a:t>
            </a:r>
            <a:endParaRPr lang="en-US" sz="840" dirty="0"/>
          </a:p>
        </p:txBody>
      </p:sp>
      <p:pic>
        <p:nvPicPr>
          <p:cNvPr id="25" name="Image 4" descr="/mnt/data/ppt_assets/s3_sim_therm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1865" y="896423"/>
            <a:ext cx="565870" cy="692359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204167" y="1792846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55209" y="1829286"/>
            <a:ext cx="189584" cy="189488"/>
          </a:xfrm>
          <a:prstGeom prst="ellipse">
            <a:avLst/>
          </a:prstGeom>
          <a:solidFill>
            <a:srgbClr val="045ACB"/>
          </a:solidFill>
          <a:ln w="6350">
            <a:solidFill>
              <a:srgbClr val="045AC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255209" y="1833659"/>
            <a:ext cx="189584" cy="18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5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605" dirty="0"/>
          </a:p>
        </p:txBody>
      </p:sp>
      <p:sp>
        <p:nvSpPr>
          <p:cNvPr id="29" name="Text 22"/>
          <p:cNvSpPr/>
          <p:nvPr/>
        </p:nvSpPr>
        <p:spPr>
          <a:xfrm>
            <a:off x="466668" y="1807422"/>
            <a:ext cx="568751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回路</a:t>
            </a:r>
            <a:endParaRPr lang="en-US" sz="840" dirty="0"/>
          </a:p>
        </p:txBody>
      </p:sp>
      <p:pic>
        <p:nvPicPr>
          <p:cNvPr id="30" name="Image 5" descr="/mnt/data/ppt_assets/s3_sim_circui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4" y="2062502"/>
            <a:ext cx="568968" cy="692359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1188544" y="1792846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1239586" y="1829286"/>
            <a:ext cx="189584" cy="189488"/>
          </a:xfrm>
          <a:prstGeom prst="ellipse">
            <a:avLst/>
          </a:prstGeom>
          <a:solidFill>
            <a:srgbClr val="045ACB"/>
          </a:solidFill>
          <a:ln w="6350">
            <a:solidFill>
              <a:srgbClr val="045ACB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1239586" y="1833659"/>
            <a:ext cx="189584" cy="18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5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605" dirty="0"/>
          </a:p>
        </p:txBody>
      </p:sp>
      <p:sp>
        <p:nvSpPr>
          <p:cNvPr id="34" name="Text 26"/>
          <p:cNvSpPr/>
          <p:nvPr/>
        </p:nvSpPr>
        <p:spPr>
          <a:xfrm>
            <a:off x="1451045" y="1807422"/>
            <a:ext cx="568751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ウェハ形状</a:t>
            </a:r>
            <a:endParaRPr lang="en-US" sz="840" dirty="0"/>
          </a:p>
        </p:txBody>
      </p:sp>
      <p:pic>
        <p:nvPicPr>
          <p:cNvPr id="35" name="Image 6" descr="/mnt/data/ppt_assets/s3_sim_wafe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8134" y="2062502"/>
            <a:ext cx="575823" cy="692359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2172922" y="1792846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2223964" y="1829286"/>
            <a:ext cx="189584" cy="189488"/>
          </a:xfrm>
          <a:prstGeom prst="ellipse">
            <a:avLst/>
          </a:prstGeom>
          <a:solidFill>
            <a:srgbClr val="045ACB"/>
          </a:solidFill>
          <a:ln w="6350">
            <a:solidFill>
              <a:srgbClr val="045ACB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2223964" y="1833659"/>
            <a:ext cx="189584" cy="18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5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605" dirty="0"/>
          </a:p>
        </p:txBody>
      </p:sp>
      <p:sp>
        <p:nvSpPr>
          <p:cNvPr id="39" name="Text 30"/>
          <p:cNvSpPr/>
          <p:nvPr/>
        </p:nvSpPr>
        <p:spPr>
          <a:xfrm>
            <a:off x="2435422" y="1807422"/>
            <a:ext cx="568751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パーティクル</a:t>
            </a:r>
            <a:endParaRPr lang="en-US" sz="840" dirty="0"/>
          </a:p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軌道</a:t>
            </a:r>
            <a:endParaRPr lang="en-US" sz="840" dirty="0"/>
          </a:p>
        </p:txBody>
      </p:sp>
      <p:pic>
        <p:nvPicPr>
          <p:cNvPr id="40" name="Image 7" descr="/mnt/data/ppt_assets/s3_sim_parti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9366" y="2062502"/>
            <a:ext cx="562113" cy="692359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3157299" y="1792846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3208341" y="1829286"/>
            <a:ext cx="189584" cy="189488"/>
          </a:xfrm>
          <a:prstGeom prst="ellipse">
            <a:avLst/>
          </a:prstGeom>
          <a:solidFill>
            <a:srgbClr val="045ACB"/>
          </a:solidFill>
          <a:ln w="6350">
            <a:solidFill>
              <a:srgbClr val="045ACB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3208341" y="1833659"/>
            <a:ext cx="189584" cy="1807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5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605" dirty="0"/>
          </a:p>
        </p:txBody>
      </p:sp>
      <p:sp>
        <p:nvSpPr>
          <p:cNvPr id="44" name="Text 34"/>
          <p:cNvSpPr/>
          <p:nvPr/>
        </p:nvSpPr>
        <p:spPr>
          <a:xfrm>
            <a:off x="3419800" y="1807422"/>
            <a:ext cx="568751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反応</a:t>
            </a:r>
            <a:endParaRPr lang="en-US" sz="840" dirty="0"/>
          </a:p>
        </p:txBody>
      </p:sp>
      <p:pic>
        <p:nvPicPr>
          <p:cNvPr id="45" name="Image 8" descr="/mnt/data/ppt_assets/s3_sim_reaction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3461" y="2062502"/>
            <a:ext cx="582679" cy="692359"/>
          </a:xfrm>
          <a:prstGeom prst="rect">
            <a:avLst/>
          </a:prstGeom>
        </p:spPr>
      </p:pic>
      <p:sp>
        <p:nvSpPr>
          <p:cNvPr id="46" name="Shape 35"/>
          <p:cNvSpPr/>
          <p:nvPr/>
        </p:nvSpPr>
        <p:spPr>
          <a:xfrm>
            <a:off x="72917" y="3279596"/>
            <a:ext cx="4119801" cy="2222837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 w="8890">
            <a:solidFill>
              <a:srgbClr val="C8D6E8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87500" y="3243156"/>
            <a:ext cx="2588548" cy="364400"/>
          </a:xfrm>
          <a:prstGeom prst="roundRect">
            <a:avLst>
              <a:gd name="adj" fmla="val 24012"/>
            </a:avLst>
          </a:prstGeom>
          <a:solidFill>
            <a:srgbClr val="045ACB"/>
          </a:solidFill>
          <a:ln w="1270">
            <a:solidFill>
              <a:srgbClr val="045ACB"/>
            </a:solidFill>
            <a:prstDash val="solid"/>
          </a:ln>
        </p:spPr>
      </p:sp>
      <p:pic>
        <p:nvPicPr>
          <p:cNvPr id="48" name="Image 9" descr="/mnt/data/ppt_assets/circle_wav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908" y="3279596"/>
            <a:ext cx="291520" cy="291520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510418" y="3243156"/>
            <a:ext cx="2114588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センサー・実験データ</a:t>
            </a:r>
            <a:endParaRPr lang="en-US" sz="1800" dirty="0"/>
          </a:p>
        </p:txBody>
      </p:sp>
      <p:sp>
        <p:nvSpPr>
          <p:cNvPr id="50" name="Shape 38"/>
          <p:cNvSpPr/>
          <p:nvPr/>
        </p:nvSpPr>
        <p:spPr>
          <a:xfrm>
            <a:off x="204167" y="3585692"/>
            <a:ext cx="875002" cy="874559"/>
          </a:xfrm>
          <a:prstGeom prst="roundRect">
            <a:avLst>
              <a:gd name="adj" fmla="val 5003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218751" y="3614844"/>
            <a:ext cx="845835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圧力</a:t>
            </a:r>
            <a:endParaRPr lang="en-US" sz="820" dirty="0"/>
          </a:p>
        </p:txBody>
      </p:sp>
      <p:pic>
        <p:nvPicPr>
          <p:cNvPr id="52" name="Image 10" descr="/mnt/data/ppt_assets/s3_sensor_pressur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8092" y="3840772"/>
            <a:ext cx="467153" cy="568463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1188544" y="3585692"/>
            <a:ext cx="875002" cy="874559"/>
          </a:xfrm>
          <a:prstGeom prst="roundRect">
            <a:avLst>
              <a:gd name="adj" fmla="val 5003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54" name="Text 41"/>
          <p:cNvSpPr/>
          <p:nvPr/>
        </p:nvSpPr>
        <p:spPr>
          <a:xfrm>
            <a:off x="1203128" y="3614844"/>
            <a:ext cx="845835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温度</a:t>
            </a:r>
            <a:endParaRPr lang="en-US" sz="820" dirty="0"/>
          </a:p>
        </p:txBody>
      </p:sp>
      <p:pic>
        <p:nvPicPr>
          <p:cNvPr id="55" name="Image 11" descr="/mnt/data/ppt_assets/s3_sensor_temperatur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9655" y="3840772"/>
            <a:ext cx="472781" cy="568463"/>
          </a:xfrm>
          <a:prstGeom prst="rect">
            <a:avLst/>
          </a:prstGeom>
        </p:spPr>
      </p:pic>
      <p:sp>
        <p:nvSpPr>
          <p:cNvPr id="56" name="Shape 42"/>
          <p:cNvSpPr/>
          <p:nvPr/>
        </p:nvSpPr>
        <p:spPr>
          <a:xfrm>
            <a:off x="2172922" y="3585692"/>
            <a:ext cx="875002" cy="874559"/>
          </a:xfrm>
          <a:prstGeom prst="roundRect">
            <a:avLst>
              <a:gd name="adj" fmla="val 5003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57" name="Text 43"/>
          <p:cNvSpPr/>
          <p:nvPr/>
        </p:nvSpPr>
        <p:spPr>
          <a:xfrm>
            <a:off x="2187505" y="3614844"/>
            <a:ext cx="845835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流量</a:t>
            </a:r>
            <a:endParaRPr lang="en-US" sz="820" dirty="0"/>
          </a:p>
        </p:txBody>
      </p:sp>
      <p:pic>
        <p:nvPicPr>
          <p:cNvPr id="58" name="Image 12" descr="/mnt/data/ppt_assets/s3_sensor_fl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79660" y="3840772"/>
            <a:ext cx="461525" cy="568463"/>
          </a:xfrm>
          <a:prstGeom prst="rect">
            <a:avLst/>
          </a:prstGeom>
        </p:spPr>
      </p:pic>
      <p:sp>
        <p:nvSpPr>
          <p:cNvPr id="59" name="Shape 44"/>
          <p:cNvSpPr/>
          <p:nvPr/>
        </p:nvSpPr>
        <p:spPr>
          <a:xfrm>
            <a:off x="3157299" y="3585692"/>
            <a:ext cx="875002" cy="874559"/>
          </a:xfrm>
          <a:prstGeom prst="roundRect">
            <a:avLst>
              <a:gd name="adj" fmla="val 5003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60" name="Text 45"/>
          <p:cNvSpPr/>
          <p:nvPr/>
        </p:nvSpPr>
        <p:spPr>
          <a:xfrm>
            <a:off x="3171882" y="3614844"/>
            <a:ext cx="845835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RF電力</a:t>
            </a:r>
            <a:endParaRPr lang="en-US" sz="820" dirty="0"/>
          </a:p>
        </p:txBody>
      </p:sp>
      <p:pic>
        <p:nvPicPr>
          <p:cNvPr id="61" name="Image 13" descr="/mnt/data/ppt_assets/s3_sensor_rf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55595" y="3840772"/>
            <a:ext cx="478410" cy="568463"/>
          </a:xfrm>
          <a:prstGeom prst="rect">
            <a:avLst/>
          </a:prstGeom>
        </p:spPr>
      </p:pic>
      <p:sp>
        <p:nvSpPr>
          <p:cNvPr id="62" name="Shape 46"/>
          <p:cNvSpPr/>
          <p:nvPr/>
        </p:nvSpPr>
        <p:spPr>
          <a:xfrm>
            <a:off x="204167" y="4554995"/>
            <a:ext cx="875002" cy="874559"/>
          </a:xfrm>
          <a:prstGeom prst="roundRect">
            <a:avLst>
              <a:gd name="adj" fmla="val 5003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63" name="Text 47"/>
          <p:cNvSpPr/>
          <p:nvPr/>
        </p:nvSpPr>
        <p:spPr>
          <a:xfrm>
            <a:off x="218751" y="4584147"/>
            <a:ext cx="845835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OES</a:t>
            </a:r>
            <a:endParaRPr lang="en-US" sz="820" dirty="0"/>
          </a:p>
        </p:txBody>
      </p:sp>
      <p:pic>
        <p:nvPicPr>
          <p:cNvPr id="64" name="Image 14" descr="/mnt/data/ppt_assets/s3_sensor_oes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5417" y="4865540"/>
            <a:ext cx="612501" cy="457531"/>
          </a:xfrm>
          <a:prstGeom prst="rect">
            <a:avLst/>
          </a:prstGeom>
        </p:spPr>
      </p:pic>
      <p:sp>
        <p:nvSpPr>
          <p:cNvPr id="65" name="Shape 48"/>
          <p:cNvSpPr/>
          <p:nvPr/>
        </p:nvSpPr>
        <p:spPr>
          <a:xfrm>
            <a:off x="1188544" y="4554995"/>
            <a:ext cx="875002" cy="874559"/>
          </a:xfrm>
          <a:prstGeom prst="roundRect">
            <a:avLst>
              <a:gd name="adj" fmla="val 5003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66" name="Text 49"/>
          <p:cNvSpPr/>
          <p:nvPr/>
        </p:nvSpPr>
        <p:spPr>
          <a:xfrm>
            <a:off x="1203128" y="4584147"/>
            <a:ext cx="845835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電圧・電流</a:t>
            </a:r>
            <a:endParaRPr lang="en-US" sz="820" dirty="0"/>
          </a:p>
        </p:txBody>
      </p:sp>
      <p:pic>
        <p:nvPicPr>
          <p:cNvPr id="67" name="Image 15" descr="/mnt/data/ppt_assets/s3_sensor_voltag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19795" y="4868264"/>
            <a:ext cx="612501" cy="452084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2172922" y="4554995"/>
            <a:ext cx="875002" cy="874559"/>
          </a:xfrm>
          <a:prstGeom prst="roundRect">
            <a:avLst>
              <a:gd name="adj" fmla="val 5003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69" name="Text 51"/>
          <p:cNvSpPr/>
          <p:nvPr/>
        </p:nvSpPr>
        <p:spPr>
          <a:xfrm>
            <a:off x="2187505" y="4584147"/>
            <a:ext cx="845835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画像検査</a:t>
            </a:r>
            <a:endParaRPr lang="en-US" sz="820" dirty="0"/>
          </a:p>
        </p:txBody>
      </p:sp>
      <p:pic>
        <p:nvPicPr>
          <p:cNvPr id="70" name="Image 16" descr="/mnt/data/ppt_assets/s3_sensor_inspection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304172" y="4862751"/>
            <a:ext cx="612501" cy="463111"/>
          </a:xfrm>
          <a:prstGeom prst="rect">
            <a:avLst/>
          </a:prstGeom>
        </p:spPr>
      </p:pic>
      <p:sp>
        <p:nvSpPr>
          <p:cNvPr id="71" name="Shape 52"/>
          <p:cNvSpPr/>
          <p:nvPr/>
        </p:nvSpPr>
        <p:spPr>
          <a:xfrm>
            <a:off x="3157299" y="4554995"/>
            <a:ext cx="875002" cy="874559"/>
          </a:xfrm>
          <a:prstGeom prst="roundRect">
            <a:avLst>
              <a:gd name="adj" fmla="val 5003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72" name="Text 53"/>
          <p:cNvSpPr/>
          <p:nvPr/>
        </p:nvSpPr>
        <p:spPr>
          <a:xfrm>
            <a:off x="3171882" y="4584147"/>
            <a:ext cx="845835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装置ログ / レシピ</a:t>
            </a:r>
            <a:endParaRPr lang="en-US" sz="820" dirty="0"/>
          </a:p>
        </p:txBody>
      </p:sp>
      <p:pic>
        <p:nvPicPr>
          <p:cNvPr id="73" name="Image 17" descr="/mnt/data/ppt_assets/s3_sensor_recipe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88549" y="4870923"/>
            <a:ext cx="612501" cy="446766"/>
          </a:xfrm>
          <a:prstGeom prst="rect">
            <a:avLst/>
          </a:prstGeom>
        </p:spPr>
      </p:pic>
      <p:pic>
        <p:nvPicPr>
          <p:cNvPr id="74" name="Image 18" descr="/mnt/data/ppt_assets/ring_larg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75010" y="451855"/>
            <a:ext cx="3427091" cy="3425356"/>
          </a:xfrm>
          <a:prstGeom prst="rect">
            <a:avLst/>
          </a:prstGeom>
        </p:spPr>
      </p:pic>
      <p:sp>
        <p:nvSpPr>
          <p:cNvPr id="75" name="Shape 54"/>
          <p:cNvSpPr/>
          <p:nvPr/>
        </p:nvSpPr>
        <p:spPr>
          <a:xfrm>
            <a:off x="4921887" y="859983"/>
            <a:ext cx="2333339" cy="2368597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2EAF5"/>
            </a:solidFill>
            <a:prstDash val="solid"/>
          </a:ln>
        </p:spPr>
      </p:sp>
      <p:pic>
        <p:nvPicPr>
          <p:cNvPr id="76" name="Image 19" descr="/mnt/data/ppt_assets/platform_logo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97036" y="626767"/>
            <a:ext cx="583039" cy="583039"/>
          </a:xfrm>
          <a:prstGeom prst="rect">
            <a:avLst/>
          </a:prstGeom>
        </p:spPr>
      </p:pic>
      <p:sp>
        <p:nvSpPr>
          <p:cNvPr id="77" name="Text 55"/>
          <p:cNvSpPr/>
          <p:nvPr/>
        </p:nvSpPr>
        <p:spPr>
          <a:xfrm>
            <a:off x="4579177" y="1224383"/>
            <a:ext cx="3062507" cy="6996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8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エンジニアリング</a:t>
            </a:r>
            <a:endParaRPr lang="en-US" sz="2180" dirty="0"/>
          </a:p>
          <a:p>
            <a:pPr algn="ctr" indent="0" marL="0">
              <a:buNone/>
            </a:pPr>
            <a:r>
              <a:rPr lang="en-US" sz="218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プラットフォーム</a:t>
            </a:r>
            <a:endParaRPr lang="en-US" sz="2180" dirty="0"/>
          </a:p>
        </p:txBody>
      </p:sp>
      <p:sp>
        <p:nvSpPr>
          <p:cNvPr id="78" name="Text 56"/>
          <p:cNvSpPr/>
          <p:nvPr/>
        </p:nvSpPr>
        <p:spPr>
          <a:xfrm>
            <a:off x="4666678" y="2033350"/>
            <a:ext cx="2843757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Simulation • Sensor • ML • Workflow</a:t>
            </a:r>
            <a:endParaRPr lang="en-US" sz="1120" dirty="0"/>
          </a:p>
        </p:txBody>
      </p:sp>
      <p:sp>
        <p:nvSpPr>
          <p:cNvPr id="79" name="Shape 57"/>
          <p:cNvSpPr/>
          <p:nvPr/>
        </p:nvSpPr>
        <p:spPr>
          <a:xfrm>
            <a:off x="4776053" y="2317581"/>
            <a:ext cx="2843757" cy="1238959"/>
          </a:xfrm>
          <a:prstGeom prst="roundRect">
            <a:avLst>
              <a:gd name="adj" fmla="val 5885"/>
            </a:avLst>
          </a:prstGeom>
          <a:solidFill>
            <a:srgbClr val="FFFFFF"/>
          </a:solidFill>
          <a:ln w="8890">
            <a:solidFill>
              <a:srgbClr val="D8E2EF"/>
            </a:solidFill>
            <a:prstDash val="solid"/>
          </a:ln>
        </p:spPr>
      </p:sp>
      <p:pic>
        <p:nvPicPr>
          <p:cNvPr id="80" name="Image 20" descr="/mnt/data/ppt_assets/icon_bar_chart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11581" y="2477917"/>
            <a:ext cx="437279" cy="437279"/>
          </a:xfrm>
          <a:prstGeom prst="rect">
            <a:avLst/>
          </a:prstGeom>
        </p:spPr>
      </p:pic>
      <p:sp>
        <p:nvSpPr>
          <p:cNvPr id="81" name="Text 58"/>
          <p:cNvSpPr/>
          <p:nvPr/>
        </p:nvSpPr>
        <p:spPr>
          <a:xfrm>
            <a:off x="4958345" y="2951637"/>
            <a:ext cx="838544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データをつなぎ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全体を可視化</a:t>
            </a:r>
            <a:endParaRPr lang="en-US" sz="810" dirty="0"/>
          </a:p>
        </p:txBody>
      </p:sp>
      <p:sp>
        <p:nvSpPr>
          <p:cNvPr id="82" name="Shape 59"/>
          <p:cNvSpPr/>
          <p:nvPr/>
        </p:nvSpPr>
        <p:spPr>
          <a:xfrm>
            <a:off x="5818764" y="2441477"/>
            <a:ext cx="0" cy="983879"/>
          </a:xfrm>
          <a:prstGeom prst="line">
            <a:avLst/>
          </a:prstGeom>
          <a:noFill/>
          <a:ln w="8890">
            <a:solidFill>
              <a:srgbClr val="DFE6F0"/>
            </a:solidFill>
            <a:prstDash val="solid"/>
            <a:headEnd type="none"/>
            <a:tailEnd type="none"/>
          </a:ln>
        </p:spPr>
      </p:sp>
      <p:pic>
        <p:nvPicPr>
          <p:cNvPr id="83" name="Image 21" descr="/mnt/data/ppt_assets/icon_target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23042" y="2477917"/>
            <a:ext cx="437279" cy="437279"/>
          </a:xfrm>
          <a:prstGeom prst="rect">
            <a:avLst/>
          </a:prstGeom>
        </p:spPr>
      </p:pic>
      <p:sp>
        <p:nvSpPr>
          <p:cNvPr id="84" name="Text 60"/>
          <p:cNvSpPr/>
          <p:nvPr/>
        </p:nvSpPr>
        <p:spPr>
          <a:xfrm>
            <a:off x="5869805" y="2951637"/>
            <a:ext cx="838544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素早く予測・最適化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意思決定を支援</a:t>
            </a:r>
            <a:endParaRPr lang="en-US" sz="810" dirty="0"/>
          </a:p>
        </p:txBody>
      </p:sp>
      <p:sp>
        <p:nvSpPr>
          <p:cNvPr id="85" name="Shape 61"/>
          <p:cNvSpPr/>
          <p:nvPr/>
        </p:nvSpPr>
        <p:spPr>
          <a:xfrm>
            <a:off x="6730224" y="2441477"/>
            <a:ext cx="0" cy="983879"/>
          </a:xfrm>
          <a:prstGeom prst="line">
            <a:avLst/>
          </a:prstGeom>
          <a:noFill/>
          <a:ln w="8890">
            <a:solidFill>
              <a:srgbClr val="DFE6F0"/>
            </a:solidFill>
            <a:prstDash val="solid"/>
            <a:headEnd type="none"/>
            <a:tailEnd type="none"/>
          </a:ln>
        </p:spPr>
      </p:sp>
      <p:pic>
        <p:nvPicPr>
          <p:cNvPr id="86" name="Image 22" descr="/mnt/data/ppt_assets/icon_peopl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34502" y="2477917"/>
            <a:ext cx="437279" cy="437279"/>
          </a:xfrm>
          <a:prstGeom prst="rect">
            <a:avLst/>
          </a:prstGeom>
        </p:spPr>
      </p:pic>
      <p:sp>
        <p:nvSpPr>
          <p:cNvPr id="87" name="Text 62"/>
          <p:cNvSpPr/>
          <p:nvPr/>
        </p:nvSpPr>
        <p:spPr>
          <a:xfrm>
            <a:off x="6781266" y="2951637"/>
            <a:ext cx="838544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知見を再利用し</a:t>
            </a:r>
            <a:endParaRPr lang="en-US" sz="810" dirty="0"/>
          </a:p>
          <a:p>
            <a:pPr algn="ctr" indent="0" marL="0">
              <a:buNone/>
            </a:pPr>
            <a:r>
              <a:rPr lang="en-US" sz="81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成果を最大化</a:t>
            </a:r>
            <a:endParaRPr lang="en-US" sz="810" dirty="0"/>
          </a:p>
        </p:txBody>
      </p:sp>
      <p:sp>
        <p:nvSpPr>
          <p:cNvPr id="88" name="Shape 63"/>
          <p:cNvSpPr/>
          <p:nvPr/>
        </p:nvSpPr>
        <p:spPr>
          <a:xfrm>
            <a:off x="4200010" y="1202519"/>
            <a:ext cx="357293" cy="0"/>
          </a:xfrm>
          <a:prstGeom prst="line">
            <a:avLst/>
          </a:prstGeom>
          <a:noFill/>
          <a:ln w="68580">
            <a:solidFill>
              <a:srgbClr val="045ACB"/>
            </a:solidFill>
            <a:prstDash val="solid"/>
            <a:headEnd type="none"/>
            <a:tailEnd type="triangle"/>
          </a:ln>
        </p:spPr>
      </p:sp>
      <p:sp>
        <p:nvSpPr>
          <p:cNvPr id="89" name="Shape 64"/>
          <p:cNvSpPr/>
          <p:nvPr/>
        </p:nvSpPr>
        <p:spPr>
          <a:xfrm>
            <a:off x="4200010" y="3899075"/>
            <a:ext cx="357293" cy="0"/>
          </a:xfrm>
          <a:prstGeom prst="line">
            <a:avLst/>
          </a:prstGeom>
          <a:noFill/>
          <a:ln w="68580">
            <a:solidFill>
              <a:srgbClr val="045ACB"/>
            </a:solidFill>
            <a:prstDash val="solid"/>
            <a:headEnd type="none"/>
            <a:tailEnd type="triangle"/>
          </a:ln>
        </p:spPr>
      </p:sp>
      <p:sp>
        <p:nvSpPr>
          <p:cNvPr id="90" name="Shape 65"/>
          <p:cNvSpPr/>
          <p:nvPr/>
        </p:nvSpPr>
        <p:spPr>
          <a:xfrm>
            <a:off x="7802102" y="1202519"/>
            <a:ext cx="350001" cy="0"/>
          </a:xfrm>
          <a:prstGeom prst="line">
            <a:avLst/>
          </a:prstGeom>
          <a:noFill/>
          <a:ln w="68580">
            <a:solidFill>
              <a:srgbClr val="6D2BC1"/>
            </a:solidFill>
            <a:prstDash val="solid"/>
            <a:headEnd type="none"/>
            <a:tailEnd type="triangle"/>
          </a:ln>
        </p:spPr>
      </p:sp>
      <p:sp>
        <p:nvSpPr>
          <p:cNvPr id="91" name="Shape 66"/>
          <p:cNvSpPr/>
          <p:nvPr/>
        </p:nvSpPr>
        <p:spPr>
          <a:xfrm>
            <a:off x="7802102" y="3899075"/>
            <a:ext cx="350001" cy="0"/>
          </a:xfrm>
          <a:prstGeom prst="line">
            <a:avLst/>
          </a:prstGeom>
          <a:noFill/>
          <a:ln w="68580">
            <a:solidFill>
              <a:srgbClr val="6D2BC1"/>
            </a:solidFill>
            <a:prstDash val="solid"/>
            <a:headEnd type="none"/>
            <a:tailEnd type="triangle"/>
          </a:ln>
        </p:spPr>
      </p:sp>
      <p:sp>
        <p:nvSpPr>
          <p:cNvPr id="92" name="Shape 67"/>
          <p:cNvSpPr/>
          <p:nvPr/>
        </p:nvSpPr>
        <p:spPr>
          <a:xfrm>
            <a:off x="5541680" y="3731452"/>
            <a:ext cx="1166669" cy="306096"/>
          </a:xfrm>
          <a:prstGeom prst="roundRect">
            <a:avLst>
              <a:gd name="adj" fmla="val 28586"/>
            </a:avLst>
          </a:prstGeom>
          <a:solidFill>
            <a:srgbClr val="045ACB"/>
          </a:solidFill>
          <a:ln w="1270">
            <a:solidFill>
              <a:srgbClr val="045ACB"/>
            </a:solidFill>
            <a:prstDash val="solid"/>
          </a:ln>
        </p:spPr>
      </p:sp>
      <p:sp>
        <p:nvSpPr>
          <p:cNvPr id="93" name="Text 68"/>
          <p:cNvSpPr/>
          <p:nvPr/>
        </p:nvSpPr>
        <p:spPr>
          <a:xfrm>
            <a:off x="5585430" y="3738740"/>
            <a:ext cx="1079169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共通機能</a:t>
            </a:r>
            <a:endParaRPr lang="en-US" sz="1200" dirty="0"/>
          </a:p>
        </p:txBody>
      </p:sp>
      <p:sp>
        <p:nvSpPr>
          <p:cNvPr id="94" name="Shape 69"/>
          <p:cNvSpPr/>
          <p:nvPr/>
        </p:nvSpPr>
        <p:spPr>
          <a:xfrm>
            <a:off x="4302093" y="3971955"/>
            <a:ext cx="3645842" cy="1494038"/>
          </a:xfrm>
          <a:prstGeom prst="roundRect">
            <a:avLst>
              <a:gd name="adj" fmla="val 4881"/>
            </a:avLst>
          </a:prstGeom>
          <a:solidFill>
            <a:srgbClr val="FFFFFF"/>
          </a:solidFill>
          <a:ln w="10160">
            <a:solidFill>
              <a:srgbClr val="C8D6E8"/>
            </a:solidFill>
            <a:prstDash val="solid"/>
          </a:ln>
        </p:spPr>
      </p:sp>
      <p:pic>
        <p:nvPicPr>
          <p:cNvPr id="95" name="Image 23" descr="/mnt/data/ppt_assets/icon_database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66770" y="4117715"/>
            <a:ext cx="364400" cy="364400"/>
          </a:xfrm>
          <a:prstGeom prst="rect">
            <a:avLst/>
          </a:prstGeom>
        </p:spPr>
      </p:pic>
      <p:sp>
        <p:nvSpPr>
          <p:cNvPr id="96" name="Text 70"/>
          <p:cNvSpPr/>
          <p:nvPr/>
        </p:nvSpPr>
        <p:spPr>
          <a:xfrm>
            <a:off x="4411469" y="4511267"/>
            <a:ext cx="875002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データ管理</a:t>
            </a:r>
            <a:endParaRPr lang="en-US" sz="680" dirty="0"/>
          </a:p>
        </p:txBody>
      </p:sp>
      <p:pic>
        <p:nvPicPr>
          <p:cNvPr id="97" name="Image 24" descr="/mnt/data/ppt_assets/icon_checklist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14689" y="4117715"/>
            <a:ext cx="364400" cy="364400"/>
          </a:xfrm>
          <a:prstGeom prst="rect">
            <a:avLst/>
          </a:prstGeom>
        </p:spPr>
      </p:pic>
      <p:sp>
        <p:nvSpPr>
          <p:cNvPr id="98" name="Text 71"/>
          <p:cNvSpPr/>
          <p:nvPr/>
        </p:nvSpPr>
        <p:spPr>
          <a:xfrm>
            <a:off x="5359388" y="4511267"/>
            <a:ext cx="875002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条件・結果管理</a:t>
            </a:r>
            <a:endParaRPr lang="en-US" sz="680" dirty="0"/>
          </a:p>
        </p:txBody>
      </p:sp>
      <p:pic>
        <p:nvPicPr>
          <p:cNvPr id="99" name="Image 25" descr="/mnt/data/ppt_assets/icon_play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62608" y="4117715"/>
            <a:ext cx="364400" cy="364400"/>
          </a:xfrm>
          <a:prstGeom prst="rect">
            <a:avLst/>
          </a:prstGeom>
        </p:spPr>
      </p:pic>
      <p:sp>
        <p:nvSpPr>
          <p:cNvPr id="100" name="Text 72"/>
          <p:cNvSpPr/>
          <p:nvPr/>
        </p:nvSpPr>
        <p:spPr>
          <a:xfrm>
            <a:off x="6307306" y="4511267"/>
            <a:ext cx="875002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実行管理</a:t>
            </a:r>
            <a:endParaRPr lang="en-US" sz="680" dirty="0"/>
          </a:p>
        </p:txBody>
      </p:sp>
      <p:pic>
        <p:nvPicPr>
          <p:cNvPr id="101" name="Image 26" descr="/mnt/data/ppt_assets/icon_dashboar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10527" y="4117715"/>
            <a:ext cx="364400" cy="364400"/>
          </a:xfrm>
          <a:prstGeom prst="rect">
            <a:avLst/>
          </a:prstGeom>
        </p:spPr>
      </p:pic>
      <p:sp>
        <p:nvSpPr>
          <p:cNvPr id="102" name="Text 73"/>
          <p:cNvSpPr/>
          <p:nvPr/>
        </p:nvSpPr>
        <p:spPr>
          <a:xfrm>
            <a:off x="7255225" y="4511267"/>
            <a:ext cx="875002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ダッシュボード</a:t>
            </a:r>
            <a:endParaRPr lang="en-US" sz="680" dirty="0"/>
          </a:p>
        </p:txBody>
      </p:sp>
      <p:pic>
        <p:nvPicPr>
          <p:cNvPr id="103" name="Image 27" descr="/mnt/data/ppt_assets/icon_template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666770" y="4846514"/>
            <a:ext cx="364400" cy="364400"/>
          </a:xfrm>
          <a:prstGeom prst="rect">
            <a:avLst/>
          </a:prstGeom>
        </p:spPr>
      </p:pic>
      <p:sp>
        <p:nvSpPr>
          <p:cNvPr id="104" name="Text 74"/>
          <p:cNvSpPr/>
          <p:nvPr/>
        </p:nvSpPr>
        <p:spPr>
          <a:xfrm>
            <a:off x="4411469" y="5240066"/>
            <a:ext cx="875002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テンプレート</a:t>
            </a:r>
            <a:endParaRPr lang="en-US" sz="680" dirty="0"/>
          </a:p>
        </p:txBody>
      </p:sp>
      <p:pic>
        <p:nvPicPr>
          <p:cNvPr id="105" name="Image 28" descr="/mnt/data/ppt_assets/icon_workflow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614689" y="4846514"/>
            <a:ext cx="364400" cy="364400"/>
          </a:xfrm>
          <a:prstGeom prst="rect">
            <a:avLst/>
          </a:prstGeom>
        </p:spPr>
      </p:pic>
      <p:sp>
        <p:nvSpPr>
          <p:cNvPr id="106" name="Text 75"/>
          <p:cNvSpPr/>
          <p:nvPr/>
        </p:nvSpPr>
        <p:spPr>
          <a:xfrm>
            <a:off x="5359388" y="5240066"/>
            <a:ext cx="875002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ワークフロー</a:t>
            </a:r>
            <a:endParaRPr lang="en-US" sz="680" dirty="0"/>
          </a:p>
        </p:txBody>
      </p:sp>
      <p:pic>
        <p:nvPicPr>
          <p:cNvPr id="107" name="Image 29" descr="/mnt/data/ppt_assets/icon_lock_user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562608" y="4846514"/>
            <a:ext cx="364400" cy="364400"/>
          </a:xfrm>
          <a:prstGeom prst="rect">
            <a:avLst/>
          </a:prstGeom>
        </p:spPr>
      </p:pic>
      <p:sp>
        <p:nvSpPr>
          <p:cNvPr id="108" name="Text 76"/>
          <p:cNvSpPr/>
          <p:nvPr/>
        </p:nvSpPr>
        <p:spPr>
          <a:xfrm>
            <a:off x="6307306" y="5240066"/>
            <a:ext cx="875002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アクセス管理</a:t>
            </a:r>
            <a:endParaRPr lang="en-US" sz="680" dirty="0"/>
          </a:p>
        </p:txBody>
      </p:sp>
      <p:sp>
        <p:nvSpPr>
          <p:cNvPr id="109" name="Shape 77"/>
          <p:cNvSpPr/>
          <p:nvPr/>
        </p:nvSpPr>
        <p:spPr>
          <a:xfrm>
            <a:off x="5359388" y="4081275"/>
            <a:ext cx="0" cy="1275399"/>
          </a:xfrm>
          <a:prstGeom prst="line">
            <a:avLst/>
          </a:prstGeom>
          <a:noFill/>
          <a:ln w="7620">
            <a:solidFill>
              <a:srgbClr val="E0E7F1"/>
            </a:solidFill>
            <a:prstDash val="solid"/>
            <a:headEnd type="none"/>
            <a:tailEnd type="none"/>
          </a:ln>
        </p:spPr>
      </p:sp>
      <p:sp>
        <p:nvSpPr>
          <p:cNvPr id="110" name="Shape 78"/>
          <p:cNvSpPr/>
          <p:nvPr/>
        </p:nvSpPr>
        <p:spPr>
          <a:xfrm>
            <a:off x="6307306" y="4081275"/>
            <a:ext cx="0" cy="1275399"/>
          </a:xfrm>
          <a:prstGeom prst="line">
            <a:avLst/>
          </a:prstGeom>
          <a:noFill/>
          <a:ln w="7620">
            <a:solidFill>
              <a:srgbClr val="E0E7F1"/>
            </a:solidFill>
            <a:prstDash val="solid"/>
            <a:headEnd type="none"/>
            <a:tailEnd type="none"/>
          </a:ln>
        </p:spPr>
      </p:sp>
      <p:sp>
        <p:nvSpPr>
          <p:cNvPr id="111" name="Shape 79"/>
          <p:cNvSpPr/>
          <p:nvPr/>
        </p:nvSpPr>
        <p:spPr>
          <a:xfrm>
            <a:off x="7255225" y="4081275"/>
            <a:ext cx="0" cy="1275399"/>
          </a:xfrm>
          <a:prstGeom prst="line">
            <a:avLst/>
          </a:prstGeom>
          <a:noFill/>
          <a:ln w="7620">
            <a:solidFill>
              <a:srgbClr val="E0E7F1"/>
            </a:solidFill>
            <a:prstDash val="solid"/>
            <a:headEnd type="none"/>
            <a:tailEnd type="none"/>
          </a:ln>
        </p:spPr>
      </p:sp>
      <p:sp>
        <p:nvSpPr>
          <p:cNvPr id="112" name="Shape 80"/>
          <p:cNvSpPr/>
          <p:nvPr/>
        </p:nvSpPr>
        <p:spPr>
          <a:xfrm>
            <a:off x="4447927" y="4737194"/>
            <a:ext cx="3354175" cy="0"/>
          </a:xfrm>
          <a:prstGeom prst="line">
            <a:avLst/>
          </a:prstGeom>
          <a:noFill/>
          <a:ln w="7620">
            <a:solidFill>
              <a:srgbClr val="E0E7F1"/>
            </a:solidFill>
            <a:prstDash val="solid"/>
            <a:headEnd type="none"/>
            <a:tailEnd type="none"/>
          </a:ln>
        </p:spPr>
      </p:sp>
      <p:sp>
        <p:nvSpPr>
          <p:cNvPr id="113" name="Shape 81"/>
          <p:cNvSpPr/>
          <p:nvPr/>
        </p:nvSpPr>
        <p:spPr>
          <a:xfrm>
            <a:off x="8093769" y="145760"/>
            <a:ext cx="3937509" cy="2842317"/>
          </a:xfrm>
          <a:prstGeom prst="roundRect">
            <a:avLst>
              <a:gd name="adj" fmla="val 2565"/>
            </a:avLst>
          </a:prstGeom>
          <a:solidFill>
            <a:srgbClr val="FFFFFF"/>
          </a:solidFill>
          <a:ln w="8890">
            <a:solidFill>
              <a:srgbClr val="C8D6E8"/>
            </a:solidFill>
            <a:prstDash val="solid"/>
          </a:ln>
        </p:spPr>
      </p:sp>
      <p:sp>
        <p:nvSpPr>
          <p:cNvPr id="114" name="Shape 82"/>
          <p:cNvSpPr/>
          <p:nvPr/>
        </p:nvSpPr>
        <p:spPr>
          <a:xfrm>
            <a:off x="8166686" y="145760"/>
            <a:ext cx="2406256" cy="364400"/>
          </a:xfrm>
          <a:prstGeom prst="roundRect">
            <a:avLst>
              <a:gd name="adj" fmla="val 24012"/>
            </a:avLst>
          </a:prstGeom>
          <a:solidFill>
            <a:srgbClr val="6D2BC1"/>
          </a:solidFill>
          <a:ln w="1270">
            <a:solidFill>
              <a:srgbClr val="6D2BC1"/>
            </a:solidFill>
            <a:prstDash val="solid"/>
          </a:ln>
        </p:spPr>
      </p:sp>
      <p:pic>
        <p:nvPicPr>
          <p:cNvPr id="115" name="Image 30" descr="/mnt/data/ppt_assets/circle_brain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225093" y="182200"/>
            <a:ext cx="291520" cy="291520"/>
          </a:xfrm>
          <a:prstGeom prst="rect">
            <a:avLst/>
          </a:prstGeom>
        </p:spPr>
      </p:pic>
      <p:sp>
        <p:nvSpPr>
          <p:cNvPr id="116" name="Text 83"/>
          <p:cNvSpPr/>
          <p:nvPr/>
        </p:nvSpPr>
        <p:spPr>
          <a:xfrm>
            <a:off x="8589603" y="145760"/>
            <a:ext cx="1932296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分析・機械学習</a:t>
            </a:r>
            <a:endParaRPr lang="en-US" sz="1800" dirty="0"/>
          </a:p>
        </p:txBody>
      </p:sp>
      <p:sp>
        <p:nvSpPr>
          <p:cNvPr id="117" name="Shape 84"/>
          <p:cNvSpPr/>
          <p:nvPr/>
        </p:nvSpPr>
        <p:spPr>
          <a:xfrm>
            <a:off x="8225019" y="626767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18" name="Text 85"/>
          <p:cNvSpPr/>
          <p:nvPr/>
        </p:nvSpPr>
        <p:spPr>
          <a:xfrm>
            <a:off x="8254186" y="663207"/>
            <a:ext cx="816669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可視化・比較</a:t>
            </a:r>
            <a:endParaRPr lang="en-US" sz="880" dirty="0"/>
          </a:p>
        </p:txBody>
      </p:sp>
      <p:pic>
        <p:nvPicPr>
          <p:cNvPr id="119" name="Image 31" descr="/mnt/data/ppt_assets/s3_ml_visualize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97936" y="923591"/>
            <a:ext cx="729168" cy="638022"/>
          </a:xfrm>
          <a:prstGeom prst="rect">
            <a:avLst/>
          </a:prstGeom>
        </p:spPr>
      </p:pic>
      <p:sp>
        <p:nvSpPr>
          <p:cNvPr id="120" name="Shape 86"/>
          <p:cNvSpPr/>
          <p:nvPr/>
        </p:nvSpPr>
        <p:spPr>
          <a:xfrm>
            <a:off x="9216688" y="626767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21" name="Text 87"/>
          <p:cNvSpPr/>
          <p:nvPr/>
        </p:nvSpPr>
        <p:spPr>
          <a:xfrm>
            <a:off x="9245855" y="663207"/>
            <a:ext cx="816669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</a:t>
            </a:r>
            <a:endParaRPr lang="en-US" sz="880" dirty="0"/>
          </a:p>
        </p:txBody>
      </p:sp>
      <p:pic>
        <p:nvPicPr>
          <p:cNvPr id="122" name="Image 32" descr="/mnt/data/ppt_assets/s3_ml_predict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289605" y="909721"/>
            <a:ext cx="729168" cy="665762"/>
          </a:xfrm>
          <a:prstGeom prst="rect">
            <a:avLst/>
          </a:prstGeom>
        </p:spPr>
      </p:pic>
      <p:sp>
        <p:nvSpPr>
          <p:cNvPr id="123" name="Shape 88"/>
          <p:cNvSpPr/>
          <p:nvPr/>
        </p:nvSpPr>
        <p:spPr>
          <a:xfrm>
            <a:off x="10208357" y="626767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24" name="Text 89"/>
          <p:cNvSpPr/>
          <p:nvPr/>
        </p:nvSpPr>
        <p:spPr>
          <a:xfrm>
            <a:off x="10237524" y="663207"/>
            <a:ext cx="816669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異常検知</a:t>
            </a:r>
            <a:endParaRPr lang="en-US" sz="880" dirty="0"/>
          </a:p>
        </p:txBody>
      </p:sp>
      <p:pic>
        <p:nvPicPr>
          <p:cNvPr id="125" name="Image 33" descr="/mnt/data/ppt_assets/s3_ml_anomaly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281274" y="978593"/>
            <a:ext cx="729168" cy="528018"/>
          </a:xfrm>
          <a:prstGeom prst="rect">
            <a:avLst/>
          </a:prstGeom>
        </p:spPr>
      </p:pic>
      <p:sp>
        <p:nvSpPr>
          <p:cNvPr id="126" name="Shape 90"/>
          <p:cNvSpPr/>
          <p:nvPr/>
        </p:nvSpPr>
        <p:spPr>
          <a:xfrm>
            <a:off x="8225019" y="1800134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27" name="Text 91"/>
          <p:cNvSpPr/>
          <p:nvPr/>
        </p:nvSpPr>
        <p:spPr>
          <a:xfrm>
            <a:off x="8254186" y="1836574"/>
            <a:ext cx="816669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最適化</a:t>
            </a:r>
            <a:endParaRPr lang="en-US" sz="880" dirty="0"/>
          </a:p>
        </p:txBody>
      </p:sp>
      <p:pic>
        <p:nvPicPr>
          <p:cNvPr id="128" name="Image 34" descr="/mnt/data/ppt_assets/s3_ml_optimize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297936" y="2127340"/>
            <a:ext cx="729168" cy="577258"/>
          </a:xfrm>
          <a:prstGeom prst="rect">
            <a:avLst/>
          </a:prstGeom>
        </p:spPr>
      </p:pic>
      <p:sp>
        <p:nvSpPr>
          <p:cNvPr id="129" name="Shape 92"/>
          <p:cNvSpPr/>
          <p:nvPr/>
        </p:nvSpPr>
        <p:spPr>
          <a:xfrm>
            <a:off x="9216688" y="1800134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30" name="Text 93"/>
          <p:cNvSpPr/>
          <p:nvPr/>
        </p:nvSpPr>
        <p:spPr>
          <a:xfrm>
            <a:off x="9245855" y="1836574"/>
            <a:ext cx="816669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サロゲート</a:t>
            </a:r>
            <a:endParaRPr lang="en-US" sz="880" dirty="0"/>
          </a:p>
        </p:txBody>
      </p:sp>
      <p:pic>
        <p:nvPicPr>
          <p:cNvPr id="131" name="Image 35" descr="/mnt/data/ppt_assets/s3_ml_surrogate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289605" y="2114791"/>
            <a:ext cx="729168" cy="602356"/>
          </a:xfrm>
          <a:prstGeom prst="rect">
            <a:avLst/>
          </a:prstGeom>
        </p:spPr>
      </p:pic>
      <p:sp>
        <p:nvSpPr>
          <p:cNvPr id="132" name="Shape 94"/>
          <p:cNvSpPr/>
          <p:nvPr/>
        </p:nvSpPr>
        <p:spPr>
          <a:xfrm>
            <a:off x="10208357" y="1800134"/>
            <a:ext cx="875002" cy="105675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33" name="Text 95"/>
          <p:cNvSpPr/>
          <p:nvPr/>
        </p:nvSpPr>
        <p:spPr>
          <a:xfrm>
            <a:off x="10237524" y="1836574"/>
            <a:ext cx="816669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GNN</a:t>
            </a:r>
            <a:endParaRPr lang="en-US" sz="880" dirty="0"/>
          </a:p>
        </p:txBody>
      </p:sp>
      <p:pic>
        <p:nvPicPr>
          <p:cNvPr id="134" name="Image 36" descr="/mnt/data/ppt_assets/s3_ml_gnn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281274" y="2177104"/>
            <a:ext cx="729168" cy="477731"/>
          </a:xfrm>
          <a:prstGeom prst="rect">
            <a:avLst/>
          </a:prstGeom>
        </p:spPr>
      </p:pic>
      <p:sp>
        <p:nvSpPr>
          <p:cNvPr id="135" name="Shape 96"/>
          <p:cNvSpPr/>
          <p:nvPr/>
        </p:nvSpPr>
        <p:spPr>
          <a:xfrm>
            <a:off x="8093769" y="3279596"/>
            <a:ext cx="3937509" cy="2222837"/>
          </a:xfrm>
          <a:prstGeom prst="roundRect">
            <a:avLst>
              <a:gd name="adj" fmla="val 3280"/>
            </a:avLst>
          </a:prstGeom>
          <a:solidFill>
            <a:srgbClr val="FFFFFF"/>
          </a:solidFill>
          <a:ln w="8890">
            <a:solidFill>
              <a:srgbClr val="C8D6E8"/>
            </a:solidFill>
            <a:prstDash val="solid"/>
          </a:ln>
        </p:spPr>
      </p:sp>
      <p:sp>
        <p:nvSpPr>
          <p:cNvPr id="136" name="Shape 97"/>
          <p:cNvSpPr/>
          <p:nvPr/>
        </p:nvSpPr>
        <p:spPr>
          <a:xfrm>
            <a:off x="8166686" y="3170276"/>
            <a:ext cx="3135424" cy="364400"/>
          </a:xfrm>
          <a:prstGeom prst="roundRect">
            <a:avLst>
              <a:gd name="adj" fmla="val 24012"/>
            </a:avLst>
          </a:prstGeom>
          <a:solidFill>
            <a:srgbClr val="6D2BC1"/>
          </a:solidFill>
          <a:ln w="1270">
            <a:solidFill>
              <a:srgbClr val="6D2BC1"/>
            </a:solidFill>
            <a:prstDash val="solid"/>
          </a:ln>
        </p:spPr>
      </p:sp>
      <p:pic>
        <p:nvPicPr>
          <p:cNvPr id="137" name="Image 37" descr="/mnt/data/ppt_assets/circle_bar_chart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8225093" y="3206716"/>
            <a:ext cx="291520" cy="291520"/>
          </a:xfrm>
          <a:prstGeom prst="rect">
            <a:avLst/>
          </a:prstGeom>
        </p:spPr>
      </p:pic>
      <p:sp>
        <p:nvSpPr>
          <p:cNvPr id="138" name="Text 98"/>
          <p:cNvSpPr/>
          <p:nvPr/>
        </p:nvSpPr>
        <p:spPr>
          <a:xfrm>
            <a:off x="8589603" y="3170276"/>
            <a:ext cx="2661465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経営・マネージャーの価値</a:t>
            </a:r>
            <a:endParaRPr lang="en-US" sz="1800" dirty="0"/>
          </a:p>
        </p:txBody>
      </p:sp>
      <p:sp>
        <p:nvSpPr>
          <p:cNvPr id="139" name="Shape 99"/>
          <p:cNvSpPr/>
          <p:nvPr/>
        </p:nvSpPr>
        <p:spPr>
          <a:xfrm>
            <a:off x="8203144" y="3643996"/>
            <a:ext cx="838544" cy="838119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40" name="Text 100"/>
          <p:cNvSpPr/>
          <p:nvPr/>
        </p:nvSpPr>
        <p:spPr>
          <a:xfrm>
            <a:off x="8225019" y="3673148"/>
            <a:ext cx="794794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可視化</a:t>
            </a:r>
            <a:endParaRPr lang="en-US" sz="840" dirty="0"/>
          </a:p>
        </p:txBody>
      </p:sp>
      <p:pic>
        <p:nvPicPr>
          <p:cNvPr id="141" name="Image 38" descr="/mnt/data/ppt_assets/s3_mgr_viz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305228" y="3970771"/>
            <a:ext cx="634376" cy="359480"/>
          </a:xfrm>
          <a:prstGeom prst="rect">
            <a:avLst/>
          </a:prstGeom>
        </p:spPr>
      </p:pic>
      <p:sp>
        <p:nvSpPr>
          <p:cNvPr id="142" name="Shape 101"/>
          <p:cNvSpPr/>
          <p:nvPr/>
        </p:nvSpPr>
        <p:spPr>
          <a:xfrm>
            <a:off x="9172938" y="3643996"/>
            <a:ext cx="838544" cy="838119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43" name="Text 102"/>
          <p:cNvSpPr/>
          <p:nvPr/>
        </p:nvSpPr>
        <p:spPr>
          <a:xfrm>
            <a:off x="9194813" y="3673148"/>
            <a:ext cx="794794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トレーサビリティ</a:t>
            </a:r>
            <a:endParaRPr lang="en-US" sz="840" dirty="0"/>
          </a:p>
        </p:txBody>
      </p:sp>
      <p:pic>
        <p:nvPicPr>
          <p:cNvPr id="144" name="Image 39" descr="/mnt/data/ppt_assets/s3_mgr_trac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275022" y="3962956"/>
            <a:ext cx="634376" cy="375110"/>
          </a:xfrm>
          <a:prstGeom prst="rect">
            <a:avLst/>
          </a:prstGeom>
        </p:spPr>
      </p:pic>
      <p:sp>
        <p:nvSpPr>
          <p:cNvPr id="145" name="Shape 103"/>
          <p:cNvSpPr/>
          <p:nvPr/>
        </p:nvSpPr>
        <p:spPr>
          <a:xfrm>
            <a:off x="10135440" y="3643996"/>
            <a:ext cx="838544" cy="838119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46" name="Text 104"/>
          <p:cNvSpPr/>
          <p:nvPr/>
        </p:nvSpPr>
        <p:spPr>
          <a:xfrm>
            <a:off x="10157315" y="3673148"/>
            <a:ext cx="794794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再利用</a:t>
            </a:r>
            <a:endParaRPr lang="en-US" sz="840" dirty="0"/>
          </a:p>
        </p:txBody>
      </p:sp>
      <p:pic>
        <p:nvPicPr>
          <p:cNvPr id="147" name="Image 40" descr="/mnt/data/ppt_assets/s3_mgr_reus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237524" y="3962956"/>
            <a:ext cx="634376" cy="375110"/>
          </a:xfrm>
          <a:prstGeom prst="rect">
            <a:avLst/>
          </a:prstGeom>
        </p:spPr>
      </p:pic>
      <p:sp>
        <p:nvSpPr>
          <p:cNvPr id="148" name="Shape 105"/>
          <p:cNvSpPr/>
          <p:nvPr/>
        </p:nvSpPr>
        <p:spPr>
          <a:xfrm>
            <a:off x="11097943" y="3643996"/>
            <a:ext cx="838544" cy="838119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49" name="Text 106"/>
          <p:cNvSpPr/>
          <p:nvPr/>
        </p:nvSpPr>
        <p:spPr>
          <a:xfrm>
            <a:off x="11119818" y="3673148"/>
            <a:ext cx="794794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横展開</a:t>
            </a:r>
            <a:endParaRPr lang="en-US" sz="840" dirty="0"/>
          </a:p>
        </p:txBody>
      </p:sp>
      <p:pic>
        <p:nvPicPr>
          <p:cNvPr id="150" name="Image 41" descr="/mnt/data/ppt_assets/s3_mgr_global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200026" y="3954431"/>
            <a:ext cx="634376" cy="392160"/>
          </a:xfrm>
          <a:prstGeom prst="rect">
            <a:avLst/>
          </a:prstGeom>
        </p:spPr>
      </p:pic>
      <p:sp>
        <p:nvSpPr>
          <p:cNvPr id="151" name="Shape 107"/>
          <p:cNvSpPr/>
          <p:nvPr/>
        </p:nvSpPr>
        <p:spPr>
          <a:xfrm>
            <a:off x="8203144" y="4635163"/>
            <a:ext cx="838544" cy="838119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52" name="Text 108"/>
          <p:cNvSpPr/>
          <p:nvPr/>
        </p:nvSpPr>
        <p:spPr>
          <a:xfrm>
            <a:off x="8225019" y="4664315"/>
            <a:ext cx="794794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品質向上</a:t>
            </a:r>
            <a:endParaRPr lang="en-US" sz="840" dirty="0"/>
          </a:p>
        </p:txBody>
      </p:sp>
      <p:pic>
        <p:nvPicPr>
          <p:cNvPr id="153" name="Image 42" descr="/mnt/data/ppt_assets/s3_mgr_quality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305228" y="4956652"/>
            <a:ext cx="634376" cy="370053"/>
          </a:xfrm>
          <a:prstGeom prst="rect">
            <a:avLst/>
          </a:prstGeom>
        </p:spPr>
      </p:pic>
      <p:sp>
        <p:nvSpPr>
          <p:cNvPr id="154" name="Shape 109"/>
          <p:cNvSpPr/>
          <p:nvPr/>
        </p:nvSpPr>
        <p:spPr>
          <a:xfrm>
            <a:off x="9172938" y="4635163"/>
            <a:ext cx="838544" cy="838119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55" name="Text 110"/>
          <p:cNvSpPr/>
          <p:nvPr/>
        </p:nvSpPr>
        <p:spPr>
          <a:xfrm>
            <a:off x="9194813" y="4664315"/>
            <a:ext cx="794794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開発高速化</a:t>
            </a:r>
            <a:endParaRPr lang="en-US" sz="840" dirty="0"/>
          </a:p>
        </p:txBody>
      </p:sp>
      <p:pic>
        <p:nvPicPr>
          <p:cNvPr id="156" name="Image 43" descr="/mnt/data/ppt_assets/s3_mgr_spe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75022" y="4948607"/>
            <a:ext cx="634376" cy="386142"/>
          </a:xfrm>
          <a:prstGeom prst="rect">
            <a:avLst/>
          </a:prstGeom>
        </p:spPr>
      </p:pic>
      <p:sp>
        <p:nvSpPr>
          <p:cNvPr id="157" name="Shape 111"/>
          <p:cNvSpPr/>
          <p:nvPr/>
        </p:nvSpPr>
        <p:spPr>
          <a:xfrm>
            <a:off x="10135440" y="4635163"/>
            <a:ext cx="838544" cy="838119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58" name="Text 112"/>
          <p:cNvSpPr/>
          <p:nvPr/>
        </p:nvSpPr>
        <p:spPr>
          <a:xfrm>
            <a:off x="10157315" y="4664315"/>
            <a:ext cx="794794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手戻り低減</a:t>
            </a:r>
            <a:endParaRPr lang="en-US" sz="840" dirty="0"/>
          </a:p>
        </p:txBody>
      </p:sp>
      <p:pic>
        <p:nvPicPr>
          <p:cNvPr id="159" name="Image 44" descr="/mnt/data/ppt_assets/s3_mgr_effort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0237524" y="4948607"/>
            <a:ext cx="634376" cy="386142"/>
          </a:xfrm>
          <a:prstGeom prst="rect">
            <a:avLst/>
          </a:prstGeom>
        </p:spPr>
      </p:pic>
      <p:sp>
        <p:nvSpPr>
          <p:cNvPr id="160" name="Shape 113"/>
          <p:cNvSpPr/>
          <p:nvPr/>
        </p:nvSpPr>
        <p:spPr>
          <a:xfrm>
            <a:off x="11097943" y="4635163"/>
            <a:ext cx="838544" cy="838119"/>
          </a:xfrm>
          <a:prstGeom prst="roundRect">
            <a:avLst>
              <a:gd name="adj" fmla="val 5220"/>
            </a:avLst>
          </a:prstGeom>
          <a:solidFill>
            <a:srgbClr val="FFFFFF"/>
          </a:solidFill>
          <a:ln w="8890">
            <a:solidFill>
              <a:srgbClr val="D7E1EE"/>
            </a:solidFill>
            <a:prstDash val="solid"/>
          </a:ln>
        </p:spPr>
      </p:sp>
      <p:sp>
        <p:nvSpPr>
          <p:cNvPr id="161" name="Text 114"/>
          <p:cNvSpPr/>
          <p:nvPr/>
        </p:nvSpPr>
        <p:spPr>
          <a:xfrm>
            <a:off x="11119818" y="4664315"/>
            <a:ext cx="794794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コスト低減</a:t>
            </a:r>
            <a:endParaRPr lang="en-US" sz="840" dirty="0"/>
          </a:p>
        </p:txBody>
      </p:sp>
      <p:pic>
        <p:nvPicPr>
          <p:cNvPr id="162" name="Image 45" descr="/mnt/data/ppt_assets/s3_mgr_cost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1200026" y="4939831"/>
            <a:ext cx="634376" cy="403694"/>
          </a:xfrm>
          <a:prstGeom prst="rect">
            <a:avLst/>
          </a:prstGeom>
        </p:spPr>
      </p:pic>
      <p:sp>
        <p:nvSpPr>
          <p:cNvPr id="163" name="Shape 115"/>
          <p:cNvSpPr/>
          <p:nvPr/>
        </p:nvSpPr>
        <p:spPr>
          <a:xfrm>
            <a:off x="1130211" y="5648193"/>
            <a:ext cx="8312519" cy="641343"/>
          </a:xfrm>
          <a:prstGeom prst="roundRect">
            <a:avLst>
              <a:gd name="adj" fmla="val 13643"/>
            </a:avLst>
          </a:prstGeom>
          <a:solidFill>
            <a:srgbClr val="FFFFFF"/>
          </a:solidFill>
          <a:ln w="10160">
            <a:solidFill>
              <a:srgbClr val="C9D5E6"/>
            </a:solidFill>
            <a:prstDash val="solid"/>
          </a:ln>
        </p:spPr>
      </p:sp>
      <p:pic>
        <p:nvPicPr>
          <p:cNvPr id="164" name="Image 46" descr="/mnt/data/ppt_assets/robot_crop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283937" y="5757513"/>
            <a:ext cx="450884" cy="422704"/>
          </a:xfrm>
          <a:prstGeom prst="rect">
            <a:avLst/>
          </a:prstGeom>
        </p:spPr>
      </p:pic>
      <p:sp>
        <p:nvSpPr>
          <p:cNvPr id="165" name="Shape 116"/>
          <p:cNvSpPr/>
          <p:nvPr/>
        </p:nvSpPr>
        <p:spPr>
          <a:xfrm>
            <a:off x="1822921" y="5553450"/>
            <a:ext cx="2552089" cy="306096"/>
          </a:xfrm>
          <a:prstGeom prst="roundRect">
            <a:avLst>
              <a:gd name="adj" fmla="val 28586"/>
            </a:avLst>
          </a:prstGeom>
          <a:solidFill>
            <a:srgbClr val="6D2BC1"/>
          </a:solidFill>
          <a:ln w="1270">
            <a:solidFill>
              <a:srgbClr val="6D2BC1"/>
            </a:solidFill>
            <a:prstDash val="solid"/>
          </a:ln>
        </p:spPr>
      </p:sp>
      <p:sp>
        <p:nvSpPr>
          <p:cNvPr id="166" name="Text 117"/>
          <p:cNvSpPr/>
          <p:nvPr/>
        </p:nvSpPr>
        <p:spPr>
          <a:xfrm>
            <a:off x="1866671" y="5560738"/>
            <a:ext cx="2464589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LLMエージェント</a:t>
            </a:r>
            <a:endParaRPr lang="en-US" sz="1300" dirty="0"/>
          </a:p>
        </p:txBody>
      </p:sp>
      <p:sp>
        <p:nvSpPr>
          <p:cNvPr id="167" name="Text 118"/>
          <p:cNvSpPr/>
          <p:nvPr/>
        </p:nvSpPr>
        <p:spPr>
          <a:xfrm>
            <a:off x="1910421" y="5881409"/>
            <a:ext cx="2625006" cy="30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自然言語で、必要な情報をすぐに見つけ、</a:t>
            </a:r>
            <a:endParaRPr lang="en-US" sz="840" dirty="0"/>
          </a:p>
          <a:p>
            <a:pPr algn="l" indent="0" marL="0">
              <a:buNone/>
            </a:pPr>
            <a:r>
              <a:rPr lang="en-US" sz="840" b="1" dirty="0">
                <a:solidFill>
                  <a:srgbClr val="052B7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判断と実行を加速</a:t>
            </a:r>
            <a:endParaRPr lang="en-US" sz="840" dirty="0"/>
          </a:p>
        </p:txBody>
      </p:sp>
      <p:sp>
        <p:nvSpPr>
          <p:cNvPr id="168" name="Shape 119"/>
          <p:cNvSpPr/>
          <p:nvPr/>
        </p:nvSpPr>
        <p:spPr>
          <a:xfrm>
            <a:off x="4739594" y="5750225"/>
            <a:ext cx="729168" cy="393552"/>
          </a:xfrm>
          <a:prstGeom prst="roundRect">
            <a:avLst>
              <a:gd name="adj" fmla="val 11117"/>
            </a:avLst>
          </a:prstGeom>
          <a:solidFill>
            <a:srgbClr val="FFFFFF"/>
          </a:solidFill>
          <a:ln w="8890">
            <a:solidFill>
              <a:srgbClr val="DFE6EF"/>
            </a:solidFill>
            <a:prstDash val="solid"/>
          </a:ln>
        </p:spPr>
      </p:sp>
      <p:pic>
        <p:nvPicPr>
          <p:cNvPr id="169" name="Image 47" descr="/mnt/data/ppt_assets/icon_search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987567" y="5786665"/>
            <a:ext cx="218640" cy="218640"/>
          </a:xfrm>
          <a:prstGeom prst="rect">
            <a:avLst/>
          </a:prstGeom>
        </p:spPr>
      </p:pic>
      <p:sp>
        <p:nvSpPr>
          <p:cNvPr id="170" name="Text 120"/>
          <p:cNvSpPr/>
          <p:nvPr/>
        </p:nvSpPr>
        <p:spPr>
          <a:xfrm>
            <a:off x="4776053" y="6012593"/>
            <a:ext cx="656252" cy="10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</a:t>
            </a:r>
            <a:endParaRPr lang="en-US" sz="680" dirty="0"/>
          </a:p>
        </p:txBody>
      </p:sp>
      <p:sp>
        <p:nvSpPr>
          <p:cNvPr id="171" name="Shape 121"/>
          <p:cNvSpPr/>
          <p:nvPr/>
        </p:nvSpPr>
        <p:spPr>
          <a:xfrm>
            <a:off x="5687513" y="5750225"/>
            <a:ext cx="729168" cy="393552"/>
          </a:xfrm>
          <a:prstGeom prst="roundRect">
            <a:avLst>
              <a:gd name="adj" fmla="val 11117"/>
            </a:avLst>
          </a:prstGeom>
          <a:solidFill>
            <a:srgbClr val="FFFFFF"/>
          </a:solidFill>
          <a:ln w="8890">
            <a:solidFill>
              <a:srgbClr val="DFE6EF"/>
            </a:solidFill>
            <a:prstDash val="solid"/>
          </a:ln>
        </p:spPr>
      </p:sp>
      <p:pic>
        <p:nvPicPr>
          <p:cNvPr id="172" name="Image 48" descr="/mnt/data/ppt_assets/icon_summary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5935486" y="5786665"/>
            <a:ext cx="218640" cy="218640"/>
          </a:xfrm>
          <a:prstGeom prst="rect">
            <a:avLst/>
          </a:prstGeom>
        </p:spPr>
      </p:pic>
      <p:sp>
        <p:nvSpPr>
          <p:cNvPr id="173" name="Text 122"/>
          <p:cNvSpPr/>
          <p:nvPr/>
        </p:nvSpPr>
        <p:spPr>
          <a:xfrm>
            <a:off x="5723972" y="6012593"/>
            <a:ext cx="656252" cy="10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要約</a:t>
            </a:r>
            <a:endParaRPr lang="en-US" sz="680" dirty="0"/>
          </a:p>
        </p:txBody>
      </p:sp>
      <p:sp>
        <p:nvSpPr>
          <p:cNvPr id="174" name="Shape 123"/>
          <p:cNvSpPr/>
          <p:nvPr/>
        </p:nvSpPr>
        <p:spPr>
          <a:xfrm>
            <a:off x="6635432" y="5750225"/>
            <a:ext cx="729168" cy="393552"/>
          </a:xfrm>
          <a:prstGeom prst="roundRect">
            <a:avLst>
              <a:gd name="adj" fmla="val 11117"/>
            </a:avLst>
          </a:prstGeom>
          <a:solidFill>
            <a:srgbClr val="FFFFFF"/>
          </a:solidFill>
          <a:ln w="8890">
            <a:solidFill>
              <a:srgbClr val="DFE6EF"/>
            </a:solidFill>
            <a:prstDash val="solid"/>
          </a:ln>
        </p:spPr>
      </p:sp>
      <p:pic>
        <p:nvPicPr>
          <p:cNvPr id="175" name="Image 49" descr="/mnt/data/ppt_assets/icon_balance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883405" y="5786665"/>
            <a:ext cx="218640" cy="218640"/>
          </a:xfrm>
          <a:prstGeom prst="rect">
            <a:avLst/>
          </a:prstGeom>
        </p:spPr>
      </p:pic>
      <p:sp>
        <p:nvSpPr>
          <p:cNvPr id="176" name="Text 124"/>
          <p:cNvSpPr/>
          <p:nvPr/>
        </p:nvSpPr>
        <p:spPr>
          <a:xfrm>
            <a:off x="6671891" y="6012593"/>
            <a:ext cx="656252" cy="10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</a:t>
            </a:r>
            <a:endParaRPr lang="en-US" sz="680" dirty="0"/>
          </a:p>
        </p:txBody>
      </p:sp>
      <p:sp>
        <p:nvSpPr>
          <p:cNvPr id="177" name="Shape 125"/>
          <p:cNvSpPr/>
          <p:nvPr/>
        </p:nvSpPr>
        <p:spPr>
          <a:xfrm>
            <a:off x="7583351" y="5750225"/>
            <a:ext cx="729168" cy="393552"/>
          </a:xfrm>
          <a:prstGeom prst="roundRect">
            <a:avLst>
              <a:gd name="adj" fmla="val 11117"/>
            </a:avLst>
          </a:prstGeom>
          <a:solidFill>
            <a:srgbClr val="FFFFFF"/>
          </a:solidFill>
          <a:ln w="8890">
            <a:solidFill>
              <a:srgbClr val="DFE6EF"/>
            </a:solidFill>
            <a:prstDash val="solid"/>
          </a:ln>
        </p:spPr>
      </p:sp>
      <p:pic>
        <p:nvPicPr>
          <p:cNvPr id="178" name="Image 50" descr="/mnt/data/ppt_assets/icon_terminal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831324" y="5786665"/>
            <a:ext cx="218640" cy="218640"/>
          </a:xfrm>
          <a:prstGeom prst="rect">
            <a:avLst/>
          </a:prstGeom>
        </p:spPr>
      </p:pic>
      <p:sp>
        <p:nvSpPr>
          <p:cNvPr id="179" name="Text 126"/>
          <p:cNvSpPr/>
          <p:nvPr/>
        </p:nvSpPr>
        <p:spPr>
          <a:xfrm>
            <a:off x="7619810" y="6012593"/>
            <a:ext cx="656252" cy="10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実行支援</a:t>
            </a:r>
            <a:endParaRPr lang="en-US" sz="680" dirty="0"/>
          </a:p>
        </p:txBody>
      </p:sp>
      <p:sp>
        <p:nvSpPr>
          <p:cNvPr id="180" name="Shape 127"/>
          <p:cNvSpPr/>
          <p:nvPr/>
        </p:nvSpPr>
        <p:spPr>
          <a:xfrm>
            <a:off x="8531270" y="5750225"/>
            <a:ext cx="729168" cy="393552"/>
          </a:xfrm>
          <a:prstGeom prst="roundRect">
            <a:avLst>
              <a:gd name="adj" fmla="val 11117"/>
            </a:avLst>
          </a:prstGeom>
          <a:solidFill>
            <a:srgbClr val="FFFFFF"/>
          </a:solidFill>
          <a:ln w="8890">
            <a:solidFill>
              <a:srgbClr val="DFE6EF"/>
            </a:solidFill>
            <a:prstDash val="solid"/>
          </a:ln>
        </p:spPr>
      </p:sp>
      <p:pic>
        <p:nvPicPr>
          <p:cNvPr id="181" name="Image 51" descr="/mnt/data/ppt_assets/icon_report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779243" y="5786665"/>
            <a:ext cx="218640" cy="218640"/>
          </a:xfrm>
          <a:prstGeom prst="rect">
            <a:avLst/>
          </a:prstGeom>
        </p:spPr>
      </p:pic>
      <p:sp>
        <p:nvSpPr>
          <p:cNvPr id="182" name="Text 128"/>
          <p:cNvSpPr/>
          <p:nvPr/>
        </p:nvSpPr>
        <p:spPr>
          <a:xfrm>
            <a:off x="8567728" y="6012593"/>
            <a:ext cx="656252" cy="109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レポート</a:t>
            </a:r>
            <a:endParaRPr lang="en-US" sz="680" dirty="0"/>
          </a:p>
        </p:txBody>
      </p:sp>
      <p:sp>
        <p:nvSpPr>
          <p:cNvPr id="183" name="Text 129"/>
          <p:cNvSpPr/>
          <p:nvPr/>
        </p:nvSpPr>
        <p:spPr>
          <a:xfrm>
            <a:off x="3427091" y="6522752"/>
            <a:ext cx="5541680" cy="26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5A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データと知見をつなぎ、全体最適で、品質・生産性・収益性を最大化</a:t>
            </a:r>
            <a:endParaRPr lang="en-US" sz="1300" dirty="0"/>
          </a:p>
        </p:txBody>
      </p:sp>
      <p:sp>
        <p:nvSpPr>
          <p:cNvPr id="184" name="Shape 130"/>
          <p:cNvSpPr/>
          <p:nvPr/>
        </p:nvSpPr>
        <p:spPr>
          <a:xfrm>
            <a:off x="1494795" y="5465994"/>
            <a:ext cx="0" cy="247792"/>
          </a:xfrm>
          <a:prstGeom prst="line">
            <a:avLst/>
          </a:prstGeom>
          <a:noFill/>
          <a:ln w="13970">
            <a:solidFill>
              <a:srgbClr val="6D2BC1"/>
            </a:solidFill>
            <a:prstDash val="solid"/>
            <a:headEnd type="none"/>
            <a:tailEnd type="triangle"/>
          </a:ln>
        </p:spPr>
      </p:sp>
      <p:sp>
        <p:nvSpPr>
          <p:cNvPr id="185" name="Shape 131"/>
          <p:cNvSpPr/>
          <p:nvPr/>
        </p:nvSpPr>
        <p:spPr>
          <a:xfrm>
            <a:off x="3135424" y="5465994"/>
            <a:ext cx="0" cy="247792"/>
          </a:xfrm>
          <a:prstGeom prst="line">
            <a:avLst/>
          </a:prstGeom>
          <a:noFill/>
          <a:ln w="13970">
            <a:solidFill>
              <a:srgbClr val="6D2BC1"/>
            </a:solidFill>
            <a:prstDash val="solid"/>
            <a:headEnd type="none"/>
            <a:tailEnd type="triangle"/>
          </a:ln>
        </p:spPr>
      </p:sp>
      <p:sp>
        <p:nvSpPr>
          <p:cNvPr id="186" name="Shape 132"/>
          <p:cNvSpPr/>
          <p:nvPr/>
        </p:nvSpPr>
        <p:spPr>
          <a:xfrm>
            <a:off x="3645842" y="6231233"/>
            <a:ext cx="0" cy="255080"/>
          </a:xfrm>
          <a:prstGeom prst="line">
            <a:avLst/>
          </a:prstGeom>
          <a:noFill/>
          <a:ln w="13970">
            <a:solidFill>
              <a:srgbClr val="6D2BC1"/>
            </a:solidFill>
            <a:prstDash val="solid"/>
            <a:headEnd type="none"/>
            <a:tailEnd type="triangle"/>
          </a:ln>
        </p:spPr>
      </p:sp>
      <p:sp>
        <p:nvSpPr>
          <p:cNvPr id="187" name="Shape 133"/>
          <p:cNvSpPr/>
          <p:nvPr/>
        </p:nvSpPr>
        <p:spPr>
          <a:xfrm>
            <a:off x="10572941" y="5465994"/>
            <a:ext cx="0" cy="247792"/>
          </a:xfrm>
          <a:prstGeom prst="line">
            <a:avLst/>
          </a:prstGeom>
          <a:noFill/>
          <a:ln w="13970">
            <a:solidFill>
              <a:srgbClr val="6D2BC1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Platform Slides - Reviewed</dc:title>
  <dc:subject>Editable recreation from attached images - reviewed layout</dc:subject>
  <dc:creator>OpenAI</dc:creator>
  <cp:lastModifiedBy>OpenAI</cp:lastModifiedBy>
  <cp:revision>1</cp:revision>
  <dcterms:created xsi:type="dcterms:W3CDTF">2026-05-28T00:18:23Z</dcterms:created>
  <dcterms:modified xsi:type="dcterms:W3CDTF">2026-05-28T00:18:23Z</dcterms:modified>
</cp:coreProperties>
</file>