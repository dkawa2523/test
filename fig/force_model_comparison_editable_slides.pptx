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73152"/>
            <a:ext cx="11521440" cy="47548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99EDB"/>
                </a:solidFill>
                <a:latin typeface="Yu Gothic"/>
              </a:rPr>
              <a:t>1. 抗力カテゴリの理論モデル比較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548640"/>
            <a:ext cx="11155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Yu Gothic"/>
              </a:rPr>
              <a:t>drag law の中で何をCOMSOLで扱い、何を本コードで明示的に選ぶべきか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" y="914400"/>
            <a:ext cx="11475720" cy="27432"/>
          </a:xfrm>
          <a:prstGeom prst="rect">
            <a:avLst/>
          </a:prstGeom>
          <a:solidFill>
            <a:srgbClr val="00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9456" y="1078992"/>
          <a:ext cx="9528048" cy="481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148840"/>
                <a:gridCol w="1901952"/>
                <a:gridCol w="1572768"/>
                <a:gridCol w="1938528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モデル名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代表式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主な適用領域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COMSOLでの扱い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本コードで重要な理由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1  Stokes drag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F_d = 3π μ d_p (u − v)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低 Re (Re ≪ 1)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連続体域 (Kn ≪ 1)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標準的に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相当モデルあり</a:t>
                      </a:r>
                    </a:p>
                  </a:txBody>
                  <a:tcPr anchor="ctr" marL="50800" marR="50800" marT="38100" marB="38100">
                    <a:solidFill>
                      <a:srgbClr val="44B1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基準となる最も基本的な抗力モデル。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低Re域の妥当性を確保。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2  Cunningham補正 Stokes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C_c = 1 + Kn(A + Be^(−C/Kn))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τ_eff = τ_Stokes C_c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微小／ナノ粒子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すべり補正が必要な低圧域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Kn ≲ 0.1–10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条件に応じて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考慮可能</a:t>
                      </a:r>
                    </a:p>
                  </a:txBody>
                  <a:tcPr anchor="ctr" marL="50800" marR="50800" marT="38100" marB="38100">
                    <a:solidFill>
                      <a:srgbClr val="23A6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低圧・微小粒子でのズレを補正。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圧力・粒径依存性を適切に反映。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3  Schiller–Naumann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C_D = 24/Re (1 + 0.15 Re^0.687)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F_d = 1/2 ρ_g C_D A_p |u−v|(u−v)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有限 Re (約 0.1–10^3)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連続体域 (Kn ≪ 1)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相当モデルあり</a:t>
                      </a:r>
                    </a:p>
                  </a:txBody>
                  <a:tcPr anchor="ctr" marL="50800" marR="50800" marT="38100" marB="38100">
                    <a:solidFill>
                      <a:srgbClr val="44B1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広いRe範囲で実用的に利用可能。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粒子運動の主力モデルとして重要。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4  Epstein drag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τ_E = ρ_p d_p / (2 ρ_g v_th)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v_th = √(8kT/(πm_g))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希薄気体／自由分子流域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Kn ≫ 1 (≳ 10)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標準では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明示比較が必要</a:t>
                      </a:r>
                    </a:p>
                  </a:txBody>
                  <a:tcPr anchor="ctr" marL="50800" marR="50800" marT="38100" marB="38100">
                    <a:solidFill>
                      <a:srgbClr val="F08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高Kn・低圧域では他モデルから大きく乖離。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正しい希薄流極限の記述に必須。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5  近壁抗力補正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（壁面潤滑効果など）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F_d,wall = F_d · f(h/d_p)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例: f(h/d_p) = (1−1.004 d_p/h)^−1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壁近傍域 (h ≲ 数 d_p)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潤滑・壁面干渉が支配的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標準外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または要注意</a:t>
                      </a:r>
                    </a:p>
                  </a:txBody>
                  <a:tcPr anchor="ctr" marL="50800" marR="50800" marT="38100" marB="38100">
                    <a:solidFill>
                      <a:srgbClr val="F08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壁近傍での過小評価を防止。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沈降・付着・リバウンド予測に強く影響。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drag_ic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563624"/>
            <a:ext cx="932688" cy="621792"/>
          </a:xfrm>
          <a:prstGeom prst="rect">
            <a:avLst/>
          </a:prstGeom>
        </p:spPr>
      </p:pic>
      <p:pic>
        <p:nvPicPr>
          <p:cNvPr id="7" name="Picture 6" descr="drag_ico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2450592"/>
            <a:ext cx="932688" cy="621792"/>
          </a:xfrm>
          <a:prstGeom prst="rect">
            <a:avLst/>
          </a:prstGeom>
        </p:spPr>
      </p:pic>
      <p:pic>
        <p:nvPicPr>
          <p:cNvPr id="8" name="Picture 7" descr="drag_ico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3337560"/>
            <a:ext cx="932688" cy="621792"/>
          </a:xfrm>
          <a:prstGeom prst="rect">
            <a:avLst/>
          </a:prstGeom>
        </p:spPr>
      </p:pic>
      <p:pic>
        <p:nvPicPr>
          <p:cNvPr id="9" name="Picture 8" descr="drag_icon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" y="4224528"/>
            <a:ext cx="932688" cy="621792"/>
          </a:xfrm>
          <a:prstGeom prst="rect">
            <a:avLst/>
          </a:prstGeom>
        </p:spPr>
      </p:pic>
      <p:pic>
        <p:nvPicPr>
          <p:cNvPr id="10" name="Picture 9" descr="drag_icon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" y="5111496"/>
            <a:ext cx="932688" cy="6217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857232" y="1060704"/>
            <a:ext cx="2066543" cy="4919472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5A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85248" y="1152144"/>
            <a:ext cx="1810511" cy="347472"/>
          </a:xfrm>
          <a:prstGeom prst="roundRect">
            <a:avLst/>
          </a:prstGeom>
          <a:solidFill>
            <a:srgbClr val="00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Yu Gothic"/>
              </a:rPr>
              <a:t>選定の要点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1591056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Knudsen数 (Kn)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85248" y="2304288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21824" y="2377440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粒径 (d_p)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8" y="3090672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21824" y="3163824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圧力 (P)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85248" y="3877056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21824" y="3950208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壁近傍距離 (h)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" y="5989320"/>
            <a:ext cx="11475720" cy="502920"/>
          </a:xfrm>
          <a:prstGeom prst="roundRect">
            <a:avLst/>
          </a:prstGeom>
          <a:solidFill>
            <a:srgbClr val="EEF5FB"/>
          </a:solidFill>
          <a:ln w="13970">
            <a:solidFill>
              <a:srgbClr val="00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108192"/>
            <a:ext cx="109728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004FA3"/>
                </a:solidFill>
                <a:latin typeface="Yu Gothic"/>
              </a:rPr>
              <a:t>重要なのは「式をコードすること」ではなく、レジーム（Kn・Re・壁近傍など）に応じて適切な drag law を選ぶことです。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73152"/>
            <a:ext cx="11521440" cy="47548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99EDB"/>
                </a:solidFill>
                <a:latin typeface="Yu Gothic"/>
              </a:rPr>
              <a:t>2. 電荷・電場カテゴリの理論モデル比較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548640"/>
            <a:ext cx="11155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Yu Gothic"/>
              </a:rPr>
              <a:t>電場で動く粒子をどう扱うか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" y="914400"/>
            <a:ext cx="11475720" cy="27432"/>
          </a:xfrm>
          <a:prstGeom prst="rect">
            <a:avLst/>
          </a:prstGeom>
          <a:solidFill>
            <a:srgbClr val="00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9456" y="1078992"/>
          <a:ext cx="9528048" cy="481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148840"/>
                <a:gridCol w="1901952"/>
                <a:gridCol w="1572768"/>
                <a:gridCol w="1938528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モデル名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代表式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主な適用領域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COMSOLでの扱い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本コードで重要な理由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1  固定電荷モデル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F_E = qE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a_E = qE / m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最も単純な荷電粒子の運動追跡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(q を一定とみなす)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標準的に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扱える</a:t>
                      </a:r>
                    </a:p>
                  </a:txBody>
                  <a:tcPr anchor="ctr" marL="50800" marR="50800" marT="38100" marB="38100">
                    <a:solidFill>
                      <a:srgbClr val="44B1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最も基本的な比較基準。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電場の有無・大きさの一次評価に有効。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2  動的帯電モデル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dq/dt = (q_eq − q) / τ_q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プラズマ中の粒子や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表面条件が変化する環境での帯電挙動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標準外／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ユーザー定義寄り</a:t>
                      </a:r>
                    </a:p>
                  </a:txBody>
                  <a:tcPr anchor="ctr" marL="50800" marR="50800" marT="38100" marB="38100">
                    <a:solidFill>
                      <a:srgbClr val="F08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q が時間的・空間的に変化する実験条件を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再現するために必須。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3  誘電泳動 (DEP)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F_DEP = 2π ε_m a^3 Re[K(ω)] ∇|E|²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非一様電場中の誘電体粒子の運動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（粒径が場の変化長より十分小さい場合）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相当機能あり</a:t>
                      </a:r>
                    </a:p>
                  </a:txBody>
                  <a:tcPr anchor="ctr" marL="50800" marR="50800" marT="38100" marB="38100">
                    <a:solidFill>
                      <a:srgbClr val="23A6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小粒子・誘電体粒子の挙動を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より正確に評価するために重要。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4  鏡像力 (イメージ力)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F_img ∝ q² / x²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電極近傍や壁面近傍で生じる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電気的引力・反発の評価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通常は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明示比較が必要</a:t>
                      </a:r>
                    </a:p>
                  </a:txBody>
                  <a:tcPr anchor="ctr" marL="50800" marR="50800" marT="38100" marB="38100">
                    <a:solidFill>
                      <a:srgbClr val="F08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粒子が壁や電極に引き寄せられる挙動の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再現に不可欠。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5  クーロン相互作用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（粒子間静電相互作用）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 ∝ q₁ q₂ / r²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粒子濃度が高い場合や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凝集・クラスタ形成が支配的な条件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通常の単粒子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追跡では未考慮</a:t>
                      </a:r>
                    </a:p>
                  </a:txBody>
                  <a:tcPr anchor="ctr" marL="50800" marR="50800" marT="38100" marB="38100">
                    <a:solidFill>
                      <a:srgbClr val="F08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高濃度条件での粒子間の影響を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捉えるために重要。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electro_ic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563624"/>
            <a:ext cx="932688" cy="621792"/>
          </a:xfrm>
          <a:prstGeom prst="rect">
            <a:avLst/>
          </a:prstGeom>
        </p:spPr>
      </p:pic>
      <p:pic>
        <p:nvPicPr>
          <p:cNvPr id="7" name="Picture 6" descr="electro_ico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2450592"/>
            <a:ext cx="932688" cy="621792"/>
          </a:xfrm>
          <a:prstGeom prst="rect">
            <a:avLst/>
          </a:prstGeom>
        </p:spPr>
      </p:pic>
      <p:pic>
        <p:nvPicPr>
          <p:cNvPr id="8" name="Picture 7" descr="electro_ico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3337560"/>
            <a:ext cx="932688" cy="621792"/>
          </a:xfrm>
          <a:prstGeom prst="rect">
            <a:avLst/>
          </a:prstGeom>
        </p:spPr>
      </p:pic>
      <p:pic>
        <p:nvPicPr>
          <p:cNvPr id="9" name="Picture 8" descr="electro_icon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" y="4224528"/>
            <a:ext cx="932688" cy="621792"/>
          </a:xfrm>
          <a:prstGeom prst="rect">
            <a:avLst/>
          </a:prstGeom>
        </p:spPr>
      </p:pic>
      <p:pic>
        <p:nvPicPr>
          <p:cNvPr id="10" name="Picture 9" descr="electro_icon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" y="5111496"/>
            <a:ext cx="932688" cy="6217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857232" y="1060704"/>
            <a:ext cx="2066543" cy="4919472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5A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85248" y="1152144"/>
            <a:ext cx="1810511" cy="347472"/>
          </a:xfrm>
          <a:prstGeom prst="roundRect">
            <a:avLst/>
          </a:prstGeom>
          <a:solidFill>
            <a:srgbClr val="00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Yu Gothic"/>
              </a:rPr>
              <a:t>どこが難所か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1591056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q を定数にするか時変にするか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85248" y="2304288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21824" y="2377440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sheath近傍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8" y="3090672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21824" y="3163824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E場の空間分解能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85248" y="3877056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21824" y="3950208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壁面帯電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" y="5989320"/>
            <a:ext cx="11475720" cy="502920"/>
          </a:xfrm>
          <a:prstGeom prst="roundRect">
            <a:avLst/>
          </a:prstGeom>
          <a:solidFill>
            <a:srgbClr val="EEF5FB"/>
          </a:solidFill>
          <a:ln w="13970">
            <a:solidFill>
              <a:srgbClr val="00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108192"/>
            <a:ext cx="109728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004FA3"/>
                </a:solidFill>
                <a:latin typeface="Yu Gothic"/>
              </a:rPr>
              <a:t>COMSOL比較では「E場を入れたか」だけでなく、「q の与え方」が支配的。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73152"/>
            <a:ext cx="11521440" cy="47548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99EDB"/>
                </a:solidFill>
                <a:latin typeface="Yu Gothic"/>
              </a:rPr>
              <a:t>3. 熱・拡散カテゴリの理論モデル比較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548640"/>
            <a:ext cx="11155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Yu Gothic"/>
              </a:rPr>
              <a:t>温度場と微粒子ゆらぎに関わるモデル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" y="914400"/>
            <a:ext cx="11475720" cy="27432"/>
          </a:xfrm>
          <a:prstGeom prst="rect">
            <a:avLst/>
          </a:prstGeom>
          <a:solidFill>
            <a:srgbClr val="00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9456" y="1078992"/>
          <a:ext cx="9528048" cy="481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148840"/>
                <a:gridCol w="1901952"/>
                <a:gridCol w="1572768"/>
                <a:gridCol w="1938528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モデル名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代表式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主な適用領域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COMSOLでの扱い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本コードで重要な理由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1  Gravity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（重力）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F_g = m g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粒子の沈降・浮上の基準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他の力との比較基準になる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標準</a:t>
                      </a:r>
                    </a:p>
                  </a:txBody>
                  <a:tcPr anchor="ctr" marL="50800" marR="50800" marT="38100" marB="38100">
                    <a:solidFill>
                      <a:srgbClr val="44B1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すべての粒子に作用する。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基準として必須。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2  Brownian force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（ブラウン力）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m dv/dt = −γv + √(2γk_B T) ξ(t) + F_B(t)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⟨F_B(t)F_B(t')⟩ = 2γk_B T δ(t−t')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ナノ〜サブミクロン粒子のランダム運動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分散・拡散係数に支配的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相当機能あり</a:t>
                      </a:r>
                    </a:p>
                  </a:txBody>
                  <a:tcPr anchor="ctr" marL="50800" marR="50800" marT="38100" marB="38100">
                    <a:solidFill>
                      <a:srgbClr val="23A6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粒径が小さいほど相対寄与が増大。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ゆらぎが輸送・分布に大きく影響。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3  Thermophoresis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（熱泳動）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F_T または u_T ∝ − μ/(ρ_g T) ∇T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加熱されたチャンバー内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壁面温度勾配がある場合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相当モデルあり</a:t>
                      </a:r>
                    </a:p>
                  </a:txBody>
                  <a:tcPr anchor="ctr" marL="50800" marR="50800" marT="38100" marB="38100">
                    <a:solidFill>
                      <a:srgbClr val="44B1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本ケース（加熱壁）で重要。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温度勾配が粒子挙動を支配。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4  Turbophoresis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（乱流誘起ドリフト）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V_tp ∝ −∇k_t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乱流や変動流が重要な場合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k_t: 乱流運動エネルギー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通常は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対象限定</a:t>
                      </a:r>
                    </a:p>
                  </a:txBody>
                  <a:tcPr anchor="ctr" marL="50800" marR="50800" marT="38100" marB="38100">
                    <a:solidFill>
                      <a:srgbClr val="F08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極低流速では寄与小さいが、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乱流があるケースでは無視不可。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5  Radiometric / Photophoretic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（放射・光泳動）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F_ph ∝ ∇T_s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強い加熱・放射照射時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局所的な表面温度差がある特殊ケース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標準外だが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重要になりうる</a:t>
                      </a:r>
                    </a:p>
                  </a:txBody>
                  <a:tcPr anchor="ctr" marL="50800" marR="50800" marT="38100" marB="38100">
                    <a:solidFill>
                      <a:srgbClr val="F08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加熱壁や照射条件で寄与しうる。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将来的な特殊条件で重要。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thermal_ic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563624"/>
            <a:ext cx="932688" cy="621792"/>
          </a:xfrm>
          <a:prstGeom prst="rect">
            <a:avLst/>
          </a:prstGeom>
        </p:spPr>
      </p:pic>
      <p:pic>
        <p:nvPicPr>
          <p:cNvPr id="7" name="Picture 6" descr="thermal_ico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2450592"/>
            <a:ext cx="932688" cy="621792"/>
          </a:xfrm>
          <a:prstGeom prst="rect">
            <a:avLst/>
          </a:prstGeom>
        </p:spPr>
      </p:pic>
      <p:pic>
        <p:nvPicPr>
          <p:cNvPr id="8" name="Picture 7" descr="thermal_ico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3337560"/>
            <a:ext cx="932688" cy="621792"/>
          </a:xfrm>
          <a:prstGeom prst="rect">
            <a:avLst/>
          </a:prstGeom>
        </p:spPr>
      </p:pic>
      <p:pic>
        <p:nvPicPr>
          <p:cNvPr id="9" name="Picture 8" descr="thermal_icon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" y="4224528"/>
            <a:ext cx="932688" cy="621792"/>
          </a:xfrm>
          <a:prstGeom prst="rect">
            <a:avLst/>
          </a:prstGeom>
        </p:spPr>
      </p:pic>
      <p:pic>
        <p:nvPicPr>
          <p:cNvPr id="10" name="Picture 9" descr="thermal_icon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" y="5111496"/>
            <a:ext cx="932688" cy="6217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857232" y="1060704"/>
            <a:ext cx="2066543" cy="4919472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5A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85248" y="1152144"/>
            <a:ext cx="1810511" cy="347472"/>
          </a:xfrm>
          <a:prstGeom prst="roundRect">
            <a:avLst/>
          </a:prstGeom>
          <a:solidFill>
            <a:srgbClr val="00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Yu Gothic"/>
              </a:rPr>
              <a:t>想定ケース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1591056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加熱壁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85248" y="2304288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21824" y="2377440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クリーニング後の温度差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8" y="3090672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21824" y="3163824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ナノ粒子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85248" y="3877056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21824" y="3950208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極低流速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" y="5989320"/>
            <a:ext cx="11475720" cy="502920"/>
          </a:xfrm>
          <a:prstGeom prst="roundRect">
            <a:avLst/>
          </a:prstGeom>
          <a:solidFill>
            <a:srgbClr val="EEF5FB"/>
          </a:solidFill>
          <a:ln w="13970">
            <a:solidFill>
              <a:srgbClr val="00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108192"/>
            <a:ext cx="109728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004FA3"/>
                </a:solidFill>
                <a:latin typeface="Yu Gothic"/>
              </a:rPr>
              <a:t>サブミクロン粒子では drag だけでなく Brownian と thermophoresis の相対寄与が変わる。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73152"/>
            <a:ext cx="11521440" cy="47548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99EDB"/>
                </a:solidFill>
                <a:latin typeface="Yu Gothic"/>
              </a:rPr>
              <a:t>4. 流体付加力カテゴリの理論モデル比較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548640"/>
            <a:ext cx="11155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Yu Gothic"/>
              </a:rPr>
              <a:t>drag 以外の流体由来の追加力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" y="914400"/>
            <a:ext cx="11475720" cy="27432"/>
          </a:xfrm>
          <a:prstGeom prst="rect">
            <a:avLst/>
          </a:prstGeom>
          <a:solidFill>
            <a:srgbClr val="00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9456" y="1078992"/>
          <a:ext cx="9528048" cy="481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148840"/>
                <a:gridCol w="1901952"/>
                <a:gridCol w="1572768"/>
                <a:gridCol w="1938528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モデル名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代表式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主な適用領域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COMSOLでの扱い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本コードで重要な理由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1  Saffman lift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（サフマン揚力）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F_L ∝ μa²(u−v)×ω / √(ν|ω|)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せん断流、壁面近傍流、回転流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相当モデルあり</a:t>
                      </a:r>
                    </a:p>
                  </a:txBody>
                  <a:tcPr anchor="ctr" marL="50800" marR="50800" marT="38100" marB="38100">
                    <a:solidFill>
                      <a:srgbClr val="23A6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壁面近傍や旋回流での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横方向の粒子移動を左右する。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2  Pressure-gradient force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（圧力勾配力）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a_PG = (ρ_g/ρ_p) Du/Dt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キャリア流体が加速・減速している領域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相当モデルあり</a:t>
                      </a:r>
                    </a:p>
                  </a:txBody>
                  <a:tcPr anchor="ctr" marL="50800" marR="50800" marT="38100" marB="38100">
                    <a:solidFill>
                      <a:srgbClr val="23A6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加減速や曲がり部での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粒子の追随性に影響。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3  Virtual mass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（仮想質量力）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a_VM = C_VM (ρ_g/ρ_p)(Du/Dt − dv/dt)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非定常で流体が急激に加速する領域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相当モデルあり</a:t>
                      </a:r>
                    </a:p>
                  </a:txBody>
                  <a:tcPr anchor="ctr" marL="50800" marR="50800" marT="38100" marB="38100">
                    <a:solidFill>
                      <a:srgbClr val="23A6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過渡応答やパルス流で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粒子の加速度履歴に影響。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4  Basset history force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（バセット履歴力）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F_BH ∝ ∫₀ᵗ [d(u−v)/dτ]/√(t−τ) dτ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非定常・低Re流れでの履歴効果が支配的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通常は未考慮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または重い</a:t>
                      </a:r>
                    </a:p>
                  </a:txBody>
                  <a:tcPr anchor="ctr" marL="50800" marR="50800" marT="38100" marB="38100">
                    <a:solidFill>
                      <a:srgbClr val="F08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低Reでの過渡挙動や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振動応答の再現性に影響。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5  Magnus / rotation-induced lift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（回転誘起揚力）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F_M ∝ ω_p × (u−v)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粒子が回転している場合、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再懸濁（巻き上げ）など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標準外だが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ケースによって重要</a:t>
                      </a:r>
                    </a:p>
                  </a:txBody>
                  <a:tcPr anchor="ctr" marL="50800" marR="50800" marT="38100" marB="38100">
                    <a:solidFill>
                      <a:srgbClr val="F08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回転粒子や巻き上げ条件で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粒子軌道を左右する。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luid_ic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563624"/>
            <a:ext cx="932688" cy="621792"/>
          </a:xfrm>
          <a:prstGeom prst="rect">
            <a:avLst/>
          </a:prstGeom>
        </p:spPr>
      </p:pic>
      <p:pic>
        <p:nvPicPr>
          <p:cNvPr id="7" name="Picture 6" descr="fluid_ico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2450592"/>
            <a:ext cx="932688" cy="621792"/>
          </a:xfrm>
          <a:prstGeom prst="rect">
            <a:avLst/>
          </a:prstGeom>
        </p:spPr>
      </p:pic>
      <p:pic>
        <p:nvPicPr>
          <p:cNvPr id="8" name="Picture 7" descr="fluid_ico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3337560"/>
            <a:ext cx="932688" cy="621792"/>
          </a:xfrm>
          <a:prstGeom prst="rect">
            <a:avLst/>
          </a:prstGeom>
        </p:spPr>
      </p:pic>
      <p:pic>
        <p:nvPicPr>
          <p:cNvPr id="9" name="Picture 8" descr="fluid_icon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" y="4224528"/>
            <a:ext cx="932688" cy="621792"/>
          </a:xfrm>
          <a:prstGeom prst="rect">
            <a:avLst/>
          </a:prstGeom>
        </p:spPr>
      </p:pic>
      <p:pic>
        <p:nvPicPr>
          <p:cNvPr id="10" name="Picture 9" descr="fluid_icon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" y="5111496"/>
            <a:ext cx="932688" cy="6217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857232" y="1060704"/>
            <a:ext cx="2066543" cy="4919472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5A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85248" y="1152144"/>
            <a:ext cx="1810511" cy="347472"/>
          </a:xfrm>
          <a:prstGeom prst="roundRect">
            <a:avLst/>
          </a:prstGeom>
          <a:solidFill>
            <a:srgbClr val="00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Yu Gothic"/>
              </a:rPr>
              <a:t>このカテゴリのポイント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1591056"/>
            <a:ext cx="1737359" cy="56692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せん断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85248" y="2157984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21824" y="2231136"/>
            <a:ext cx="1737359" cy="56692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非定常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8" y="2798064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21824" y="2871216"/>
            <a:ext cx="1737359" cy="56692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回転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85248" y="3438144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21824" y="3511296"/>
            <a:ext cx="1737359" cy="56692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密度比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5248" y="4078224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1824" y="4151376"/>
            <a:ext cx="1737359" cy="56692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圧力場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" y="5989320"/>
            <a:ext cx="11475720" cy="502920"/>
          </a:xfrm>
          <a:prstGeom prst="roundRect">
            <a:avLst/>
          </a:prstGeom>
          <a:solidFill>
            <a:srgbClr val="EEF5FB"/>
          </a:solidFill>
          <a:ln w="13970">
            <a:solidFill>
              <a:srgbClr val="00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108192"/>
            <a:ext cx="109728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004FA3"/>
                </a:solidFill>
                <a:latin typeface="Yu Gothic"/>
              </a:rPr>
              <a:t>実機比較で差が出るとき、drag 以外の付加力を入れると改善することがある。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73152"/>
            <a:ext cx="11521440" cy="47548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99EDB"/>
                </a:solidFill>
                <a:latin typeface="Yu Gothic"/>
              </a:rPr>
              <a:t>5. プラズマ特有カテゴリの理論モデル比較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548640"/>
            <a:ext cx="11155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Yu Gothic"/>
              </a:rPr>
              <a:t>プラズマありケースで重要だが、標準粒子追跡だけでは不足しやすい項目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" y="914400"/>
            <a:ext cx="11475720" cy="27432"/>
          </a:xfrm>
          <a:prstGeom prst="rect">
            <a:avLst/>
          </a:prstGeom>
          <a:solidFill>
            <a:srgbClr val="00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9456" y="1078992"/>
          <a:ext cx="9528048" cy="481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148840"/>
                <a:gridCol w="1901952"/>
                <a:gridCol w="1572768"/>
                <a:gridCol w="1938528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モデル名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代表式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主な適用領域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COMSOLでの扱い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本コードで重要な理由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1  Sheath electric acceleration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 = q E_sheath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sheath 近傍での粒子加速・衝突・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エネルギー付与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プラズマ結果を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参照すれば扱える</a:t>
                      </a:r>
                    </a:p>
                  </a:txBody>
                  <a:tcPr anchor="ctr" marL="50800" marR="50800" marT="38100" marB="38100">
                    <a:solidFill>
                      <a:srgbClr val="23A6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壁近傍の電場勾配が大きく、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粒子の入射エネルギーを支配。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2  プラズマ密度/温度による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動的チャージング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dq/dt = I_i + I_e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または dq/dt = (q_eq − q)/τ_q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プラズマ曝露下での粒子の帯電・放電、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過渡的な帯電変化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標準外／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比較条件の明示が必要</a:t>
                      </a:r>
                    </a:p>
                  </a:txBody>
                  <a:tcPr anchor="ctr" marL="50800" marR="50800" marT="38100" marB="38100">
                    <a:solidFill>
                      <a:srgbClr val="F08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粒子の軌道・付着・反発に直接影響し、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精度差の源泉になる。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3  Ion drag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F_ion = F_coll + F_orb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sheath 内またはプラズマ中での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イオン輸送領域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標準外だが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重要</a:t>
                      </a:r>
                    </a:p>
                  </a:txBody>
                  <a:tcPr anchor="ctr" marL="50800" marR="50800" marT="38100" marB="38100">
                    <a:solidFill>
                      <a:srgbClr val="F08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特に高イオン流束や高圧条件で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軌道に無視できない影響。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4  壁面での電子/イオン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フラックスの収支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Γ_i ≈ Γ_e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（浮遊平衡条件）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壁面帯電・浮遊電位の決定・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浮遊面の挙動解析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プラズマ解析側では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考えるが粒子追跡では別途整理</a:t>
                      </a:r>
                    </a:p>
                  </a:txBody>
                  <a:tcPr anchor="ctr" marL="50800" marR="50800" marT="38100" marB="38100">
                    <a:solidFill>
                      <a:srgbClr val="F08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浮遊電位や壁電流が粒子の入射条件・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反発条件を決める。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5  パルス / RF 時間変動電場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E(t) または q(t)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パルスプラズマ・RF バイアス下の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時間依存現象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結果参照で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可能だが重い</a:t>
                      </a:r>
                    </a:p>
                  </a:txBody>
                  <a:tcPr anchor="ctr" marL="50800" marR="50800" marT="38100" marB="38100">
                    <a:solidFill>
                      <a:srgbClr val="23A6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時間分解能・平均化の扱いで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結果が大きく変わる。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plasma_ic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563624"/>
            <a:ext cx="932688" cy="621792"/>
          </a:xfrm>
          <a:prstGeom prst="rect">
            <a:avLst/>
          </a:prstGeom>
        </p:spPr>
      </p:pic>
      <p:pic>
        <p:nvPicPr>
          <p:cNvPr id="7" name="Picture 6" descr="plasma_ico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2450592"/>
            <a:ext cx="932688" cy="621792"/>
          </a:xfrm>
          <a:prstGeom prst="rect">
            <a:avLst/>
          </a:prstGeom>
        </p:spPr>
      </p:pic>
      <p:pic>
        <p:nvPicPr>
          <p:cNvPr id="8" name="Picture 7" descr="plasma_ico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3337560"/>
            <a:ext cx="932688" cy="621792"/>
          </a:xfrm>
          <a:prstGeom prst="rect">
            <a:avLst/>
          </a:prstGeom>
        </p:spPr>
      </p:pic>
      <p:pic>
        <p:nvPicPr>
          <p:cNvPr id="9" name="Picture 8" descr="plasma_icon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" y="4224528"/>
            <a:ext cx="932688" cy="621792"/>
          </a:xfrm>
          <a:prstGeom prst="rect">
            <a:avLst/>
          </a:prstGeom>
        </p:spPr>
      </p:pic>
      <p:pic>
        <p:nvPicPr>
          <p:cNvPr id="10" name="Picture 9" descr="plasma_icon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" y="5111496"/>
            <a:ext cx="932688" cy="6217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857232" y="1060704"/>
            <a:ext cx="2066543" cy="4919472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5A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85248" y="1152144"/>
            <a:ext cx="1810511" cy="347472"/>
          </a:xfrm>
          <a:prstGeom prst="roundRect">
            <a:avLst/>
          </a:prstGeom>
          <a:solidFill>
            <a:srgbClr val="00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Yu Gothic"/>
              </a:rPr>
              <a:t>第三者が見るべき点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1591056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sheath 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85248" y="2304288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21824" y="2377440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wall charging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8" y="3090672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21824" y="3163824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RF 平均化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85248" y="3877056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21824" y="3950208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time dependence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" y="5989320"/>
            <a:ext cx="11475720" cy="502920"/>
          </a:xfrm>
          <a:prstGeom prst="roundRect">
            <a:avLst/>
          </a:prstGeom>
          <a:solidFill>
            <a:srgbClr val="EEF5FB"/>
          </a:solidFill>
          <a:ln w="13970">
            <a:solidFill>
              <a:srgbClr val="00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108192"/>
            <a:ext cx="109728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004FA3"/>
                </a:solidFill>
                <a:latin typeface="Yu Gothic"/>
              </a:rPr>
              <a:t>プラズマありでは「E場を読む」だけでなく、sheath と charging の扱いが精度差になる。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" y="73152"/>
            <a:ext cx="11521440" cy="47548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99EDB"/>
                </a:solidFill>
                <a:latin typeface="Yu Gothic"/>
              </a:rPr>
              <a:t>6. 壁近傍・境界相互作用カテゴリ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548640"/>
            <a:ext cx="11155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Yu Gothic"/>
              </a:rPr>
              <a:t>純粋な力場ではないが、最終付着結果を大きく左右する物理モデル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" y="914400"/>
            <a:ext cx="11475720" cy="27432"/>
          </a:xfrm>
          <a:prstGeom prst="rect">
            <a:avLst/>
          </a:prstGeom>
          <a:solidFill>
            <a:srgbClr val="00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9456" y="1078992"/>
          <a:ext cx="9528048" cy="481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148840"/>
                <a:gridCol w="1901952"/>
                <a:gridCol w="1572768"/>
                <a:gridCol w="1938528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モデル名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代表式/判定式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主な適用領域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COMSOLでの扱い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本コードで重要な理由</a:t>
                      </a:r>
                    </a:p>
                  </a:txBody>
                  <a:tcPr marL="50800" marR="50800" anchor="ctr">
                    <a:solidFill>
                      <a:srgbClr val="004FA3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1  Specular reflection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（鏡面反射）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v_out = v_t − e_n v_n n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滑らかで清浄な壁面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低エネルギー衝突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相当機能あり</a:t>
                      </a:r>
                    </a:p>
                  </a:txBody>
                  <a:tcPr anchor="ctr" marL="50800" marR="50800" marT="38100" marB="38100">
                    <a:solidFill>
                      <a:srgbClr val="23A6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角度・運動量の変化を正確に再現。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エネルギー保存でバウンス挙動を決定。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2  Diffuse reflection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（拡散反射）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p(θ) = C cos θ 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（Cosine law）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粗い壁面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多重衝突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ランダム構造表面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相当機能あり</a:t>
                      </a:r>
                    </a:p>
                  </a:txBody>
                  <a:tcPr anchor="ctr" marL="50800" marR="50800" marT="38100" marB="38100">
                    <a:solidFill>
                      <a:srgbClr val="23A6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壁面での方向分布を支配。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再衝突回数・軌道を大きく左右。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3  Stick / absorb condition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（付着条件）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v_n &lt; v_crit ⇒ Stick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else Rebound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薄膜堆積・成膜プロセス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汚染・パーティクル付着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標準的に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扱える</a:t>
                      </a:r>
                    </a:p>
                  </a:txBody>
                  <a:tcPr anchor="ctr" marL="50800" marR="50800" marT="38100" marB="38100">
                    <a:solidFill>
                      <a:srgbClr val="44B1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最終付着量を直接決定。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成膜／汚染量の評価に必須。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4  Mixed reflection / sticking probability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（混合反射／付着確率）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P_stick = α_stick(v_n, θ, T, material)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else rebound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現実の複雑な壁面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汚染・表面改質プロセス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詳細化は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要実装</a:t>
                      </a:r>
                    </a:p>
                  </a:txBody>
                  <a:tcPr anchor="ctr" marL="50800" marR="50800" marT="38100" marB="38100">
                    <a:solidFill>
                      <a:srgbClr val="F08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付着率の現実的予測に不可欠。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表面コンディションや運転条件の影響を反映。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5  Roughness-aware or material-aware wall law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41414"/>
                          </a:solidFill>
                          <a:latin typeface="Yu Gothic"/>
                        </a:rPr>
                        <a:t>（粗さ・材質考慮壁面則）</a:t>
                      </a:r>
                    </a:p>
                  </a:txBody>
                  <a:tcPr anchor="ctr" marL="4572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α_eff = α(material, roughness, θ, v_n, T, …)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半導体チャンバー内壁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表面粗さ・酸化・汚染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• 実機の複雑な環境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標準外だが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重要</a:t>
                      </a:r>
                    </a:p>
                  </a:txBody>
                  <a:tcPr anchor="ctr" marL="50800" marR="50800" marT="38100" marB="38100">
                    <a:solidFill>
                      <a:srgbClr val="F08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材質差・粗さ・角度依存性を反映。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41414"/>
                          </a:solidFill>
                          <a:latin typeface="Yu Gothic"/>
                        </a:rPr>
                        <a:t>チャンバー間の差異や再現性に効く。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boundary_ic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563624"/>
            <a:ext cx="932688" cy="621792"/>
          </a:xfrm>
          <a:prstGeom prst="rect">
            <a:avLst/>
          </a:prstGeom>
        </p:spPr>
      </p:pic>
      <p:pic>
        <p:nvPicPr>
          <p:cNvPr id="7" name="Picture 6" descr="boundary_ico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2450592"/>
            <a:ext cx="932688" cy="621792"/>
          </a:xfrm>
          <a:prstGeom prst="rect">
            <a:avLst/>
          </a:prstGeom>
        </p:spPr>
      </p:pic>
      <p:pic>
        <p:nvPicPr>
          <p:cNvPr id="8" name="Picture 7" descr="boundary_ico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3337560"/>
            <a:ext cx="932688" cy="621792"/>
          </a:xfrm>
          <a:prstGeom prst="rect">
            <a:avLst/>
          </a:prstGeom>
        </p:spPr>
      </p:pic>
      <p:pic>
        <p:nvPicPr>
          <p:cNvPr id="9" name="Picture 8" descr="boundary_icon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" y="4224528"/>
            <a:ext cx="932688" cy="621792"/>
          </a:xfrm>
          <a:prstGeom prst="rect">
            <a:avLst/>
          </a:prstGeom>
        </p:spPr>
      </p:pic>
      <p:pic>
        <p:nvPicPr>
          <p:cNvPr id="10" name="Picture 9" descr="boundary_icon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" y="5111496"/>
            <a:ext cx="932688" cy="6217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857232" y="1060704"/>
            <a:ext cx="2066543" cy="4919472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5A8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85248" y="1152144"/>
            <a:ext cx="1810511" cy="347472"/>
          </a:xfrm>
          <a:prstGeom prst="roundRect">
            <a:avLst/>
          </a:prstGeom>
          <a:solidFill>
            <a:srgbClr val="00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Yu Gothic"/>
              </a:rPr>
              <a:t>なぜこの画像も必要か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1591056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力（フォース）だけ正しくても、壁条件が違うと結果は大きく変わる。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85248" y="2304288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21824" y="2377440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材質差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85248" y="3090672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21824" y="3163824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粗さ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85248" y="3877056"/>
            <a:ext cx="1810511" cy="9144"/>
          </a:xfrm>
          <a:prstGeom prst="rect">
            <a:avLst/>
          </a:prstGeom>
          <a:solidFill>
            <a:srgbClr val="BE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21824" y="3950208"/>
            <a:ext cx="1737359" cy="7132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Yu Gothic"/>
              </a:rPr>
              <a:t>入射角 (incident angle)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" y="5989320"/>
            <a:ext cx="11475720" cy="502920"/>
          </a:xfrm>
          <a:prstGeom prst="roundRect">
            <a:avLst/>
          </a:prstGeom>
          <a:solidFill>
            <a:srgbClr val="EEF5FB"/>
          </a:solidFill>
          <a:ln w="13970">
            <a:solidFill>
              <a:srgbClr val="00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108192"/>
            <a:ext cx="109728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004FA3"/>
                </a:solidFill>
                <a:latin typeface="Yu Gothic"/>
              </a:rPr>
              <a:t>第三者向けには「力モデル」と「壁モデル」を分けて整理すると理解しやすい。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