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影響度(目安)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ΔE（軸ずれ）</c:v>
                </c:pt>
                <c:pt idx="1">
                  <c:v>FWHM</c:v>
                </c:pt>
                <c:pt idx="2">
                  <c:v>背景形状</c:v>
                </c:pt>
                <c:pt idx="3">
                  <c:v>カウント数</c:v>
                </c:pt>
                <c:pt idx="4">
                  <c:v>基板/吸収</c:v>
                </c:pt>
                <c:pt idx="5">
                  <c:v>逃避/パイルアップ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5</c:v>
                </c:pt>
                <c:pt idx="3">
                  <c:v>3</c:v>
                </c:pt>
                <c:pt idx="4">
                  <c:v>5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4A-F641-8225-F9FB60D740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相対処理速度（高いほど速い）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従来フィット</c:v>
                </c:pt>
                <c:pt idx="1">
                  <c:v>Aのみ</c:v>
                </c:pt>
                <c:pt idx="2">
                  <c:v>Bのみ</c:v>
                </c:pt>
                <c:pt idx="3">
                  <c:v>A→B(難例のみ)</c:v>
                </c:pt>
                <c:pt idx="4">
                  <c:v>A’→B(難例のみ)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20</c:v>
                </c:pt>
                <c:pt idx="2">
                  <c:v>3</c:v>
                </c:pt>
                <c:pt idx="3">
                  <c:v>10</c:v>
                </c:pt>
                <c:pt idx="4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25-D748-8332-4818A3C05D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相対“信頼性”スコア（高いほど良い）</c:v>
                </c:pt>
              </c:strCache>
            </c:strRef>
          </c:tx>
          <c:spPr>
            <a:solidFill>
              <a:srgbClr val="2CA02C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従来フィット</c:v>
                </c:pt>
                <c:pt idx="1">
                  <c:v>Aのみ</c:v>
                </c:pt>
                <c:pt idx="2">
                  <c:v>Bのみ</c:v>
                </c:pt>
                <c:pt idx="3">
                  <c:v>A→B</c:v>
                </c:pt>
                <c:pt idx="4">
                  <c:v>A’→B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68-CD40-BB14-37F52B14D9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4827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タイトル
[Sources]
- https://www.semitracks.com/reference-material/failure-and-yield-analysis/failure-analysis-materials-characterization/energy-dispersive-x-ray-spectrometry.php (EDSスペクトル画像)
- https://www.globalsino.com/EM/page4656.html (EDS検出器概略図)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https://www.microtronic.com/defect-library/backside-contamination/ (ウェハ汚染画像)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https://hyperspy.org/rosettasciio/supported_formats/msa.html (EMSA/MSAが単一スペクトル交換の標準として利用される旨)
- https://exspy.readthedocs.io/en/latest/user_guide/eds.html (SEM/TEM EDSスペクトル解析の章)
- https://github.com/derb12/pybaselines (SNIP等、baseline correctionアルゴリズム集)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https://exspy.readthedocs.io/en/latest/reference/models.html (calibrate_energy_axis: resolution/scale/offset)
- https://github.com/derb12/pybaselines (baseline correction: SNIP等)
- https://www.semitracks.com/reference-material/failure-and-yield-analysis/failure-analysis-materials-characterization/energy-dispersive-x-ray-spectrometry.php (スペクトル例)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https://xraypy.github.io/XrayDB/ (線エネルギー/断面積データの提供)
- https://ftp.esrf.fr/pub/scisoft/xraylib/readme.html (xraylibがX線相互作用のライブラリである旨)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https://xraypy.github.io/XrayDB/ (線エネルギー/断面データ)
- https://ftp.esrf.fr/pub/scisoft/xraylib/readme.html (xraylib)
- https://exspy.readthedocs.io/en/latest/reference/models.html (calibrate_energy_axis)
- https://github.com/derb12/pybaselines (SNIP等)
- https://www.globalsino.com/EM/page4656.html (EDS検出器概略図)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https://www.nist.gov/services-resources/software/nist-dtsa-ii (DTSA-IIの機能: simulate/quantify/plan, Filter-fitting, XPP)
- https://exspy.readthedocs.io/en/latest/reference/models.html (EDSModel: calibrate_energy_axis)
- https://arxiv.org/abs/2404.17496 (espm/emtables: physics-guided NMF / Poisson likelihood 等)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https://www.nist.gov/services-resources/software/nist-dtsa-ii (DTSA-IIの機能)
- https://www.jeol.com/words/semterms/20121024.084957.php (SEMにおけるMonte Carloシミュレーションと図)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https://www.nist.gov/services-resources/software/nist-dtsa-ii (DTSA-II)
- https://www.jeol.com/words/semterms/20121024.084957.php (Monte Carlo図)
- https://arxiv.org/abs/2404.17496 (espm/emtables)
- https://ftp.esrf.fr/pub/scisoft/xraylib/readme.html (xraylib)
- https://xraypy.github.io/XrayDB/ (XrayDB)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https://catalog.data.gov/dataset/?tags=eds (NISTの75材料EDSデータの説明)
- https://hyperspy.org/rosettasciio/supported_formats/msa.html (EMSA/MSAが単一スペクトル交換の標準として利用される旨)
- https://www.nist.gov/pml/atomic-spectroscopy-databases (NIST Atomic Spectra Database)
- https://www.osti.gov/biblio/1820904 (SEM/STEM X-ray spectrum images datasetの例)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https://arxiv.org/abs/2404.17496 (Poisson尤度など、物理+MLの統合の方向性)
- https://catalog.data.gov/dataset/?tags=eds (公開スペクトルを自己教師学習に転用できる)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https://www.scikit-learn.org/stable/modules/generated/sklearn.decomposition.NMF.html (KL損失などNMFの選択肢)
- https://www.nist.gov/services-resources/software/nist-dtsa-ii (Bでの精密化の根拠)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https://www.nist.gov/services-resources/software/nist-dtsa-ii (DTSA-II)
- https://exspy.readthedocs.io/en/latest/user_guide/eds.html (eXSpy EDS)
- https://github.com/derb12/pybaselines (pybaselines)
- https://xraypy.github.io/XrayDB/ (XrayDB)
- https://ftp.esrf.fr/pub/scisoft/xraylib/readme.html (xraylib)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828800"/>
            <a:ext cx="6537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EDXスペクトルからの高速・高信頼な成分組成推定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教師データが乏しい前提で：A（超高速一次推定）＋B（物理/制約で精密化）＋疑似データ/蒸留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1143000"/>
            <a:ext cx="4297680" cy="5303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mnt/data/edx_ppt_assets/eds_spectrum_semitrac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272" y="1325880"/>
            <a:ext cx="3844176" cy="2743200"/>
          </a:xfrm>
          <a:prstGeom prst="rect">
            <a:avLst/>
          </a:prstGeom>
        </p:spPr>
      </p:pic>
      <p:pic>
        <p:nvPicPr>
          <p:cNvPr id="7" name="Image 1" descr="/mnt/data/edx_ppt_assets/eds_detector_globalsin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273" y="4160520"/>
            <a:ext cx="2960174" cy="1783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26680" y="5989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例：粒子EDXスペクトル/EDS検出器概略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背景と目的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Scope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半導体製造のパーティクル/コンタミの1D EDXスペクトル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1スペクトル = エネルギーごとの強度（カウント）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目的：元素候補→ピーク強度→成分組成を高速に推定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計測データに真値ラベル（組成）が揃わない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近接ピーク/ピーク揺れ/ノイズ/未知感度係数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既存の非線形最適化は反復が多く遅い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20840" y="960120"/>
            <a:ext cx="480060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0" descr="/mnt/data/edx_ppt_assets/wafer_contamination_microtronic.jpg"/>
          <p:cNvPicPr>
            <a:picLocks noChangeAspect="1"/>
          </p:cNvPicPr>
          <p:nvPr/>
        </p:nvPicPr>
        <p:blipFill>
          <a:blip r:embed="rId3"/>
          <a:srcRect l="9287" r="9287"/>
          <a:stretch/>
        </p:blipFill>
        <p:spPr>
          <a:xfrm>
            <a:off x="6812280" y="1051560"/>
            <a:ext cx="4617720" cy="4754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12280" y="587044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例：ウェハ上の汚染欠陥（マクロ）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66568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EDXスペクトルからの高速組成推定（A+Bハイブリッド）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521440" y="665683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2/20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従来手法（ピーク当てはめ＋最適化）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Current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一般的な流れ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920240" cy="7315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スペクトル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読み込み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1920240"/>
            <a:ext cx="2286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971800" y="1554480"/>
            <a:ext cx="1920240" cy="7315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前処理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(背景/校正)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92040" y="1920240"/>
            <a:ext cx="2286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120640" y="1554480"/>
            <a:ext cx="1920240" cy="7315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ピーク辞書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(線エネルギー)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40880" y="1920240"/>
            <a:ext cx="2286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269480" y="1554480"/>
            <a:ext cx="1920240" cy="7315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任意関数で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ピーク合成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89720" y="1920240"/>
            <a:ext cx="2286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418320" y="1554480"/>
            <a:ext cx="1920240" cy="7315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非線形最適化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384280" y="2331720"/>
            <a:ext cx="777240" cy="731520"/>
          </a:xfrm>
          <a:prstGeom prst="arc">
            <a:avLst/>
          </a:prstGeom>
          <a:noFill/>
          <a:ln w="25400">
            <a:solidFill>
              <a:srgbClr val="D62728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098280" y="248716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27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初期値/拘束の再設定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27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→再計算…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108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ボトルネック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" y="3520440"/>
            <a:ext cx="379476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速度
</a:t>
            </a: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近接ピーク/多元素で探索空間が拡大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非線形反復が多く計算時間が増大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スペクトル数が多いと運用が難しい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17720" y="3520440"/>
            <a:ext cx="379476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精度
</a:t>
            </a: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同一元素で複数線（Kα/Kβ/L…）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感度係数/放射係数が未知で定量が不安定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ピーク揺れ・ノイズで誤同定が起きる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49640" y="3520440"/>
            <a:ext cx="333756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解釈性
</a:t>
            </a: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残差最小でも元素内の線比が不自然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“なぜその組成か”の説明が難しい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例外処理が属人化しやすい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6568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EDXスペクトルからの高速組成推定（A+Bハイブリッド）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0" y="665683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3/20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課題の整理（スペクトルから組成へ）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Issues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課題を「観測 → 分離 → 定量 → 運用」に分解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2731770" cy="861060"/>
          </a:xfrm>
          <a:prstGeom prst="rect">
            <a:avLst/>
          </a:prstGeom>
          <a:solidFill>
            <a:srgbClr val="1F77B4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71850" y="1325880"/>
            <a:ext cx="2731770" cy="861060"/>
          </a:xfrm>
          <a:prstGeom prst="rect">
            <a:avLst/>
          </a:prstGeom>
          <a:solidFill>
            <a:srgbClr val="1F77B4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代表課題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03620" y="1325880"/>
            <a:ext cx="2731770" cy="861060"/>
          </a:xfrm>
          <a:prstGeom prst="rect">
            <a:avLst/>
          </a:prstGeom>
          <a:solidFill>
            <a:srgbClr val="1F77B4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典型原因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35390" y="1325880"/>
            <a:ext cx="2731770" cy="861060"/>
          </a:xfrm>
          <a:prstGeom prst="rect">
            <a:avLst/>
          </a:prstGeom>
          <a:solidFill>
            <a:srgbClr val="1F77B4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必要な対策（方向性）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86940"/>
            <a:ext cx="2731770" cy="861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観測（装置/ノイズ）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71850" y="2186940"/>
            <a:ext cx="2731770" cy="861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ピーク揺れ、分解能、逃避/パイルアップ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03620" y="2186940"/>
            <a:ext cx="2731770" cy="861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キャリブレーション誤差・低カウント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835390" y="2186940"/>
            <a:ext cx="2731770" cy="861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P1校正＋P2前処理＋Poisson尤度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048000"/>
            <a:ext cx="2731770" cy="861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分離（重なり）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71850" y="3048000"/>
            <a:ext cx="2731770" cy="861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近接ピークの区別、複数線の整合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03620" y="3048000"/>
            <a:ext cx="2731770" cy="861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線エネルギーが近い／背景が強い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35390" y="3048000"/>
            <a:ext cx="2731770" cy="861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物理辞書G＋群構造（元素=グループ）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909060"/>
            <a:ext cx="2731770" cy="861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定量（組成）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71850" y="3909060"/>
            <a:ext cx="2731770" cy="861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感度係数/放射係数が未知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03620" y="3909060"/>
            <a:ext cx="2731770" cy="861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条件依存・マトリクス効果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35390" y="3909060"/>
            <a:ext cx="2731770" cy="861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標準/物理モデルで補正、Bで詰める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770120"/>
            <a:ext cx="2731770" cy="861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学習データ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71850" y="4770120"/>
            <a:ext cx="2731770" cy="861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真値ラベルが揃わない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03620" y="4770120"/>
            <a:ext cx="2731770" cy="861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標準試料が少ない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35390" y="4770120"/>
            <a:ext cx="2731770" cy="861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疑似データ生成＋蒸留＋自己教師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5631180"/>
            <a:ext cx="2731770" cy="861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71850" y="5631180"/>
            <a:ext cx="2731770" cy="861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例外・未知成分・外れ値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03620" y="5631180"/>
            <a:ext cx="2731770" cy="861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想定外元素/条件ドリフト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35390" y="5631180"/>
            <a:ext cx="2731770" cy="861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残差/不確かさでゲートし再解析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658600" y="1417320"/>
            <a:ext cx="457200" cy="256032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704320" y="1737360"/>
            <a:ext cx="411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P0〜P7：処理区分（次ページ）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66568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EDXスペクトルからの高速組成推定（A+Bハイブリッド）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521440" y="665683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4/20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提案の全体像：A+Bハイブリッド＋疑似データ/蒸留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Proposal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狙い：高速（大量処理）と高信頼（難例で精密化）を両立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2057400" cy="411480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P0-2 前処理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508760"/>
            <a:ext cx="2377440" cy="41148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A：超高速一次推定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0" y="1508760"/>
            <a:ext cx="2331720" cy="411480"/>
          </a:xfrm>
          <a:prstGeom prst="roundRect">
            <a:avLst/>
          </a:prstGeom>
          <a:solidFill>
            <a:srgbClr val="2AA198"/>
          </a:solidFill>
          <a:ln>
            <a:solidFill>
              <a:srgbClr val="2AA198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B：物理/制約で精密化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75320" y="1508760"/>
            <a:ext cx="2971800" cy="41148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出力：候補/強度/組成＋不確かさ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88920" y="1719072"/>
            <a:ext cx="2286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394960" y="1719072"/>
            <a:ext cx="2743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092440" y="1719072"/>
            <a:ext cx="18288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715000" y="2057400"/>
            <a:ext cx="2240280" cy="5029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ゲート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(残差/不確かさ)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0" y="2075688"/>
            <a:ext cx="320040" cy="23317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955280" y="2308860"/>
            <a:ext cx="32004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1520" y="2606040"/>
            <a:ext cx="11384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743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教師データ不足を補う “開発ループ”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246120"/>
            <a:ext cx="2971800" cy="411480"/>
          </a:xfrm>
          <a:prstGeom prst="roundRect">
            <a:avLst/>
          </a:prstGeom>
          <a:solidFill>
            <a:srgbClr val="FF7F0E"/>
          </a:solidFill>
          <a:ln>
            <a:solidFill>
              <a:srgbClr val="FF7F0E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P5：物理/MCで疑似データ生成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43400" y="3246120"/>
            <a:ext cx="2971800" cy="411480"/>
          </a:xfrm>
          <a:prstGeom prst="roundRect">
            <a:avLst/>
          </a:prstGeom>
          <a:solidFill>
            <a:srgbClr val="2AA198"/>
          </a:solidFill>
          <a:ln>
            <a:solidFill>
              <a:srgbClr val="2AA198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P4：Bで精密推定（教師）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89520" y="3246120"/>
            <a:ext cx="2971800" cy="41148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P6：蒸留で高速モデルA’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69080" y="3456432"/>
            <a:ext cx="2743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269480" y="3456432"/>
            <a:ext cx="3200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79992" y="3840480"/>
            <a:ext cx="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840480" y="39502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77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運用ログで継続改善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4343400"/>
            <a:ext cx="3566160" cy="16459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5E7EB"/>
            </a:solidFill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実測ラベル無しでも回る
</a:t>
            </a: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疑似データ（組成真値付き）で学習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Bの結果を擬似ラベルに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自己教師で装置ドリフトに追随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92040" y="4343400"/>
            <a:ext cx="3566160" cy="16459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5E7EB"/>
            </a:solidFill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Aで高速・Bで保証
</a:t>
            </a: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大量スペクトルを高速処理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難例のみ精密化（計算コスト最小化）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例外/未知成分は残差で検知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86800" y="4343400"/>
            <a:ext cx="3429000" cy="164592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E5E7EB"/>
            </a:solidFill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説明可能性
</a:t>
            </a: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物理辞書Gで線群整合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“どの線が効いたか”を提示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結果に不確かさを付与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6568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EDXスペクトルからの高速組成推定（A+Bハイブリッド）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521440" y="665683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5/20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処理区分（P0〜P7）と入出力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2194560" cy="492760"/>
          </a:xfrm>
          <a:prstGeom prst="rect">
            <a:avLst/>
          </a:prstGeom>
          <a:solidFill>
            <a:srgbClr val="1F77B4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区分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834640" y="960120"/>
            <a:ext cx="2194560" cy="492760"/>
          </a:xfrm>
          <a:prstGeom prst="rect">
            <a:avLst/>
          </a:prstGeom>
          <a:solidFill>
            <a:srgbClr val="1F77B4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主目的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960120"/>
            <a:ext cx="2194560" cy="492760"/>
          </a:xfrm>
          <a:prstGeom prst="rect">
            <a:avLst/>
          </a:prstGeom>
          <a:solidFill>
            <a:srgbClr val="1F77B4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223760" y="960120"/>
            <a:ext cx="2194560" cy="492760"/>
          </a:xfrm>
          <a:prstGeom prst="rect">
            <a:avLst/>
          </a:prstGeom>
          <a:solidFill>
            <a:srgbClr val="1F77B4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418320" y="960120"/>
            <a:ext cx="2194560" cy="492760"/>
          </a:xfrm>
          <a:prstGeom prst="rect">
            <a:avLst/>
          </a:prstGeom>
          <a:solidFill>
            <a:srgbClr val="1F77B4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主要候補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45288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P0 I/O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145288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形式統一/メタデータ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145288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ベンダー形式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23760" y="145288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共通形式（.msa等）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418320" y="145288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HyperSpy/RosettaSciIO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194564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P1 校正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34640" y="194564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エネルギー軸/分解能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194564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スペクトル+既知線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23760" y="194564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offset/scale/resolution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418320" y="194564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eXSpy EDSModel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243840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P2 前処理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34640" y="243840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背景/ノイズ抑制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243840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スペクトル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23760" y="243840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背景除去・SNR改善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418320" y="243840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pybaselines(SNIP等)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293116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P3 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834640" y="293116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候補元素・粗強度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293116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前処理後スペクトル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23760" y="293116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候補リスト+初期値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418320" y="293116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スパースNNLS/群スパース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342392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P4 B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34640" y="342392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精密化/定量/残差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342392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候補+条件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23760" y="342392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強度・組成・不確かさ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418320" y="342392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DTSA-II/NeXL/eXSpy/espm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391668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P5 疑似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834640" y="391668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教師データ生成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0" y="391668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組成/条件/幾何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223760" y="391668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合成スペクトル+真値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418320" y="391668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DTSA-II/MC/CASINO/PENEPMA/espm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" y="440944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P6 学習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834640" y="440944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自己教師/蒸留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0" y="440944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大量スペクトル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223760" y="440944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高速モデルA’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418320" y="440944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MAE/denoise/蒸留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490220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P7 監視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834640" y="490220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外れ値/OOD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29200" y="490220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推定結果+残差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223760" y="490220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フラグ/再解析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418320" y="4902200"/>
            <a:ext cx="2194560" cy="4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残差閾値/AE等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40080" y="5532120"/>
            <a:ext cx="10972800" cy="57912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BBD9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2960" y="5623560"/>
            <a:ext cx="1060704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運用上の基本方針：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①全件A（超高速）→ ②ゲートで難例のみB → ③B結果/ログでA’を継続改善（蒸留）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40080" y="6156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※1Dスペクトルでも成立：複数スペクトルを束ねて学習/分解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66568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EDXスペクトルからの高速組成推定（A+Bハイブリッド）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521440" y="665683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6/20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P0–P2：I/O・校正・前処理（A/Bの安定化）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Preprocess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5669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I/O標準化（P0）
</a:t>
            </a: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ベンダー形式→共通形式へ（例：.msa）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測定条件メタ（E0、チャネル幅、検出器等）を保持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後段の再現性/比較が容易に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5669280" cy="178308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E5E7EB"/>
            </a:solidFill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エネルギー軸・分解能校正（P1）
</a:t>
            </a: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offset/scale/resolutionを同時に推定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既知線（all_alpha等）でガウス幅をフィット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ピーク揺れを減らし辞書マッチが安定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800600"/>
            <a:ext cx="5669280" cy="17830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5E7EB"/>
            </a:solidFill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背景/ブレム除去・ノイズ抑制（P2）
</a:t>
            </a: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SNIP/Whittaker/多項式などを比較可能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低カウントはPoisson前提で扱う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Aの誤検出を減らし、Bの初期値を改善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0" y="914400"/>
            <a:ext cx="4983480" cy="5669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12280" y="105156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前処理のイメージ</a:t>
            </a:r>
            <a:endParaRPr lang="en-US" sz="1600" dirty="0"/>
          </a:p>
        </p:txBody>
      </p:sp>
      <p:pic>
        <p:nvPicPr>
          <p:cNvPr id="10" name="Image 0" descr="/mnt/data/edx_ppt_assets/eds_spectrum_semitrac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401" y="1417320"/>
            <a:ext cx="3459759" cy="2468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995160" y="3429000"/>
            <a:ext cx="4160520" cy="0"/>
          </a:xfrm>
          <a:prstGeom prst="line">
            <a:avLst/>
          </a:prstGeom>
          <a:noFill/>
          <a:ln w="25400">
            <a:solidFill>
              <a:srgbClr val="FF7F0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03720" y="3913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F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橙：推定ベースライン（例）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903720" y="4187952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校正・背景除去で…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近接ピーク識別が改善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係数推定が安定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不確かさ評価がしやすい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66568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EDXスペクトルからの高速組成推定（A+Bハイブリッド）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521440" y="665683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7/20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A：超高速一次推定（元素候補・粗強度）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Stage 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目的：大量スペクトルを“秒未満/本”で処理し、Bの探索空間を縮小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2194560" cy="533400"/>
          </a:xfrm>
          <a:prstGeom prst="rect">
            <a:avLst/>
          </a:prstGeom>
          <a:solidFill>
            <a:srgbClr val="1F77B4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1280160"/>
            <a:ext cx="2194560" cy="533400"/>
          </a:xfrm>
          <a:prstGeom prst="rect">
            <a:avLst/>
          </a:prstGeom>
          <a:solidFill>
            <a:srgbClr val="1F77B4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1280160"/>
            <a:ext cx="2194560" cy="533400"/>
          </a:xfrm>
          <a:prstGeom prst="rect">
            <a:avLst/>
          </a:prstGeom>
          <a:solidFill>
            <a:srgbClr val="1F77B4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23760" y="1280160"/>
            <a:ext cx="2194560" cy="533400"/>
          </a:xfrm>
          <a:prstGeom prst="rect">
            <a:avLst/>
          </a:prstGeom>
          <a:solidFill>
            <a:srgbClr val="1F77B4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418320" y="1280160"/>
            <a:ext cx="2194560" cy="533400"/>
          </a:xfrm>
          <a:prstGeom prst="rect">
            <a:avLst/>
          </a:prstGeom>
          <a:solidFill>
            <a:srgbClr val="1F77B4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813560"/>
            <a:ext cx="219456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ピークピッキング＋辞書照合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34640" y="1813560"/>
            <a:ext cx="219456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局所最大→線エネルギー近傍検索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1813560"/>
            <a:ext cx="219456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最速/実装容易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23760" y="1813560"/>
            <a:ext cx="219456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重なりに弱い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418320" y="1813560"/>
            <a:ext cx="219456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候補元素(粗)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346960"/>
            <a:ext cx="219456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マッチドフィルタ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34640" y="2346960"/>
            <a:ext cx="219456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既知ピーク形状で相関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2346960"/>
            <a:ext cx="219456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低SNRでも検出しやすい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23760" y="2346960"/>
            <a:ext cx="219456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背景形状に依存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418320" y="2346960"/>
            <a:ext cx="219456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候補＋スコア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2880360"/>
            <a:ext cx="219456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スパースNNLS（L1）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34640" y="2880360"/>
            <a:ext cx="219456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y≈G w（非負＋疎）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2880360"/>
            <a:ext cx="219456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候補数が多くても選別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23760" y="2880360"/>
            <a:ext cx="219456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G設計が鍵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418320" y="2880360"/>
            <a:ext cx="219456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粗強度w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3413760"/>
            <a:ext cx="219456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群スパース（元素=群）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34640" y="3413760"/>
            <a:ext cx="219456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Kα/Kβ/L…を束ねて推定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3413760"/>
            <a:ext cx="219456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線比が不自然になりにくい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23760" y="3413760"/>
            <a:ext cx="219456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実装コスト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418320" y="3413760"/>
            <a:ext cx="219456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元素別寄与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3947160"/>
            <a:ext cx="219456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高速分類器（A’）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834640" y="3947160"/>
            <a:ext cx="219456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蒸留で学習したNN/GBDT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3947160"/>
            <a:ext cx="219456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推論一発で最速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23760" y="3947160"/>
            <a:ext cx="219456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学習が必要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418320" y="3947160"/>
            <a:ext cx="219456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候補＋強度＋不確かさ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68680" y="48006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一次推定の核：設計行列G（線+背景）×非負係数w → 係数推定は凸/準凸に落とせる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60120" y="5257800"/>
            <a:ext cx="1143000" cy="914400"/>
          </a:xfrm>
          <a:prstGeom prst="rect">
            <a:avLst/>
          </a:prstGeom>
          <a:solidFill>
            <a:srgbClr val="EEF6FF"/>
          </a:solidFill>
          <a:ln>
            <a:solidFill>
              <a:srgbClr val="BBD9FF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7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77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（観測）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194560" y="555955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≈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2514600" y="5257800"/>
            <a:ext cx="2011680" cy="914400"/>
          </a:xfrm>
          <a:prstGeom prst="rect">
            <a:avLst/>
          </a:prstGeom>
          <a:solidFill>
            <a:srgbClr val="F0FDFA"/>
          </a:solidFill>
          <a:ln>
            <a:solidFill>
              <a:srgbClr val="99F6E4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A1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AA1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（線/背景辞書）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0" y="555955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4892040" y="5257800"/>
            <a:ext cx="1143000" cy="914400"/>
          </a:xfrm>
          <a:prstGeom prst="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7F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7F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（非負係数）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17920" y="544068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wが「元素候補/粗強度」になり、Bの初期値/候補集合として利用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66568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EDXスペクトルからの高速組成推定（A+Bハイブリッド）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521440" y="665683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8/20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物理辞書Gの構築（線エネルギー辞書 + 検出器応答 + 背景）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Dictionary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Aの精度/解釈性を左右する中心要素：G（元素線群＋背景）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703320" cy="201168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E5E7EB"/>
            </a:solidFill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線エネルギー/線群
</a:t>
            </a: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Kα/Kβ/Lα…を網羅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近傍線候補の自動列挙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群（元素単位）で束ねる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例：XrayDB / xraylib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80560" y="1280160"/>
            <a:ext cx="3703320" cy="20116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5E7EB"/>
            </a:solidFill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検出器応答
</a:t>
            </a: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分解能（FWHMのE依存）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テーリング/逃避ピーク(必要に応じ)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エネルギー軸ずれΔE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例：EDSModelで校正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21040" y="1280160"/>
            <a:ext cx="3291840" cy="20116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5E7EB"/>
            </a:solidFill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背景モデル
</a:t>
            </a: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ブレム + うねり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SNIP/多項式/指数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低エネルギー側の影響が大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例：pybaselines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611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検出器応答（概念）</a:t>
            </a:r>
            <a:endParaRPr lang="en-US" sz="1400" dirty="0"/>
          </a:p>
        </p:txBody>
      </p:sp>
      <p:pic>
        <p:nvPicPr>
          <p:cNvPr id="10" name="Image 0" descr="/mnt/data/edx_ppt_assets/eds_detector_globalsi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390" y="3931920"/>
            <a:ext cx="3946899" cy="23774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3611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Gの例（エネルギー軸×基底）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83680" y="4114800"/>
            <a:ext cx="320040" cy="1920240"/>
          </a:xfrm>
          <a:prstGeom prst="rect">
            <a:avLst/>
          </a:prstGeom>
          <a:solidFill>
            <a:srgbClr val="D1FA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31152" y="4114800"/>
            <a:ext cx="320040" cy="1920240"/>
          </a:xfrm>
          <a:prstGeom prst="rect">
            <a:avLst/>
          </a:prstGeom>
          <a:solidFill>
            <a:srgbClr val="D1FA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278624" y="4114800"/>
            <a:ext cx="320040" cy="1920240"/>
          </a:xfrm>
          <a:prstGeom prst="rect">
            <a:avLst/>
          </a:prstGeom>
          <a:solidFill>
            <a:srgbClr val="D1FA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26096" y="4114800"/>
            <a:ext cx="320040" cy="1920240"/>
          </a:xfrm>
          <a:prstGeom prst="rect">
            <a:avLst/>
          </a:prstGeom>
          <a:solidFill>
            <a:srgbClr val="D1FA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973568" y="4114800"/>
            <a:ext cx="320040" cy="1920240"/>
          </a:xfrm>
          <a:prstGeom prst="rect">
            <a:avLst/>
          </a:prstGeom>
          <a:solidFill>
            <a:srgbClr val="D1FA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4114800"/>
            <a:ext cx="320040" cy="1920240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68512" y="4114800"/>
            <a:ext cx="320040" cy="1920240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15984" y="4114800"/>
            <a:ext cx="320040" cy="1920240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6309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凡例：緑=元素線群 / 青=背景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372600" y="3977640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Gを固定すると、推定は「非負係数w」のみ（→高速）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GをB側で更新/拡張すると、精密化が可能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66568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EDXスペクトルからの高速組成推定（A+Bハイブリッド）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521440" y="665683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9/20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B：物理/制約で精密化（候補の確証・定量・残差）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Stage 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Aの出力（候補/初期値）を入力に、物理モデル・補正・制約で“詰める”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2194560" cy="877824"/>
          </a:xfrm>
          <a:prstGeom prst="rect">
            <a:avLst/>
          </a:prstGeom>
          <a:solidFill>
            <a:srgbClr val="1F77B4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1234440"/>
            <a:ext cx="2194560" cy="877824"/>
          </a:xfrm>
          <a:prstGeom prst="rect">
            <a:avLst/>
          </a:prstGeom>
          <a:solidFill>
            <a:srgbClr val="1F77B4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強い用途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1234440"/>
            <a:ext cx="2194560" cy="877824"/>
          </a:xfrm>
          <a:prstGeom prst="rect">
            <a:avLst/>
          </a:prstGeom>
          <a:solidFill>
            <a:srgbClr val="1F77B4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23760" y="1234440"/>
            <a:ext cx="2194560" cy="877824"/>
          </a:xfrm>
          <a:prstGeom prst="rect">
            <a:avLst/>
          </a:prstGeom>
          <a:solidFill>
            <a:srgbClr val="1F77B4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418320" y="1234440"/>
            <a:ext cx="2194560" cy="877824"/>
          </a:xfrm>
          <a:prstGeom prst="rect">
            <a:avLst/>
          </a:prstGeom>
          <a:solidFill>
            <a:srgbClr val="1F77B4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コメント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112264"/>
            <a:ext cx="21945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DTSA-II (NIST)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34640" y="2112264"/>
            <a:ext cx="21945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SEM-EDSのシミュレーション/定量/計画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2112264"/>
            <a:ext cx="21945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スペクトル+条件+標準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23760" y="2112264"/>
            <a:ext cx="21945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定量・残差・MCシミュレーション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418320" y="2112264"/>
            <a:ext cx="21945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Filter-fitting / XPP等を実装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990088"/>
            <a:ext cx="21945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eXSpy/HyperSpy EDSModel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34640" y="2990088"/>
            <a:ext cx="21945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校正＋線群フィット（SEM/TEM）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2990088"/>
            <a:ext cx="21945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スペクトル+メタ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23760" y="2990088"/>
            <a:ext cx="21945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線強度・校正パラメータ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418320" y="2990088"/>
            <a:ext cx="21945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resolution/scale/offsetをフィット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867912"/>
            <a:ext cx="21945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NeXL (Julia)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34640" y="3867912"/>
            <a:ext cx="21945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行列補正（XPP/CitZAF等）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3867912"/>
            <a:ext cx="21945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k-ratio等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23760" y="3867912"/>
            <a:ext cx="21945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補正後組成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418320" y="3867912"/>
            <a:ext cx="21945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別実装として検証に有用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745736"/>
            <a:ext cx="21945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espm/emtables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34640" y="4745736"/>
            <a:ext cx="21945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物理誘導NMF/シミュレーション（主にSTEM）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4745736"/>
            <a:ext cx="21945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組成/設定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23760" y="4745736"/>
            <a:ext cx="21945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成分分離・定量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418320" y="4745736"/>
            <a:ext cx="21945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薄片前提に注意。辞書構築に有効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5715000"/>
            <a:ext cx="10972800" cy="40386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BBD9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806440"/>
            <a:ext cx="10607040" cy="220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運用推奨：Bは「保証・教師生成・例外解析」に集中。全件をBで回さず、Aで絞り込む。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61188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Bの計算コストを制御しながら、定量の信頼性と説明性を確保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66568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EDXスペクトルからの高速組成推定（A+Bハイブリッド）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521440" y="665683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10/20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Bの主力候補：DTSA‑II（SEM-EDSに近い物理/MC）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DTSA-II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6400800" cy="5669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515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DTSA‑IIが提供するもの（運用で効く点）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スペクトルのシミュレーション（解析モデル＋Monte Carlo）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定量（Filter-fitting / XPP行列補正など）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標準選定や測定条件の計画支援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Bとして：精密化・残差評価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P5として：疑似データ生成/教師作り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611880"/>
            <a:ext cx="5943600" cy="2788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典型入出力（Bとして）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406908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入力：スペクトル＋測定条件（E0/分解能/ジオメトリ）＋候補元素（A）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出力：線強度・組成（補正込み）・残差スペクトル・不確かさ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4983480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Bの“使い所”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525780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近接ピークの確証・干渉補正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標準/物理に基づく定量（可能なら）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残差から未知成分をフラグ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69480" y="914400"/>
            <a:ext cx="4343400" cy="5669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0" y="10515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Monte Carlo（概念）</a:t>
            </a:r>
            <a:endParaRPr lang="en-US" sz="1400" dirty="0"/>
          </a:p>
        </p:txBody>
      </p:sp>
      <p:pic>
        <p:nvPicPr>
          <p:cNvPr id="15" name="Image 0" descr="/mnt/data/edx_ppt_assets/monte_carlo_jeo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574368"/>
            <a:ext cx="3977640" cy="261198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452360" y="4480560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電子の拡散・発生X線を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物理モデルで再現し、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実測と比較/補正する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66568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EDXスペクトルからの高速組成推定（A+Bハイブリッド）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521440" y="665683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11/20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P5：物理モデル/シミュレーションで疑似データ生成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Synthetic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教師データが乏しい前提では「疑似データの設計」が成功率を左右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2743200" cy="487680"/>
          </a:xfrm>
          <a:prstGeom prst="rect">
            <a:avLst/>
          </a:prstGeom>
          <a:solidFill>
            <a:srgbClr val="1F77B4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ツール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0" y="1234440"/>
            <a:ext cx="2743200" cy="487680"/>
          </a:xfrm>
          <a:prstGeom prst="rect">
            <a:avLst/>
          </a:prstGeom>
          <a:solidFill>
            <a:srgbClr val="1F77B4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主な用途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26480" y="1234440"/>
            <a:ext cx="2743200" cy="487680"/>
          </a:xfrm>
          <a:prstGeom prst="rect">
            <a:avLst/>
          </a:prstGeom>
          <a:solidFill>
            <a:srgbClr val="1F77B4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0" y="1234440"/>
            <a:ext cx="2743200" cy="487680"/>
          </a:xfrm>
          <a:prstGeom prst="rect">
            <a:avLst/>
          </a:prstGeom>
          <a:solidFill>
            <a:srgbClr val="1F77B4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722120"/>
            <a:ext cx="274320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DTSA‑II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1722120"/>
            <a:ext cx="274320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SEM-EDS寄り：合成スペクトル/定量/条件設計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0" y="1722120"/>
            <a:ext cx="274320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解析モデル＋MC、実測比較がしやすい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869680" y="1722120"/>
            <a:ext cx="274320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装置条件合わせが重要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209800"/>
            <a:ext cx="274320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PENEPMA/PENELOPE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2209800"/>
            <a:ext cx="274320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MCで電子/光子輸送→X線生成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2209800"/>
            <a:ext cx="274320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幾何/多層/吸収を物理的に扱える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69680" y="2209800"/>
            <a:ext cx="274320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計算コスト/セットアップ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2697480"/>
            <a:ext cx="274320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CASINO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2697480"/>
            <a:ext cx="274320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電子軌道MC（深さ・拡散）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2697480"/>
            <a:ext cx="274320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粒子/膜の相互作用感を掴める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69680" y="2697480"/>
            <a:ext cx="274320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スペクトル生成は連携が必要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185160"/>
            <a:ext cx="274320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espm/emtables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3185160"/>
            <a:ext cx="274320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高速シミュレーション/物理誘導分解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3185160"/>
            <a:ext cx="274320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大量データ生成と辞書設計に強い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69680" y="3185160"/>
            <a:ext cx="274320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薄片前提に注意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3672840"/>
            <a:ext cx="274320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xraylib/XrayDB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0" y="3672840"/>
            <a:ext cx="274320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線エネルギー/断面積データ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3672840"/>
            <a:ext cx="274320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辞書/前向きモデルの基礎部品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69680" y="3672840"/>
            <a:ext cx="274320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装置応答は別途モデル化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68680" y="44805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疑似データで“必ず揺らす”べきパラメータ（domain randomization）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8680" y="4800600"/>
            <a:ext cx="65836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エネルギー軸ずれ：ΔE（offset/scale）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分解能：FWHM(E) / テーリング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背景：ブレム形状・局所うねり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ノイズ：Poisson（カウント）+電子ノイズ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形状/吸収：粒子サイズ・基板寄与・取り出し角</a:t>
            </a:r>
            <a:endParaRPr lang="en-US" sz="1200" dirty="0"/>
          </a:p>
        </p:txBody>
      </p:sp>
      <p:pic>
        <p:nvPicPr>
          <p:cNvPr id="32" name="Image 0" descr="/mnt/data/edx_ppt_assets/monte_carlo_jeol.jpg"/>
          <p:cNvPicPr>
            <a:picLocks noChangeAspect="1"/>
          </p:cNvPicPr>
          <p:nvPr/>
        </p:nvPicPr>
        <p:blipFill>
          <a:blip r:embed="rId3"/>
          <a:srcRect t="14044" b="14044"/>
          <a:stretch/>
        </p:blipFill>
        <p:spPr>
          <a:xfrm>
            <a:off x="8229600" y="4754880"/>
            <a:ext cx="3291840" cy="155448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8229600" y="635508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MC例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2920" y="66568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EDXスペクトルからの高速組成推定（A+Bハイブリッド）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1521440" y="665683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12/20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ドメインランダム化：実測ギャップを潰す設計指針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Sim2Real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疑似→実測で破綻しやすい要因を“先に揺らして学習/検証”する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822960" y="1417320"/>
          <a:ext cx="566928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720840" y="1417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疑似データの揺らし方（例）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720840" y="1783080"/>
            <a:ext cx="2446020" cy="403860"/>
          </a:xfrm>
          <a:prstGeom prst="rect">
            <a:avLst/>
          </a:prstGeom>
          <a:solidFill>
            <a:srgbClr val="0B1F3B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項目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66860" y="1783080"/>
            <a:ext cx="2446020" cy="403860"/>
          </a:xfrm>
          <a:prstGeom prst="rect">
            <a:avLst/>
          </a:prstGeom>
          <a:solidFill>
            <a:srgbClr val="0B1F3B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ランダム化の例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720840" y="2186940"/>
            <a:ext cx="2446020" cy="4038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ΔE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66860" y="2186940"/>
            <a:ext cx="2446020" cy="4038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±(20–80)eV（装置/日変動に合わせる）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720840" y="2590800"/>
            <a:ext cx="2446020" cy="4038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FWHM(E)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166860" y="2590800"/>
            <a:ext cx="2446020" cy="4038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MnKα基準±10–30% + E依存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720840" y="2994660"/>
            <a:ext cx="2446020" cy="4038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166860" y="2994660"/>
            <a:ext cx="2446020" cy="4038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SNIP/指数/多項式を混在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720840" y="3398520"/>
            <a:ext cx="2446020" cy="4038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カウント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166860" y="3398520"/>
            <a:ext cx="2446020" cy="4038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Poisson：1e3〜1e6を対数一様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720840" y="3802380"/>
            <a:ext cx="2446020" cy="4038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基板寄与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166860" y="3802380"/>
            <a:ext cx="2446020" cy="4038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Si/SiO2等の混合比を振る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720840" y="4434840"/>
            <a:ext cx="489204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0372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設計のコツ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903720" y="489204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“正確な真値”より“揺らぎの幅”を優先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実測の統計量（ΔE, FWHM, 背景）を計測して分布化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A/Bの残差でギャップを可視化し、分布を更新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6568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EDXスペクトルからの高速組成推定（A+Bハイブリッド）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521440" y="665683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13/20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公開データの活用（学習ではなく“検証/事前学習”に使う）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Open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半導体粒子に直結するラベル付き公開データは少ない → “土台の検証”に使う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2743200" cy="777240"/>
          </a:xfrm>
          <a:prstGeom prst="rect">
            <a:avLst/>
          </a:prstGeom>
          <a:solidFill>
            <a:srgbClr val="1F77B4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0" y="1234440"/>
            <a:ext cx="2743200" cy="777240"/>
          </a:xfrm>
          <a:prstGeom prst="rect">
            <a:avLst/>
          </a:prstGeom>
          <a:solidFill>
            <a:srgbClr val="1F77B4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中身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26480" y="1234440"/>
            <a:ext cx="2743200" cy="777240"/>
          </a:xfrm>
          <a:prstGeom prst="rect">
            <a:avLst/>
          </a:prstGeom>
          <a:solidFill>
            <a:srgbClr val="1F77B4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用途（目的への接続）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0" y="1234440"/>
            <a:ext cx="2743200" cy="777240"/>
          </a:xfrm>
          <a:prstGeom prst="rect">
            <a:avLst/>
          </a:prstGeom>
          <a:solidFill>
            <a:srgbClr val="1F77B4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NIST：E0=5keV 75材料EDS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2011680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スペクトル＋標準＋DTSA-II定量用情報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0" y="2011680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P2/P3/P4の検証、疑似データの現実度評価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869680" y="2011680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条件（E0）が限定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788920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EMSA/MSA（.msa）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2788920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単一スペクトル交換の標準フォーマット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2788920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P0の入出力統一、社内パイプライン共有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69680" y="2788920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多次元は非対応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566160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NIST Atomic Spectra DB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3566160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原子遷移・線情報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3566160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線エネルギー辞書の根拠/参照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69680" y="3566160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EDS用には他DBと併用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343400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公開EDSマップ（研究）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4343400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ハイパースペクトル（画素スペクトル）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4343400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自己教師あり事前学習（P6）に転用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69680" y="4343400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ドメイン差あり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5349240"/>
            <a:ext cx="10972800" cy="123444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BBD9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48640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おすすめ運用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" y="57607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公開データで「前処理・校正・辞書G」の妥当性を先に固める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本番は疑似データ＋蒸留で高速モデルを作り、公開データは“外部ベンチマーク”として残す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6568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EDXスペクトルからの高速組成推定（A+Bハイブリッド）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521440" y="665683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14/20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P6：自己教師あり（ラベル無し）で頑健な表現を獲得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Self-supervised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狙い：ノイズ/ピーク揺れ/装置ドリフトに強い特徴量 → A/Bの安定化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例：Masked Reconstruction（スペクトルの一部を隠して再構成）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3931920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55064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入力スペクトル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51560" y="1901952"/>
            <a:ext cx="475488" cy="365760"/>
          </a:xfrm>
          <a:prstGeom prst="rect">
            <a:avLst/>
          </a:prstGeom>
          <a:solidFill>
            <a:srgbClr val="A5B4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73352" y="1901952"/>
            <a:ext cx="475488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95144" y="1901952"/>
            <a:ext cx="475488" cy="365760"/>
          </a:xfrm>
          <a:prstGeom prst="rect">
            <a:avLst/>
          </a:prstGeom>
          <a:solidFill>
            <a:srgbClr val="A5B4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16936" y="1901952"/>
            <a:ext cx="475488" cy="365760"/>
          </a:xfrm>
          <a:prstGeom prst="rect">
            <a:avLst/>
          </a:prstGeom>
          <a:solidFill>
            <a:srgbClr val="A5B4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38728" y="1901952"/>
            <a:ext cx="475488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0520" y="1901952"/>
            <a:ext cx="475488" cy="365760"/>
          </a:xfrm>
          <a:prstGeom prst="rect">
            <a:avLst/>
          </a:prstGeom>
          <a:solidFill>
            <a:srgbClr val="A5B4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2084832"/>
            <a:ext cx="5486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532120" y="1737360"/>
            <a:ext cx="2011680" cy="685800"/>
          </a:xfrm>
          <a:prstGeom prst="roundRect">
            <a:avLst/>
          </a:prstGeom>
          <a:solidFill>
            <a:srgbClr val="F0FDFA"/>
          </a:solidFill>
          <a:ln>
            <a:solidFill>
              <a:srgbClr val="99F6E4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Encoder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(1D-CNN/Transformer)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35240" y="2084832"/>
            <a:ext cx="5943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275320" y="1737360"/>
            <a:ext cx="2011680" cy="685800"/>
          </a:xfrm>
          <a:prstGeom prst="roundRect">
            <a:avLst/>
          </a:prstGeom>
          <a:solidFill>
            <a:srgbClr val="EEF6FF"/>
          </a:solidFill>
          <a:ln>
            <a:solidFill>
              <a:srgbClr val="BBD9FF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Decoder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(再構成)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378440" y="2084832"/>
            <a:ext cx="4572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0835640" y="1828800"/>
            <a:ext cx="1234440" cy="502920"/>
          </a:xfrm>
          <a:prstGeom prst="rect">
            <a:avLst/>
          </a:prstGeom>
          <a:solidFill>
            <a:srgbClr val="E5E7EB"/>
          </a:solidFill>
          <a:ln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復元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スペクトル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2651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学習信号：再構成誤差（Poisson NLLなど）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ラベル無しでも “頑健な表現” が育つ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160520"/>
            <a:ext cx="3657600" cy="582930"/>
          </a:xfrm>
          <a:prstGeom prst="rect">
            <a:avLst/>
          </a:prstGeom>
          <a:solidFill>
            <a:srgbClr val="0B1F3B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97680" y="4160520"/>
            <a:ext cx="3657600" cy="582930"/>
          </a:xfrm>
          <a:prstGeom prst="rect">
            <a:avLst/>
          </a:prstGeom>
          <a:solidFill>
            <a:srgbClr val="0B1F3B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Aへの効果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55280" y="4160520"/>
            <a:ext cx="3657600" cy="582930"/>
          </a:xfrm>
          <a:prstGeom prst="rect">
            <a:avLst/>
          </a:prstGeom>
          <a:solidFill>
            <a:srgbClr val="0B1F3B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Bへの効果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743450"/>
            <a:ext cx="3657600" cy="58293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Encoderを前処理特徴量として利用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97680" y="4743450"/>
            <a:ext cx="3657600" cy="58293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候補検出の誤検出減・安定化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55280" y="4743450"/>
            <a:ext cx="3657600" cy="58293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初期値推定/パラメータ推定の安定化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5326380"/>
            <a:ext cx="3657600" cy="58293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Denoiserとして使用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97680" y="5326380"/>
            <a:ext cx="3657600" cy="58293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低カウントでピーク検出が改善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55280" y="5326380"/>
            <a:ext cx="3657600" cy="58293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残差評価が明瞭（未知ピークが見える）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5909310"/>
            <a:ext cx="3657600" cy="58293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装置別に自己教師で微調整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97680" y="5909310"/>
            <a:ext cx="3657600" cy="58293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ドリフト/条件差に追随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55280" y="5909310"/>
            <a:ext cx="3657600" cy="58293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Bの前提ズレを部分的に吸収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66568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EDXスペクトルからの高速組成推定（A+Bハイブリッド）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521440" y="665683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15/20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蒸留＋不確かさゲート：A’で高速運用、Bで品質保証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Deploy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B（遅いが高信頼）を“先生”にしてA’（速い）を育てる。難例だけBへフォールバック。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2743200" cy="6858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入力スペクトル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0" y="1805940"/>
            <a:ext cx="3200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931920" y="1463040"/>
            <a:ext cx="2743200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77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A’（推論一発）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77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候補/強度/不確かさ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75120" y="1805940"/>
            <a:ext cx="3200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086600" y="1417320"/>
            <a:ext cx="1005840" cy="822960"/>
          </a:xfrm>
          <a:prstGeom prst="diamond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不確かさ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589520" y="2286000"/>
            <a:ext cx="0" cy="50292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388352" y="23774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63640" y="2880360"/>
            <a:ext cx="3474720" cy="7772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A1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B（DTSA‑II等）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AA1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精密化・補正・残差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3273552"/>
            <a:ext cx="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663440" y="3090672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77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教師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77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(擬似ラベル)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92440" y="1828800"/>
            <a:ext cx="155448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092440" y="16459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46920" y="1463040"/>
            <a:ext cx="2331720" cy="6858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A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最終出力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CA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（高速）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3657600" cy="576072"/>
          </a:xfrm>
          <a:prstGeom prst="rect">
            <a:avLst/>
          </a:prstGeom>
          <a:solidFill>
            <a:srgbClr val="0B1F3B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ゲート指標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0" y="3657600"/>
            <a:ext cx="3657600" cy="576072"/>
          </a:xfrm>
          <a:prstGeom prst="rect">
            <a:avLst/>
          </a:prstGeom>
          <a:solidFill>
            <a:srgbClr val="0B1F3B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55280" y="3657600"/>
            <a:ext cx="3657600" cy="576072"/>
          </a:xfrm>
          <a:prstGeom prst="rect">
            <a:avLst/>
          </a:prstGeom>
          <a:solidFill>
            <a:srgbClr val="0B1F3B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メリット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233672"/>
            <a:ext cx="3657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再構成残差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0" y="4233672"/>
            <a:ext cx="3657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||y − ŷ||（Poisson NLL等）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55280" y="4233672"/>
            <a:ext cx="3657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未知ピーク/ドリフトを検知しやすい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809744"/>
            <a:ext cx="3657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予測分散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97680" y="4809744"/>
            <a:ext cx="3657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アンサンブル/ドロップアウト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55280" y="4809744"/>
            <a:ext cx="3657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曖昧な近接ピークで自信が落ちる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5385816"/>
            <a:ext cx="3657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物理整合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97680" y="5385816"/>
            <a:ext cx="3657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元素内の線比/存在条件チェック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55280" y="5385816"/>
            <a:ext cx="3657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誤同定の説明が可能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5961888"/>
            <a:ext cx="3657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ルールベース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97680" y="5961888"/>
            <a:ext cx="3657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重要元素（Na/Mg等）で閾値調整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55280" y="5961888"/>
            <a:ext cx="3657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現場運用で安定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66568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EDXスペクトルからの高速組成推定（A+Bハイブリッド）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521440" y="665683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16/20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期待効果：速度・精度・説明性のトレードオフを解消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※定量値は環境依存。ここでは「相対比較のイメージ」を提示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325880"/>
          <a:ext cx="562356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1097280"/>
            <a:ext cx="5623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速度</a:t>
            </a:r>
            <a:endParaRPr lang="en-US" sz="14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355080" y="1325880"/>
          <a:ext cx="52578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6355080" y="1097280"/>
            <a:ext cx="5257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精度/信頼性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3977640"/>
            <a:ext cx="1097280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8680" y="4114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効果の整理（どこが改善されるか）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68680" y="4480560"/>
            <a:ext cx="3505200" cy="402336"/>
          </a:xfrm>
          <a:prstGeom prst="rect">
            <a:avLst/>
          </a:prstGeom>
          <a:solidFill>
            <a:srgbClr val="0B1F3B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項目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373880" y="4480560"/>
            <a:ext cx="3505200" cy="402336"/>
          </a:xfrm>
          <a:prstGeom prst="rect">
            <a:avLst/>
          </a:prstGeom>
          <a:solidFill>
            <a:srgbClr val="0B1F3B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従来（単発フィット）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879080" y="4480560"/>
            <a:ext cx="3505200" cy="402336"/>
          </a:xfrm>
          <a:prstGeom prst="rect">
            <a:avLst/>
          </a:prstGeom>
          <a:solidFill>
            <a:srgbClr val="0B1F3B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A+B（提案）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68680" y="4882896"/>
            <a:ext cx="3505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計算時間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373880" y="4882896"/>
            <a:ext cx="3505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全件で非線形反復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879080" y="4882896"/>
            <a:ext cx="3505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大半はAで即時、難例のみB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68680" y="5285232"/>
            <a:ext cx="3505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近接ピーク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373880" y="5285232"/>
            <a:ext cx="3505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係数分配が不安定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7879080" y="5285232"/>
            <a:ext cx="3505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線群整合＋物理補正で確証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868680" y="5687568"/>
            <a:ext cx="3505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未知係数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373880" y="5687568"/>
            <a:ext cx="3505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属人的な調整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7879080" y="5687568"/>
            <a:ext cx="3505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疑似データ/標準/補正で管理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868680" y="6089904"/>
            <a:ext cx="3505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説明性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373880" y="6089904"/>
            <a:ext cx="3505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残差最小が正しいとは限らない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7879080" y="6089904"/>
            <a:ext cx="3505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“どの線が効いたか”＋残差/不確かさ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02920" y="66568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EDXスペクトルからの高速組成推定（A+Bハイブリッド）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11521440" y="665683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17/20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リスクと対策（現場運用を想定）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Risk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“教師なし/疑似データ中心”では sim-to-real と例外処理が最大リスク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2743200" cy="769620"/>
          </a:xfrm>
          <a:prstGeom prst="rect">
            <a:avLst/>
          </a:prstGeom>
          <a:solidFill>
            <a:srgbClr val="1F77B4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0" y="1234440"/>
            <a:ext cx="2743200" cy="769620"/>
          </a:xfrm>
          <a:prstGeom prst="rect">
            <a:avLst/>
          </a:prstGeom>
          <a:solidFill>
            <a:srgbClr val="1F77B4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症状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26480" y="1234440"/>
            <a:ext cx="2743200" cy="769620"/>
          </a:xfrm>
          <a:prstGeom prst="rect">
            <a:avLst/>
          </a:prstGeom>
          <a:solidFill>
            <a:srgbClr val="1F77B4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影響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0" y="1234440"/>
            <a:ext cx="2743200" cy="769620"/>
          </a:xfrm>
          <a:prstGeom prst="rect">
            <a:avLst/>
          </a:prstGeom>
          <a:solidFill>
            <a:srgbClr val="1F77B4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対策（運用/技術）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004060"/>
            <a:ext cx="2743200" cy="769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sim-to-realギャップ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2004060"/>
            <a:ext cx="2743200" cy="769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合成では当たるが実測で外れる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0" y="2004060"/>
            <a:ext cx="2743200" cy="769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誤同定/誤定量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869680" y="2004060"/>
            <a:ext cx="2743200" cy="769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P13のランダム化分布を実測統計で更新、残差でゲート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773680"/>
            <a:ext cx="2743200" cy="769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SEMの3D効果/基板寄与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2773680"/>
            <a:ext cx="2743200" cy="769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吸収/形状で線強度が変動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2773680"/>
            <a:ext cx="2743200" cy="769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絶対定量が崩れる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69680" y="2773680"/>
            <a:ext cx="2743200" cy="769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DTSA-II/MCで条件寄せ、相対比→校正の2段階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543300"/>
            <a:ext cx="2743200" cy="769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未知元素/想定外線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3543300"/>
            <a:ext cx="2743200" cy="769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残差にピークが残る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3543300"/>
            <a:ext cx="2743200" cy="769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見逃し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69680" y="3543300"/>
            <a:ext cx="2743200" cy="769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残差ピーク検出→候補辞書拡張、OODフラグ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312920"/>
            <a:ext cx="2743200" cy="769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低カウント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4312920"/>
            <a:ext cx="2743200" cy="769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ノイズでピーク誤検出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4312920"/>
            <a:ext cx="2743200" cy="769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誤候補増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69680" y="4312920"/>
            <a:ext cx="2743200" cy="769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Poisson尤度、自己教師denoise、測定条件最適化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5082540"/>
            <a:ext cx="2743200" cy="769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ドリフト（装置/日変動）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0" y="5082540"/>
            <a:ext cx="2743200" cy="769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ΔEや分解能が変化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5082540"/>
            <a:ext cx="2743200" cy="769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再現性低下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69680" y="5082540"/>
            <a:ext cx="2743200" cy="769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P1校正の自動化、継続学習（蒸留）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5852160"/>
            <a:ext cx="10972800" cy="5943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989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27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運用の安全策：残差・不確かさが高いスペクトルは“自動でBに回す/保留する”ルールを組み込む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66568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EDXスペクトルからの高速組成推定（A+Bハイブリッド）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521440" y="665683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18/20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実装ロードマップ（PoC→パイロット→運用）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段階的に「安定→高速→自動改善」へ。既存フローと併走しながら置き換える。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0789920" cy="0"/>
          </a:xfrm>
          <a:prstGeom prst="line">
            <a:avLst/>
          </a:prstGeom>
          <a:noFill/>
          <a:ln w="508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645920"/>
            <a:ext cx="365760" cy="36576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03120"/>
            <a:ext cx="2926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7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P0-2整備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A（スパースNNLS）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基本KPI測定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20440" y="2926080"/>
            <a:ext cx="3200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0" y="1645920"/>
            <a:ext cx="365760" cy="365760"/>
          </a:xfrm>
          <a:prstGeom prst="ellipse">
            <a:avLst/>
          </a:prstGeom>
          <a:solidFill>
            <a:srgbClr val="2AA198"/>
          </a:solidFill>
          <a:ln w="12700">
            <a:solidFill>
              <a:srgbClr val="2AA19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2103120"/>
            <a:ext cx="2926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0624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A1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Pilot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06240" y="251460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DTSA-II連携（B）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疑似データ生成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ゲート運用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86600" y="2926080"/>
            <a:ext cx="1371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955280" y="1645920"/>
            <a:ext cx="365760" cy="365760"/>
          </a:xfrm>
          <a:prstGeom prst="ellipse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0" y="2103120"/>
            <a:ext cx="2926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58952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A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Rollout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89520" y="251460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蒸留でA’導入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継続学習/監視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ライン展開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749040"/>
            <a:ext cx="10972800" cy="2834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8862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推奨ツールスタック（例）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206240"/>
            <a:ext cx="3505200" cy="373380"/>
          </a:xfrm>
          <a:prstGeom prst="rect">
            <a:avLst/>
          </a:prstGeom>
          <a:solidFill>
            <a:srgbClr val="0B1F3B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73880" y="4206240"/>
            <a:ext cx="3505200" cy="373380"/>
          </a:xfrm>
          <a:prstGeom prst="rect">
            <a:avLst/>
          </a:prstGeom>
          <a:solidFill>
            <a:srgbClr val="0B1F3B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候補ライブラリ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879080" y="4206240"/>
            <a:ext cx="3505200" cy="373380"/>
          </a:xfrm>
          <a:prstGeom prst="rect">
            <a:avLst/>
          </a:prstGeom>
          <a:solidFill>
            <a:srgbClr val="0B1F3B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導入順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4579620"/>
            <a:ext cx="350520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I/O/解析基盤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73880" y="4579620"/>
            <a:ext cx="350520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HyperSpy + eXSpy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79080" y="4579620"/>
            <a:ext cx="350520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最優先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" y="4953000"/>
            <a:ext cx="350520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前処理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373880" y="4953000"/>
            <a:ext cx="350520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pybaselines（SNIP等）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879080" y="4953000"/>
            <a:ext cx="350520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最優先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" y="5326380"/>
            <a:ext cx="350520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線辞書/物理データ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73880" y="5326380"/>
            <a:ext cx="350520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XrayDB / xraylib / (必要に応じemtables)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879080" y="5326380"/>
            <a:ext cx="350520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早期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68680" y="5699760"/>
            <a:ext cx="350520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精密化（教師/保証）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373880" y="5699760"/>
            <a:ext cx="350520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NIST DTSA‑II（＋必要に応じMC）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879080" y="5699760"/>
            <a:ext cx="350520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Pilot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68680" y="6073140"/>
            <a:ext cx="350520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高速化（蒸留/自己教師）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373880" y="6073140"/>
            <a:ext cx="350520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PyTorch/JAX + 推論最適化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879080" y="6073140"/>
            <a:ext cx="350520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Rollout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66568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EDXスペクトルからの高速組成推定（A+Bハイブリッド）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521440" y="665683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19/20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KPI（評価指標）と次アクション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KPI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目的に直結する指標で、A/B/蒸留の改善を回す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3657600" cy="548640"/>
          </a:xfrm>
          <a:prstGeom prst="rect">
            <a:avLst/>
          </a:prstGeom>
          <a:solidFill>
            <a:srgbClr val="0B1F3B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0" y="1234440"/>
            <a:ext cx="3657600" cy="548640"/>
          </a:xfrm>
          <a:prstGeom prst="rect">
            <a:avLst/>
          </a:prstGeom>
          <a:solidFill>
            <a:srgbClr val="0B1F3B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KPI例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955280" y="1234440"/>
            <a:ext cx="3657600" cy="548640"/>
          </a:xfrm>
          <a:prstGeom prst="rect">
            <a:avLst/>
          </a:prstGeom>
          <a:solidFill>
            <a:srgbClr val="0B1F3B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評価データ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速度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0" y="178308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本/秒、P95レイテンシ、Bフォールバック率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55280" y="178308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運用ログ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同定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0" y="233172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元素候補の適合率/再現率、近接ピークの誤同定率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55280" y="233172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標準/擬似データ/人手確認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88036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定量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0" y="288036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組成誤差（標準）、線比整合、残差NLL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55280" y="288036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標準試料、DTSA-II教師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42900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頑健性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97680" y="342900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ΔE/FWHM変動時の性能低下、低カウント耐性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55280" y="342900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条件スイープ（疑似＋実測）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97764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運用性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97680" y="397764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未同定フラグ率、再解析工数、説明可能レポート率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955280" y="397764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工程レビュー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709160"/>
            <a:ext cx="1097280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48463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次アクション（最短で成果が出る順）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8680" y="51663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1) P0-2：I/O統一＋校正＋背景除去を固定（再現性の土台）</a:t>
            </a:r>
            <a:endParaRPr lang="en-US" sz="13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2) A：スパースNNLSで候補/粗強度を一括推定（高速化）</a:t>
            </a:r>
            <a:endParaRPr lang="en-US" sz="13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3) B：DTSA-II連携で難例を精密化（保証＆教師生成）</a:t>
            </a:r>
            <a:endParaRPr lang="en-US" sz="13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4) P5/P6：疑似データ＋蒸留でA’を育て、運用を一発推論へ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6568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EDXスペクトルからの高速組成推定（A+Bハイブリッド）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1440" y="665683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20/20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3441</Words>
  <Application>Microsoft Macintosh PowerPoint</Application>
  <PresentationFormat>ワイド画面</PresentationFormat>
  <Paragraphs>587</Paragraphs>
  <Slides>20</Slides>
  <Notes>20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3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Generated by ChatGPT</dc:creator>
  <cp:lastModifiedBy>kawahito</cp:lastModifiedBy>
  <cp:revision>2</cp:revision>
  <dcterms:created xsi:type="dcterms:W3CDTF">2026-01-21T09:59:11Z</dcterms:created>
  <dcterms:modified xsi:type="dcterms:W3CDTF">2026-03-04T00:36:33Z</dcterms:modified>
</cp:coreProperties>
</file>