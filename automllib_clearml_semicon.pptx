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Background photo: Swagelok Northern California (semiconductor fab equipment) https://northerncal.swagelok.com/semiconductor-fab-equipment-snc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sources; slide reflects common workflow bottlenecks in engineering analytics.)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ClearML marketing image (projects): https://clear.ml/ (image asset: clearml-projects.webp)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ClearML auto-logging overview: https://clear.ml/docs/latest/docs/getting_started/auto_log_exp/
- ClearML Agent (queues/remote execution): https://clear.ml/docs/latest/docs/clearml_agent/
- ClearML pipelines overview (pipeline run UI): https://clear.ml/docs/latest/docs/pipelines/
- Dashboard screenshot: https://clear.ml/docs/latest/docs/webapp/applications/apps_dashboard/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ClearML Pipelines overview (controller task + run UI): https://clear.ml/docs/latest/docs/pipelines/
- PipelineController reference: https://clear.ml/docs/latest/docs/references/sdk/automation_controller_pipelinecontroller/
- Pipeline illustration image (from ClearML docs): https://github.com/clearml/clearml/blob/master/docs/pipelines.gif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TabNet paper (interpretable tabular deep learning): https://arxiv.org/abs/1908.07442
- TabPFN (tabular foundation model) overview in Nature: https://www.nature.com/articles/s41586-024-08328-6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sources; content describes general evaluation pitfalls and how pipeline standardization mitigates them.)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(No external sources; mapping is based on common semiconductor manufacturing analytics use cases.)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ClearML InputModel reference: https://clear.ml/docs/latest/docs/references/sdk/model_inputmodel/
- ClearML OutputModel reference: https://clear.ml/docs/latest/docs/references/sdk/model_outputmodel/
- ClearML models fundamentals (models traceable to tasks): https://clear.ml/docs/latest/docs/fundamentals/models/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ClearML feature overview (logging, orchestration, data mgmt): https://clear.ml/docs/latest/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ai/share/fab_equipment.jpg">    </p:cNvPr>
          <p:cNvPicPr>
            <a:picLocks noChangeAspect="1"/>
          </p:cNvPicPr>
          <p:nvPr/>
        </p:nvPicPr>
        <p:blipFill>
          <a:blip r:embed="rId1"/>
          <a:srcRect l="1" r="1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1B2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463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忙しい現場で、最短で成果を出す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201168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 × ClearML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（半導体製造装置・プロセス向け）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502920" y="3794760"/>
            <a:ext cx="6858000" cy="640080"/>
          </a:xfrm>
          <a:prstGeom prst="roundRect">
            <a:avLst/>
          </a:prstGeom>
          <a:solidFill>
            <a:srgbClr val="111B2E">
              <a:alpha val="90000"/>
            </a:srgbClr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867912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「モデル作り」より先に、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“再現性のある実験の型”を手に入れる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なぜ「分析が回らない」のか（現場のボトルネック）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データはある。時間がない。だから“再現性”が積み上がらない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装置ログ/センサー/検査/レシピ… 解析以前に「作業の型」が欠けると、毎回ゼロからになりがち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432908" cy="1874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74520"/>
            <a:ext cx="73152" cy="1874520"/>
          </a:xfrm>
          <a:prstGeom prst="rect">
            <a:avLst/>
          </a:prstGeom>
          <a:solidFill>
            <a:srgbClr val="00D1B2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039112"/>
            <a:ext cx="51128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実験が再現できない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2441448"/>
            <a:ext cx="5112868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・誰が、どのデータで、どの設定で回したかが残らない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・結果の比較ができず、議論が感覚に寄る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55868" y="1874520"/>
            <a:ext cx="5432908" cy="1874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55868" y="1874520"/>
            <a:ext cx="73152" cy="1874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0460" y="2039112"/>
            <a:ext cx="51128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モデル選定が重い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20460" y="2441448"/>
            <a:ext cx="5112868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・線形/木/GBDT…どれが効くか分からない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・チューニングの学習コストが高い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069080"/>
            <a:ext cx="5432908" cy="1874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4069080"/>
            <a:ext cx="73152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233672"/>
            <a:ext cx="51128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データ前処理が属人化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7512" y="4636008"/>
            <a:ext cx="5112868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・欠損/外れ値/リーク/分割の作法が統一されない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・工程が変わるたびに作り直し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55868" y="4069080"/>
            <a:ext cx="5432908" cy="187452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55868" y="4069080"/>
            <a:ext cx="73152" cy="18745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0460" y="4233672"/>
            <a:ext cx="51128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業務に繋がらない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20460" y="4636008"/>
            <a:ext cx="5112868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・精度が出ても「次に何をするか」が決まらない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・設計/制御/保守の判断に落ちない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56248"/>
            <a:ext cx="10271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automllib + ClearML（半導体製造エンジニア向け）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14455" y="65562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このリポジトリの意義（ユーザー視点）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狙い：分析を「個人技」から「再利用できる型」へ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076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本コードベースは、表形式データ（装置ログ/工程条件/検査集計）を前提に、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学習〜評価〜推論を“設定駆動”で回せるようにして、現場の試行錯誤を短縮します。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579815" y="1234440"/>
            <a:ext cx="3108960" cy="128016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/home/oai/share/clearml_projects.png">    </p:cNvPr>
          <p:cNvPicPr>
            <a:picLocks noChangeAspect="1"/>
          </p:cNvPicPr>
          <p:nvPr/>
        </p:nvPicPr>
        <p:blipFill>
          <a:blip r:embed="rId1"/>
          <a:srcRect l="0" r="0" t="15574" b="15574"/>
          <a:stretch/>
        </p:blipFill>
        <p:spPr>
          <a:xfrm>
            <a:off x="8643823" y="1298448"/>
            <a:ext cx="2980944" cy="115214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2606040"/>
            <a:ext cx="3576218" cy="352044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1520" y="2834640"/>
            <a:ext cx="594360" cy="594360"/>
          </a:xfrm>
          <a:prstGeom prst="rect">
            <a:avLst/>
          </a:prstGeom>
          <a:solidFill>
            <a:srgbClr val="00D1B2"/>
          </a:solidFill>
          <a:ln>
            <a:solidFill>
              <a:srgbClr val="00D1B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417320" y="2862072"/>
            <a:ext cx="24789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AutoMLで最短探索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3566160"/>
            <a:ext cx="311901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・モデル候補を横並び比較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・チューニングを自動化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・「まず当たる」から開始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07738" y="2606040"/>
            <a:ext cx="3576218" cy="352044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36338" y="2834640"/>
            <a:ext cx="594360" cy="5943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222138" y="2862072"/>
            <a:ext cx="24789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ClearMLで再現性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536338" y="3566160"/>
            <a:ext cx="311901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・コード/データ/環境/指標を自動記録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・比較/共有がUIで完結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・夜間キューで回せる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112557" y="2606040"/>
            <a:ext cx="3576218" cy="352044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341157" y="2834640"/>
            <a:ext cx="594360" cy="5943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026957" y="2862072"/>
            <a:ext cx="24789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現場で“使える出力”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341157" y="3566160"/>
            <a:ext cx="311901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・因子候補（重要度）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・予測/ランキング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・条件最適化の“当たり”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→設計/制御/保守に接続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6556248"/>
            <a:ext cx="10271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automllib + ClearML（半導体製造エンジニア向け）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414455" y="65562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ClearML連携：ここが本質（忙しいエンジニアほど効く）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ClearMLがやること＝「実験の証拠」を自動で残す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5669280" cy="548640"/>
          </a:xfrm>
          <a:prstGeom prst="rect">
            <a:avLst/>
          </a:prstGeom>
          <a:solidFill>
            <a:srgbClr val="111B2E"/>
          </a:solidFill>
          <a:ln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現場で嬉しいポイント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5669280" cy="1480820"/>
          </a:xfrm>
          <a:prstGeom prst="rect">
            <a:avLst/>
          </a:prstGeom>
          <a:solidFill>
            <a:srgbClr val="111B2E"/>
          </a:solidFill>
          <a:ln>
            <a:solidFill>
              <a:srgbClr val="1F2A44"/>
            </a:solidFill>
          </a:ln>
        </p:spPr>
        <p:txBody>
          <a:bodyPr wrap="square" rtlCol="0" anchor="t"/>
          <a:lstStyle/>
          <a:p>
            <a:pPr marL="173736" indent="-173736">
              <a:lnSpc>
                <a:spcPct val="120000"/>
              </a:lnSpc>
              <a:buSzPct val="100000"/>
              <a:buChar char="•"/>
            </a:pPr>
            <a:r>
              <a:rPr lang="en-US" sz="152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パラメータ・コード・環境・指標を自動ログ（再現・監査が容易）</a:t>
            </a:r>
            <a:endParaRPr lang="en-US" sz="1520" dirty="0"/>
          </a:p>
          <a:p>
            <a:pPr marL="173736" indent="-173736">
              <a:lnSpc>
                <a:spcPct val="120000"/>
              </a:lnSpc>
              <a:buSzPct val="100000"/>
              <a:buChar char="•"/>
            </a:pPr>
            <a:r>
              <a:rPr lang="en-US" sz="152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モデル/データのバージョンを紐づけて共有（属人化を防ぐ）</a:t>
            </a:r>
            <a:endParaRPr lang="en-US" sz="1520" dirty="0"/>
          </a:p>
          <a:p>
            <a:pPr marL="173736" indent="-173736">
              <a:lnSpc>
                <a:spcPct val="120000"/>
              </a:lnSpc>
              <a:buSzPct val="100000"/>
              <a:buChar char="•"/>
            </a:pPr>
            <a:r>
              <a:rPr lang="en-US" sz="152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キュー &amp; エージェントで夜間/別マシン実行（PCを占有しない）</a:t>
            </a:r>
            <a:endParaRPr lang="en-US" sz="1520" dirty="0"/>
          </a:p>
          <a:p>
            <a:pPr marL="173736" indent="-173736">
              <a:lnSpc>
                <a:spcPct val="120000"/>
              </a:lnSpc>
              <a:buSzPct val="100000"/>
              <a:buChar char="•"/>
            </a:pPr>
            <a:r>
              <a:rPr lang="en-US" sz="152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パイプライン実行で「前処理→学習→評価」が一貫（抜け漏れ防止）</a:t>
            </a:r>
            <a:endParaRPr lang="en-US" sz="1520" dirty="0"/>
          </a:p>
        </p:txBody>
      </p:sp>
      <p:sp>
        <p:nvSpPr>
          <p:cNvPr id="7" name="Text 5"/>
          <p:cNvSpPr/>
          <p:nvPr/>
        </p:nvSpPr>
        <p:spPr>
          <a:xfrm>
            <a:off x="502920" y="5669280"/>
            <a:ext cx="5669280" cy="502920"/>
          </a:xfrm>
          <a:prstGeom prst="rect">
            <a:avLst/>
          </a:prstGeom>
          <a:solidFill>
            <a:srgbClr val="111B2E"/>
          </a:solidFill>
          <a:ln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“結果”だけでなく「どうやって得たか」が残る → 技術議論が前に進む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446520" y="1417320"/>
            <a:ext cx="5242255" cy="45262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25000"/>
              </a:srgbClr>
            </a:outerShdw>
          </a:effectLst>
        </p:spPr>
      </p:sp>
      <p:pic>
        <p:nvPicPr>
          <p:cNvPr id="9" name="Image 0" descr="/home/oai/share/clearml_dashboard.png">    </p:cNvPr>
          <p:cNvPicPr>
            <a:picLocks noChangeAspect="1"/>
          </p:cNvPicPr>
          <p:nvPr/>
        </p:nvPicPr>
        <p:blipFill>
          <a:blip r:embed="rId1"/>
          <a:srcRect l="17297" r="17297" t="0" b="0"/>
          <a:stretch/>
        </p:blipFill>
        <p:spPr>
          <a:xfrm>
            <a:off x="6510528" y="1481328"/>
            <a:ext cx="5114239" cy="43982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5989320"/>
            <a:ext cx="52422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例：ClearMLのダッシュボード（実験/指標の集約表示）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56248"/>
            <a:ext cx="10271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automllib + ClearML（半導体製造エンジニア向け）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14455" y="65562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パイプライン：分析の「型」を固定し、品質を上げる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一気通貫の流れ（データ → 前処理 → 学習/比較 → 推論/最適化）</a:t>
            </a:r>
            <a:endParaRPr lang="en-US" sz="2600" dirty="0"/>
          </a:p>
        </p:txBody>
      </p:sp>
      <p:pic>
        <p:nvPicPr>
          <p:cNvPr id="5" name="Image 0" descr="/home/oai/share/clearml_pipelines.png">    </p:cNvPr>
          <p:cNvPicPr>
            <a:picLocks noChangeAspect="1"/>
          </p:cNvPicPr>
          <p:nvPr/>
        </p:nvPicPr>
        <p:blipFill>
          <a:blip r:embed="rId1"/>
          <a:srcRect l="0" r="0" t="9666" b="9666"/>
          <a:stretch/>
        </p:blipFill>
        <p:spPr>
          <a:xfrm>
            <a:off x="0" y="1325880"/>
            <a:ext cx="12191695" cy="553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1325880"/>
            <a:ext cx="12191695" cy="5532120"/>
          </a:xfrm>
          <a:prstGeom prst="rect">
            <a:avLst/>
          </a:prstGeom>
          <a:solidFill>
            <a:srgbClr val="0B1220">
              <a:alpha val="75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965960"/>
            <a:ext cx="2057400" cy="8686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2648" y="2075688"/>
            <a:ext cx="320040" cy="649224"/>
          </a:xfrm>
          <a:prstGeom prst="roundRect">
            <a:avLst/>
          </a:prstGeom>
          <a:solidFill>
            <a:srgbClr val="00D1B2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2130552"/>
            <a:ext cx="1371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(ログ/検査)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587752" y="2267712"/>
            <a:ext cx="265176" cy="274320"/>
          </a:xfrm>
          <a:prstGeom prst="rightArrow">
            <a:avLst/>
          </a:prstGeom>
          <a:solidFill>
            <a:srgbClr val="CBD5E1">
              <a:alpha val="65000"/>
            </a:srgbClr>
          </a:solidFill>
          <a:ln w="12700">
            <a:solidFill>
              <a:srgbClr val="CBD5E1">
                <a:alpha val="2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80360" y="1965960"/>
            <a:ext cx="2057400" cy="8686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90088" y="2075688"/>
            <a:ext cx="320040" cy="649224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29000" y="2130552"/>
            <a:ext cx="1371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前処理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(欠損/外れ値)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965192" y="2267712"/>
            <a:ext cx="265176" cy="274320"/>
          </a:xfrm>
          <a:prstGeom prst="rightArrow">
            <a:avLst/>
          </a:prstGeom>
          <a:solidFill>
            <a:srgbClr val="CBD5E1">
              <a:alpha val="65000"/>
            </a:srgbClr>
          </a:solidFill>
          <a:ln w="12700">
            <a:solidFill>
              <a:srgbClr val="CBD5E1">
                <a:alpha val="2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57800" y="1965960"/>
            <a:ext cx="2057400" cy="8686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67528" y="2075688"/>
            <a:ext cx="320040" cy="64922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06440" y="2130552"/>
            <a:ext cx="1371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(候補を一括)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42632" y="2267712"/>
            <a:ext cx="265176" cy="274320"/>
          </a:xfrm>
          <a:prstGeom prst="rightArrow">
            <a:avLst/>
          </a:prstGeom>
          <a:solidFill>
            <a:srgbClr val="CBD5E1">
              <a:alpha val="65000"/>
            </a:srgbClr>
          </a:solidFill>
          <a:ln w="12700">
            <a:solidFill>
              <a:srgbClr val="CBD5E1">
                <a:alpha val="2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635240" y="1965960"/>
            <a:ext cx="2057400" cy="8686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744968" y="2075688"/>
            <a:ext cx="320040" cy="649224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83880" y="2130552"/>
            <a:ext cx="1371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比較・選定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(指標/説明)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720072" y="2267712"/>
            <a:ext cx="265176" cy="274320"/>
          </a:xfrm>
          <a:prstGeom prst="rightArrow">
            <a:avLst/>
          </a:prstGeom>
          <a:solidFill>
            <a:srgbClr val="CBD5E1">
              <a:alpha val="65000"/>
            </a:srgbClr>
          </a:solidFill>
          <a:ln w="12700">
            <a:solidFill>
              <a:srgbClr val="CBD5E1">
                <a:alpha val="25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012680" y="1965960"/>
            <a:ext cx="2057400" cy="8686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0122408" y="2075688"/>
            <a:ext cx="320040" cy="649224"/>
          </a:xfrm>
          <a:prstGeom prst="round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561320" y="2130552"/>
            <a:ext cx="1371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推論/最適化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(What-if)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02920" y="3246120"/>
            <a:ext cx="11185855" cy="2606040"/>
          </a:xfrm>
          <a:prstGeom prst="roundRect">
            <a:avLst/>
          </a:prstGeom>
          <a:solidFill>
            <a:srgbClr val="0B253A">
              <a:alpha val="85000"/>
            </a:srgbClr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2960" y="342900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ClearMLに残るもの（＝次の議論の材料）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77240" y="3886200"/>
            <a:ext cx="3454298" cy="17830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4069080"/>
            <a:ext cx="317997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データの版 (Dataset)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前処理条件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分割条件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05858" y="3886200"/>
            <a:ext cx="3454298" cy="17830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43018" y="4069080"/>
            <a:ext cx="317997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モデル種 &amp; パラメータ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学習ログ/指標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比較結果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234477" y="3886200"/>
            <a:ext cx="3454298" cy="17830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71637" y="4069080"/>
            <a:ext cx="317997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推論結果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因子候補 (重要度)</a:t>
            </a:r>
            <a:endParaRPr lang="en-US" sz="1300" dirty="0"/>
          </a:p>
          <a:p>
            <a:pPr marL="228600" indent="-2286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成果物 (モデル)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" y="6556248"/>
            <a:ext cx="10271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automllib + ClearML（半導体製造エンジニア向け）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414455" y="65562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モデル群の考え方（表形式データの定石を一気に試す）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モデル選定は「宗教」ではなく、候補を同一条件で並べる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工程・装置データは “表形式” が多い。だから、強い選択肢を最初から揃えておくのが最短。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842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5715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4920" y="5715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関係の複雑さ 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34440" y="2651760"/>
            <a:ext cx="2834640" cy="548640"/>
          </a:xfrm>
          <a:prstGeom prst="roundRect">
            <a:avLst/>
          </a:prstGeom>
          <a:solidFill>
            <a:srgbClr val="00D1B2">
              <a:alpha val="90000"/>
            </a:srgbClr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99032" y="27797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線形/正則化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（因子の説明に強い）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651760"/>
            <a:ext cx="2834640" cy="548640"/>
          </a:xfrm>
          <a:prstGeom prst="roundRect">
            <a:avLst/>
          </a:prstGeom>
          <a:solidFill>
            <a:srgbClr val="3B82F6">
              <a:alpha val="9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27797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木/ランダムフォレスト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（頑健・外れ値に強い）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34440" y="4297680"/>
            <a:ext cx="2834640" cy="548640"/>
          </a:xfrm>
          <a:prstGeom prst="round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99032" y="44256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GBDT（XGBoost/LightGBM等）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（表形式の王道）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4297680"/>
            <a:ext cx="2834640" cy="548640"/>
          </a:xfrm>
          <a:prstGeom prst="roundRect">
            <a:avLst/>
          </a:prstGeom>
          <a:solidFill>
            <a:srgbClr val="A78BFA">
              <a:alpha val="9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44256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深層 tabular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（TabNet/TabPFN等）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35240" y="1874520"/>
            <a:ext cx="4053535" cy="425196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057400"/>
            <a:ext cx="3596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現場での使い分け（例）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596335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・因子を説明したい：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線形/木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で当たりを付ける</a:t>
            </a:r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・精度が欲しい：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GBDT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でベースラインを作る</a:t>
            </a:r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・データが少ない/複雑：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TabPFN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等も候補（条件次第）</a:t>
            </a:r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・説明性と精度の両立：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TabNet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など（特徴の選択を可視化）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863840" y="4709160"/>
            <a:ext cx="3596335" cy="1188720"/>
          </a:xfrm>
          <a:prstGeom prst="rect">
            <a:avLst/>
          </a:prstGeom>
          <a:solidFill>
            <a:srgbClr val="0B253A">
              <a:alpha val="90000"/>
            </a:srgbClr>
          </a:solidFill>
          <a:ln>
            <a:solidFill>
              <a:srgbClr val="1F2A44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重要：比較は必ず同一分割/同一前処理で。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“モデルの差”を公平に見る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6556248"/>
            <a:ext cx="10271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automllib + ClearML（半導体製造エンジニア向け）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14455" y="65562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前処理・特徴量：装置データで“やらかしやすい”ところを守る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精度以前に「評価が正しい」状態を作る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ここが崩れると、精度が良く見えても現場で再現しません。パイプライン化の価値はここにあります。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5806440" cy="425196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よくある落とし穴（半導体データ特有）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5166360" cy="15887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7734" indent="-157734">
              <a:lnSpc>
                <a:spcPct val="120000"/>
              </a:lnSpc>
              <a:buSzPct val="100000"/>
              <a:buChar char="•"/>
            </a:pPr>
            <a:r>
              <a:rPr lang="en-US" sz="138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欠損：装置状態/ログ欠落を「意味のある欠損」として扱う</a:t>
            </a:r>
            <a:endParaRPr lang="en-US" sz="1380" dirty="0"/>
          </a:p>
          <a:p>
            <a:pPr marL="157734" indent="-157734">
              <a:lnSpc>
                <a:spcPct val="120000"/>
              </a:lnSpc>
              <a:buSzPct val="100000"/>
              <a:buChar char="•"/>
            </a:pPr>
            <a:r>
              <a:rPr lang="en-US" sz="138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外れ値：異常/メンテ直後/切替直後の点をどう扱うか</a:t>
            </a:r>
            <a:endParaRPr lang="en-US" sz="1380" dirty="0"/>
          </a:p>
          <a:p>
            <a:pPr marL="157734" indent="-157734">
              <a:lnSpc>
                <a:spcPct val="120000"/>
              </a:lnSpc>
              <a:buSzPct val="100000"/>
              <a:buChar char="•"/>
            </a:pPr>
            <a:r>
              <a:rPr lang="en-US" sz="138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リーク：未来情報（検査後のフラグ等）が混入していないか</a:t>
            </a:r>
            <a:endParaRPr lang="en-US" sz="1380" dirty="0"/>
          </a:p>
          <a:p>
            <a:pPr marL="157734" indent="-157734">
              <a:lnSpc>
                <a:spcPct val="120000"/>
              </a:lnSpc>
              <a:buSzPct val="100000"/>
              <a:buChar char="•"/>
            </a:pPr>
            <a:r>
              <a:rPr lang="en-US" sz="138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分割：同一Lot/同一装置/同一レシピがtrain/testを跨がない</a:t>
            </a:r>
            <a:endParaRPr lang="en-US" sz="1380" dirty="0"/>
          </a:p>
          <a:p>
            <a:pPr marL="157734" indent="-157734">
              <a:lnSpc>
                <a:spcPct val="120000"/>
              </a:lnSpc>
              <a:buSzPct val="100000"/>
              <a:buChar char="•"/>
            </a:pPr>
            <a:r>
              <a:rPr lang="en-US" sz="138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集約：時系列ログは“どの窓で要約するか”が勝負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777240" y="5303520"/>
            <a:ext cx="5257800" cy="685800"/>
          </a:xfrm>
          <a:prstGeom prst="rect">
            <a:avLst/>
          </a:prstGeom>
          <a:solidFill>
            <a:srgbClr val="0B253A">
              <a:alpha val="90000"/>
            </a:srgbClr>
          </a:solidFill>
          <a:ln>
            <a:solidFill>
              <a:srgbClr val="1F2A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00D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ポイント：前処理と分割の“設定”を必ず保存 → 次の実験・他者が再現できる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720840" y="1874520"/>
            <a:ext cx="4967935" cy="425196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2103120"/>
            <a:ext cx="4419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パイプラインで担保すること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2606040"/>
            <a:ext cx="4327855" cy="1369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7734" indent="-157734">
              <a:lnSpc>
                <a:spcPct val="120000"/>
              </a:lnSpc>
              <a:buSzPct val="100000"/>
              <a:buChar char="•"/>
            </a:pPr>
            <a:r>
              <a:rPr lang="en-US" sz="138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同一の前処理・同一の分割で、モデルだけ差し替えて比較</a:t>
            </a:r>
            <a:endParaRPr lang="en-US" sz="1380" dirty="0"/>
          </a:p>
          <a:p>
            <a:pPr marL="157734" indent="-157734">
              <a:lnSpc>
                <a:spcPct val="120000"/>
              </a:lnSpc>
              <a:buSzPct val="100000"/>
              <a:buChar char="•"/>
            </a:pPr>
            <a:r>
              <a:rPr lang="en-US" sz="138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評価指標とログを統一（議論の土台を固定）</a:t>
            </a:r>
            <a:endParaRPr lang="en-US" sz="1380" dirty="0"/>
          </a:p>
          <a:p>
            <a:pPr marL="157734" indent="-157734">
              <a:lnSpc>
                <a:spcPct val="120000"/>
              </a:lnSpc>
              <a:buSzPct val="100000"/>
              <a:buChar char="•"/>
            </a:pPr>
            <a:r>
              <a:rPr lang="en-US" sz="138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成果物（モデル/前処理器）を一緒に保存して推論に直結</a:t>
            </a:r>
            <a:endParaRPr lang="en-US" sz="1380" dirty="0"/>
          </a:p>
          <a:p>
            <a:pPr marL="157734" indent="-157734">
              <a:lnSpc>
                <a:spcPct val="120000"/>
              </a:lnSpc>
              <a:buSzPct val="100000"/>
              <a:buChar char="•"/>
            </a:pPr>
            <a:r>
              <a:rPr lang="en-US" sz="138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失敗した実験も履歴として残す（再発防止）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6949440" y="4663440"/>
            <a:ext cx="4510735" cy="1325880"/>
          </a:xfrm>
          <a:prstGeom prst="rect">
            <a:avLst/>
          </a:prstGeom>
          <a:solidFill>
            <a:srgbClr val="0B253A"/>
          </a:solidFill>
          <a:ln>
            <a:solidFill>
              <a:srgbClr val="1F2A44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例：設定で固定する項目（概念）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target: 目的変数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split: Lot/Tool単位の分割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preprocess: 欠損/外れ値/スケール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models: 候補群 + 探索条件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6556248"/>
            <a:ext cx="10271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automllib + ClearML（半導体製造エンジニア向け）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14455" y="65562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業務課題 × 出力（“何が得られるか”を先に固定する）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モデルは手段。出力を業務の判断に繋げる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同じ学習でも「どう使うか」で必要な出力が変わります。先に“使い所”を決めるのが成功の近道。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2971800" cy="658368"/>
          </a:xfrm>
          <a:prstGeom prst="rect">
            <a:avLst/>
          </a:prstGeom>
          <a:solidFill>
            <a:srgbClr val="0B253A"/>
          </a:solidFill>
          <a:ln w="12700">
            <a:solidFill>
              <a:srgbClr val="1F2A44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業務課題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874520"/>
            <a:ext cx="4023360" cy="658368"/>
          </a:xfrm>
          <a:prstGeom prst="rect">
            <a:avLst/>
          </a:prstGeom>
          <a:solidFill>
            <a:srgbClr val="0B253A"/>
          </a:solidFill>
          <a:ln w="12700">
            <a:solidFill>
              <a:srgbClr val="1F2A44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代表出力（例）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0" y="1874520"/>
            <a:ext cx="4572000" cy="658368"/>
          </a:xfrm>
          <a:prstGeom prst="rect">
            <a:avLst/>
          </a:prstGeom>
          <a:solidFill>
            <a:srgbClr val="0B253A"/>
          </a:solidFill>
          <a:ln w="12700">
            <a:solidFill>
              <a:srgbClr val="1F2A44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意思決定への落とし込み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532888"/>
            <a:ext cx="2971800" cy="8686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A44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装置異常要因分析</a:t>
            </a:r>
            <a:endParaRPr lang="en-US" sz="1330" dirty="0"/>
          </a:p>
          <a:p>
            <a:pPr indent="0" marL="0">
              <a:buNone/>
            </a:pPr>
            <a:r>
              <a:rPr lang="en-US" sz="133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(RCA)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3474720" y="2532888"/>
            <a:ext cx="4023360" cy="8686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A44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・異常/正常の判別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・特徴量重要度（因子候補）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・条件別の誤検知/漏れ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7498080" y="2532888"/>
            <a:ext cx="4572000" cy="8686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A44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・確認すべきセンサー/サブシステムを絞る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・再現試験（DOE）設計の優先度にする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502920" y="3401568"/>
            <a:ext cx="2971800" cy="8686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A44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歩留まり/特性予測</a:t>
            </a:r>
            <a:endParaRPr lang="en-US" sz="1330" dirty="0"/>
          </a:p>
        </p:txBody>
      </p:sp>
      <p:sp>
        <p:nvSpPr>
          <p:cNvPr id="13" name="Text 11"/>
          <p:cNvSpPr/>
          <p:nvPr/>
        </p:nvSpPr>
        <p:spPr>
          <a:xfrm>
            <a:off x="3474720" y="3401568"/>
            <a:ext cx="4023360" cy="8686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A44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・歩留まり/特性の回帰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・寄与の大きい工程条件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・しきい値超過の確率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7498080" y="3401568"/>
            <a:ext cx="4572000" cy="8686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A44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・工程変更のリスク見積り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・管理項目の追加/監視強化の根拠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502920" y="4270248"/>
            <a:ext cx="2971800" cy="8686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A44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レシピ最適化</a:t>
            </a:r>
            <a:endParaRPr lang="en-US" sz="1330" dirty="0"/>
          </a:p>
          <a:p>
            <a:pPr indent="0" marL="0">
              <a:buNone/>
            </a:pPr>
            <a:r>
              <a:rPr lang="en-US" sz="133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(条件探索)</a:t>
            </a:r>
            <a:endParaRPr lang="en-US" sz="1330" dirty="0"/>
          </a:p>
        </p:txBody>
      </p:sp>
      <p:sp>
        <p:nvSpPr>
          <p:cNvPr id="16" name="Text 14"/>
          <p:cNvSpPr/>
          <p:nvPr/>
        </p:nvSpPr>
        <p:spPr>
          <a:xfrm>
            <a:off x="3474720" y="4270248"/>
            <a:ext cx="4023360" cy="8686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A44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・What-if予測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・パラメータ探索（目的最大化/制約）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7498080" y="4270248"/>
            <a:ext cx="4572000" cy="8686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A44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・実験点の候補提示（探索の当たり）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・制御範囲/設計マージンの検討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502920" y="5138928"/>
            <a:ext cx="2971800" cy="8686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A44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33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設備保守/予兆</a:t>
            </a:r>
            <a:endParaRPr lang="en-US" sz="1330" dirty="0"/>
          </a:p>
        </p:txBody>
      </p:sp>
      <p:sp>
        <p:nvSpPr>
          <p:cNvPr id="19" name="Text 17"/>
          <p:cNvSpPr/>
          <p:nvPr/>
        </p:nvSpPr>
        <p:spPr>
          <a:xfrm>
            <a:off x="3474720" y="5138928"/>
            <a:ext cx="4023360" cy="8686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A44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・異常確率の時系列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・しきい値到達の予測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・アラートの説明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7498080" y="5138928"/>
            <a:ext cx="4572000" cy="868680"/>
          </a:xfrm>
          <a:prstGeom prst="rect">
            <a:avLst/>
          </a:prstGeom>
          <a:solidFill>
            <a:srgbClr val="111B2E"/>
          </a:solidFill>
          <a:ln w="12700">
            <a:solidFill>
              <a:srgbClr val="1F2A44"/>
            </a:solidFill>
          </a:ln>
        </p:spPr>
        <p:txBody>
          <a:bodyPr wrap="square" lIns="1524" tIns="1524" rIns="1524" bIns="1524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・交換/清掃のタイミング決定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・部品・工数の先回り手配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56248"/>
            <a:ext cx="10271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automllib + ClearML（半導体製造エンジニア向け）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14455" y="65562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推論結果を「意思決定」に変える（運用の型）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3つの使い方：RCA / 推奨 / 監視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同じ予測でも、活用形が違うと必要な運用が変わる。ClearMLで“成果物の管理”まで揃える。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3545738" cy="33832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874520"/>
            <a:ext cx="73152" cy="3383280"/>
          </a:xfrm>
          <a:prstGeom prst="rect">
            <a:avLst/>
          </a:prstGeom>
          <a:solidFill>
            <a:srgbClr val="00D1B2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039112"/>
            <a:ext cx="322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RCA（要因の当たり）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" y="2441448"/>
            <a:ext cx="3225698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・重要度で候補を絞る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・再現試験/現物確認へ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アウトプット例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Top因子ランキング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条件別誤差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例外ケースの抽出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2978" y="1874520"/>
            <a:ext cx="3545738" cy="33832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2978" y="1874520"/>
            <a:ext cx="73152" cy="33832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7570" y="2039112"/>
            <a:ext cx="322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推奨（条件の当たり）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7570" y="2441448"/>
            <a:ext cx="3225698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・What-ifで候補点を生成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・DOEを“効率化”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アウトプット例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目的最大の条件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制約下の最適点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感度（どれが効く）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43037" y="1874520"/>
            <a:ext cx="3545738" cy="338328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43037" y="1874520"/>
            <a:ext cx="73152" cy="338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7629" y="2039112"/>
            <a:ext cx="32256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監視（兆候の早期検知）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07629" y="2441448"/>
            <a:ext cx="3225698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・スコア/確率の時系列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・しきい値/ルール設計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アウトプット例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アラート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予兆の説明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再学習のトリガ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5349240"/>
            <a:ext cx="11185855" cy="868680"/>
          </a:xfrm>
          <a:prstGeom prst="roundRect">
            <a:avLst/>
          </a:prstGeom>
          <a:solidFill>
            <a:srgbClr val="0B253A">
              <a:alpha val="88000"/>
            </a:srgbClr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468112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成果物管理（ClearML Model）で “使ったモデル” が追跡できる → 保守/監査/改善が楽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80644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InputModel：推論/再学習で“同じモデル”を呼ぶ  ｜  OutputModel：学習結果をモデルとして登録（タスクに紐づく）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56248"/>
            <a:ext cx="10271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automllib + ClearML（半導体製造エンジニア向け）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14455" y="65562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導入のコツ（忙しい人向け）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最初の1週間で「使う価値」を証明する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379476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30分 × 3回（最小のサイクル）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514600"/>
            <a:ext cx="3332378" cy="2697480"/>
          </a:xfrm>
          <a:prstGeom prst="roundRect">
            <a:avLst/>
          </a:prstGeom>
          <a:solidFill>
            <a:srgbClr val="0B253A">
              <a:alpha val="92000"/>
            </a:srgbClr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697480"/>
            <a:ext cx="960120" cy="457200"/>
          </a:xfrm>
          <a:prstGeom prst="roundRect">
            <a:avLst/>
          </a:prstGeom>
          <a:solidFill>
            <a:srgbClr val="00D1B2"/>
          </a:solidFill>
          <a:ln w="12700">
            <a:solidFill>
              <a:srgbClr val="00D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77063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2966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小さく切る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3703320"/>
            <a:ext cx="296661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・1工程/1装置/1指標に限定</a:t>
            </a:r>
            <a:endParaRPr lang="en-US" sz="132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・目的変数を1つ決める</a:t>
            </a:r>
            <a:endParaRPr lang="en-US" sz="132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・最小の特徴量で開始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4429658" y="2514600"/>
            <a:ext cx="3332378" cy="2697480"/>
          </a:xfrm>
          <a:prstGeom prst="roundRect">
            <a:avLst/>
          </a:prstGeom>
          <a:solidFill>
            <a:srgbClr val="0B253A">
              <a:alpha val="92000"/>
            </a:srgbClr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2538" y="2697480"/>
            <a:ext cx="960120" cy="457200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2538" y="277063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2538" y="3291840"/>
            <a:ext cx="2966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AutoMLで当たりを出す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2538" y="3703320"/>
            <a:ext cx="296661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・モデル候補を一括比較</a:t>
            </a:r>
            <a:endParaRPr lang="en-US" sz="132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・まずベースラインを確立</a:t>
            </a:r>
            <a:endParaRPr lang="en-US" sz="132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・失敗も履歴として残す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036357" y="2514600"/>
            <a:ext cx="3332378" cy="2697480"/>
          </a:xfrm>
          <a:prstGeom prst="roundRect">
            <a:avLst/>
          </a:prstGeom>
          <a:solidFill>
            <a:srgbClr val="0B253A">
              <a:alpha val="92000"/>
            </a:srgbClr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9237" y="2697480"/>
            <a:ext cx="96012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9237" y="277063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19237" y="3291840"/>
            <a:ext cx="296661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業務に接続する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19237" y="3703320"/>
            <a:ext cx="296661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・因子候補をRCAへ</a:t>
            </a:r>
            <a:endParaRPr lang="en-US" sz="132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・What-ifで実験点を提案</a:t>
            </a:r>
            <a:endParaRPr lang="en-US" sz="132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・監視指標/アラート条件に落とす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502920" y="5577840"/>
            <a:ext cx="11185855" cy="68580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1F2A44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5705856"/>
            <a:ext cx="105457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次の一手：まずは「過去に原因が分かった異常」を題材に、モデル→因子候補→再現性のある議論 を回す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56248"/>
            <a:ext cx="102714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automllib + ClearML（半導体製造エンジニア向け）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14455" y="655624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AutoML / ClearML enablement</dc:creator>
  <cp:lastModifiedBy>AutoML / ClearML enablement</cp:lastModifiedBy>
  <cp:revision>1</cp:revision>
  <dcterms:created xsi:type="dcterms:W3CDTF">2025-12-19T04:24:44Z</dcterms:created>
  <dcterms:modified xsi:type="dcterms:W3CDTF">2025-12-19T04:24:44Z</dcterms:modified>
</cp:coreProperties>
</file>