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80c37e68694495f" /><Relationship Type="http://schemas.openxmlformats.org/officeDocument/2006/relationships/extended-properties" Target="/docProps/app.xml" Id="R0bc84294bea14539" /><Relationship Type="http://schemas.openxmlformats.org/officeDocument/2006/relationships/officeDocument" Target="/ppt/presentation.xml" Id="R804254cae050452d" /></Relationships>
</file>

<file path=ppt/presentation.xml><?xml version="1.0" encoding="utf-8"?>
<p:presentation xmlns:p="http://schemas.openxmlformats.org/presentationml/2006/main">
  <p:sldMasterIdLst>
    <p:sldMasterId xmlns:r="http://schemas.openxmlformats.org/officeDocument/2006/relationships" id="2147483648" r:id="R3646c26157264eef"/>
  </p:sldMasterIdLst>
  <p:notesMasterIdLst>
    <p:notesMasterId xmlns:r="http://schemas.openxmlformats.org/officeDocument/2006/relationships" r:id="R88627d5e53604e63"/>
  </p:notesMasterIdLst>
  <p:sldIdLst>
    <p:sldId xmlns:r="http://schemas.openxmlformats.org/officeDocument/2006/relationships" id="256" r:id="R67979281521947c5"/>
    <p:sldId xmlns:r="http://schemas.openxmlformats.org/officeDocument/2006/relationships" id="257" r:id="R78f846296dfe47b3"/>
    <p:sldId xmlns:r="http://schemas.openxmlformats.org/officeDocument/2006/relationships" id="258" r:id="R5d6ba798b1ab4081"/>
    <p:sldId xmlns:r="http://schemas.openxmlformats.org/officeDocument/2006/relationships" id="259" r:id="R7c35e3e850164a90"/>
    <p:sldId xmlns:r="http://schemas.openxmlformats.org/officeDocument/2006/relationships" id="260" r:id="R111458bdd3764770"/>
    <p:sldId xmlns:r="http://schemas.openxmlformats.org/officeDocument/2006/relationships" id="261" r:id="R57d944ab028b4449"/>
    <p:sldId xmlns:r="http://schemas.openxmlformats.org/officeDocument/2006/relationships" id="262" r:id="Rf37ebc46a219499d"/>
    <p:sldId xmlns:r="http://schemas.openxmlformats.org/officeDocument/2006/relationships" id="263" r:id="Ra7a796ccc18d4fee"/>
    <p:sldId xmlns:r="http://schemas.openxmlformats.org/officeDocument/2006/relationships" id="264" r:id="R29b974373b1d4a23"/>
    <p:sldId xmlns:r="http://schemas.openxmlformats.org/officeDocument/2006/relationships" id="265" r:id="R42a5f69a5b334f5e"/>
    <p:sldId xmlns:r="http://schemas.openxmlformats.org/officeDocument/2006/relationships" id="266" r:id="R9c5fffe026484c8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3e476eb747f4d42" /><Relationship Type="http://schemas.openxmlformats.org/officeDocument/2006/relationships/slideMaster" Target="/ppt/slideMasters/slideMaster1.xml" Id="R3646c26157264eef" /><Relationship Type="http://schemas.openxmlformats.org/officeDocument/2006/relationships/notesMaster" Target="/ppt/notesMasters/notesMaster1.xml" Id="R88627d5e53604e63" /><Relationship Type="http://schemas.openxmlformats.org/officeDocument/2006/relationships/presProps" Target="/ppt/presProps.xml" Id="Rbe8b63212ded4342" /><Relationship Type="http://schemas.openxmlformats.org/officeDocument/2006/relationships/tableStyles" Target="/ppt/tableStyles.xml" Id="Rbe4eb74d86cb48cb" /><Relationship Type="http://schemas.openxmlformats.org/officeDocument/2006/relationships/slide" Target="/ppt/slides/slide1.xml" Id="R67979281521947c5" /><Relationship Type="http://schemas.openxmlformats.org/officeDocument/2006/relationships/slide" Target="/ppt/slides/slide2.xml" Id="R78f846296dfe47b3" /><Relationship Type="http://schemas.openxmlformats.org/officeDocument/2006/relationships/slide" Target="/ppt/slides/slide3.xml" Id="R5d6ba798b1ab4081" /><Relationship Type="http://schemas.openxmlformats.org/officeDocument/2006/relationships/slide" Target="/ppt/slides/slide4.xml" Id="R7c35e3e850164a90" /><Relationship Type="http://schemas.openxmlformats.org/officeDocument/2006/relationships/slide" Target="/ppt/slides/slide5.xml" Id="R111458bdd3764770" /><Relationship Type="http://schemas.openxmlformats.org/officeDocument/2006/relationships/slide" Target="/ppt/slides/slide6.xml" Id="R57d944ab028b4449" /><Relationship Type="http://schemas.openxmlformats.org/officeDocument/2006/relationships/slide" Target="/ppt/slides/slide7.xml" Id="Rf37ebc46a219499d" /><Relationship Type="http://schemas.openxmlformats.org/officeDocument/2006/relationships/slide" Target="/ppt/slides/slide8.xml" Id="Ra7a796ccc18d4fee" /><Relationship Type="http://schemas.openxmlformats.org/officeDocument/2006/relationships/slide" Target="/ppt/slides/slide9.xml" Id="R29b974373b1d4a23" /><Relationship Type="http://schemas.openxmlformats.org/officeDocument/2006/relationships/slide" Target="/ppt/slides/slide10.xml" Id="R42a5f69a5b334f5e" /><Relationship Type="http://schemas.openxmlformats.org/officeDocument/2006/relationships/slide" Target="/ppt/slides/slide11.xml" Id="R9c5fffe026484c8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972a0f4c8c4439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9a4446e4fac4af6" /><Relationship Type="http://schemas.openxmlformats.org/officeDocument/2006/relationships/notesMaster" Target="/ppt/notesMasters/notesMaster1.xml" Id="Ra3a870021d5748a2" /></Relationships>
</file>

<file path=ppt/notesSlides/_rels/notesSlide2.xml.rels>&#65279;<?xml version="1.0" encoding="utf-8"?><Relationships xmlns="http://schemas.openxmlformats.org/package/2006/relationships"><Relationship Type="http://schemas.openxmlformats.org/officeDocument/2006/relationships/slide" Target="/ppt/slides/slide2.xml" Id="Rd8d6f355f4ca42a2" /><Relationship Type="http://schemas.openxmlformats.org/officeDocument/2006/relationships/notesMaster" Target="/ppt/notesMasters/notesMaster1.xml" Id="Rc84d61e3143c4ff4" /></Relationships>
</file>

<file path=ppt/notesSlides/_rels/notesSlide3.xml.rels>&#65279;<?xml version="1.0" encoding="utf-8"?><Relationships xmlns="http://schemas.openxmlformats.org/package/2006/relationships"><Relationship Type="http://schemas.openxmlformats.org/officeDocument/2006/relationships/slide" Target="/ppt/slides/slide3.xml" Id="R58b0bb6b75e2411e" /><Relationship Type="http://schemas.openxmlformats.org/officeDocument/2006/relationships/notesMaster" Target="/ppt/notesMasters/notesMaster1.xml" Id="R9f8297a784294155" /></Relationships>
</file>

<file path=ppt/notesSlides/_rels/notesSlide4.xml.rels>&#65279;<?xml version="1.0" encoding="utf-8"?><Relationships xmlns="http://schemas.openxmlformats.org/package/2006/relationships"><Relationship Type="http://schemas.openxmlformats.org/officeDocument/2006/relationships/slide" Target="/ppt/slides/slide4.xml" Id="R024b4250c6654cb1" /><Relationship Type="http://schemas.openxmlformats.org/officeDocument/2006/relationships/notesMaster" Target="/ppt/notesMasters/notesMaster1.xml" Id="R62c3e6e8dce94f51" /></Relationships>
</file>

<file path=ppt/notesSlides/_rels/notesSlide5.xml.rels>&#65279;<?xml version="1.0" encoding="utf-8"?><Relationships xmlns="http://schemas.openxmlformats.org/package/2006/relationships"><Relationship Type="http://schemas.openxmlformats.org/officeDocument/2006/relationships/slide" Target="/ppt/slides/slide5.xml" Id="R0d43dc92cb214cb6" /><Relationship Type="http://schemas.openxmlformats.org/officeDocument/2006/relationships/notesMaster" Target="/ppt/notesMasters/notesMaster1.xml" Id="R4defa4417dc44d93" /></Relationships>
</file>

<file path=ppt/notesSlides/_rels/notesSlide6.xml.rels>&#65279;<?xml version="1.0" encoding="utf-8"?><Relationships xmlns="http://schemas.openxmlformats.org/package/2006/relationships"><Relationship Type="http://schemas.openxmlformats.org/officeDocument/2006/relationships/slide" Target="/ppt/slides/slide6.xml" Id="R504bb19e709a41f1" /><Relationship Type="http://schemas.openxmlformats.org/officeDocument/2006/relationships/notesMaster" Target="/ppt/notesMasters/notesMaster1.xml" Id="R94ac436c6cbc42a6" /></Relationships>
</file>

<file path=ppt/notesSlides/_rels/notesSlide7.xml.rels>&#65279;<?xml version="1.0" encoding="utf-8"?><Relationships xmlns="http://schemas.openxmlformats.org/package/2006/relationships"><Relationship Type="http://schemas.openxmlformats.org/officeDocument/2006/relationships/slide" Target="/ppt/slides/slide7.xml" Id="Rd8da872b523940fd" /><Relationship Type="http://schemas.openxmlformats.org/officeDocument/2006/relationships/notesMaster" Target="/ppt/notesMasters/notesMaster1.xml" Id="R57e9e38d18044ea6" /></Relationships>
</file>

<file path=ppt/notesSlides/_rels/notesSlide8.xml.rels>&#65279;<?xml version="1.0" encoding="utf-8"?><Relationships xmlns="http://schemas.openxmlformats.org/package/2006/relationships"><Relationship Type="http://schemas.openxmlformats.org/officeDocument/2006/relationships/slide" Target="/ppt/slides/slide8.xml" Id="Rd03446d2e1414803" /><Relationship Type="http://schemas.openxmlformats.org/officeDocument/2006/relationships/notesMaster" Target="/ppt/notesMasters/notesMaster1.xml" Id="Re346ed252d13436d" /></Relationships>
</file>

<file path=ppt/notesSlides/_rels/notesSlide9.xml.rels>&#65279;<?xml version="1.0" encoding="utf-8"?><Relationships xmlns="http://schemas.openxmlformats.org/package/2006/relationships"><Relationship Type="http://schemas.openxmlformats.org/officeDocument/2006/relationships/slide" Target="/ppt/slides/slide9.xml" Id="R970e8b0dbffb4ccd" /><Relationship Type="http://schemas.openxmlformats.org/officeDocument/2006/relationships/notesMaster" Target="/ppt/notesMasters/notesMaster1.xml" Id="Rcf75410f29ea429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f5254579db4408e" /><Relationship Type="http://schemas.openxmlformats.org/officeDocument/2006/relationships/notesMaster" Target="/ppt/notesMasters/notesMaster1.xml" Id="Rc3bfa601579d4b3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8ac1b22d78345cf" /><Relationship Type="http://schemas.openxmlformats.org/officeDocument/2006/relationships/notesMaster" Target="/ppt/notesMasters/notesMaster1.xml" Id="Ra494a41f8b704d4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説明要点：三方式の優劣ではなく、役割分担を示す。サロゲートは物理モデルと実験データを接続する意思決定層。</a:t>
            </a:r>
          </a:p>
          <a:p xmlns:a="http://schemas.openxmlformats.org/drawingml/2006/main">
            <a:r>
              <a:t>参考：NIST Digital Twins https://www.nist.gov/digital-twins</a:t>
            </a:r>
          </a:p>
          <a:p xmlns:a="http://schemas.openxmlformats.org/drawingml/2006/main">
            <a:r>
              <a:t>Giacomini &amp; Díez, Surrogates for Physics-based and Data-driven Modelling of Parametric Systems, 2026. https://arxiv.org/abs/2603.12870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説明要点：サロゲートは未知物理を生成しない。高精度モデルが記述できる範囲で探索を高速化し、少数実験で実機差を補正する。</a:t>
            </a:r>
          </a:p>
          <a:p xmlns:a="http://schemas.openxmlformats.org/drawingml/2006/main">
            <a:r>
              <a:t>参考：Brunel et al., A survey on multi-fidelity surrogates for simulators with functional outputs, 2024. https://arxiv.org/abs/2408.17075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説明要点：学習範囲内の精度と外挿性能を混同しない。適用範囲外では高精度計算または実験へ戻す。</a:t>
            </a:r>
          </a:p>
          <a:p xmlns:a="http://schemas.openxmlformats.org/drawingml/2006/main">
            <a:r>
              <a:t>参考：Xie &amp; Luo, Frequency Bias and OOD Generalization in Neural Operators, 2026. https://arxiv.org/abs/2605.12997</a:t>
            </a:r>
          </a:p>
          <a:p xmlns:a="http://schemas.openxmlformats.org/drawingml/2006/main">
            <a:r>
              <a:t>Reiser et al., Uncertainty Quantification and Propagation in Surrogate-based Bayesian Inference, 2023. https://arxiv.org/abs/2312.05153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説明要点：シミュレーションと実験分析は残る。サロゲートが両者を反復利用可能な形に接続し、最適化・データ同化・モデル連成へ展開する。</a:t>
            </a:r>
          </a:p>
          <a:p xmlns:a="http://schemas.openxmlformats.org/drawingml/2006/main">
            <a:r>
              <a:t>参考：NIST Manufacturing Digital Twin Standards, 2024. https://www.nist.gov/publications/manufacturing-digital-twin-standards</a:t>
            </a:r>
          </a:p>
          <a:p xmlns:a="http://schemas.openxmlformats.org/drawingml/2006/main">
            <a:r>
              <a:t>Giacomini &amp; Díez, 2026. https://arxiv.org/abs/2603.12870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社内物理モデル、実験・装置データ、技術者判断の組合せを企業固有の意思決定資産として示す。</a:t>
            </a:r>
          </a:p>
          <a:p xmlns:a="http://schemas.openxmlformats.org/drawingml/2006/main">
            <a:r>
              <a:t>出典：社内状況と本検討内容を基に作成。</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学習範囲と検証可能性を基準に、得意領域、条件付き領域、不得意領域を説明する。</a:t>
            </a:r>
          </a:p>
          <a:p xmlns:a="http://schemas.openxmlformats.org/drawingml/2006/main">
            <a:r>
              <a:t>出典：社内状況と本検討内容を基に作成。</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説明要点：過去結果を否定するのではない。再利用可能性を判定し、高価値かつ再検証可能なものだけを救済する。結果データだけでは、条件・近似・妥当性が追跡できず、意思決定には使えない。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結果グラフだけでは再現・比較・更新・保証ができない理由を示す。</a:t>
            </a:r>
          </a:p>
          <a:p xmlns:a="http://schemas.openxmlformats.org/drawingml/2006/main">
            <a:r>
              <a:t>出典：社内状況と本検討内容を基に作成。</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説明要点：個人保有ファイルを一律に集約すると、棚卸しと説明責任だけが増える。再利用効果が見えるモデルから段階的に救済する。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全件集約を避け、価値、再現性、再検証可能性で選別する判断フローを示す。</a:t>
            </a:r>
          </a:p>
          <a:p xmlns:a="http://schemas.openxmlformats.org/drawingml/2006/main">
            <a:r>
              <a:t>出典：社内状況と本検討内容を基に作成。</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説明要点：過去資産は事業価値に応じた選別投資、今後資産は作成時点で標準情報を揃える。これにより再利用のたびに調査と妥当性確認をやり直すコストを抑える。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56e43b13dc944f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14e9694cd1a461e" /><Relationship Type="http://schemas.openxmlformats.org/officeDocument/2006/relationships/slideLayout" Target="/ppt/slideLayouts/slideLayout1.xml" Id="R062f05dcba31425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62f05dcba31425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3c41e4d45104864" /><Relationship Type="http://schemas.openxmlformats.org/officeDocument/2006/relationships/notesSlide" Target="/ppt/notesSlides/notesSlide1.xml" Id="R83dd3f40c5fc4bd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a5a7869c11a4baf" /><Relationship Type="http://schemas.openxmlformats.org/officeDocument/2006/relationships/notesSlide" Target="/ppt/notesSlides/notesSlide2.xml" Id="R11df3bd55bfc4e3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fe2faf642444f8e" /><Relationship Type="http://schemas.openxmlformats.org/officeDocument/2006/relationships/notesSlide" Target="/ppt/notesSlides/notesSlide3.xml" Id="R4e9687dac5c74da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5303af144984814" /><Relationship Type="http://schemas.openxmlformats.org/officeDocument/2006/relationships/notesSlide" Target="/ppt/notesSlides/notesSlide4.xml" Id="R05b94dccf00646f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52d6e8e152c49da" /><Relationship Type="http://schemas.openxmlformats.org/officeDocument/2006/relationships/image" Target="/ppt/media/image.png" Id="R6e99f7914d834fbb" /><Relationship Type="http://schemas.openxmlformats.org/officeDocument/2006/relationships/notesSlide" Target="/ppt/notesSlides/notesSlide5.xml" Id="R57e2c4b422b348f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92283daa99b47fc" /><Relationship Type="http://schemas.openxmlformats.org/officeDocument/2006/relationships/image" Target="/ppt/media/image2.png" Id="R8e7a146661fb4f3e" /><Relationship Type="http://schemas.openxmlformats.org/officeDocument/2006/relationships/notesSlide" Target="/ppt/notesSlides/notesSlide6.xml" Id="R1325637436df4c2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ada3dbd79a3430f" /><Relationship Type="http://schemas.openxmlformats.org/officeDocument/2006/relationships/notesSlide" Target="/ppt/notesSlides/notesSlide7.xml" Id="R302ac97e70294c7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15c2fce17fd4c54" /><Relationship Type="http://schemas.openxmlformats.org/officeDocument/2006/relationships/image" Target="/ppt/media/image3.png" Id="R4cbdb657d7584ade" /><Relationship Type="http://schemas.openxmlformats.org/officeDocument/2006/relationships/notesSlide" Target="/ppt/notesSlides/notesSlide8.xml" Id="R6d232a7688e5461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8836eb677054ec8" /><Relationship Type="http://schemas.openxmlformats.org/officeDocument/2006/relationships/notesSlide" Target="/ppt/notesSlides/notesSlide9.xml" Id="R2225b5a1045341d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db1934bc21f4e08" /><Relationship Type="http://schemas.openxmlformats.org/officeDocument/2006/relationships/image" Target="/ppt/media/image4.png" Id="R43299c94b8914c6d" /><Relationship Type="http://schemas.openxmlformats.org/officeDocument/2006/relationships/notesSlide" Target="/ppt/notesSlides/notesSlide10.xml" Id="R1ece64eb60514e1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64277de0d0c4acd" /><Relationship Type="http://schemas.openxmlformats.org/officeDocument/2006/relationships/notesSlide" Target="/ppt/notesSlides/notesSlide11.xml" Id="R48b1a36f366f43ce" /></Relationships>
</file>

<file path=ppt/slides/slide1.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0E828CB-A32D-4BBE-AD97-13E29040EB96}"/>
              </a:ext>
            </a:extLst>
          </p:cNvPr>
          <p:cNvSpPr>
            <a:spLocks xmlns:a="http://schemas.openxmlformats.org/drawingml/2006/main" noGrp="1"/>
          </p:cNvSpPr>
          <p:nvPr/>
        </p:nvSpPr>
        <p:spPr>
          <a:xfrm xmlns:a="http://schemas.openxmlformats.org/drawingml/2006/main">
            <a:off x="514350" y="323850"/>
            <a:ext cx="11163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3798"/>
          </a:bodyPr>
          <a:lstStyle xmlns:a="http://schemas.openxmlformats.org/drawingml/2006/main"/>
          <a:p xmlns:a="http://schemas.openxmlformats.org/drawingml/2006/main">
            <a:pPr>
              <a:defRPr sz="3225" b="1">
                <a:solidFill>
                  <a:srgbClr val="0B132B"/>
                </a:solidFill>
                <a:latin typeface="IPAexGothic"/>
                <a:ea typeface="IPAexGothic"/>
                <a:cs typeface="IPAexGothic"/>
              </a:defRPr>
            </a:pPr>
            <a:r>
              <a:rPr sz="3225" b="1">
                <a:solidFill>
                  <a:srgbClr val="0B132B"/>
                </a:solidFill>
                <a:latin typeface="IPAexGothic"/>
                <a:ea typeface="IPAexGothic"/>
                <a:cs typeface="IPAexGothic"/>
              </a:rPr>
              <a:t>シミュレーション・実験分析・サロゲートの役割</a:t>
            </a:r>
          </a:p>
        </p:txBody>
      </p:sp>
      <p:sp>
        <p:nvSpPr>
          <p:cNvPr id="2" name="">
            <a:extLst xmlns:a="http://schemas.openxmlformats.org/drawingml/2006/main">
              <a:ext uri="{FF2B5EF4-FFF2-40B4-BE49-F238E27FC236}">
                <a16:creationId xmlns:a16="http://schemas.microsoft.com/office/drawing/2014/main" id="{699D7ACF-146B-498A-B09D-D7688ED44ADE}"/>
              </a:ext>
            </a:extLst>
          </p:cNvPr>
          <p:cNvSpPr>
            <a:spLocks xmlns:a="http://schemas.openxmlformats.org/drawingml/2006/main" noGrp="1"/>
          </p:cNvSpPr>
          <p:nvPr/>
        </p:nvSpPr>
        <p:spPr>
          <a:xfrm xmlns:a="http://schemas.openxmlformats.org/drawingml/2006/main">
            <a:off x="533400" y="866775"/>
            <a:ext cx="11125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424"/>
          </a:bodyPr>
          <a:lstStyle xmlns:a="http://schemas.openxmlformats.org/drawingml/2006/main"/>
          <a:p xmlns:a="http://schemas.openxmlformats.org/drawingml/2006/main">
            <a:pPr>
              <a:defRPr sz="1650">
                <a:solidFill>
                  <a:srgbClr val="617083"/>
                </a:solidFill>
                <a:latin typeface="IPAexGothic"/>
                <a:ea typeface="IPAexGothic"/>
                <a:cs typeface="IPAexGothic"/>
              </a:defRPr>
            </a:pPr>
            <a:r>
              <a:rPr sz="1650">
                <a:solidFill>
                  <a:srgbClr val="617083"/>
                </a:solidFill>
                <a:latin typeface="IPAexGothic"/>
                <a:ea typeface="IPAexGothic"/>
                <a:cs typeface="IPAexGothic"/>
              </a:rPr>
              <a:t>三つの技術は、装置開発で答える問いが異なる</a:t>
            </a:r>
          </a:p>
        </p:txBody>
      </p:sp>
      <p:graphicFrame>
        <p:nvGraphicFramePr>
          <p:cNvPr id="7" name=""/>
          <p:cNvGraphicFramePr/>
          <p:nvPr/>
        </p:nvGraphicFramePr>
        <p:xfrm>
          <a:off xmlns:a="http://schemas.openxmlformats.org/drawingml/2006/main" x="514350" y="1352550"/>
          <a:ext xmlns:a="http://schemas.openxmlformats.org/drawingml/2006/main" cx="11163300" cy="4552950"/>
        </p:xfrm>
        <a:graphic xmlns:a="http://schemas.openxmlformats.org/drawingml/2006/main">
          <a:graphicData uri="http://schemas.openxmlformats.org/drawingml/2006/table">
            <a:tbl>
              <a:tblPr/>
              <a:tblGrid>
                <a:gridCol w="1752600"/>
                <a:gridCol w="3048000"/>
                <a:gridCol w="3048000"/>
                <a:gridCol w="3314700"/>
              </a:tblGrid>
              <a:tr h="628650">
                <a:tc>
                  <a:txBody>
                    <a:bodyPr/>
                    <a:lstStyle/>
                    <a:p>
                      <a:r>
                        <a:rPr sz="1425" b="1">
                          <a:solidFill>
                            <a:srgbClr val="24324A"/>
                          </a:solidFill>
                          <a:latin typeface="IPAexGothic"/>
                          <a:ea typeface="IPAexGothic"/>
                          <a:cs typeface="IPAexGothic"/>
                        </a:rPr>
                        <a:t>比較軸</a:t>
                      </a:r>
                    </a:p>
                  </a:txBody>
                  <a:tcPr marL="91440" marR="91440" marT="45720" marB="45720"/>
                </a:tc>
                <a:tc>
                  <a:txBody>
                    <a:bodyPr/>
                    <a:lstStyle/>
                    <a:p>
                      <a:r>
                        <a:rPr sz="1425" b="1">
                          <a:solidFill>
                            <a:srgbClr val="24324A"/>
                          </a:solidFill>
                          <a:latin typeface="IPAexGothic"/>
                          <a:ea typeface="IPAexGothic"/>
                          <a:cs typeface="IPAexGothic"/>
                        </a:rPr>
                        <a:t>シミュレーション単体</a:t>
                      </a:r>
                    </a:p>
                  </a:txBody>
                  <a:tcPr marL="91440" marR="91440" marT="45720" marB="45720"/>
                </a:tc>
                <a:tc>
                  <a:txBody>
                    <a:bodyPr/>
                    <a:lstStyle/>
                    <a:p>
                      <a:r>
                        <a:rPr sz="1425" b="1">
                          <a:solidFill>
                            <a:srgbClr val="24324A"/>
                          </a:solidFill>
                          <a:latin typeface="IPAexGothic"/>
                          <a:ea typeface="IPAexGothic"/>
                          <a:cs typeface="IPAexGothic"/>
                        </a:rPr>
                        <a:t>実験データ分析単体</a:t>
                      </a:r>
                    </a:p>
                  </a:txBody>
                  <a:tcPr marL="91440" marR="91440" marT="45720" marB="45720"/>
                </a:tc>
                <a:tc>
                  <a:txBody>
                    <a:bodyPr/>
                    <a:lstStyle/>
                    <a:p>
                      <a:r>
                        <a:rPr sz="1425" b="1">
                          <a:solidFill>
                            <a:srgbClr val="24324A"/>
                          </a:solidFill>
                          <a:latin typeface="IPAexGothic"/>
                          <a:ea typeface="IPAexGothic"/>
                          <a:cs typeface="IPAexGothic"/>
                        </a:rPr>
                        <a:t>ハイブリッド・サロゲート</a:t>
                      </a:r>
                    </a:p>
                  </a:txBody>
                  <a:tcPr marL="91440" marR="91440" marT="45720" marB="45720"/>
                </a:tc>
              </a:tr>
              <a:tr h="981075">
                <a:tc>
                  <a:txBody>
                    <a:bodyPr>
                      <a:normAutofit/>
                    </a:bodyPr>
                    <a:lstStyle/>
                    <a:p>
                      <a:pPr algn="l"/>
                      <a:r>
                        <a:rPr sz="1350" b="1">
                          <a:solidFill>
                            <a:srgbClr val="0B132B"/>
                          </a:solidFill>
                          <a:latin typeface="IPAexGothic"/>
                          <a:ea typeface="IPAexGothic"/>
                          <a:cs typeface="IPAexGothic"/>
                        </a:rPr>
                        <a:t>主な問い</a:t>
                      </a:r>
                    </a:p>
                  </a:txBody>
                  <a:tcPr marL="91440" marR="91440" marT="45720" marB="45720" anchor="ctr">
                    <a:solidFill>
                      <a:srgbClr val="EAF5FC"/>
                    </a:solidFill>
                  </a:tcPr>
                </a:tc>
                <a:tc>
                  <a:txBody>
                    <a:bodyPr/>
                    <a:lstStyle/>
                    <a:p>
                      <a:r>
                        <a:rPr sz="1350" b="0">
                          <a:solidFill>
                            <a:srgbClr val="24324A"/>
                          </a:solidFill>
                          <a:latin typeface="IPAexGothic"/>
                          <a:ea typeface="IPAexGothic"/>
                          <a:cs typeface="IPAexGothic"/>
                        </a:rPr>
                        <a:t>物理的に何が起きるか</a:t>
                      </a:r>
                    </a:p>
                  </a:txBody>
                  <a:tcPr marL="91440" marR="91440" marT="45720" marB="45720"/>
                </a:tc>
                <a:tc>
                  <a:txBody>
                    <a:bodyPr/>
                    <a:lstStyle/>
                    <a:p>
                      <a:r>
                        <a:rPr sz="1350" b="0">
                          <a:solidFill>
                            <a:srgbClr val="24324A"/>
                          </a:solidFill>
                          <a:latin typeface="IPAexGothic"/>
                          <a:ea typeface="IPAexGothic"/>
                          <a:cs typeface="IPAexGothic"/>
                        </a:rPr>
                        <a:t>実機で何が起きたか</a:t>
                      </a:r>
                    </a:p>
                  </a:txBody>
                  <a:tcPr marL="91440" marR="91440" marT="45720" marB="45720"/>
                </a:tc>
                <a:tc>
                  <a:txBody>
                    <a:bodyPr/>
                    <a:lstStyle/>
                    <a:p>
                      <a:r>
                        <a:rPr sz="1350" b="0">
                          <a:solidFill>
                            <a:srgbClr val="24324A"/>
                          </a:solidFill>
                          <a:latin typeface="IPAexGothic"/>
                          <a:ea typeface="IPAexGothic"/>
                          <a:cs typeface="IPAexGothic"/>
                        </a:rPr>
                        <a:t>次に何を試すべきか</a:t>
                      </a:r>
                    </a:p>
                  </a:txBody>
                  <a:tcPr marL="91440" marR="91440" marT="45720" marB="45720"/>
                </a:tc>
              </a:tr>
              <a:tr h="981075">
                <a:tc>
                  <a:txBody>
                    <a:bodyPr>
                      <a:normAutofit/>
                    </a:bodyPr>
                    <a:lstStyle/>
                    <a:p>
                      <a:pPr algn="l"/>
                      <a:r>
                        <a:rPr sz="1350" b="1">
                          <a:solidFill>
                            <a:srgbClr val="0B132B"/>
                          </a:solidFill>
                          <a:latin typeface="IPAexGothic"/>
                          <a:ea typeface="IPAexGothic"/>
                          <a:cs typeface="IPAexGothic"/>
                        </a:rPr>
                        <a:t>強み</a:t>
                      </a:r>
                    </a:p>
                  </a:txBody>
                  <a:tcPr marL="91440" marR="91440" marT="45720" marB="45720" anchor="ctr">
                    <a:solidFill>
                      <a:srgbClr val="EAF5FC"/>
                    </a:solidFill>
                  </a:tcPr>
                </a:tc>
                <a:tc>
                  <a:txBody>
                    <a:bodyPr/>
                    <a:lstStyle/>
                    <a:p>
                      <a:r>
                        <a:rPr sz="1350" b="0">
                          <a:solidFill>
                            <a:srgbClr val="24324A"/>
                          </a:solidFill>
                          <a:latin typeface="IPAexGothic"/>
                          <a:ea typeface="IPAexGothic"/>
                          <a:cs typeface="IPAexGothic"/>
                        </a:rPr>
                        <a:t>内部状態と因果を説明</a:t>
                      </a:r>
                    </a:p>
                  </a:txBody>
                  <a:tcPr marL="91440" marR="91440" marT="45720" marB="45720"/>
                </a:tc>
                <a:tc>
                  <a:txBody>
                    <a:bodyPr/>
                    <a:lstStyle/>
                    <a:p>
                      <a:r>
                        <a:rPr sz="1350" b="0">
                          <a:solidFill>
                            <a:srgbClr val="24324A"/>
                          </a:solidFill>
                          <a:latin typeface="IPAexGothic"/>
                          <a:ea typeface="IPAexGothic"/>
                          <a:cs typeface="IPAexGothic"/>
                        </a:rPr>
                        <a:t>実機差と経時変化を反映</a:t>
                      </a:r>
                    </a:p>
                  </a:txBody>
                  <a:tcPr marL="91440" marR="91440" marT="45720" marB="45720"/>
                </a:tc>
                <a:tc>
                  <a:txBody>
                    <a:bodyPr/>
                    <a:lstStyle/>
                    <a:p>
                      <a:r>
                        <a:rPr sz="1350" b="0">
                          <a:solidFill>
                            <a:srgbClr val="24324A"/>
                          </a:solidFill>
                          <a:latin typeface="IPAexGothic"/>
                          <a:ea typeface="IPAexGothic"/>
                          <a:cs typeface="IPAexGothic"/>
                        </a:rPr>
                        <a:t>高速探索と実機補正を両立</a:t>
                      </a:r>
                    </a:p>
                  </a:txBody>
                  <a:tcPr marL="91440" marR="91440" marT="45720" marB="45720"/>
                </a:tc>
              </a:tr>
              <a:tr h="981075">
                <a:tc>
                  <a:txBody>
                    <a:bodyPr>
                      <a:normAutofit/>
                    </a:bodyPr>
                    <a:lstStyle/>
                    <a:p>
                      <a:pPr algn="l"/>
                      <a:r>
                        <a:rPr sz="1350" b="1">
                          <a:solidFill>
                            <a:srgbClr val="0B132B"/>
                          </a:solidFill>
                          <a:latin typeface="IPAexGothic"/>
                          <a:ea typeface="IPAexGothic"/>
                          <a:cs typeface="IPAexGothic"/>
                        </a:rPr>
                        <a:t>主な制約</a:t>
                      </a:r>
                    </a:p>
                  </a:txBody>
                  <a:tcPr marL="91440" marR="91440" marT="45720" marB="45720" anchor="ctr">
                    <a:solidFill>
                      <a:srgbClr val="EAF5FC"/>
                    </a:solidFill>
                  </a:tcPr>
                </a:tc>
                <a:tc>
                  <a:txBody>
                    <a:bodyPr/>
                    <a:lstStyle/>
                    <a:p>
                      <a:r>
                        <a:rPr sz="1350" b="0">
                          <a:solidFill>
                            <a:srgbClr val="24324A"/>
                          </a:solidFill>
                          <a:latin typeface="IPAexGothic"/>
                          <a:ea typeface="IPAexGothic"/>
                          <a:cs typeface="IPAexGothic"/>
                        </a:rPr>
                        <a:t>計算負荷とモデル誤差</a:t>
                      </a:r>
                    </a:p>
                  </a:txBody>
                  <a:tcPr marL="91440" marR="91440" marT="45720" marB="45720"/>
                </a:tc>
                <a:tc>
                  <a:txBody>
                    <a:bodyPr/>
                    <a:lstStyle/>
                    <a:p>
                      <a:r>
                        <a:rPr sz="1350" b="0">
                          <a:solidFill>
                            <a:srgbClr val="24324A"/>
                          </a:solidFill>
                          <a:latin typeface="IPAexGothic"/>
                          <a:ea typeface="IPAexGothic"/>
                          <a:cs typeface="IPAexGothic"/>
                        </a:rPr>
                        <a:t>未実験条件への外挿</a:t>
                      </a:r>
                    </a:p>
                  </a:txBody>
                  <a:tcPr marL="91440" marR="91440" marT="45720" marB="45720"/>
                </a:tc>
                <a:tc>
                  <a:txBody>
                    <a:bodyPr/>
                    <a:lstStyle/>
                    <a:p>
                      <a:r>
                        <a:rPr sz="1350" b="0">
                          <a:solidFill>
                            <a:srgbClr val="24324A"/>
                          </a:solidFill>
                          <a:latin typeface="IPAexGothic"/>
                          <a:ea typeface="IPAexGothic"/>
                          <a:cs typeface="IPAexGothic"/>
                        </a:rPr>
                        <a:t>適用範囲外では再検証が必要</a:t>
                      </a:r>
                    </a:p>
                  </a:txBody>
                  <a:tcPr marL="91440" marR="91440" marT="45720" marB="45720"/>
                </a:tc>
              </a:tr>
              <a:tr h="981075">
                <a:tc>
                  <a:txBody>
                    <a:bodyPr>
                      <a:normAutofit/>
                    </a:bodyPr>
                    <a:lstStyle/>
                    <a:p>
                      <a:pPr algn="l"/>
                      <a:r>
                        <a:rPr sz="1350" b="1">
                          <a:solidFill>
                            <a:srgbClr val="0B132B"/>
                          </a:solidFill>
                          <a:latin typeface="IPAexGothic"/>
                          <a:ea typeface="IPAexGothic"/>
                          <a:cs typeface="IPAexGothic"/>
                        </a:rPr>
                        <a:t>開発上の役割</a:t>
                      </a:r>
                    </a:p>
                  </a:txBody>
                  <a:tcPr marL="91440" marR="91440" marT="45720" marB="45720" anchor="ctr">
                    <a:solidFill>
                      <a:srgbClr val="EAF5FC"/>
                    </a:solidFill>
                  </a:tcPr>
                </a:tc>
                <a:tc>
                  <a:txBody>
                    <a:bodyPr/>
                    <a:lstStyle/>
                    <a:p>
                      <a:r>
                        <a:rPr sz="1350" b="0">
                          <a:solidFill>
                            <a:srgbClr val="24324A"/>
                          </a:solidFill>
                          <a:latin typeface="IPAexGothic"/>
                          <a:ea typeface="IPAexGothic"/>
                          <a:cs typeface="IPAexGothic"/>
                        </a:rPr>
                        <a:t>物理根拠と教師モデル</a:t>
                      </a:r>
                    </a:p>
                  </a:txBody>
                  <a:tcPr marL="91440" marR="91440" marT="45720" marB="45720"/>
                </a:tc>
                <a:tc>
                  <a:txBody>
                    <a:bodyPr/>
                    <a:lstStyle/>
                    <a:p>
                      <a:r>
                        <a:rPr sz="1350" b="0">
                          <a:solidFill>
                            <a:srgbClr val="24324A"/>
                          </a:solidFill>
                          <a:latin typeface="IPAexGothic"/>
                          <a:ea typeface="IPAexGothic"/>
                          <a:cs typeface="IPAexGothic"/>
                        </a:rPr>
                        <a:t>現実の観測と補正データ</a:t>
                      </a:r>
                    </a:p>
                  </a:txBody>
                  <a:tcPr marL="91440" marR="91440" marT="45720" marB="45720"/>
                </a:tc>
                <a:tc>
                  <a:txBody>
                    <a:bodyPr/>
                    <a:lstStyle/>
                    <a:p>
                      <a:r>
                        <a:rPr sz="1350" b="0">
                          <a:solidFill>
                            <a:srgbClr val="24324A"/>
                          </a:solidFill>
                          <a:latin typeface="IPAexGothic"/>
                          <a:ea typeface="IPAexGothic"/>
                          <a:cs typeface="IPAexGothic"/>
                        </a:rPr>
                        <a:t>装置開発の意思決定モデル</a:t>
                      </a:r>
                    </a:p>
                  </a:txBody>
                  <a:tcPr marL="91440" marR="91440" marT="45720" marB="45720"/>
                </a:tc>
              </a:tr>
            </a:tbl>
          </a:graphicData>
        </a:graphic>
      </p:graphicFrame>
      <p:sp>
        <p:nvSpPr>
          <p:cNvPr id="4" name="">
            <a:extLst xmlns:a="http://schemas.openxmlformats.org/drawingml/2006/main">
              <a:ext uri="{FF2B5EF4-FFF2-40B4-BE49-F238E27FC236}">
                <a16:creationId xmlns:a16="http://schemas.microsoft.com/office/drawing/2014/main" id="{B3DE83B5-C2FC-45F1-A9A3-BA5374E31C2B}"/>
              </a:ext>
            </a:extLst>
          </p:cNvPr>
          <p:cNvSpPr>
            <a:spLocks xmlns:a="http://schemas.openxmlformats.org/drawingml/2006/main" noGrp="1"/>
          </p:cNvSpPr>
          <p:nvPr/>
        </p:nvSpPr>
        <p:spPr>
          <a:xfrm xmlns:a="http://schemas.openxmlformats.org/drawingml/2006/main">
            <a:off x="514350" y="6229350"/>
            <a:ext cx="11163300" cy="438150"/>
          </a:xfrm>
          <a:prstGeom xmlns:a="http://schemas.openxmlformats.org/drawingml/2006/main" prst="roundRect">
            <a:avLst>
              <a:gd name="adj" fmla="val 17391"/>
            </a:avLst>
          </a:prstGeom>
          <a:solidFill xmlns:a="http://schemas.openxmlformats.org/drawingml/2006/main">
            <a:srgbClr val="0B132B"/>
          </a:solidFill>
          <a:ln xmlns:a="http://schemas.openxmlformats.org/drawingml/2006/main" w="0">
            <a:noFill/>
          </a:ln>
        </p:spPr>
        <p:txBody>
          <a:bodyPr xmlns:a="http://schemas.openxmlformats.org/drawingml/2006/main" lIns="114300" tIns="47625" rIns="114300" bIns="47625" anchor="ctr">
            <a:noAutofit/>
          </a:bodyPr>
          <a:lstStyle xmlns:a="http://schemas.openxmlformats.org/drawingml/2006/main"/>
          <a:p xmlns:a="http://schemas.openxmlformats.org/drawingml/2006/main">
            <a:pPr algn="ctr">
              <a:defRPr sz="1350" b="1">
                <a:solidFill>
                  <a:srgbClr val="FFFFFF"/>
                </a:solidFill>
                <a:latin typeface="IPAexGothic"/>
                <a:ea typeface="IPAexGothic"/>
                <a:cs typeface="IPAexGothic"/>
              </a:defRPr>
            </a:pPr>
            <a:r>
              <a:rPr sz="1350" b="1">
                <a:solidFill>
                  <a:srgbClr val="FFFFFF"/>
                </a:solidFill>
                <a:latin typeface="IPAexGothic"/>
                <a:ea typeface="IPAexGothic"/>
                <a:cs typeface="IPAexGothic"/>
              </a:rPr>
              <a:t>物理モデルが範囲を定め、実験が実機差を捉え、サロゲートが反復判断を高速化する</a:t>
            </a:r>
          </a:p>
        </p:txBody>
      </p:sp>
    </p:spTree>
    <p:extLst>
      <p:ext uri="{BB962C8B-B14F-4D97-AF65-F5344CB8AC3E}">
        <p14:creationId xmlns:p14="http://schemas.microsoft.com/office/powerpoint/2010/main" val="1351221417"/>
      </p:ext>
    </p:extLst>
  </p:cSld>
</p:sld>
</file>

<file path=ppt/slides/slide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88E492C-8CF5-4DA6-B22A-B907694E1B6A}"/>
              </a:ext>
            </a:extLst>
          </p:cNvPr>
          <p:cNvSpPr>
            <a:spLocks xmlns:a="http://schemas.openxmlformats.org/drawingml/2006/main" noGrp="1"/>
          </p:cNvSpPr>
          <p:nvPr/>
        </p:nvSpPr>
        <p:spPr>
          <a:xfrm xmlns:a="http://schemas.openxmlformats.org/drawingml/2006/main">
            <a:off x="514350" y="323850"/>
            <a:ext cx="11163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3798"/>
          </a:bodyPr>
          <a:lstStyle xmlns:a="http://schemas.openxmlformats.org/drawingml/2006/main"/>
          <a:p xmlns:a="http://schemas.openxmlformats.org/drawingml/2006/main">
            <a:pPr>
              <a:defRPr sz="3225" b="1">
                <a:solidFill>
                  <a:srgbClr val="0B132B"/>
                </a:solidFill>
                <a:latin typeface="IPAexGothic"/>
                <a:ea typeface="IPAexGothic"/>
                <a:cs typeface="IPAexGothic"/>
              </a:defRPr>
            </a:pPr>
            <a:r>
              <a:rPr sz="3225" b="1">
                <a:solidFill>
                  <a:srgbClr val="0B132B"/>
                </a:solidFill>
                <a:latin typeface="IPAexGothic"/>
                <a:ea typeface="IPAexGothic"/>
                <a:cs typeface="IPAexGothic"/>
              </a:rPr>
              <a:t>得意・不得意の比較　設計・プロセス開発</a:t>
            </a:r>
          </a:p>
        </p:txBody>
      </p:sp>
      <p:sp>
        <p:nvSpPr>
          <p:cNvPr id="2" name="">
            <a:extLst xmlns:a="http://schemas.openxmlformats.org/drawingml/2006/main">
              <a:ext uri="{FF2B5EF4-FFF2-40B4-BE49-F238E27FC236}">
                <a16:creationId xmlns:a16="http://schemas.microsoft.com/office/drawing/2014/main" id="{07E5D842-F92D-425A-B62B-67B9D4BDBC9F}"/>
              </a:ext>
            </a:extLst>
          </p:cNvPr>
          <p:cNvSpPr>
            <a:spLocks xmlns:a="http://schemas.openxmlformats.org/drawingml/2006/main" noGrp="1"/>
          </p:cNvSpPr>
          <p:nvPr/>
        </p:nvSpPr>
        <p:spPr>
          <a:xfrm xmlns:a="http://schemas.openxmlformats.org/drawingml/2006/main">
            <a:off x="533400" y="866775"/>
            <a:ext cx="11125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424"/>
          </a:bodyPr>
          <a:lstStyle xmlns:a="http://schemas.openxmlformats.org/drawingml/2006/main"/>
          <a:p xmlns:a="http://schemas.openxmlformats.org/drawingml/2006/main">
            <a:pPr>
              <a:defRPr sz="1650">
                <a:solidFill>
                  <a:srgbClr val="617083"/>
                </a:solidFill>
                <a:latin typeface="IPAexGothic"/>
                <a:ea typeface="IPAexGothic"/>
                <a:cs typeface="IPAexGothic"/>
              </a:defRPr>
            </a:pPr>
            <a:r>
              <a:rPr sz="1650">
                <a:solidFill>
                  <a:srgbClr val="617083"/>
                </a:solidFill>
                <a:latin typeface="IPAexGothic"/>
                <a:ea typeface="IPAexGothic"/>
                <a:cs typeface="IPAexGothic"/>
              </a:rPr>
              <a:t>新規条件の理解と、多数候補の探索を分けて評価する</a:t>
            </a:r>
          </a:p>
        </p:txBody>
      </p:sp>
      <p:sp>
        <p:nvSpPr>
          <p:cNvPr id="3" name="">
            <a:extLst xmlns:a="http://schemas.openxmlformats.org/drawingml/2006/main">
              <a:ext uri="{FF2B5EF4-FFF2-40B4-BE49-F238E27FC236}">
                <a16:creationId xmlns:a16="http://schemas.microsoft.com/office/drawing/2014/main" id="{9902C00E-75B5-417F-9973-8DB9A82475EE}"/>
              </a:ext>
            </a:extLst>
          </p:cNvPr>
          <p:cNvSpPr>
            <a:spLocks xmlns:a="http://schemas.openxmlformats.org/drawingml/2006/main" noGrp="1"/>
          </p:cNvSpPr>
          <p:nvPr/>
        </p:nvSpPr>
        <p:spPr>
          <a:xfrm xmlns:a="http://schemas.openxmlformats.org/drawingml/2006/main">
            <a:off x="8724900" y="1143000"/>
            <a:ext cx="295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7009"/>
          </a:bodyPr>
          <a:lstStyle xmlns:a="http://schemas.openxmlformats.org/drawingml/2006/main"/>
          <a:p xmlns:a="http://schemas.openxmlformats.org/drawingml/2006/main">
            <a:pPr algn="r">
              <a:defRPr sz="1200">
                <a:solidFill>
                  <a:srgbClr val="617083"/>
                </a:solidFill>
                <a:latin typeface="IPAexGothic"/>
                <a:ea typeface="IPAexGothic"/>
                <a:cs typeface="IPAexGothic"/>
              </a:defRPr>
            </a:pPr>
            <a:r>
              <a:rPr sz="1200">
                <a:solidFill>
                  <a:srgbClr val="617083"/>
                </a:solidFill>
                <a:latin typeface="IPAexGothic"/>
                <a:ea typeface="IPAexGothic"/>
                <a:cs typeface="IPAexGothic"/>
              </a:rPr>
              <a:t>◎ 得意　○ 対応可能　△ 条件付き　× 不得意</a:t>
            </a:r>
          </a:p>
        </p:txBody>
      </p:sp>
      <p:graphicFrame>
        <p:nvGraphicFramePr>
          <p:cNvPr id="9" name=""/>
          <p:cNvGraphicFramePr/>
          <p:nvPr/>
        </p:nvGraphicFramePr>
        <p:xfrm>
          <a:off xmlns:a="http://schemas.openxmlformats.org/drawingml/2006/main" x="514350" y="1466850"/>
          <a:ext xmlns:a="http://schemas.openxmlformats.org/drawingml/2006/main" cx="11163300" cy="4438650"/>
        </p:xfrm>
        <a:graphic xmlns:a="http://schemas.openxmlformats.org/drawingml/2006/main">
          <a:graphicData uri="http://schemas.openxmlformats.org/drawingml/2006/table">
            <a:tbl>
              <a:tblPr/>
              <a:tblGrid>
                <a:gridCol w="2476500"/>
                <a:gridCol w="2762250"/>
                <a:gridCol w="2762250"/>
                <a:gridCol w="3162300"/>
              </a:tblGrid>
              <a:tr h="609600">
                <a:tc>
                  <a:txBody>
                    <a:bodyPr/>
                    <a:lstStyle/>
                    <a:p>
                      <a:r>
                        <a:rPr sz="1425" b="1">
                          <a:solidFill>
                            <a:srgbClr val="24324A"/>
                          </a:solidFill>
                          <a:latin typeface="IPAexGothic"/>
                          <a:ea typeface="IPAexGothic"/>
                          <a:cs typeface="IPAexGothic"/>
                        </a:rPr>
                        <a:t>評価項目</a:t>
                      </a:r>
                    </a:p>
                  </a:txBody>
                  <a:tcPr marL="91440" marR="91440" marT="45720" marB="45720"/>
                </a:tc>
                <a:tc>
                  <a:txBody>
                    <a:bodyPr/>
                    <a:lstStyle/>
                    <a:p>
                      <a:r>
                        <a:rPr sz="1425" b="1">
                          <a:solidFill>
                            <a:srgbClr val="24324A"/>
                          </a:solidFill>
                          <a:latin typeface="IPAexGothic"/>
                          <a:ea typeface="IPAexGothic"/>
                          <a:cs typeface="IPAexGothic"/>
                        </a:rPr>
                        <a:t>シミュレーション単体</a:t>
                      </a:r>
                    </a:p>
                  </a:txBody>
                  <a:tcPr marL="91440" marR="91440" marT="45720" marB="45720"/>
                </a:tc>
                <a:tc>
                  <a:txBody>
                    <a:bodyPr/>
                    <a:lstStyle/>
                    <a:p>
                      <a:r>
                        <a:rPr sz="1425" b="1">
                          <a:solidFill>
                            <a:srgbClr val="24324A"/>
                          </a:solidFill>
                          <a:latin typeface="IPAexGothic"/>
                          <a:ea typeface="IPAexGothic"/>
                          <a:cs typeface="IPAexGothic"/>
                        </a:rPr>
                        <a:t>実験データ分析単体</a:t>
                      </a:r>
                    </a:p>
                  </a:txBody>
                  <a:tcPr marL="91440" marR="91440" marT="45720" marB="45720"/>
                </a:tc>
                <a:tc>
                  <a:txBody>
                    <a:bodyPr/>
                    <a:lstStyle/>
                    <a:p>
                      <a:r>
                        <a:rPr sz="1425" b="1">
                          <a:solidFill>
                            <a:srgbClr val="24324A"/>
                          </a:solidFill>
                          <a:latin typeface="IPAexGothic"/>
                          <a:ea typeface="IPAexGothic"/>
                          <a:cs typeface="IPAexGothic"/>
                        </a:rPr>
                        <a:t>ハイブリッド・サロゲート</a:t>
                      </a:r>
                    </a:p>
                  </a:txBody>
                  <a:tcPr marL="91440" marR="91440" marT="45720" marB="45720"/>
                </a:tc>
              </a:tr>
              <a:tr h="762000">
                <a:tc>
                  <a:txBody>
                    <a:bodyPr>
                      <a:normAutofit/>
                    </a:bodyPr>
                    <a:lstStyle/>
                    <a:p>
                      <a:pPr algn="l"/>
                      <a:r>
                        <a:rPr sz="1350" b="1">
                          <a:solidFill>
                            <a:srgbClr val="0B132B"/>
                          </a:solidFill>
                          <a:latin typeface="IPAexGothic"/>
                          <a:ea typeface="IPAexGothic"/>
                          <a:cs typeface="IPAexGothic"/>
                        </a:rPr>
                        <a:t>新規構造・未実験条件</a:t>
                      </a:r>
                    </a:p>
                  </a:txBody>
                  <a:tcPr marL="91440" marR="91440" marT="45720" marB="45720" anchor="ctr">
                    <a:solidFill>
                      <a:srgbClr val="EAF5FC"/>
                    </a:solidFill>
                  </a:tcPr>
                </a:tc>
                <a:tc>
                  <a:txBody>
                    <a:bodyPr/>
                    <a:lstStyle/>
                    <a:p>
                      <a:r>
                        <a:rPr sz="1350" b="0">
                          <a:solidFill>
                            <a:srgbClr val="24324A"/>
                          </a:solidFill>
                          <a:latin typeface="IPAexGothic"/>
                          <a:ea typeface="IPAexGothic"/>
                          <a:cs typeface="IPAexGothic"/>
                        </a:rPr>
                        <a:t>◎　実験前に評価</a:t>
                      </a:r>
                    </a:p>
                  </a:txBody>
                  <a:tcPr marL="91440" marR="91440" marT="45720" marB="45720"/>
                </a:tc>
                <a:tc>
                  <a:txBody>
                    <a:bodyPr/>
                    <a:lstStyle/>
                    <a:p>
                      <a:r>
                        <a:rPr sz="1350" b="0">
                          <a:solidFill>
                            <a:srgbClr val="24324A"/>
                          </a:solidFill>
                          <a:latin typeface="IPAexGothic"/>
                          <a:ea typeface="IPAexGothic"/>
                          <a:cs typeface="IPAexGothic"/>
                        </a:rPr>
                        <a:t>×　データがない</a:t>
                      </a:r>
                    </a:p>
                  </a:txBody>
                  <a:tcPr marL="91440" marR="91440" marT="45720" marB="45720"/>
                </a:tc>
                <a:tc>
                  <a:txBody>
                    <a:bodyPr/>
                    <a:lstStyle/>
                    <a:p>
                      <a:r>
                        <a:rPr sz="1350" b="0">
                          <a:solidFill>
                            <a:srgbClr val="24324A"/>
                          </a:solidFill>
                          <a:latin typeface="IPAexGothic"/>
                          <a:ea typeface="IPAexGothic"/>
                          <a:cs typeface="IPAexGothic"/>
                        </a:rPr>
                        <a:t>○　物理モデルの範囲内</a:t>
                      </a:r>
                    </a:p>
                  </a:txBody>
                  <a:tcPr marL="91440" marR="91440" marT="45720" marB="45720"/>
                </a:tc>
              </a:tr>
              <a:tr h="762000">
                <a:tc>
                  <a:txBody>
                    <a:bodyPr>
                      <a:normAutofit/>
                    </a:bodyPr>
                    <a:lstStyle/>
                    <a:p>
                      <a:pPr algn="l"/>
                      <a:r>
                        <a:rPr sz="1350" b="1">
                          <a:solidFill>
                            <a:srgbClr val="0B132B"/>
                          </a:solidFill>
                          <a:latin typeface="IPAexGothic"/>
                          <a:ea typeface="IPAexGothic"/>
                          <a:cs typeface="IPAexGothic"/>
                        </a:rPr>
                        <a:t>計測困難な内部状態</a:t>
                      </a:r>
                    </a:p>
                  </a:txBody>
                  <a:tcPr marL="91440" marR="91440" marT="45720" marB="45720" anchor="ctr">
                    <a:solidFill>
                      <a:srgbClr val="EAF5FC"/>
                    </a:solidFill>
                  </a:tcPr>
                </a:tc>
                <a:tc>
                  <a:txBody>
                    <a:bodyPr/>
                    <a:lstStyle/>
                    <a:p>
                      <a:r>
                        <a:rPr sz="1350" b="0">
                          <a:solidFill>
                            <a:srgbClr val="24324A"/>
                          </a:solidFill>
                          <a:latin typeface="IPAexGothic"/>
                          <a:ea typeface="IPAexGothic"/>
                          <a:cs typeface="IPAexGothic"/>
                        </a:rPr>
                        <a:t>◎　分布を直接算出</a:t>
                      </a:r>
                    </a:p>
                  </a:txBody>
                  <a:tcPr marL="91440" marR="91440" marT="45720" marB="45720"/>
                </a:tc>
                <a:tc>
                  <a:txBody>
                    <a:bodyPr/>
                    <a:lstStyle/>
                    <a:p>
                      <a:r>
                        <a:rPr sz="1350" b="0">
                          <a:solidFill>
                            <a:srgbClr val="24324A"/>
                          </a:solidFill>
                          <a:latin typeface="IPAexGothic"/>
                          <a:ea typeface="IPAexGothic"/>
                          <a:cs typeface="IPAexGothic"/>
                        </a:rPr>
                        <a:t>×　センサー範囲に限定</a:t>
                      </a:r>
                    </a:p>
                  </a:txBody>
                  <a:tcPr marL="91440" marR="91440" marT="45720" marB="45720"/>
                </a:tc>
                <a:tc>
                  <a:txBody>
                    <a:bodyPr/>
                    <a:lstStyle/>
                    <a:p>
                      <a:r>
                        <a:rPr sz="1350" b="0">
                          <a:solidFill>
                            <a:srgbClr val="24324A"/>
                          </a:solidFill>
                          <a:latin typeface="IPAexGothic"/>
                          <a:ea typeface="IPAexGothic"/>
                          <a:cs typeface="IPAexGothic"/>
                        </a:rPr>
                        <a:t>○　シミュレーション情報を継承</a:t>
                      </a:r>
                    </a:p>
                  </a:txBody>
                  <a:tcPr marL="91440" marR="91440" marT="45720" marB="45720"/>
                </a:tc>
              </a:tr>
              <a:tr h="762000">
                <a:tc>
                  <a:txBody>
                    <a:bodyPr>
                      <a:normAutofit/>
                    </a:bodyPr>
                    <a:lstStyle/>
                    <a:p>
                      <a:pPr algn="l"/>
                      <a:r>
                        <a:rPr sz="1350" b="1">
                          <a:solidFill>
                            <a:srgbClr val="0B132B"/>
                          </a:solidFill>
                          <a:latin typeface="IPAexGothic"/>
                          <a:ea typeface="IPAexGothic"/>
                          <a:cs typeface="IPAexGothic"/>
                        </a:rPr>
                        <a:t>メカニズムの説明</a:t>
                      </a:r>
                    </a:p>
                  </a:txBody>
                  <a:tcPr marL="91440" marR="91440" marT="45720" marB="45720" anchor="ctr">
                    <a:solidFill>
                      <a:srgbClr val="EAF5FC"/>
                    </a:solidFill>
                  </a:tcPr>
                </a:tc>
                <a:tc>
                  <a:txBody>
                    <a:bodyPr/>
                    <a:lstStyle/>
                    <a:p>
                      <a:r>
                        <a:rPr sz="1350" b="0">
                          <a:solidFill>
                            <a:srgbClr val="24324A"/>
                          </a:solidFill>
                          <a:latin typeface="IPAexGothic"/>
                          <a:ea typeface="IPAexGothic"/>
                          <a:cs typeface="IPAexGothic"/>
                        </a:rPr>
                        <a:t>◎　条件と因果を追跡</a:t>
                      </a:r>
                    </a:p>
                  </a:txBody>
                  <a:tcPr marL="91440" marR="91440" marT="45720" marB="45720"/>
                </a:tc>
                <a:tc>
                  <a:txBody>
                    <a:bodyPr/>
                    <a:lstStyle/>
                    <a:p>
                      <a:r>
                        <a:rPr sz="1350" b="0">
                          <a:solidFill>
                            <a:srgbClr val="24324A"/>
                          </a:solidFill>
                          <a:latin typeface="IPAexGothic"/>
                          <a:ea typeface="IPAexGothic"/>
                          <a:cs typeface="IPAexGothic"/>
                        </a:rPr>
                        <a:t>△　相関に留まりやすい</a:t>
                      </a:r>
                    </a:p>
                  </a:txBody>
                  <a:tcPr marL="91440" marR="91440" marT="45720" marB="45720"/>
                </a:tc>
                <a:tc>
                  <a:txBody>
                    <a:bodyPr/>
                    <a:lstStyle/>
                    <a:p>
                      <a:r>
                        <a:rPr sz="1350" b="0">
                          <a:solidFill>
                            <a:srgbClr val="24324A"/>
                          </a:solidFill>
                          <a:latin typeface="IPAexGothic"/>
                          <a:ea typeface="IPAexGothic"/>
                          <a:cs typeface="IPAexGothic"/>
                        </a:rPr>
                        <a:t>○　物理傾向と実機差を分離</a:t>
                      </a:r>
                    </a:p>
                  </a:txBody>
                  <a:tcPr marL="91440" marR="91440" marT="45720" marB="45720"/>
                </a:tc>
              </a:tr>
              <a:tr h="762000">
                <a:tc>
                  <a:txBody>
                    <a:bodyPr>
                      <a:normAutofit/>
                    </a:bodyPr>
                    <a:lstStyle/>
                    <a:p>
                      <a:pPr algn="l"/>
                      <a:r>
                        <a:rPr sz="1350" b="1">
                          <a:solidFill>
                            <a:srgbClr val="0B132B"/>
                          </a:solidFill>
                          <a:latin typeface="IPAexGothic"/>
                          <a:ea typeface="IPAexGothic"/>
                          <a:cs typeface="IPAexGothic"/>
                        </a:rPr>
                        <a:t>多数条件・最適化</a:t>
                      </a:r>
                    </a:p>
                  </a:txBody>
                  <a:tcPr marL="91440" marR="91440" marT="45720" marB="45720" anchor="ctr">
                    <a:solidFill>
                      <a:srgbClr val="EAF5FC"/>
                    </a:solidFill>
                  </a:tcPr>
                </a:tc>
                <a:tc>
                  <a:txBody>
                    <a:bodyPr/>
                    <a:lstStyle/>
                    <a:p>
                      <a:r>
                        <a:rPr sz="1350" b="0">
                          <a:solidFill>
                            <a:srgbClr val="24324A"/>
                          </a:solidFill>
                          <a:latin typeface="IPAexGothic"/>
                          <a:ea typeface="IPAexGothic"/>
                          <a:cs typeface="IPAexGothic"/>
                        </a:rPr>
                        <a:t>△　計算時間が律速</a:t>
                      </a:r>
                    </a:p>
                  </a:txBody>
                  <a:tcPr marL="91440" marR="91440" marT="45720" marB="45720"/>
                </a:tc>
                <a:tc>
                  <a:txBody>
                    <a:bodyPr/>
                    <a:lstStyle/>
                    <a:p>
                      <a:r>
                        <a:rPr sz="1350" b="0">
                          <a:solidFill>
                            <a:srgbClr val="24324A"/>
                          </a:solidFill>
                          <a:latin typeface="IPAexGothic"/>
                          <a:ea typeface="IPAexGothic"/>
                          <a:cs typeface="IPAexGothic"/>
                        </a:rPr>
                        <a:t>△　取得済み範囲のみ</a:t>
                      </a:r>
                    </a:p>
                  </a:txBody>
                  <a:tcPr marL="91440" marR="91440" marT="45720" marB="45720"/>
                </a:tc>
                <a:tc>
                  <a:txBody>
                    <a:bodyPr/>
                    <a:lstStyle/>
                    <a:p>
                      <a:r>
                        <a:rPr sz="1350" b="0">
                          <a:solidFill>
                            <a:srgbClr val="24324A"/>
                          </a:solidFill>
                          <a:latin typeface="IPAexGothic"/>
                          <a:ea typeface="IPAexGothic"/>
                          <a:cs typeface="IPAexGothic"/>
                        </a:rPr>
                        <a:t>◎　候補を高速評価</a:t>
                      </a:r>
                    </a:p>
                  </a:txBody>
                  <a:tcPr marL="91440" marR="91440" marT="45720" marB="45720"/>
                </a:tc>
              </a:tr>
              <a:tr h="762000">
                <a:tc>
                  <a:txBody>
                    <a:bodyPr>
                      <a:normAutofit/>
                    </a:bodyPr>
                    <a:lstStyle/>
                    <a:p>
                      <a:pPr algn="l"/>
                      <a:r>
                        <a:rPr sz="1350" b="1">
                          <a:solidFill>
                            <a:srgbClr val="0B132B"/>
                          </a:solidFill>
                          <a:latin typeface="IPAexGothic"/>
                          <a:ea typeface="IPAexGothic"/>
                          <a:cs typeface="IPAexGothic"/>
                        </a:rPr>
                        <a:t>少数実験の活用</a:t>
                      </a:r>
                    </a:p>
                  </a:txBody>
                  <a:tcPr marL="91440" marR="91440" marT="45720" marB="45720" anchor="ctr">
                    <a:solidFill>
                      <a:srgbClr val="EAF5FC"/>
                    </a:solidFill>
                  </a:tcPr>
                </a:tc>
                <a:tc>
                  <a:txBody>
                    <a:bodyPr/>
                    <a:lstStyle/>
                    <a:p>
                      <a:r>
                        <a:rPr sz="1350" b="0">
                          <a:solidFill>
                            <a:srgbClr val="24324A"/>
                          </a:solidFill>
                          <a:latin typeface="IPAexGothic"/>
                          <a:ea typeface="IPAexGothic"/>
                          <a:cs typeface="IPAexGothic"/>
                        </a:rPr>
                        <a:t>△　校正に利用</a:t>
                      </a:r>
                    </a:p>
                  </a:txBody>
                  <a:tcPr marL="91440" marR="91440" marT="45720" marB="45720"/>
                </a:tc>
                <a:tc>
                  <a:txBody>
                    <a:bodyPr/>
                    <a:lstStyle/>
                    <a:p>
                      <a:r>
                        <a:rPr sz="1350" b="0">
                          <a:solidFill>
                            <a:srgbClr val="24324A"/>
                          </a:solidFill>
                          <a:latin typeface="IPAexGothic"/>
                          <a:ea typeface="IPAexGothic"/>
                          <a:cs typeface="IPAexGothic"/>
                        </a:rPr>
                        <a:t>△　単独学習には不足</a:t>
                      </a:r>
                    </a:p>
                  </a:txBody>
                  <a:tcPr marL="91440" marR="91440" marT="45720" marB="45720"/>
                </a:tc>
                <a:tc>
                  <a:txBody>
                    <a:bodyPr/>
                    <a:lstStyle/>
                    <a:p>
                      <a:r>
                        <a:rPr sz="1350" b="0">
                          <a:solidFill>
                            <a:srgbClr val="24324A"/>
                          </a:solidFill>
                          <a:latin typeface="IPAexGothic"/>
                          <a:ea typeface="IPAexGothic"/>
                          <a:cs typeface="IPAexGothic"/>
                        </a:rPr>
                        <a:t>◎　差分補正に利用</a:t>
                      </a:r>
                    </a:p>
                  </a:txBody>
                  <a:tcPr marL="91440" marR="91440" marT="45720" marB="45720"/>
                </a:tc>
              </a:tr>
            </a:tbl>
          </a:graphicData>
        </a:graphic>
      </p:graphicFrame>
      <p:sp>
        <p:nvSpPr>
          <p:cNvPr id="5" name="">
            <a:extLst xmlns:a="http://schemas.openxmlformats.org/drawingml/2006/main">
              <a:ext uri="{FF2B5EF4-FFF2-40B4-BE49-F238E27FC236}">
                <a16:creationId xmlns:a16="http://schemas.microsoft.com/office/drawing/2014/main" id="{FED0CB8A-1E4F-4C49-8C01-A753184AD4E0}"/>
              </a:ext>
            </a:extLst>
          </p:cNvPr>
          <p:cNvSpPr>
            <a:spLocks xmlns:a="http://schemas.openxmlformats.org/drawingml/2006/main" noGrp="1"/>
          </p:cNvSpPr>
          <p:nvPr/>
        </p:nvSpPr>
        <p:spPr>
          <a:xfrm xmlns:a="http://schemas.openxmlformats.org/drawingml/2006/main">
            <a:off x="514350" y="6229350"/>
            <a:ext cx="11163300" cy="438150"/>
          </a:xfrm>
          <a:prstGeom xmlns:a="http://schemas.openxmlformats.org/drawingml/2006/main" prst="roundRect">
            <a:avLst>
              <a:gd name="adj" fmla="val 17391"/>
            </a:avLst>
          </a:prstGeom>
          <a:solidFill xmlns:a="http://schemas.openxmlformats.org/drawingml/2006/main">
            <a:srgbClr val="0B132B"/>
          </a:solidFill>
          <a:ln xmlns:a="http://schemas.openxmlformats.org/drawingml/2006/main" w="0">
            <a:noFill/>
          </a:ln>
        </p:spPr>
        <p:txBody>
          <a:bodyPr xmlns:a="http://schemas.openxmlformats.org/drawingml/2006/main" lIns="114300" tIns="47625" rIns="114300" bIns="47625" anchor="ctr">
            <a:noAutofit/>
          </a:bodyPr>
          <a:lstStyle xmlns:a="http://schemas.openxmlformats.org/drawingml/2006/main"/>
          <a:p xmlns:a="http://schemas.openxmlformats.org/drawingml/2006/main">
            <a:pPr algn="ctr">
              <a:defRPr sz="1350" b="1">
                <a:solidFill>
                  <a:srgbClr val="FFFFFF"/>
                </a:solidFill>
                <a:latin typeface="IPAexGothic"/>
                <a:ea typeface="IPAexGothic"/>
                <a:cs typeface="IPAexGothic"/>
              </a:defRPr>
            </a:pPr>
            <a:r>
              <a:rPr sz="1350" b="1">
                <a:solidFill>
                  <a:srgbClr val="FFFFFF"/>
                </a:solidFill>
                <a:latin typeface="IPAexGothic"/>
                <a:ea typeface="IPAexGothic"/>
                <a:cs typeface="IPAexGothic"/>
              </a:rPr>
              <a:t>新規現象の理解はシミュレーション、多条件探索と少数実験補正はサロゲートが担う</a:t>
            </a:r>
          </a:p>
        </p:txBody>
      </p:sp>
    </p:spTree>
    <p:extLst>
      <p:ext uri="{BB962C8B-B14F-4D97-AF65-F5344CB8AC3E}">
        <p14:creationId xmlns:p14="http://schemas.microsoft.com/office/powerpoint/2010/main" val="1992540905"/>
      </p:ext>
    </p:extLst>
  </p:cSld>
</p:sld>
</file>

<file path=ppt/slides/slide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6E9C8A9-CA91-41EB-BA0B-DEFEBBFED712}"/>
              </a:ext>
            </a:extLst>
          </p:cNvPr>
          <p:cNvSpPr>
            <a:spLocks xmlns:a="http://schemas.openxmlformats.org/drawingml/2006/main" noGrp="1"/>
          </p:cNvSpPr>
          <p:nvPr/>
        </p:nvSpPr>
        <p:spPr>
          <a:xfrm xmlns:a="http://schemas.openxmlformats.org/drawingml/2006/main">
            <a:off x="514350" y="323850"/>
            <a:ext cx="11163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3798"/>
          </a:bodyPr>
          <a:lstStyle xmlns:a="http://schemas.openxmlformats.org/drawingml/2006/main"/>
          <a:p xmlns:a="http://schemas.openxmlformats.org/drawingml/2006/main">
            <a:pPr>
              <a:defRPr sz="3225" b="1">
                <a:solidFill>
                  <a:srgbClr val="0B132B"/>
                </a:solidFill>
                <a:latin typeface="IPAexGothic"/>
                <a:ea typeface="IPAexGothic"/>
                <a:cs typeface="IPAexGothic"/>
              </a:defRPr>
            </a:pPr>
            <a:r>
              <a:rPr sz="3225" b="1">
                <a:solidFill>
                  <a:srgbClr val="0B132B"/>
                </a:solidFill>
                <a:latin typeface="IPAexGothic"/>
                <a:ea typeface="IPAexGothic"/>
                <a:cs typeface="IPAexGothic"/>
              </a:rPr>
              <a:t>得意・不得意の比較　実機適用・信頼性</a:t>
            </a:r>
          </a:p>
        </p:txBody>
      </p:sp>
      <p:sp>
        <p:nvSpPr>
          <p:cNvPr id="2" name="">
            <a:extLst xmlns:a="http://schemas.openxmlformats.org/drawingml/2006/main">
              <a:ext uri="{FF2B5EF4-FFF2-40B4-BE49-F238E27FC236}">
                <a16:creationId xmlns:a16="http://schemas.microsoft.com/office/drawing/2014/main" id="{7F873938-6ADF-48BB-B836-F34C2B4F5179}"/>
              </a:ext>
            </a:extLst>
          </p:cNvPr>
          <p:cNvSpPr>
            <a:spLocks xmlns:a="http://schemas.openxmlformats.org/drawingml/2006/main" noGrp="1"/>
          </p:cNvSpPr>
          <p:nvPr/>
        </p:nvSpPr>
        <p:spPr>
          <a:xfrm xmlns:a="http://schemas.openxmlformats.org/drawingml/2006/main">
            <a:off x="533400" y="866775"/>
            <a:ext cx="11125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424"/>
          </a:bodyPr>
          <a:lstStyle xmlns:a="http://schemas.openxmlformats.org/drawingml/2006/main"/>
          <a:p xmlns:a="http://schemas.openxmlformats.org/drawingml/2006/main">
            <a:pPr>
              <a:defRPr sz="1650">
                <a:solidFill>
                  <a:srgbClr val="617083"/>
                </a:solidFill>
                <a:latin typeface="IPAexGothic"/>
                <a:ea typeface="IPAexGothic"/>
                <a:cs typeface="IPAexGothic"/>
              </a:defRPr>
            </a:pPr>
            <a:r>
              <a:rPr sz="1650">
                <a:solidFill>
                  <a:srgbClr val="617083"/>
                </a:solidFill>
                <a:latin typeface="IPAexGothic"/>
                <a:ea typeface="IPAexGothic"/>
                <a:cs typeface="IPAexGothic"/>
              </a:rPr>
              <a:t>外挿とモデル更新には、適用範囲と検証結果の管理が必要</a:t>
            </a:r>
          </a:p>
        </p:txBody>
      </p:sp>
      <p:sp>
        <p:nvSpPr>
          <p:cNvPr id="3" name="">
            <a:extLst xmlns:a="http://schemas.openxmlformats.org/drawingml/2006/main">
              <a:ext uri="{FF2B5EF4-FFF2-40B4-BE49-F238E27FC236}">
                <a16:creationId xmlns:a16="http://schemas.microsoft.com/office/drawing/2014/main" id="{94640E89-4EE5-44AE-9BF1-745BB3384375}"/>
              </a:ext>
            </a:extLst>
          </p:cNvPr>
          <p:cNvSpPr>
            <a:spLocks xmlns:a="http://schemas.openxmlformats.org/drawingml/2006/main" noGrp="1"/>
          </p:cNvSpPr>
          <p:nvPr/>
        </p:nvSpPr>
        <p:spPr>
          <a:xfrm xmlns:a="http://schemas.openxmlformats.org/drawingml/2006/main">
            <a:off x="8724900" y="1143000"/>
            <a:ext cx="295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7009"/>
          </a:bodyPr>
          <a:lstStyle xmlns:a="http://schemas.openxmlformats.org/drawingml/2006/main"/>
          <a:p xmlns:a="http://schemas.openxmlformats.org/drawingml/2006/main">
            <a:pPr algn="r">
              <a:defRPr sz="1200">
                <a:solidFill>
                  <a:srgbClr val="617083"/>
                </a:solidFill>
                <a:latin typeface="IPAexGothic"/>
                <a:ea typeface="IPAexGothic"/>
                <a:cs typeface="IPAexGothic"/>
              </a:defRPr>
            </a:pPr>
            <a:r>
              <a:rPr sz="1200">
                <a:solidFill>
                  <a:srgbClr val="617083"/>
                </a:solidFill>
                <a:latin typeface="IPAexGothic"/>
                <a:ea typeface="IPAexGothic"/>
                <a:cs typeface="IPAexGothic"/>
              </a:rPr>
              <a:t>◎ 得意　○ 対応可能　△ 条件付き　× 不得意</a:t>
            </a:r>
          </a:p>
        </p:txBody>
      </p:sp>
      <p:graphicFrame>
        <p:nvGraphicFramePr>
          <p:cNvPr id="9" name=""/>
          <p:cNvGraphicFramePr/>
          <p:nvPr/>
        </p:nvGraphicFramePr>
        <p:xfrm>
          <a:off xmlns:a="http://schemas.openxmlformats.org/drawingml/2006/main" x="514350" y="1466850"/>
          <a:ext xmlns:a="http://schemas.openxmlformats.org/drawingml/2006/main" cx="11163300" cy="4438650"/>
        </p:xfrm>
        <a:graphic xmlns:a="http://schemas.openxmlformats.org/drawingml/2006/main">
          <a:graphicData uri="http://schemas.openxmlformats.org/drawingml/2006/table">
            <a:tbl>
              <a:tblPr/>
              <a:tblGrid>
                <a:gridCol w="2476500"/>
                <a:gridCol w="2762250"/>
                <a:gridCol w="2762250"/>
                <a:gridCol w="3162300"/>
              </a:tblGrid>
              <a:tr h="609600">
                <a:tc>
                  <a:txBody>
                    <a:bodyPr/>
                    <a:lstStyle/>
                    <a:p>
                      <a:r>
                        <a:rPr sz="1425" b="1">
                          <a:solidFill>
                            <a:srgbClr val="24324A"/>
                          </a:solidFill>
                          <a:latin typeface="IPAexGothic"/>
                          <a:ea typeface="IPAexGothic"/>
                          <a:cs typeface="IPAexGothic"/>
                        </a:rPr>
                        <a:t>評価項目</a:t>
                      </a:r>
                    </a:p>
                  </a:txBody>
                  <a:tcPr marL="91440" marR="91440" marT="45720" marB="45720"/>
                </a:tc>
                <a:tc>
                  <a:txBody>
                    <a:bodyPr/>
                    <a:lstStyle/>
                    <a:p>
                      <a:r>
                        <a:rPr sz="1425" b="1">
                          <a:solidFill>
                            <a:srgbClr val="24324A"/>
                          </a:solidFill>
                          <a:latin typeface="IPAexGothic"/>
                          <a:ea typeface="IPAexGothic"/>
                          <a:cs typeface="IPAexGothic"/>
                        </a:rPr>
                        <a:t>シミュレーション単体</a:t>
                      </a:r>
                    </a:p>
                  </a:txBody>
                  <a:tcPr marL="91440" marR="91440" marT="45720" marB="45720"/>
                </a:tc>
                <a:tc>
                  <a:txBody>
                    <a:bodyPr/>
                    <a:lstStyle/>
                    <a:p>
                      <a:r>
                        <a:rPr sz="1425" b="1">
                          <a:solidFill>
                            <a:srgbClr val="24324A"/>
                          </a:solidFill>
                          <a:latin typeface="IPAexGothic"/>
                          <a:ea typeface="IPAexGothic"/>
                          <a:cs typeface="IPAexGothic"/>
                        </a:rPr>
                        <a:t>実験データ分析単体</a:t>
                      </a:r>
                    </a:p>
                  </a:txBody>
                  <a:tcPr marL="91440" marR="91440" marT="45720" marB="45720"/>
                </a:tc>
                <a:tc>
                  <a:txBody>
                    <a:bodyPr/>
                    <a:lstStyle/>
                    <a:p>
                      <a:r>
                        <a:rPr sz="1425" b="1">
                          <a:solidFill>
                            <a:srgbClr val="24324A"/>
                          </a:solidFill>
                          <a:latin typeface="IPAexGothic"/>
                          <a:ea typeface="IPAexGothic"/>
                          <a:cs typeface="IPAexGothic"/>
                        </a:rPr>
                        <a:t>ハイブリッド・サロゲート</a:t>
                      </a:r>
                    </a:p>
                  </a:txBody>
                  <a:tcPr marL="91440" marR="91440" marT="45720" marB="45720"/>
                </a:tc>
              </a:tr>
              <a:tr h="762000">
                <a:tc>
                  <a:txBody>
                    <a:bodyPr>
                      <a:normAutofit/>
                    </a:bodyPr>
                    <a:lstStyle/>
                    <a:p>
                      <a:pPr algn="l"/>
                      <a:r>
                        <a:rPr sz="1350" b="1">
                          <a:solidFill>
                            <a:srgbClr val="0B132B"/>
                          </a:solidFill>
                          <a:latin typeface="IPAexGothic"/>
                          <a:ea typeface="IPAexGothic"/>
                          <a:cs typeface="IPAexGothic"/>
                        </a:rPr>
                        <a:t>実機差・経時変化</a:t>
                      </a:r>
                    </a:p>
                  </a:txBody>
                  <a:tcPr marL="91440" marR="91440" marT="45720" marB="45720" anchor="ctr">
                    <a:solidFill>
                      <a:srgbClr val="EAF5FC"/>
                    </a:solidFill>
                  </a:tcPr>
                </a:tc>
                <a:tc>
                  <a:txBody>
                    <a:bodyPr/>
                    <a:lstStyle/>
                    <a:p>
                      <a:r>
                        <a:rPr sz="1350" b="0">
                          <a:solidFill>
                            <a:srgbClr val="24324A"/>
                          </a:solidFill>
                          <a:latin typeface="IPAexGothic"/>
                          <a:ea typeface="IPAexGothic"/>
                          <a:cs typeface="IPAexGothic"/>
                        </a:rPr>
                        <a:t>△　モデル更新が必要</a:t>
                      </a:r>
                    </a:p>
                  </a:txBody>
                  <a:tcPr marL="91440" marR="91440" marT="45720" marB="45720"/>
                </a:tc>
                <a:tc>
                  <a:txBody>
                    <a:bodyPr/>
                    <a:lstStyle/>
                    <a:p>
                      <a:r>
                        <a:rPr sz="1350" b="0">
                          <a:solidFill>
                            <a:srgbClr val="24324A"/>
                          </a:solidFill>
                          <a:latin typeface="IPAexGothic"/>
                          <a:ea typeface="IPAexGothic"/>
                          <a:cs typeface="IPAexGothic"/>
                        </a:rPr>
                        <a:t>◎　実測を直接反映</a:t>
                      </a:r>
                    </a:p>
                  </a:txBody>
                  <a:tcPr marL="91440" marR="91440" marT="45720" marB="45720"/>
                </a:tc>
                <a:tc>
                  <a:txBody>
                    <a:bodyPr/>
                    <a:lstStyle/>
                    <a:p>
                      <a:r>
                        <a:rPr sz="1350" b="0">
                          <a:solidFill>
                            <a:srgbClr val="24324A"/>
                          </a:solidFill>
                          <a:latin typeface="IPAexGothic"/>
                          <a:ea typeface="IPAexGothic"/>
                          <a:cs typeface="IPAexGothic"/>
                        </a:rPr>
                        <a:t>◎　差分モデルを更新</a:t>
                      </a:r>
                    </a:p>
                  </a:txBody>
                  <a:tcPr marL="91440" marR="91440" marT="45720" marB="45720"/>
                </a:tc>
              </a:tr>
              <a:tr h="762000">
                <a:tc>
                  <a:txBody>
                    <a:bodyPr>
                      <a:normAutofit/>
                    </a:bodyPr>
                    <a:lstStyle/>
                    <a:p>
                      <a:pPr algn="l"/>
                      <a:r>
                        <a:rPr sz="1350" b="1">
                          <a:solidFill>
                            <a:srgbClr val="0B132B"/>
                          </a:solidFill>
                          <a:latin typeface="IPAexGothic"/>
                          <a:ea typeface="IPAexGothic"/>
                          <a:cs typeface="IPAexGothic"/>
                        </a:rPr>
                        <a:t>学習範囲外への外挿</a:t>
                      </a:r>
                    </a:p>
                  </a:txBody>
                  <a:tcPr marL="91440" marR="91440" marT="45720" marB="45720" anchor="ctr">
                    <a:solidFill>
                      <a:srgbClr val="EAF5FC"/>
                    </a:solidFill>
                  </a:tcPr>
                </a:tc>
                <a:tc>
                  <a:txBody>
                    <a:bodyPr/>
                    <a:lstStyle/>
                    <a:p>
                      <a:r>
                        <a:rPr sz="1350" b="0">
                          <a:solidFill>
                            <a:srgbClr val="24324A"/>
                          </a:solidFill>
                          <a:latin typeface="IPAexGothic"/>
                          <a:ea typeface="IPAexGothic"/>
                          <a:cs typeface="IPAexGothic"/>
                        </a:rPr>
                        <a:t>○　物理式が有効な範囲</a:t>
                      </a:r>
                    </a:p>
                  </a:txBody>
                  <a:tcPr marL="91440" marR="91440" marT="45720" marB="45720"/>
                </a:tc>
                <a:tc>
                  <a:txBody>
                    <a:bodyPr/>
                    <a:lstStyle/>
                    <a:p>
                      <a:r>
                        <a:rPr sz="1350" b="0">
                          <a:solidFill>
                            <a:srgbClr val="24324A"/>
                          </a:solidFill>
                          <a:latin typeface="IPAexGothic"/>
                          <a:ea typeface="IPAexGothic"/>
                          <a:cs typeface="IPAexGothic"/>
                        </a:rPr>
                        <a:t>×　保証できない</a:t>
                      </a:r>
                    </a:p>
                  </a:txBody>
                  <a:tcPr marL="91440" marR="91440" marT="45720" marB="45720"/>
                </a:tc>
                <a:tc>
                  <a:txBody>
                    <a:bodyPr/>
                    <a:lstStyle/>
                    <a:p>
                      <a:r>
                        <a:rPr sz="1350" b="0">
                          <a:solidFill>
                            <a:srgbClr val="24324A"/>
                          </a:solidFill>
                          <a:latin typeface="IPAexGothic"/>
                          <a:ea typeface="IPAexGothic"/>
                          <a:cs typeface="IPAexGothic"/>
                        </a:rPr>
                        <a:t>△　高精度計算・実験で再検証</a:t>
                      </a:r>
                    </a:p>
                  </a:txBody>
                  <a:tcPr marL="91440" marR="91440" marT="45720" marB="45720"/>
                </a:tc>
              </a:tr>
              <a:tr h="762000">
                <a:tc>
                  <a:txBody>
                    <a:bodyPr>
                      <a:normAutofit/>
                    </a:bodyPr>
                    <a:lstStyle/>
                    <a:p>
                      <a:pPr algn="l"/>
                      <a:r>
                        <a:rPr sz="1350" b="1">
                          <a:solidFill>
                            <a:srgbClr val="0B132B"/>
                          </a:solidFill>
                          <a:latin typeface="IPAexGothic"/>
                          <a:ea typeface="IPAexGothic"/>
                          <a:cs typeface="IPAexGothic"/>
                        </a:rPr>
                        <a:t>モデル連成</a:t>
                      </a:r>
                    </a:p>
                  </a:txBody>
                  <a:tcPr marL="91440" marR="91440" marT="45720" marB="45720" anchor="ctr">
                    <a:solidFill>
                      <a:srgbClr val="EAF5FC"/>
                    </a:solidFill>
                  </a:tcPr>
                </a:tc>
                <a:tc>
                  <a:txBody>
                    <a:bodyPr/>
                    <a:lstStyle/>
                    <a:p>
                      <a:r>
                        <a:rPr sz="1350" b="0">
                          <a:solidFill>
                            <a:srgbClr val="24324A"/>
                          </a:solidFill>
                          <a:latin typeface="IPAexGothic"/>
                          <a:ea typeface="IPAexGothic"/>
                          <a:cs typeface="IPAexGothic"/>
                        </a:rPr>
                        <a:t>○　精密だが高コスト</a:t>
                      </a:r>
                    </a:p>
                  </a:txBody>
                  <a:tcPr marL="91440" marR="91440" marT="45720" marB="45720"/>
                </a:tc>
                <a:tc>
                  <a:txBody>
                    <a:bodyPr/>
                    <a:lstStyle/>
                    <a:p>
                      <a:r>
                        <a:rPr sz="1350" b="0">
                          <a:solidFill>
                            <a:srgbClr val="24324A"/>
                          </a:solidFill>
                          <a:latin typeface="IPAexGothic"/>
                          <a:ea typeface="IPAexGothic"/>
                          <a:cs typeface="IPAexGothic"/>
                        </a:rPr>
                        <a:t>△　大量の組合せデータが必要</a:t>
                      </a:r>
                    </a:p>
                  </a:txBody>
                  <a:tcPr marL="91440" marR="91440" marT="45720" marB="45720"/>
                </a:tc>
                <a:tc>
                  <a:txBody>
                    <a:bodyPr/>
                    <a:lstStyle/>
                    <a:p>
                      <a:r>
                        <a:rPr sz="1350" b="0">
                          <a:solidFill>
                            <a:srgbClr val="24324A"/>
                          </a:solidFill>
                          <a:latin typeface="IPAexGothic"/>
                          <a:ea typeface="IPAexGothic"/>
                          <a:cs typeface="IPAexGothic"/>
                        </a:rPr>
                        <a:t>◎　領域別モデルを高速接続</a:t>
                      </a:r>
                    </a:p>
                  </a:txBody>
                  <a:tcPr marL="91440" marR="91440" marT="45720" marB="45720"/>
                </a:tc>
              </a:tr>
              <a:tr h="762000">
                <a:tc>
                  <a:txBody>
                    <a:bodyPr>
                      <a:normAutofit/>
                    </a:bodyPr>
                    <a:lstStyle/>
                    <a:p>
                      <a:pPr algn="l"/>
                      <a:r>
                        <a:rPr sz="1350" b="1">
                          <a:solidFill>
                            <a:srgbClr val="0B132B"/>
                          </a:solidFill>
                          <a:latin typeface="IPAexGothic"/>
                          <a:ea typeface="IPAexGothic"/>
                          <a:cs typeface="IPAexGothic"/>
                        </a:rPr>
                        <a:t>オンライン更新・制御</a:t>
                      </a:r>
                    </a:p>
                  </a:txBody>
                  <a:tcPr marL="91440" marR="91440" marT="45720" marB="45720" anchor="ctr">
                    <a:solidFill>
                      <a:srgbClr val="EAF5FC"/>
                    </a:solidFill>
                  </a:tcPr>
                </a:tc>
                <a:tc>
                  <a:txBody>
                    <a:bodyPr/>
                    <a:lstStyle/>
                    <a:p>
                      <a:r>
                        <a:rPr sz="1350" b="0">
                          <a:solidFill>
                            <a:srgbClr val="24324A"/>
                          </a:solidFill>
                          <a:latin typeface="IPAexGothic"/>
                          <a:ea typeface="IPAexGothic"/>
                          <a:cs typeface="IPAexGothic"/>
                        </a:rPr>
                        <a:t>△　計算時間が課題</a:t>
                      </a:r>
                    </a:p>
                  </a:txBody>
                  <a:tcPr marL="91440" marR="91440" marT="45720" marB="45720"/>
                </a:tc>
                <a:tc>
                  <a:txBody>
                    <a:bodyPr/>
                    <a:lstStyle/>
                    <a:p>
                      <a:r>
                        <a:rPr sz="1350" b="0">
                          <a:solidFill>
                            <a:srgbClr val="24324A"/>
                          </a:solidFill>
                          <a:latin typeface="IPAexGothic"/>
                          <a:ea typeface="IPAexGothic"/>
                          <a:cs typeface="IPAexGothic"/>
                        </a:rPr>
                        <a:t>○　観測範囲で更新</a:t>
                      </a:r>
                    </a:p>
                  </a:txBody>
                  <a:tcPr marL="91440" marR="91440" marT="45720" marB="45720"/>
                </a:tc>
                <a:tc>
                  <a:txBody>
                    <a:bodyPr/>
                    <a:lstStyle/>
                    <a:p>
                      <a:r>
                        <a:rPr sz="1350" b="0">
                          <a:solidFill>
                            <a:srgbClr val="24324A"/>
                          </a:solidFill>
                          <a:latin typeface="IPAexGothic"/>
                          <a:ea typeface="IPAexGothic"/>
                          <a:cs typeface="IPAexGothic"/>
                        </a:rPr>
                        <a:t>◎　状態推定と再最適化</a:t>
                      </a:r>
                    </a:p>
                  </a:txBody>
                  <a:tcPr marL="91440" marR="91440" marT="45720" marB="45720"/>
                </a:tc>
              </a:tr>
              <a:tr h="762000">
                <a:tc>
                  <a:txBody>
                    <a:bodyPr>
                      <a:normAutofit/>
                    </a:bodyPr>
                    <a:lstStyle/>
                    <a:p>
                      <a:pPr algn="l"/>
                      <a:r>
                        <a:rPr sz="1350" b="1">
                          <a:solidFill>
                            <a:srgbClr val="0B132B"/>
                          </a:solidFill>
                          <a:latin typeface="IPAexGothic"/>
                          <a:ea typeface="IPAexGothic"/>
                          <a:cs typeface="IPAexGothic"/>
                        </a:rPr>
                        <a:t>信頼性の条件</a:t>
                      </a:r>
                    </a:p>
                  </a:txBody>
                  <a:tcPr marL="91440" marR="91440" marT="45720" marB="45720" anchor="ctr">
                    <a:solidFill>
                      <a:srgbClr val="EAF5FC"/>
                    </a:solidFill>
                  </a:tcPr>
                </a:tc>
                <a:tc>
                  <a:txBody>
                    <a:bodyPr/>
                    <a:lstStyle/>
                    <a:p>
                      <a:r>
                        <a:rPr sz="1350" b="0">
                          <a:solidFill>
                            <a:srgbClr val="24324A"/>
                          </a:solidFill>
                          <a:latin typeface="IPAexGothic"/>
                          <a:ea typeface="IPAexGothic"/>
                          <a:cs typeface="IPAexGothic"/>
                        </a:rPr>
                        <a:t>近似・境界条件を検証</a:t>
                      </a:r>
                    </a:p>
                  </a:txBody>
                  <a:tcPr marL="91440" marR="91440" marT="45720" marB="45720"/>
                </a:tc>
                <a:tc>
                  <a:txBody>
                    <a:bodyPr/>
                    <a:lstStyle/>
                    <a:p>
                      <a:r>
                        <a:rPr sz="1350" b="0">
                          <a:solidFill>
                            <a:srgbClr val="24324A"/>
                          </a:solidFill>
                          <a:latin typeface="IPAexGothic"/>
                          <a:ea typeface="IPAexGothic"/>
                          <a:cs typeface="IPAexGothic"/>
                        </a:rPr>
                        <a:t>代表性とデータ品質を検証</a:t>
                      </a:r>
                    </a:p>
                  </a:txBody>
                  <a:tcPr marL="91440" marR="91440" marT="45720" marB="45720"/>
                </a:tc>
                <a:tc>
                  <a:txBody>
                    <a:bodyPr/>
                    <a:lstStyle/>
                    <a:p>
                      <a:r>
                        <a:rPr sz="1350" b="0">
                          <a:solidFill>
                            <a:srgbClr val="24324A"/>
                          </a:solidFill>
                          <a:latin typeface="IPAexGothic"/>
                          <a:ea typeface="IPAexGothic"/>
                          <a:cs typeface="IPAexGothic"/>
                        </a:rPr>
                        <a:t>両方に加え不確かさを管理</a:t>
                      </a:r>
                    </a:p>
                  </a:txBody>
                  <a:tcPr marL="91440" marR="91440" marT="45720" marB="45720"/>
                </a:tc>
              </a:tr>
            </a:tbl>
          </a:graphicData>
        </a:graphic>
      </p:graphicFrame>
      <p:sp>
        <p:nvSpPr>
          <p:cNvPr id="5" name="">
            <a:extLst xmlns:a="http://schemas.openxmlformats.org/drawingml/2006/main">
              <a:ext uri="{FF2B5EF4-FFF2-40B4-BE49-F238E27FC236}">
                <a16:creationId xmlns:a16="http://schemas.microsoft.com/office/drawing/2014/main" id="{7EE7B2E0-5ADD-45C3-9517-09C149041643}"/>
              </a:ext>
            </a:extLst>
          </p:cNvPr>
          <p:cNvSpPr>
            <a:spLocks xmlns:a="http://schemas.openxmlformats.org/drawingml/2006/main" noGrp="1"/>
          </p:cNvSpPr>
          <p:nvPr/>
        </p:nvSpPr>
        <p:spPr>
          <a:xfrm xmlns:a="http://schemas.openxmlformats.org/drawingml/2006/main">
            <a:off x="514350" y="6229350"/>
            <a:ext cx="11163300" cy="438150"/>
          </a:xfrm>
          <a:prstGeom xmlns:a="http://schemas.openxmlformats.org/drawingml/2006/main" prst="roundRect">
            <a:avLst>
              <a:gd name="adj" fmla="val 17391"/>
            </a:avLst>
          </a:prstGeom>
          <a:solidFill xmlns:a="http://schemas.openxmlformats.org/drawingml/2006/main">
            <a:srgbClr val="0B132B"/>
          </a:solidFill>
          <a:ln xmlns:a="http://schemas.openxmlformats.org/drawingml/2006/main" w="0">
            <a:noFill/>
          </a:ln>
        </p:spPr>
        <p:txBody>
          <a:bodyPr xmlns:a="http://schemas.openxmlformats.org/drawingml/2006/main" lIns="114300" tIns="47625" rIns="114300" bIns="47625" anchor="ctr">
            <a:noAutofit/>
          </a:bodyPr>
          <a:lstStyle xmlns:a="http://schemas.openxmlformats.org/drawingml/2006/main"/>
          <a:p xmlns:a="http://schemas.openxmlformats.org/drawingml/2006/main">
            <a:pPr algn="ctr">
              <a:defRPr sz="1350" b="1">
                <a:solidFill>
                  <a:srgbClr val="FFFFFF"/>
                </a:solidFill>
                <a:latin typeface="IPAexGothic"/>
                <a:ea typeface="IPAexGothic"/>
                <a:cs typeface="IPAexGothic"/>
              </a:defRPr>
            </a:pPr>
            <a:r>
              <a:rPr sz="1350" b="1">
                <a:solidFill>
                  <a:srgbClr val="FFFFFF"/>
                </a:solidFill>
                <a:latin typeface="IPAexGothic"/>
                <a:ea typeface="IPAexGothic"/>
                <a:cs typeface="IPAexGothic"/>
              </a:rPr>
              <a:t>サロゲートの速度を実用価値へ変える条件は、適用範囲・不確かさ・再検証の運用設計</a:t>
            </a:r>
          </a:p>
        </p:txBody>
      </p:sp>
    </p:spTree>
    <p:extLst>
      <p:ext uri="{BB962C8B-B14F-4D97-AF65-F5344CB8AC3E}">
        <p14:creationId xmlns:p14="http://schemas.microsoft.com/office/powerpoint/2010/main" val="1402635242"/>
      </p:ext>
    </p:extLst>
  </p:cSld>
</p:sld>
</file>

<file path=ppt/slides/slide4.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F33732F-ED05-44E6-93E6-78FBCCAEBBE1}"/>
              </a:ext>
            </a:extLst>
          </p:cNvPr>
          <p:cNvSpPr>
            <a:spLocks xmlns:a="http://schemas.openxmlformats.org/drawingml/2006/main" noGrp="1"/>
          </p:cNvSpPr>
          <p:nvPr/>
        </p:nvSpPr>
        <p:spPr>
          <a:xfrm xmlns:a="http://schemas.openxmlformats.org/drawingml/2006/main">
            <a:off x="514350" y="323850"/>
            <a:ext cx="11163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3798"/>
          </a:bodyPr>
          <a:lstStyle xmlns:a="http://schemas.openxmlformats.org/drawingml/2006/main"/>
          <a:p xmlns:a="http://schemas.openxmlformats.org/drawingml/2006/main">
            <a:pPr>
              <a:defRPr sz="3225" b="1">
                <a:solidFill>
                  <a:srgbClr val="0B132B"/>
                </a:solidFill>
                <a:latin typeface="IPAexGothic"/>
                <a:ea typeface="IPAexGothic"/>
                <a:cs typeface="IPAexGothic"/>
              </a:defRPr>
            </a:pPr>
            <a:r>
              <a:rPr sz="3225" b="1">
                <a:solidFill>
                  <a:srgbClr val="0B132B"/>
                </a:solidFill>
                <a:latin typeface="IPAexGothic"/>
                <a:ea typeface="IPAexGothic"/>
                <a:cs typeface="IPAexGothic"/>
              </a:rPr>
              <a:t>三方式の将来性</a:t>
            </a:r>
          </a:p>
        </p:txBody>
      </p:sp>
      <p:sp>
        <p:nvSpPr>
          <p:cNvPr id="2" name="">
            <a:extLst xmlns:a="http://schemas.openxmlformats.org/drawingml/2006/main">
              <a:ext uri="{FF2B5EF4-FFF2-40B4-BE49-F238E27FC236}">
                <a16:creationId xmlns:a16="http://schemas.microsoft.com/office/drawing/2014/main" id="{A26A6B31-0388-4E33-A607-86D3B796CAB7}"/>
              </a:ext>
            </a:extLst>
          </p:cNvPr>
          <p:cNvSpPr>
            <a:spLocks xmlns:a="http://schemas.openxmlformats.org/drawingml/2006/main" noGrp="1"/>
          </p:cNvSpPr>
          <p:nvPr/>
        </p:nvSpPr>
        <p:spPr>
          <a:xfrm xmlns:a="http://schemas.openxmlformats.org/drawingml/2006/main">
            <a:off x="533400" y="866775"/>
            <a:ext cx="11125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424"/>
          </a:bodyPr>
          <a:lstStyle xmlns:a="http://schemas.openxmlformats.org/drawingml/2006/main"/>
          <a:p xmlns:a="http://schemas.openxmlformats.org/drawingml/2006/main">
            <a:pPr>
              <a:defRPr sz="1650">
                <a:solidFill>
                  <a:srgbClr val="617083"/>
                </a:solidFill>
                <a:latin typeface="IPAexGothic"/>
                <a:ea typeface="IPAexGothic"/>
                <a:cs typeface="IPAexGothic"/>
              </a:defRPr>
            </a:pPr>
            <a:r>
              <a:rPr sz="1650">
                <a:solidFill>
                  <a:srgbClr val="617083"/>
                </a:solidFill>
                <a:latin typeface="IPAexGothic"/>
                <a:ea typeface="IPAexGothic"/>
                <a:cs typeface="IPAexGothic"/>
              </a:rPr>
              <a:t>サロゲートは二つの基盤を接続し、装置開発の反復判断を拡張する</a:t>
            </a:r>
          </a:p>
        </p:txBody>
      </p:sp>
      <p:graphicFrame>
        <p:nvGraphicFramePr>
          <p:cNvPr id="7" name=""/>
          <p:cNvGraphicFramePr/>
          <p:nvPr/>
        </p:nvGraphicFramePr>
        <p:xfrm>
          <a:off xmlns:a="http://schemas.openxmlformats.org/drawingml/2006/main" x="514350" y="1409700"/>
          <a:ext xmlns:a="http://schemas.openxmlformats.org/drawingml/2006/main" cx="11163300" cy="4495800"/>
        </p:xfrm>
        <a:graphic xmlns:a="http://schemas.openxmlformats.org/drawingml/2006/main">
          <a:graphicData uri="http://schemas.openxmlformats.org/drawingml/2006/table">
            <a:tbl>
              <a:tblPr/>
              <a:tblGrid>
                <a:gridCol w="2190750"/>
                <a:gridCol w="2781300"/>
                <a:gridCol w="2990850"/>
                <a:gridCol w="3200400"/>
              </a:tblGrid>
              <a:tr h="628650">
                <a:tc>
                  <a:txBody>
                    <a:bodyPr/>
                    <a:lstStyle/>
                    <a:p>
                      <a:r>
                        <a:rPr sz="1425" b="1">
                          <a:solidFill>
                            <a:srgbClr val="24324A"/>
                          </a:solidFill>
                          <a:latin typeface="IPAexGothic"/>
                          <a:ea typeface="IPAexGothic"/>
                          <a:cs typeface="IPAexGothic"/>
                        </a:rPr>
                        <a:t>技術</a:t>
                      </a:r>
                    </a:p>
                  </a:txBody>
                  <a:tcPr marL="91440" marR="91440" marT="45720" marB="45720"/>
                </a:tc>
                <a:tc>
                  <a:txBody>
                    <a:bodyPr/>
                    <a:lstStyle/>
                    <a:p>
                      <a:r>
                        <a:rPr sz="1425" b="1">
                          <a:solidFill>
                            <a:srgbClr val="24324A"/>
                          </a:solidFill>
                          <a:latin typeface="IPAexGothic"/>
                          <a:ea typeface="IPAexGothic"/>
                          <a:cs typeface="IPAexGothic"/>
                        </a:rPr>
                        <a:t>現在の主用途</a:t>
                      </a:r>
                    </a:p>
                  </a:txBody>
                  <a:tcPr marL="91440" marR="91440" marT="45720" marB="45720"/>
                </a:tc>
                <a:tc>
                  <a:txBody>
                    <a:bodyPr/>
                    <a:lstStyle/>
                    <a:p>
                      <a:r>
                        <a:rPr sz="1425" b="1">
                          <a:solidFill>
                            <a:srgbClr val="24324A"/>
                          </a:solidFill>
                          <a:latin typeface="IPAexGothic"/>
                          <a:ea typeface="IPAexGothic"/>
                          <a:cs typeface="IPAexGothic"/>
                        </a:rPr>
                        <a:t>次の発展</a:t>
                      </a:r>
                    </a:p>
                  </a:txBody>
                  <a:tcPr marL="91440" marR="91440" marT="45720" marB="45720"/>
                </a:tc>
                <a:tc>
                  <a:txBody>
                    <a:bodyPr/>
                    <a:lstStyle/>
                    <a:p>
                      <a:r>
                        <a:rPr sz="1425" b="1">
                          <a:solidFill>
                            <a:srgbClr val="24324A"/>
                          </a:solidFill>
                          <a:latin typeface="IPAexGothic"/>
                          <a:ea typeface="IPAexGothic"/>
                          <a:cs typeface="IPAexGothic"/>
                        </a:rPr>
                        <a:t>中長期の位置づけ</a:t>
                      </a:r>
                    </a:p>
                  </a:txBody>
                  <a:tcPr marL="91440" marR="91440" marT="45720" marB="45720"/>
                </a:tc>
              </a:tr>
              <a:tr h="1285875">
                <a:tc>
                  <a:txBody>
                    <a:bodyPr>
                      <a:normAutofit/>
                    </a:bodyPr>
                    <a:lstStyle/>
                    <a:p>
                      <a:pPr algn="ctr"/>
                      <a:r>
                        <a:rPr sz="1500" b="1">
                          <a:solidFill>
                            <a:srgbClr val="FFFFFF"/>
                          </a:solidFill>
                          <a:latin typeface="IPAexGothic"/>
                          <a:ea typeface="IPAexGothic"/>
                          <a:cs typeface="IPAexGothic"/>
                        </a:rPr>
                        <a:t>シミュレーション単体</a:t>
                      </a:r>
                    </a:p>
                  </a:txBody>
                  <a:tcPr marL="91440" marR="91440" marT="45720" marB="45720" anchor="ctr">
                    <a:solidFill>
                      <a:srgbClr val="3D8DFF"/>
                    </a:solidFill>
                  </a:tcPr>
                </a:tc>
                <a:tc>
                  <a:txBody>
                    <a:bodyPr/>
                    <a:lstStyle/>
                    <a:p>
                      <a:r>
                        <a:rPr sz="1350" b="0">
                          <a:solidFill>
                            <a:srgbClr val="24324A"/>
                          </a:solidFill>
                          <a:latin typeface="IPAexGothic"/>
                          <a:ea typeface="IPAexGothic"/>
                          <a:cs typeface="IPAexGothic"/>
                        </a:rPr>
                        <a:t>高精度解析
新規構造の事前評価</a:t>
                      </a:r>
                    </a:p>
                  </a:txBody>
                  <a:tcPr marL="91440" marR="91440" marT="45720" marB="45720"/>
                </a:tc>
                <a:tc>
                  <a:txBody>
                    <a:bodyPr/>
                    <a:lstStyle/>
                    <a:p>
                      <a:r>
                        <a:rPr sz="1350" b="0">
                          <a:solidFill>
                            <a:srgbClr val="24324A"/>
                          </a:solidFill>
                          <a:latin typeface="IPAexGothic"/>
                          <a:ea typeface="IPAexGothic"/>
                          <a:cs typeface="IPAexGothic"/>
                        </a:rPr>
                        <a:t>自動校正
高精度教師データの標準化</a:t>
                      </a:r>
                    </a:p>
                  </a:txBody>
                  <a:tcPr marL="91440" marR="91440" marT="45720" marB="45720"/>
                </a:tc>
                <a:tc>
                  <a:txBody>
                    <a:bodyPr/>
                    <a:lstStyle/>
                    <a:p>
                      <a:r>
                        <a:rPr sz="1350" b="0">
                          <a:solidFill>
                            <a:srgbClr val="24324A"/>
                          </a:solidFill>
                          <a:latin typeface="IPAexGothic"/>
                          <a:ea typeface="IPAexGothic"/>
                          <a:cs typeface="IPAexGothic"/>
                        </a:rPr>
                        <a:t>因果説明と最終検証を担う
技術基盤</a:t>
                      </a:r>
                    </a:p>
                  </a:txBody>
                  <a:tcPr marL="91440" marR="91440" marT="45720" marB="45720"/>
                </a:tc>
              </a:tr>
              <a:tr h="1285875">
                <a:tc>
                  <a:txBody>
                    <a:bodyPr>
                      <a:normAutofit/>
                    </a:bodyPr>
                    <a:lstStyle/>
                    <a:p>
                      <a:pPr algn="ctr"/>
                      <a:r>
                        <a:rPr sz="1500" b="1">
                          <a:solidFill>
                            <a:srgbClr val="FFFFFF"/>
                          </a:solidFill>
                          <a:latin typeface="IPAexGothic"/>
                          <a:ea typeface="IPAexGothic"/>
                          <a:cs typeface="IPAexGothic"/>
                        </a:rPr>
                        <a:t>実験データ分析単体</a:t>
                      </a:r>
                    </a:p>
                  </a:txBody>
                  <a:tcPr marL="91440" marR="91440" marT="45720" marB="45720" anchor="ctr">
                    <a:solidFill>
                      <a:srgbClr val="00A99D"/>
                    </a:solidFill>
                  </a:tcPr>
                </a:tc>
                <a:tc>
                  <a:txBody>
                    <a:bodyPr/>
                    <a:lstStyle/>
                    <a:p>
                      <a:r>
                        <a:rPr sz="1350" b="0">
                          <a:solidFill>
                            <a:srgbClr val="24324A"/>
                          </a:solidFill>
                          <a:latin typeface="IPAexGothic"/>
                          <a:ea typeface="IPAexGothic"/>
                          <a:cs typeface="IPAexGothic"/>
                        </a:rPr>
                        <a:t>歩留まり分析
異常・経時変化の把握</a:t>
                      </a:r>
                    </a:p>
                  </a:txBody>
                  <a:tcPr marL="91440" marR="91440" marT="45720" marB="45720"/>
                </a:tc>
                <a:tc>
                  <a:txBody>
                    <a:bodyPr/>
                    <a:lstStyle/>
                    <a:p>
                      <a:r>
                        <a:rPr sz="1350" b="0">
                          <a:solidFill>
                            <a:srgbClr val="24324A"/>
                          </a:solidFill>
                          <a:latin typeface="IPAexGothic"/>
                          <a:ea typeface="IPAexGothic"/>
                          <a:cs typeface="IPAexGothic"/>
                        </a:rPr>
                        <a:t>装置間データ標準化
状態推定の高度化</a:t>
                      </a:r>
                    </a:p>
                  </a:txBody>
                  <a:tcPr marL="91440" marR="91440" marT="45720" marB="45720"/>
                </a:tc>
                <a:tc>
                  <a:txBody>
                    <a:bodyPr/>
                    <a:lstStyle/>
                    <a:p>
                      <a:r>
                        <a:rPr sz="1350" b="0">
                          <a:solidFill>
                            <a:srgbClr val="24324A"/>
                          </a:solidFill>
                          <a:latin typeface="IPAexGothic"/>
                          <a:ea typeface="IPAexGothic"/>
                          <a:cs typeface="IPAexGothic"/>
                        </a:rPr>
                        <a:t>実機状態を継続的に供給する
観測基盤</a:t>
                      </a:r>
                    </a:p>
                  </a:txBody>
                  <a:tcPr marL="91440" marR="91440" marT="45720" marB="45720"/>
                </a:tc>
              </a:tr>
              <a:tr h="1285875">
                <a:tc>
                  <a:txBody>
                    <a:bodyPr>
                      <a:normAutofit/>
                    </a:bodyPr>
                    <a:lstStyle/>
                    <a:p>
                      <a:pPr algn="ctr"/>
                      <a:r>
                        <a:rPr sz="1500" b="1">
                          <a:solidFill>
                            <a:srgbClr val="FFFFFF"/>
                          </a:solidFill>
                          <a:latin typeface="IPAexGothic"/>
                          <a:ea typeface="IPAexGothic"/>
                          <a:cs typeface="IPAexGothic"/>
                        </a:rPr>
                        <a:t>ハイブリッド・サロゲート</a:t>
                      </a:r>
                    </a:p>
                  </a:txBody>
                  <a:tcPr marL="91440" marR="91440" marT="45720" marB="45720" anchor="ctr">
                    <a:solidFill>
                      <a:srgbClr val="F4A340"/>
                    </a:solidFill>
                  </a:tcPr>
                </a:tc>
                <a:tc>
                  <a:txBody>
                    <a:bodyPr/>
                    <a:lstStyle/>
                    <a:p>
                      <a:r>
                        <a:rPr sz="1350" b="0">
                          <a:solidFill>
                            <a:srgbClr val="24324A"/>
                          </a:solidFill>
                          <a:latin typeface="IPAexGothic"/>
                          <a:ea typeface="IPAexGothic"/>
                          <a:cs typeface="IPAexGothic"/>
                        </a:rPr>
                        <a:t>高速探索
シミュレーション代理</a:t>
                      </a:r>
                    </a:p>
                  </a:txBody>
                  <a:tcPr marL="91440" marR="91440" marT="45720" marB="45720"/>
                </a:tc>
                <a:tc>
                  <a:txBody>
                    <a:bodyPr/>
                    <a:lstStyle/>
                    <a:p>
                      <a:r>
                        <a:rPr sz="1350" b="0">
                          <a:solidFill>
                            <a:srgbClr val="24324A"/>
                          </a:solidFill>
                          <a:latin typeface="IPAexGothic"/>
                          <a:ea typeface="IPAexGothic"/>
                          <a:cs typeface="IPAexGothic"/>
                        </a:rPr>
                        <a:t>実験差分補正
不確かさ評価と能動学習</a:t>
                      </a:r>
                    </a:p>
                  </a:txBody>
                  <a:tcPr marL="91440" marR="91440" marT="45720" marB="45720"/>
                </a:tc>
                <a:tc>
                  <a:txBody>
                    <a:bodyPr/>
                    <a:lstStyle/>
                    <a:p>
                      <a:r>
                        <a:rPr sz="1350" b="0">
                          <a:solidFill>
                            <a:srgbClr val="24324A"/>
                          </a:solidFill>
                          <a:latin typeface="IPAexGothic"/>
                          <a:ea typeface="IPAexGothic"/>
                          <a:cs typeface="IPAexGothic"/>
                        </a:rPr>
                        <a:t>複数モデル連成とオンライン更新による
意思決定基盤</a:t>
                      </a:r>
                    </a:p>
                  </a:txBody>
                  <a:tcPr marL="91440" marR="91440" marT="45720" marB="45720"/>
                </a:tc>
              </a:tr>
            </a:tbl>
          </a:graphicData>
        </a:graphic>
      </p:graphicFrame>
      <p:sp>
        <p:nvSpPr>
          <p:cNvPr id="4" name="">
            <a:extLst xmlns:a="http://schemas.openxmlformats.org/drawingml/2006/main">
              <a:ext uri="{FF2B5EF4-FFF2-40B4-BE49-F238E27FC236}">
                <a16:creationId xmlns:a16="http://schemas.microsoft.com/office/drawing/2014/main" id="{78F82CDA-34E5-4EAF-8A1E-A684BAB06594}"/>
              </a:ext>
            </a:extLst>
          </p:cNvPr>
          <p:cNvSpPr>
            <a:spLocks xmlns:a="http://schemas.openxmlformats.org/drawingml/2006/main" noGrp="1"/>
          </p:cNvSpPr>
          <p:nvPr/>
        </p:nvSpPr>
        <p:spPr>
          <a:xfrm xmlns:a="http://schemas.openxmlformats.org/drawingml/2006/main">
            <a:off x="514350" y="6229350"/>
            <a:ext cx="11163300" cy="438150"/>
          </a:xfrm>
          <a:prstGeom xmlns:a="http://schemas.openxmlformats.org/drawingml/2006/main" prst="roundRect">
            <a:avLst>
              <a:gd name="adj" fmla="val 17391"/>
            </a:avLst>
          </a:prstGeom>
          <a:solidFill xmlns:a="http://schemas.openxmlformats.org/drawingml/2006/main">
            <a:srgbClr val="0B132B"/>
          </a:solidFill>
          <a:ln xmlns:a="http://schemas.openxmlformats.org/drawingml/2006/main" w="0">
            <a:noFill/>
          </a:ln>
        </p:spPr>
        <p:txBody>
          <a:bodyPr xmlns:a="http://schemas.openxmlformats.org/drawingml/2006/main" lIns="114300" tIns="47625" rIns="114300" bIns="47625" anchor="ctr">
            <a:noAutofit/>
          </a:bodyPr>
          <a:lstStyle xmlns:a="http://schemas.openxmlformats.org/drawingml/2006/main"/>
          <a:p xmlns:a="http://schemas.openxmlformats.org/drawingml/2006/main">
            <a:pPr algn="ctr">
              <a:defRPr sz="1350" b="1">
                <a:solidFill>
                  <a:srgbClr val="FFFFFF"/>
                </a:solidFill>
                <a:latin typeface="IPAexGothic"/>
                <a:ea typeface="IPAexGothic"/>
                <a:cs typeface="IPAexGothic"/>
              </a:defRPr>
            </a:pPr>
            <a:r>
              <a:rPr sz="1350" b="1">
                <a:solidFill>
                  <a:srgbClr val="FFFFFF"/>
                </a:solidFill>
                <a:latin typeface="IPAexGothic"/>
                <a:ea typeface="IPAexGothic"/>
                <a:cs typeface="IPAexGothic"/>
              </a:rPr>
              <a:t>投資対象は、高精度モデル・実験データ・検証結果を一体管理して展開する仕組み</a:t>
            </a:r>
          </a:p>
        </p:txBody>
      </p:sp>
    </p:spTree>
    <p:extLst>
      <p:ext uri="{BB962C8B-B14F-4D97-AF65-F5344CB8AC3E}">
        <p14:creationId xmlns:p14="http://schemas.microsoft.com/office/powerpoint/2010/main" val="600654348"/>
      </p:ext>
    </p:extLst>
  </p:cSld>
</p:sld>
</file>

<file path=ppt/slides/slide5.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6e99f7914d834fbb"/>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289383362"/>
      </p:ext>
    </p:extLst>
  </p:cSld>
</p:sld>
</file>

<file path=ppt/slides/slide6.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8e7a146661fb4f3e"/>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463077834"/>
      </p:ext>
    </p:extLst>
  </p:cSld>
</p:sld>
</file>

<file path=ppt/slides/slide7.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DB9A8D7-804A-4E8A-8DCF-2161AF34D714}"/>
              </a:ext>
            </a:extLst>
          </p:cNvPr>
          <p:cNvSpPr>
            <a:spLocks xmlns:a="http://schemas.openxmlformats.org/drawingml/2006/main" noGrp="1"/>
          </p:cNvSpPr>
          <p:nvPr/>
        </p:nvSpPr>
        <p:spPr>
          <a:xfrm xmlns:a="http://schemas.openxmlformats.org/drawingml/2006/main">
            <a:off x="514350" y="323850"/>
            <a:ext cx="11163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3798"/>
          </a:bodyPr>
          <a:lstStyle xmlns:a="http://schemas.openxmlformats.org/drawingml/2006/main"/>
          <a:p xmlns:a="http://schemas.openxmlformats.org/drawingml/2006/main">
            <a:pPr>
              <a:defRPr sz="3225" b="1">
                <a:solidFill>
                  <a:srgbClr val="0B132B"/>
                </a:solidFill>
                <a:latin typeface="IPAexGothic"/>
                <a:ea typeface="IPAexGothic"/>
                <a:cs typeface="IPAexGothic"/>
              </a:defRPr>
            </a:pPr>
            <a:r>
              <a:rPr sz="3225" b="1">
                <a:solidFill>
                  <a:srgbClr val="0B132B"/>
                </a:solidFill>
                <a:latin typeface="IPAexGothic"/>
                <a:ea typeface="IPAexGothic"/>
                <a:cs typeface="IPAexGothic"/>
              </a:rPr>
              <a:t>過去のシミュレーション結果を使えばよいのでは？</a:t>
            </a:r>
          </a:p>
        </p:txBody>
      </p:sp>
      <p:sp>
        <p:nvSpPr>
          <p:cNvPr id="2" name="">
            <a:extLst xmlns:a="http://schemas.openxmlformats.org/drawingml/2006/main">
              <a:ext uri="{FF2B5EF4-FFF2-40B4-BE49-F238E27FC236}">
                <a16:creationId xmlns:a16="http://schemas.microsoft.com/office/drawing/2014/main" id="{78E3C000-7A16-436C-AC46-B873BE5AFF94}"/>
              </a:ext>
            </a:extLst>
          </p:cNvPr>
          <p:cNvSpPr>
            <a:spLocks xmlns:a="http://schemas.openxmlformats.org/drawingml/2006/main" noGrp="1"/>
          </p:cNvSpPr>
          <p:nvPr/>
        </p:nvSpPr>
        <p:spPr>
          <a:xfrm xmlns:a="http://schemas.openxmlformats.org/drawingml/2006/main">
            <a:off x="533400" y="866775"/>
            <a:ext cx="11125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424"/>
          </a:bodyPr>
          <a:lstStyle xmlns:a="http://schemas.openxmlformats.org/drawingml/2006/main"/>
          <a:p xmlns:a="http://schemas.openxmlformats.org/drawingml/2006/main">
            <a:pPr>
              <a:defRPr sz="1650">
                <a:solidFill>
                  <a:srgbClr val="617083"/>
                </a:solidFill>
                <a:latin typeface="IPAexGothic"/>
                <a:ea typeface="IPAexGothic"/>
                <a:cs typeface="IPAexGothic"/>
              </a:defRPr>
            </a:pPr>
            <a:r>
              <a:rPr sz="1650">
                <a:solidFill>
                  <a:srgbClr val="617083"/>
                </a:solidFill>
                <a:latin typeface="IPAexGothic"/>
                <a:ea typeface="IPAexGothic"/>
                <a:cs typeface="IPAexGothic"/>
              </a:rPr>
              <a:t>結論：使えるものはある。ただし、全件集約ではなく『選別＋再検証』が必要</a:t>
            </a:r>
          </a:p>
        </p:txBody>
      </p:sp>
      <p:graphicFrame>
        <p:nvGraphicFramePr>
          <p:cNvPr id="7" name=""/>
          <p:cNvGraphicFramePr/>
          <p:nvPr/>
        </p:nvGraphicFramePr>
        <p:xfrm>
          <a:off xmlns:a="http://schemas.openxmlformats.org/drawingml/2006/main" x="514350" y="1428750"/>
          <a:ext xmlns:a="http://schemas.openxmlformats.org/drawingml/2006/main" cx="11163300" cy="4438650"/>
        </p:xfrm>
        <a:graphic xmlns:a="http://schemas.openxmlformats.org/drawingml/2006/main">
          <a:graphicData uri="http://schemas.openxmlformats.org/drawingml/2006/table">
            <a:tbl>
              <a:tblPr/>
              <a:tblGrid>
                <a:gridCol w="5581650"/>
                <a:gridCol w="5581650"/>
              </a:tblGrid>
              <a:tr h="666750">
                <a:tc>
                  <a:txBody>
                    <a:bodyPr/>
                    <a:lstStyle/>
                    <a:p>
                      <a:r>
                        <a:rPr sz="1425" b="1">
                          <a:solidFill>
                            <a:srgbClr val="24324A"/>
                          </a:solidFill>
                          <a:latin typeface="IPAexGothic"/>
                          <a:ea typeface="IPAexGothic"/>
                          <a:cs typeface="IPAexGothic"/>
                        </a:rPr>
                        <a:t>再利用候補になる状態</a:t>
                      </a:r>
                    </a:p>
                  </a:txBody>
                  <a:tcPr marL="91440" marR="91440" marT="45720" marB="45720"/>
                </a:tc>
                <a:tc>
                  <a:txBody>
                    <a:bodyPr/>
                    <a:lstStyle/>
                    <a:p>
                      <a:r>
                        <a:rPr sz="1425" b="1">
                          <a:solidFill>
                            <a:srgbClr val="24324A"/>
                          </a:solidFill>
                          <a:latin typeface="IPAexGothic"/>
                          <a:ea typeface="IPAexGothic"/>
                          <a:cs typeface="IPAexGothic"/>
                        </a:rPr>
                        <a:t>そのままでは使えない状態</a:t>
                      </a:r>
                    </a:p>
                  </a:txBody>
                  <a:tcPr marL="91440" marR="91440" marT="45720" marB="45720"/>
                </a:tc>
              </a:tr>
              <a:tr h="3771900">
                <a:tc>
                  <a:txBody>
                    <a:bodyPr lIns="228600" tIns="171450" rIns="228600" bIns="171450">
                      <a:normAutofit/>
                    </a:bodyPr>
                    <a:lstStyle/>
                    <a:p>
                      <a:pPr algn="l"/>
                      <a:r>
                        <a:rPr sz="1650" b="1">
                          <a:solidFill>
                            <a:srgbClr val="24324A"/>
                          </a:solidFill>
                          <a:latin typeface="IPAexGothic"/>
                          <a:ea typeface="IPAexGothic"/>
                          <a:cs typeface="IPAexGothic"/>
                        </a:rPr>
                        <a:t>・モデルファイルと形状が残る
・入力／境界／初期条件を特定できる
・近似、物性、ソルバー、版を追跡できる
・妥当性確認済み、または再検証できる
・再利用先と期待効果が明確</a:t>
                      </a:r>
                    </a:p>
                  </a:txBody>
                  <a:tcPr marL="91440" marR="91440" marT="45720" marB="45720" anchor="ctr">
                    <a:solidFill>
                      <a:srgbClr val="E8F8F5"/>
                    </a:solidFill>
                  </a:tcPr>
                </a:tc>
                <a:tc>
                  <a:txBody>
                    <a:bodyPr lIns="228600" tIns="171450" rIns="228600" bIns="171450">
                      <a:normAutofit/>
                    </a:bodyPr>
                    <a:lstStyle/>
                    <a:p>
                      <a:pPr algn="l"/>
                      <a:r>
                        <a:rPr sz="1650" b="0">
                          <a:solidFill>
                            <a:srgbClr val="24324A"/>
                          </a:solidFill>
                          <a:latin typeface="IPAexGothic"/>
                          <a:ea typeface="IPAexGothic"/>
                          <a:cs typeface="IPAexGothic"/>
                        </a:rPr>
                        <a:t>・結果グラフや出力値しか残っていない
・個人管理で版や計算環境が不明
・近似や条件が追跡できない
・妥当性、適用範囲を説明できない
・責任者と判断過程が不明</a:t>
                      </a:r>
                    </a:p>
                  </a:txBody>
                  <a:tcPr marL="91440" marR="91440" marT="45720" marB="45720" anchor="ctr">
                    <a:solidFill>
                      <a:srgbClr val="FFF0F0"/>
                    </a:solidFill>
                  </a:tcPr>
                </a:tc>
              </a:tr>
            </a:tbl>
          </a:graphicData>
        </a:graphic>
      </p:graphicFrame>
      <p:sp>
        <p:nvSpPr>
          <p:cNvPr id="4" name="">
            <a:extLst xmlns:a="http://schemas.openxmlformats.org/drawingml/2006/main">
              <a:ext uri="{FF2B5EF4-FFF2-40B4-BE49-F238E27FC236}">
                <a16:creationId xmlns:a16="http://schemas.microsoft.com/office/drawing/2014/main" id="{3DCDE967-1E41-42E9-ADA2-65B7D06A9208}"/>
              </a:ext>
            </a:extLst>
          </p:cNvPr>
          <p:cNvSpPr>
            <a:spLocks xmlns:a="http://schemas.openxmlformats.org/drawingml/2006/main" noGrp="1"/>
          </p:cNvSpPr>
          <p:nvPr/>
        </p:nvSpPr>
        <p:spPr>
          <a:xfrm xmlns:a="http://schemas.openxmlformats.org/drawingml/2006/main">
            <a:off x="514350" y="6229350"/>
            <a:ext cx="11163300" cy="438150"/>
          </a:xfrm>
          <a:prstGeom xmlns:a="http://schemas.openxmlformats.org/drawingml/2006/main" prst="roundRect">
            <a:avLst>
              <a:gd name="adj" fmla="val 17391"/>
            </a:avLst>
          </a:prstGeom>
          <a:solidFill xmlns:a="http://schemas.openxmlformats.org/drawingml/2006/main">
            <a:srgbClr val="0B132B"/>
          </a:solidFill>
          <a:ln xmlns:a="http://schemas.openxmlformats.org/drawingml/2006/main" w="0">
            <a:noFill/>
          </a:ln>
        </p:spPr>
        <p:txBody>
          <a:bodyPr xmlns:a="http://schemas.openxmlformats.org/drawingml/2006/main" lIns="114300" tIns="47625" rIns="114300" bIns="47625" anchor="ctr">
            <a:noAutofit/>
          </a:bodyPr>
          <a:lstStyle xmlns:a="http://schemas.openxmlformats.org/drawingml/2006/main"/>
          <a:p xmlns:a="http://schemas.openxmlformats.org/drawingml/2006/main">
            <a:pPr algn="ctr">
              <a:defRPr sz="1350" b="1">
                <a:solidFill>
                  <a:srgbClr val="FFFFFF"/>
                </a:solidFill>
                <a:latin typeface="IPAexGothic"/>
                <a:ea typeface="IPAexGothic"/>
                <a:cs typeface="IPAexGothic"/>
              </a:defRPr>
            </a:pPr>
            <a:r>
              <a:rPr sz="1350" b="1">
                <a:solidFill>
                  <a:srgbClr val="FFFFFF"/>
                </a:solidFill>
                <a:latin typeface="IPAexGothic"/>
                <a:ea typeface="IPAexGothic"/>
                <a:cs typeface="IPAexGothic"/>
              </a:rPr>
              <a:t>役員判断：過去は選別救済　｜　今後は作成時から資産化</a:t>
            </a:r>
          </a:p>
        </p:txBody>
      </p:sp>
    </p:spTree>
    <p:extLst>
      <p:ext uri="{BB962C8B-B14F-4D97-AF65-F5344CB8AC3E}">
        <p14:creationId xmlns:p14="http://schemas.microsoft.com/office/powerpoint/2010/main" val="1873763666"/>
      </p:ext>
    </p:extLst>
  </p:cSld>
</p:sld>
</file>

<file path=ppt/slides/slide8.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4cbdb657d7584ade"/>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310242796"/>
      </p:ext>
    </p:extLst>
  </p:cSld>
</p:sld>
</file>

<file path=ppt/slides/slide9.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4F91FF8-CF96-4277-85DB-445CA1E2AB04}"/>
              </a:ext>
            </a:extLst>
          </p:cNvPr>
          <p:cNvSpPr>
            <a:spLocks xmlns:a="http://schemas.openxmlformats.org/drawingml/2006/main" noGrp="1"/>
          </p:cNvSpPr>
          <p:nvPr/>
        </p:nvSpPr>
        <p:spPr>
          <a:xfrm xmlns:a="http://schemas.openxmlformats.org/drawingml/2006/main">
            <a:off x="514350" y="323850"/>
            <a:ext cx="11163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3798"/>
          </a:bodyPr>
          <a:lstStyle xmlns:a="http://schemas.openxmlformats.org/drawingml/2006/main"/>
          <a:p xmlns:a="http://schemas.openxmlformats.org/drawingml/2006/main">
            <a:pPr>
              <a:defRPr sz="3225" b="1">
                <a:solidFill>
                  <a:srgbClr val="0B132B"/>
                </a:solidFill>
                <a:latin typeface="IPAexGothic"/>
                <a:ea typeface="IPAexGothic"/>
                <a:cs typeface="IPAexGothic"/>
              </a:defRPr>
            </a:pPr>
            <a:r>
              <a:rPr sz="3225" b="1">
                <a:solidFill>
                  <a:srgbClr val="0B132B"/>
                </a:solidFill>
                <a:latin typeface="IPAexGothic"/>
                <a:ea typeface="IPAexGothic"/>
                <a:cs typeface="IPAexGothic"/>
              </a:rPr>
              <a:t>過去モデルの救済優先度</a:t>
            </a:r>
          </a:p>
        </p:txBody>
      </p:sp>
      <p:sp>
        <p:nvSpPr>
          <p:cNvPr id="2" name="">
            <a:extLst xmlns:a="http://schemas.openxmlformats.org/drawingml/2006/main">
              <a:ext uri="{FF2B5EF4-FFF2-40B4-BE49-F238E27FC236}">
                <a16:creationId xmlns:a16="http://schemas.microsoft.com/office/drawing/2014/main" id="{CDE5B5A3-77DA-41B9-BD38-0A2E0BC261FF}"/>
              </a:ext>
            </a:extLst>
          </p:cNvPr>
          <p:cNvSpPr>
            <a:spLocks xmlns:a="http://schemas.openxmlformats.org/drawingml/2006/main" noGrp="1"/>
          </p:cNvSpPr>
          <p:nvPr/>
        </p:nvSpPr>
        <p:spPr>
          <a:xfrm xmlns:a="http://schemas.openxmlformats.org/drawingml/2006/main">
            <a:off x="533400" y="866775"/>
            <a:ext cx="11125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424"/>
          </a:bodyPr>
          <a:lstStyle xmlns:a="http://schemas.openxmlformats.org/drawingml/2006/main"/>
          <a:p xmlns:a="http://schemas.openxmlformats.org/drawingml/2006/main">
            <a:pPr>
              <a:defRPr sz="1650">
                <a:solidFill>
                  <a:srgbClr val="617083"/>
                </a:solidFill>
                <a:latin typeface="IPAexGothic"/>
                <a:ea typeface="IPAexGothic"/>
                <a:cs typeface="IPAexGothic"/>
              </a:defRPr>
            </a:pPr>
            <a:r>
              <a:rPr sz="1650">
                <a:solidFill>
                  <a:srgbClr val="617083"/>
                </a:solidFill>
                <a:latin typeface="IPAexGothic"/>
                <a:ea typeface="IPAexGothic"/>
                <a:cs typeface="IPAexGothic"/>
              </a:rPr>
              <a:t>古さではなく、再利用効果・復元可能性・再検証可能性で投資判断する</a:t>
            </a:r>
          </a:p>
        </p:txBody>
      </p:sp>
      <p:graphicFrame>
        <p:nvGraphicFramePr>
          <p:cNvPr id="7" name=""/>
          <p:cNvGraphicFramePr/>
          <p:nvPr/>
        </p:nvGraphicFramePr>
        <p:xfrm>
          <a:off xmlns:a="http://schemas.openxmlformats.org/drawingml/2006/main" x="514350" y="1409700"/>
          <a:ext xmlns:a="http://schemas.openxmlformats.org/drawingml/2006/main" cx="11163300" cy="4495800"/>
        </p:xfrm>
        <a:graphic xmlns:a="http://schemas.openxmlformats.org/drawingml/2006/main">
          <a:graphicData uri="http://schemas.openxmlformats.org/drawingml/2006/table">
            <a:tbl>
              <a:tblPr/>
              <a:tblGrid>
                <a:gridCol w="838200"/>
                <a:gridCol w="3429000"/>
                <a:gridCol w="2857500"/>
                <a:gridCol w="4038600"/>
              </a:tblGrid>
              <a:tr h="609600">
                <a:tc>
                  <a:txBody>
                    <a:bodyPr/>
                    <a:lstStyle/>
                    <a:p>
                      <a:r>
                        <a:rPr sz="1425" b="1">
                          <a:solidFill>
                            <a:srgbClr val="24324A"/>
                          </a:solidFill>
                          <a:latin typeface="IPAexGothic"/>
                          <a:ea typeface="IPAexGothic"/>
                          <a:cs typeface="IPAexGothic"/>
                        </a:rPr>
                        <a:t>区分</a:t>
                      </a:r>
                    </a:p>
                  </a:txBody>
                  <a:tcPr marL="91440" marR="91440" marT="45720" marB="45720"/>
                </a:tc>
                <a:tc>
                  <a:txBody>
                    <a:bodyPr/>
                    <a:lstStyle/>
                    <a:p>
                      <a:r>
                        <a:rPr sz="1425" b="1">
                          <a:solidFill>
                            <a:srgbClr val="24324A"/>
                          </a:solidFill>
                          <a:latin typeface="IPAexGothic"/>
                          <a:ea typeface="IPAexGothic"/>
                          <a:cs typeface="IPAexGothic"/>
                        </a:rPr>
                        <a:t>残っている情報</a:t>
                      </a:r>
                    </a:p>
                  </a:txBody>
                  <a:tcPr marL="91440" marR="91440" marT="45720" marB="45720"/>
                </a:tc>
                <a:tc>
                  <a:txBody>
                    <a:bodyPr/>
                    <a:lstStyle/>
                    <a:p>
                      <a:r>
                        <a:rPr sz="1425" b="1">
                          <a:solidFill>
                            <a:srgbClr val="24324A"/>
                          </a:solidFill>
                          <a:latin typeface="IPAexGothic"/>
                          <a:ea typeface="IPAexGothic"/>
                          <a:cs typeface="IPAexGothic"/>
                        </a:rPr>
                        <a:t>判断</a:t>
                      </a:r>
                    </a:p>
                  </a:txBody>
                  <a:tcPr marL="91440" marR="91440" marT="45720" marB="45720"/>
                </a:tc>
                <a:tc>
                  <a:txBody>
                    <a:bodyPr/>
                    <a:lstStyle/>
                    <a:p>
                      <a:r>
                        <a:rPr sz="1425" b="1">
                          <a:solidFill>
                            <a:srgbClr val="24324A"/>
                          </a:solidFill>
                          <a:latin typeface="IPAexGothic"/>
                          <a:ea typeface="IPAexGothic"/>
                          <a:cs typeface="IPAexGothic"/>
                        </a:rPr>
                        <a:t>対応</a:t>
                      </a:r>
                    </a:p>
                  </a:txBody>
                  <a:tcPr marL="91440" marR="91440" marT="45720" marB="45720"/>
                </a:tc>
              </a:tr>
              <a:tr h="971550">
                <a:tc>
                  <a:txBody>
                    <a:bodyPr>
                      <a:noAutofit/>
                    </a:bodyPr>
                    <a:lstStyle/>
                    <a:p>
                      <a:pPr algn="ctr"/>
                      <a:r>
                        <a:rPr sz="1950" b="1">
                          <a:solidFill>
                            <a:srgbClr val="FFFFFF"/>
                          </a:solidFill>
                          <a:latin typeface="IPAexGothic"/>
                          <a:ea typeface="IPAexGothic"/>
                          <a:cs typeface="IPAexGothic"/>
                        </a:rPr>
                        <a:t>A</a:t>
                      </a:r>
                    </a:p>
                  </a:txBody>
                  <a:tcPr marL="91440" marR="91440" marT="45720" marB="45720" anchor="ctr">
                    <a:solidFill>
                      <a:srgbClr val="00A99D"/>
                    </a:solidFill>
                  </a:tcPr>
                </a:tc>
                <a:tc>
                  <a:txBody>
                    <a:bodyPr>
                      <a:normAutofit/>
                    </a:bodyPr>
                    <a:lstStyle/>
                    <a:p>
                      <a:pPr algn="ctr"/>
                      <a:r>
                        <a:rPr sz="1350" b="0">
                          <a:solidFill>
                            <a:srgbClr val="24324A"/>
                          </a:solidFill>
                          <a:latin typeface="IPAexGothic"/>
                          <a:ea typeface="IPAexGothic"/>
                          <a:cs typeface="IPAexGothic"/>
                        </a:rPr>
                        <a:t>モデル＋条件＋検証根拠</a:t>
                      </a:r>
                    </a:p>
                  </a:txBody>
                  <a:tcPr marL="91440" marR="91440" marT="45720" marB="45720" anchor="ctr"/>
                </a:tc>
                <a:tc>
                  <a:txBody>
                    <a:bodyPr>
                      <a:normAutofit/>
                    </a:bodyPr>
                    <a:lstStyle/>
                    <a:p>
                      <a:pPr algn="ctr"/>
                      <a:r>
                        <a:rPr sz="1350" b="0">
                          <a:solidFill>
                            <a:srgbClr val="24324A"/>
                          </a:solidFill>
                          <a:latin typeface="IPAexGothic"/>
                          <a:ea typeface="IPAexGothic"/>
                          <a:cs typeface="IPAexGothic"/>
                        </a:rPr>
                        <a:t>再利用価値が高い</a:t>
                      </a:r>
                    </a:p>
                  </a:txBody>
                  <a:tcPr marL="91440" marR="91440" marT="45720" marB="45720" anchor="ctr"/>
                </a:tc>
                <a:tc>
                  <a:txBody>
                    <a:bodyPr>
                      <a:normAutofit/>
                    </a:bodyPr>
                    <a:lstStyle/>
                    <a:p>
                      <a:pPr algn="l"/>
                      <a:r>
                        <a:rPr sz="1350" b="0">
                          <a:solidFill>
                            <a:srgbClr val="24324A"/>
                          </a:solidFill>
                          <a:latin typeface="IPAexGothic"/>
                          <a:ea typeface="IPAexGothic"/>
                          <a:cs typeface="IPAexGothic"/>
                        </a:rPr>
                        <a:t>整理 → 再検証 → 資産登録</a:t>
                      </a:r>
                    </a:p>
                  </a:txBody>
                  <a:tcPr marL="91440" marR="91440" marT="45720" marB="45720" anchor="ctr"/>
                </a:tc>
              </a:tr>
              <a:tr h="971550">
                <a:tc>
                  <a:txBody>
                    <a:bodyPr>
                      <a:noAutofit/>
                    </a:bodyPr>
                    <a:lstStyle/>
                    <a:p>
                      <a:pPr algn="ctr"/>
                      <a:r>
                        <a:rPr sz="1950" b="1">
                          <a:solidFill>
                            <a:srgbClr val="FFFFFF"/>
                          </a:solidFill>
                          <a:latin typeface="IPAexGothic"/>
                          <a:ea typeface="IPAexGothic"/>
                          <a:cs typeface="IPAexGothic"/>
                        </a:rPr>
                        <a:t>B</a:t>
                      </a:r>
                    </a:p>
                  </a:txBody>
                  <a:tcPr marL="91440" marR="91440" marT="45720" marB="45720" anchor="ctr">
                    <a:solidFill>
                      <a:srgbClr val="3D8DFF"/>
                    </a:solidFill>
                  </a:tcPr>
                </a:tc>
                <a:tc>
                  <a:txBody>
                    <a:bodyPr>
                      <a:normAutofit/>
                    </a:bodyPr>
                    <a:lstStyle/>
                    <a:p>
                      <a:pPr algn="ctr"/>
                      <a:r>
                        <a:rPr sz="1350" b="0">
                          <a:solidFill>
                            <a:srgbClr val="24324A"/>
                          </a:solidFill>
                          <a:latin typeface="IPAexGothic"/>
                          <a:ea typeface="IPAexGothic"/>
                          <a:cs typeface="IPAexGothic"/>
                        </a:rPr>
                        <a:t>モデル＋条件／検証なし</a:t>
                      </a:r>
                    </a:p>
                  </a:txBody>
                  <a:tcPr marL="91440" marR="91440" marT="45720" marB="45720" anchor="ctr"/>
                </a:tc>
                <a:tc>
                  <a:txBody>
                    <a:bodyPr>
                      <a:normAutofit/>
                    </a:bodyPr>
                    <a:lstStyle/>
                    <a:p>
                      <a:pPr algn="ctr"/>
                      <a:r>
                        <a:rPr sz="1350" b="0">
                          <a:solidFill>
                            <a:srgbClr val="24324A"/>
                          </a:solidFill>
                          <a:latin typeface="IPAexGothic"/>
                          <a:ea typeface="IPAexGothic"/>
                          <a:cs typeface="IPAexGothic"/>
                        </a:rPr>
                        <a:t>再検証できれば利用可能</a:t>
                      </a:r>
                    </a:p>
                  </a:txBody>
                  <a:tcPr marL="91440" marR="91440" marT="45720" marB="45720" anchor="ctr"/>
                </a:tc>
                <a:tc>
                  <a:txBody>
                    <a:bodyPr>
                      <a:normAutofit/>
                    </a:bodyPr>
                    <a:lstStyle/>
                    <a:p>
                      <a:pPr algn="l"/>
                      <a:r>
                        <a:rPr sz="1350" b="0">
                          <a:solidFill>
                            <a:srgbClr val="24324A"/>
                          </a:solidFill>
                          <a:latin typeface="IPAexGothic"/>
                          <a:ea typeface="IPAexGothic"/>
                          <a:cs typeface="IPAexGothic"/>
                        </a:rPr>
                        <a:t>再検証。成立しなければ再構築</a:t>
                      </a:r>
                    </a:p>
                  </a:txBody>
                  <a:tcPr marL="91440" marR="91440" marT="45720" marB="45720" anchor="ctr"/>
                </a:tc>
              </a:tr>
              <a:tr h="971550">
                <a:tc>
                  <a:txBody>
                    <a:bodyPr>
                      <a:noAutofit/>
                    </a:bodyPr>
                    <a:lstStyle/>
                    <a:p>
                      <a:pPr algn="ctr"/>
                      <a:r>
                        <a:rPr sz="1950" b="1">
                          <a:solidFill>
                            <a:srgbClr val="FFFFFF"/>
                          </a:solidFill>
                          <a:latin typeface="IPAexGothic"/>
                          <a:ea typeface="IPAexGothic"/>
                          <a:cs typeface="IPAexGothic"/>
                        </a:rPr>
                        <a:t>C</a:t>
                      </a:r>
                    </a:p>
                  </a:txBody>
                  <a:tcPr marL="91440" marR="91440" marT="45720" marB="45720" anchor="ctr">
                    <a:solidFill>
                      <a:srgbClr val="F4A340"/>
                    </a:solidFill>
                  </a:tcPr>
                </a:tc>
                <a:tc>
                  <a:txBody>
                    <a:bodyPr>
                      <a:normAutofit/>
                    </a:bodyPr>
                    <a:lstStyle/>
                    <a:p>
                      <a:pPr algn="ctr"/>
                      <a:r>
                        <a:rPr sz="1350" b="0">
                          <a:solidFill>
                            <a:srgbClr val="24324A"/>
                          </a:solidFill>
                          <a:latin typeface="IPAexGothic"/>
                          <a:ea typeface="IPAexGothic"/>
                          <a:cs typeface="IPAexGothic"/>
                        </a:rPr>
                        <a:t>結果のみ／事業価値は高い</a:t>
                      </a:r>
                    </a:p>
                  </a:txBody>
                  <a:tcPr marL="91440" marR="91440" marT="45720" marB="45720" anchor="ctr"/>
                </a:tc>
                <a:tc>
                  <a:txBody>
                    <a:bodyPr>
                      <a:normAutofit/>
                    </a:bodyPr>
                    <a:lstStyle/>
                    <a:p>
                      <a:pPr algn="ctr"/>
                      <a:r>
                        <a:rPr sz="1350" b="0">
                          <a:solidFill>
                            <a:srgbClr val="24324A"/>
                          </a:solidFill>
                          <a:latin typeface="IPAexGothic"/>
                          <a:ea typeface="IPAexGothic"/>
                          <a:cs typeface="IPAexGothic"/>
                        </a:rPr>
                        <a:t>復元費と再作成費を比較</a:t>
                      </a:r>
                    </a:p>
                  </a:txBody>
                  <a:tcPr marL="91440" marR="91440" marT="45720" marB="45720" anchor="ctr"/>
                </a:tc>
                <a:tc>
                  <a:txBody>
                    <a:bodyPr>
                      <a:normAutofit/>
                    </a:bodyPr>
                    <a:lstStyle/>
                    <a:p>
                      <a:pPr algn="l"/>
                      <a:r>
                        <a:rPr sz="1350" b="0">
                          <a:solidFill>
                            <a:srgbClr val="24324A"/>
                          </a:solidFill>
                          <a:latin typeface="IPAexGothic"/>
                          <a:ea typeface="IPAexGothic"/>
                          <a:cs typeface="IPAexGothic"/>
                        </a:rPr>
                        <a:t>低リスク・短期間の方を選択</a:t>
                      </a:r>
                    </a:p>
                  </a:txBody>
                  <a:tcPr marL="91440" marR="91440" marT="45720" marB="45720" anchor="ctr"/>
                </a:tc>
              </a:tr>
              <a:tr h="971550">
                <a:tc>
                  <a:txBody>
                    <a:bodyPr>
                      <a:noAutofit/>
                    </a:bodyPr>
                    <a:lstStyle/>
                    <a:p>
                      <a:pPr algn="ctr"/>
                      <a:r>
                        <a:rPr sz="1950" b="1">
                          <a:solidFill>
                            <a:srgbClr val="FFFFFF"/>
                          </a:solidFill>
                          <a:latin typeface="IPAexGothic"/>
                          <a:ea typeface="IPAexGothic"/>
                          <a:cs typeface="IPAexGothic"/>
                        </a:rPr>
                        <a:t>D</a:t>
                      </a:r>
                    </a:p>
                  </a:txBody>
                  <a:tcPr marL="91440" marR="91440" marT="45720" marB="45720" anchor="ctr">
                    <a:solidFill>
                      <a:srgbClr val="617083"/>
                    </a:solidFill>
                  </a:tcPr>
                </a:tc>
                <a:tc>
                  <a:txBody>
                    <a:bodyPr>
                      <a:normAutofit/>
                    </a:bodyPr>
                    <a:lstStyle/>
                    <a:p>
                      <a:pPr algn="ctr"/>
                      <a:r>
                        <a:rPr sz="1350" b="0">
                          <a:solidFill>
                            <a:srgbClr val="24324A"/>
                          </a:solidFill>
                          <a:latin typeface="IPAexGothic"/>
                          <a:ea typeface="IPAexGothic"/>
                          <a:cs typeface="IPAexGothic"/>
                        </a:rPr>
                        <a:t>価値が低い／責任者不明</a:t>
                      </a:r>
                    </a:p>
                  </a:txBody>
                  <a:tcPr marL="91440" marR="91440" marT="45720" marB="45720" anchor="ctr"/>
                </a:tc>
                <a:tc>
                  <a:txBody>
                    <a:bodyPr>
                      <a:normAutofit/>
                    </a:bodyPr>
                    <a:lstStyle/>
                    <a:p>
                      <a:pPr algn="ctr"/>
                      <a:r>
                        <a:rPr sz="1350" b="0">
                          <a:solidFill>
                            <a:srgbClr val="24324A"/>
                          </a:solidFill>
                          <a:latin typeface="IPAexGothic"/>
                          <a:ea typeface="IPAexGothic"/>
                          <a:cs typeface="IPAexGothic"/>
                        </a:rPr>
                        <a:t>追加投資しない</a:t>
                      </a:r>
                    </a:p>
                  </a:txBody>
                  <a:tcPr marL="91440" marR="91440" marT="45720" marB="45720" anchor="ctr"/>
                </a:tc>
                <a:tc>
                  <a:txBody>
                    <a:bodyPr>
                      <a:normAutofit/>
                    </a:bodyPr>
                    <a:lstStyle/>
                    <a:p>
                      <a:pPr algn="l"/>
                      <a:r>
                        <a:rPr sz="1350" b="0">
                          <a:solidFill>
                            <a:srgbClr val="24324A"/>
                          </a:solidFill>
                          <a:latin typeface="IPAexGothic"/>
                          <a:ea typeface="IPAexGothic"/>
                          <a:cs typeface="IPAexGothic"/>
                        </a:rPr>
                        <a:t>参照用に保管して終了</a:t>
                      </a:r>
                    </a:p>
                  </a:txBody>
                  <a:tcPr marL="91440" marR="91440" marT="45720" marB="45720" anchor="ctr"/>
                </a:tc>
              </a:tr>
            </a:tbl>
          </a:graphicData>
        </a:graphic>
      </p:graphicFrame>
      <p:sp>
        <p:nvSpPr>
          <p:cNvPr id="4" name="">
            <a:extLst xmlns:a="http://schemas.openxmlformats.org/drawingml/2006/main">
              <a:ext uri="{FF2B5EF4-FFF2-40B4-BE49-F238E27FC236}">
                <a16:creationId xmlns:a16="http://schemas.microsoft.com/office/drawing/2014/main" id="{400DD287-A338-4751-8C4D-6ADE242DC1A5}"/>
              </a:ext>
            </a:extLst>
          </p:cNvPr>
          <p:cNvSpPr>
            <a:spLocks xmlns:a="http://schemas.openxmlformats.org/drawingml/2006/main" noGrp="1"/>
          </p:cNvSpPr>
          <p:nvPr/>
        </p:nvSpPr>
        <p:spPr>
          <a:xfrm xmlns:a="http://schemas.openxmlformats.org/drawingml/2006/main">
            <a:off x="514350" y="6229350"/>
            <a:ext cx="11163300" cy="438150"/>
          </a:xfrm>
          <a:prstGeom xmlns:a="http://schemas.openxmlformats.org/drawingml/2006/main" prst="roundRect">
            <a:avLst>
              <a:gd name="adj" fmla="val 17391"/>
            </a:avLst>
          </a:prstGeom>
          <a:solidFill xmlns:a="http://schemas.openxmlformats.org/drawingml/2006/main">
            <a:srgbClr val="0B132B"/>
          </a:solidFill>
          <a:ln xmlns:a="http://schemas.openxmlformats.org/drawingml/2006/main" w="0">
            <a:noFill/>
          </a:ln>
        </p:spPr>
        <p:txBody>
          <a:bodyPr xmlns:a="http://schemas.openxmlformats.org/drawingml/2006/main" lIns="114300" tIns="47625" rIns="114300" bIns="47625" anchor="ctr">
            <a:noAutofit/>
          </a:bodyPr>
          <a:lstStyle xmlns:a="http://schemas.openxmlformats.org/drawingml/2006/main"/>
          <a:p xmlns:a="http://schemas.openxmlformats.org/drawingml/2006/main">
            <a:pPr algn="ctr">
              <a:defRPr sz="1350" b="1">
                <a:solidFill>
                  <a:srgbClr val="FFFFFF"/>
                </a:solidFill>
                <a:latin typeface="IPAexGothic"/>
                <a:ea typeface="IPAexGothic"/>
                <a:cs typeface="IPAexGothic"/>
              </a:defRPr>
            </a:pPr>
            <a:r>
              <a:rPr sz="1350" b="1">
                <a:solidFill>
                  <a:srgbClr val="FFFFFF"/>
                </a:solidFill>
                <a:latin typeface="IPAexGothic"/>
                <a:ea typeface="IPAexGothic"/>
                <a:cs typeface="IPAexGothic"/>
              </a:rPr>
              <a:t>全件収集ではなく、A→B→Cの順に救済。Dには運用コストを掛けない</a:t>
            </a:r>
          </a:p>
        </p:txBody>
      </p:sp>
    </p:spTree>
    <p:extLst>
      <p:ext uri="{BB962C8B-B14F-4D97-AF65-F5344CB8AC3E}">
        <p14:creationId xmlns:p14="http://schemas.microsoft.com/office/powerpoint/2010/main" val="371022447"/>
      </p:ext>
    </p:extLst>
  </p:cSld>
</p:sld>
</file>

<file path=ppt/slides/slide10.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43299c94b8914c6d"/>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29586879"/>
      </p:ext>
    </p:extLst>
  </p:cSld>
</p:sld>
</file>

<file path=ppt/slides/slide11.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263B1CC-EF19-4404-B5E9-6C3BDA559EEA}"/>
              </a:ext>
            </a:extLst>
          </p:cNvPr>
          <p:cNvSpPr>
            <a:spLocks xmlns:a="http://schemas.openxmlformats.org/drawingml/2006/main" noGrp="1"/>
          </p:cNvSpPr>
          <p:nvPr/>
        </p:nvSpPr>
        <p:spPr>
          <a:xfrm xmlns:a="http://schemas.openxmlformats.org/drawingml/2006/main">
            <a:off x="514350" y="323850"/>
            <a:ext cx="11163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3798"/>
          </a:bodyPr>
          <a:lstStyle xmlns:a="http://schemas.openxmlformats.org/drawingml/2006/main"/>
          <a:p xmlns:a="http://schemas.openxmlformats.org/drawingml/2006/main">
            <a:pPr>
              <a:defRPr sz="3225" b="1">
                <a:solidFill>
                  <a:srgbClr val="0B132B"/>
                </a:solidFill>
                <a:latin typeface="IPAexGothic"/>
                <a:ea typeface="IPAexGothic"/>
                <a:cs typeface="IPAexGothic"/>
              </a:defRPr>
            </a:pPr>
            <a:r>
              <a:rPr sz="3225" b="1">
                <a:solidFill>
                  <a:srgbClr val="0B132B"/>
                </a:solidFill>
                <a:latin typeface="IPAexGothic"/>
                <a:ea typeface="IPAexGothic"/>
                <a:cs typeface="IPAexGothic"/>
              </a:rPr>
              <a:t>過去資産と今後資産の投資方針</a:t>
            </a:r>
          </a:p>
        </p:txBody>
      </p:sp>
      <p:sp>
        <p:nvSpPr>
          <p:cNvPr id="2" name="">
            <a:extLst xmlns:a="http://schemas.openxmlformats.org/drawingml/2006/main">
              <a:ext uri="{FF2B5EF4-FFF2-40B4-BE49-F238E27FC236}">
                <a16:creationId xmlns:a16="http://schemas.microsoft.com/office/drawing/2014/main" id="{90279E8D-BB75-4ACA-8424-20AEC818D229}"/>
              </a:ext>
            </a:extLst>
          </p:cNvPr>
          <p:cNvSpPr>
            <a:spLocks xmlns:a="http://schemas.openxmlformats.org/drawingml/2006/main" noGrp="1"/>
          </p:cNvSpPr>
          <p:nvPr/>
        </p:nvSpPr>
        <p:spPr>
          <a:xfrm xmlns:a="http://schemas.openxmlformats.org/drawingml/2006/main">
            <a:off x="533400" y="866775"/>
            <a:ext cx="11125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424"/>
          </a:bodyPr>
          <a:lstStyle xmlns:a="http://schemas.openxmlformats.org/drawingml/2006/main"/>
          <a:p xmlns:a="http://schemas.openxmlformats.org/drawingml/2006/main">
            <a:pPr>
              <a:defRPr sz="1650">
                <a:solidFill>
                  <a:srgbClr val="617083"/>
                </a:solidFill>
                <a:latin typeface="IPAexGothic"/>
                <a:ea typeface="IPAexGothic"/>
                <a:cs typeface="IPAexGothic"/>
              </a:defRPr>
            </a:pPr>
            <a:r>
              <a:rPr sz="1650">
                <a:solidFill>
                  <a:srgbClr val="617083"/>
                </a:solidFill>
                <a:latin typeface="IPAexGothic"/>
                <a:ea typeface="IPAexGothic"/>
                <a:cs typeface="IPAexGothic"/>
              </a:rPr>
              <a:t>過去の救済コストを制御しながら、今後の再利用率を構造的に高める</a:t>
            </a:r>
          </a:p>
        </p:txBody>
      </p:sp>
      <p:graphicFrame>
        <p:nvGraphicFramePr>
          <p:cNvPr id="7" name=""/>
          <p:cNvGraphicFramePr/>
          <p:nvPr/>
        </p:nvGraphicFramePr>
        <p:xfrm>
          <a:off xmlns:a="http://schemas.openxmlformats.org/drawingml/2006/main" x="514350" y="1466850"/>
          <a:ext xmlns:a="http://schemas.openxmlformats.org/drawingml/2006/main" cx="11163300" cy="4381500"/>
        </p:xfrm>
        <a:graphic xmlns:a="http://schemas.openxmlformats.org/drawingml/2006/main">
          <a:graphicData uri="http://schemas.openxmlformats.org/drawingml/2006/table">
            <a:tbl>
              <a:tblPr/>
              <a:tblGrid>
                <a:gridCol w="1428750"/>
                <a:gridCol w="2343150"/>
                <a:gridCol w="3714750"/>
                <a:gridCol w="3676650"/>
              </a:tblGrid>
              <a:tr h="647700">
                <a:tc>
                  <a:txBody>
                    <a:bodyPr/>
                    <a:lstStyle/>
                    <a:p>
                      <a:r>
                        <a:rPr sz="1425" b="1">
                          <a:solidFill>
                            <a:srgbClr val="24324A"/>
                          </a:solidFill>
                          <a:latin typeface="IPAexGothic"/>
                          <a:ea typeface="IPAexGothic"/>
                          <a:cs typeface="IPAexGothic"/>
                        </a:rPr>
                        <a:t>対象</a:t>
                      </a:r>
                    </a:p>
                  </a:txBody>
                  <a:tcPr marL="91440" marR="91440" marT="45720" marB="45720"/>
                </a:tc>
                <a:tc>
                  <a:txBody>
                    <a:bodyPr/>
                    <a:lstStyle/>
                    <a:p>
                      <a:r>
                        <a:rPr sz="1425" b="1">
                          <a:solidFill>
                            <a:srgbClr val="24324A"/>
                          </a:solidFill>
                          <a:latin typeface="IPAexGothic"/>
                          <a:ea typeface="IPAexGothic"/>
                          <a:cs typeface="IPAexGothic"/>
                        </a:rPr>
                        <a:t>基本方針</a:t>
                      </a:r>
                    </a:p>
                  </a:txBody>
                  <a:tcPr marL="91440" marR="91440" marT="45720" marB="45720"/>
                </a:tc>
                <a:tc>
                  <a:txBody>
                    <a:bodyPr/>
                    <a:lstStyle/>
                    <a:p>
                      <a:r>
                        <a:rPr sz="1425" b="1">
                          <a:solidFill>
                            <a:srgbClr val="24324A"/>
                          </a:solidFill>
                          <a:latin typeface="IPAexGothic"/>
                          <a:ea typeface="IPAexGothic"/>
                          <a:cs typeface="IPAexGothic"/>
                        </a:rPr>
                        <a:t>投資条件</a:t>
                      </a:r>
                    </a:p>
                  </a:txBody>
                  <a:tcPr marL="91440" marR="91440" marT="45720" marB="45720"/>
                </a:tc>
                <a:tc>
                  <a:txBody>
                    <a:bodyPr/>
                    <a:lstStyle/>
                    <a:p>
                      <a:r>
                        <a:rPr sz="1425" b="1">
                          <a:solidFill>
                            <a:srgbClr val="24324A"/>
                          </a:solidFill>
                          <a:latin typeface="IPAexGothic"/>
                          <a:ea typeface="IPAexGothic"/>
                          <a:cs typeface="IPAexGothic"/>
                        </a:rPr>
                        <a:t>管理方法</a:t>
                      </a:r>
                    </a:p>
                  </a:txBody>
                  <a:tcPr marL="91440" marR="91440" marT="45720" marB="45720"/>
                </a:tc>
              </a:tr>
              <a:tr h="1866900">
                <a:tc>
                  <a:txBody>
                    <a:bodyPr>
                      <a:normAutofit/>
                    </a:bodyPr>
                    <a:lstStyle/>
                    <a:p>
                      <a:pPr algn="ctr"/>
                      <a:r>
                        <a:rPr sz="1575" b="1">
                          <a:solidFill>
                            <a:srgbClr val="FFFFFF"/>
                          </a:solidFill>
                          <a:latin typeface="IPAexGothic"/>
                          <a:ea typeface="IPAexGothic"/>
                          <a:cs typeface="IPAexGothic"/>
                        </a:rPr>
                        <a:t>過去モデル</a:t>
                      </a:r>
                    </a:p>
                  </a:txBody>
                  <a:tcPr marL="91440" marR="91440" marT="45720" marB="45720" anchor="ctr">
                    <a:solidFill>
                      <a:srgbClr val="F4A340"/>
                    </a:solidFill>
                  </a:tcPr>
                </a:tc>
                <a:tc>
                  <a:txBody>
                    <a:bodyPr>
                      <a:normAutofit/>
                    </a:bodyPr>
                    <a:lstStyle/>
                    <a:p>
                      <a:pPr algn="ctr"/>
                      <a:r>
                        <a:rPr sz="1500" b="0">
                          <a:solidFill>
                            <a:srgbClr val="24324A"/>
                          </a:solidFill>
                          <a:latin typeface="IPAexGothic"/>
                          <a:ea typeface="IPAexGothic"/>
                          <a:cs typeface="IPAexGothic"/>
                        </a:rPr>
                        <a:t>選別して救済</a:t>
                      </a:r>
                    </a:p>
                  </a:txBody>
                  <a:tcPr marL="91440" marR="91440" marT="45720" marB="45720" anchor="ctr"/>
                </a:tc>
                <a:tc>
                  <a:txBody>
                    <a:bodyPr>
                      <a:normAutofit/>
                    </a:bodyPr>
                    <a:lstStyle/>
                    <a:p>
                      <a:pPr algn="ctr"/>
                      <a:r>
                        <a:rPr sz="1500" b="0">
                          <a:solidFill>
                            <a:srgbClr val="24324A"/>
                          </a:solidFill>
                          <a:latin typeface="IPAexGothic"/>
                          <a:ea typeface="IPAexGothic"/>
                          <a:cs typeface="IPAexGothic"/>
                        </a:rPr>
                        <a:t>再利用先と効果が明確
モデル・条件を復元できる
再検証できる</a:t>
                      </a:r>
                    </a:p>
                  </a:txBody>
                  <a:tcPr marL="91440" marR="91440" marT="45720" marB="45720" anchor="ctr"/>
                </a:tc>
                <a:tc>
                  <a:txBody>
                    <a:bodyPr>
                      <a:normAutofit/>
                    </a:bodyPr>
                    <a:lstStyle/>
                    <a:p>
                      <a:pPr algn="ctr"/>
                      <a:r>
                        <a:rPr sz="1500" b="0">
                          <a:solidFill>
                            <a:srgbClr val="24324A"/>
                          </a:solidFill>
                          <a:latin typeface="IPAexGothic"/>
                          <a:ea typeface="IPAexGothic"/>
                          <a:cs typeface="IPAexGothic"/>
                        </a:rPr>
                        <a:t>再検証後に資産パッケージ化
使えないものは参照保管</a:t>
                      </a:r>
                    </a:p>
                  </a:txBody>
                  <a:tcPr marL="91440" marR="91440" marT="45720" marB="45720" anchor="ctr"/>
                </a:tc>
              </a:tr>
              <a:tr h="1866900">
                <a:tc>
                  <a:txBody>
                    <a:bodyPr>
                      <a:normAutofit/>
                    </a:bodyPr>
                    <a:lstStyle/>
                    <a:p>
                      <a:pPr algn="ctr"/>
                      <a:r>
                        <a:rPr sz="1575" b="1">
                          <a:solidFill>
                            <a:srgbClr val="FFFFFF"/>
                          </a:solidFill>
                          <a:latin typeface="IPAexGothic"/>
                          <a:ea typeface="IPAexGothic"/>
                          <a:cs typeface="IPAexGothic"/>
                        </a:rPr>
                        <a:t>今後のモデル</a:t>
                      </a:r>
                    </a:p>
                  </a:txBody>
                  <a:tcPr marL="91440" marR="91440" marT="45720" marB="45720" anchor="ctr">
                    <a:solidFill>
                      <a:srgbClr val="00A99D"/>
                    </a:solidFill>
                  </a:tcPr>
                </a:tc>
                <a:tc>
                  <a:txBody>
                    <a:bodyPr>
                      <a:normAutofit/>
                    </a:bodyPr>
                    <a:lstStyle/>
                    <a:p>
                      <a:pPr algn="ctr"/>
                      <a:r>
                        <a:rPr sz="1500" b="0">
                          <a:solidFill>
                            <a:srgbClr val="24324A"/>
                          </a:solidFill>
                          <a:latin typeface="IPAexGothic"/>
                          <a:ea typeface="IPAexGothic"/>
                          <a:cs typeface="IPAexGothic"/>
                        </a:rPr>
                        <a:t>作成時から資産化</a:t>
                      </a:r>
                    </a:p>
                  </a:txBody>
                  <a:tcPr marL="91440" marR="91440" marT="45720" marB="45720" anchor="ctr"/>
                </a:tc>
                <a:tc>
                  <a:txBody>
                    <a:bodyPr>
                      <a:normAutofit/>
                    </a:bodyPr>
                    <a:lstStyle/>
                    <a:p>
                      <a:pPr algn="ctr"/>
                      <a:r>
                        <a:rPr sz="1500" b="0">
                          <a:solidFill>
                            <a:srgbClr val="24324A"/>
                          </a:solidFill>
                          <a:latin typeface="IPAexGothic"/>
                          <a:ea typeface="IPAexGothic"/>
                          <a:cs typeface="IPAexGothic"/>
                        </a:rPr>
                        <a:t>優先モデルから標準運用
全社展開可能性を評価</a:t>
                      </a:r>
                    </a:p>
                  </a:txBody>
                  <a:tcPr marL="91440" marR="91440" marT="45720" marB="45720" anchor="ctr"/>
                </a:tc>
                <a:tc>
                  <a:txBody>
                    <a:bodyPr>
                      <a:normAutofit/>
                    </a:bodyPr>
                    <a:lstStyle/>
                    <a:p>
                      <a:pPr algn="ctr"/>
                      <a:r>
                        <a:rPr sz="1500" b="0">
                          <a:solidFill>
                            <a:srgbClr val="24324A"/>
                          </a:solidFill>
                          <a:latin typeface="IPAexGothic"/>
                          <a:ea typeface="IPAexGothic"/>
                          <a:cs typeface="IPAexGothic"/>
                        </a:rPr>
                        <a:t>モデル・入力・近似・版
検証・適用範囲・責任者を一体管理</a:t>
                      </a:r>
                    </a:p>
                  </a:txBody>
                  <a:tcPr marL="91440" marR="91440" marT="45720" marB="45720" anchor="ctr"/>
                </a:tc>
              </a:tr>
            </a:tbl>
          </a:graphicData>
        </a:graphic>
      </p:graphicFrame>
      <p:sp>
        <p:nvSpPr>
          <p:cNvPr id="4" name="">
            <a:extLst xmlns:a="http://schemas.openxmlformats.org/drawingml/2006/main">
              <a:ext uri="{FF2B5EF4-FFF2-40B4-BE49-F238E27FC236}">
                <a16:creationId xmlns:a16="http://schemas.microsoft.com/office/drawing/2014/main" id="{5482C9F7-0DE5-482C-9C01-D04B22BF9B5E}"/>
              </a:ext>
            </a:extLst>
          </p:cNvPr>
          <p:cNvSpPr>
            <a:spLocks xmlns:a="http://schemas.openxmlformats.org/drawingml/2006/main" noGrp="1"/>
          </p:cNvSpPr>
          <p:nvPr/>
        </p:nvSpPr>
        <p:spPr>
          <a:xfrm xmlns:a="http://schemas.openxmlformats.org/drawingml/2006/main">
            <a:off x="514350" y="6229350"/>
            <a:ext cx="11163300" cy="438150"/>
          </a:xfrm>
          <a:prstGeom xmlns:a="http://schemas.openxmlformats.org/drawingml/2006/main" prst="roundRect">
            <a:avLst>
              <a:gd name="adj" fmla="val 17391"/>
            </a:avLst>
          </a:prstGeom>
          <a:solidFill xmlns:a="http://schemas.openxmlformats.org/drawingml/2006/main">
            <a:srgbClr val="0B132B"/>
          </a:solidFill>
          <a:ln xmlns:a="http://schemas.openxmlformats.org/drawingml/2006/main" w="0">
            <a:noFill/>
          </a:ln>
        </p:spPr>
        <p:txBody>
          <a:bodyPr xmlns:a="http://schemas.openxmlformats.org/drawingml/2006/main" lIns="114300" tIns="47625" rIns="114300" bIns="47625" anchor="ctr">
            <a:noAutofit/>
          </a:bodyPr>
          <a:lstStyle xmlns:a="http://schemas.openxmlformats.org/drawingml/2006/main"/>
          <a:p xmlns:a="http://schemas.openxmlformats.org/drawingml/2006/main">
            <a:pPr algn="ctr">
              <a:defRPr sz="1350" b="1">
                <a:solidFill>
                  <a:srgbClr val="FFFFFF"/>
                </a:solidFill>
                <a:latin typeface="IPAexGothic"/>
                <a:ea typeface="IPAexGothic"/>
                <a:cs typeface="IPAexGothic"/>
              </a:defRPr>
            </a:pPr>
            <a:r>
              <a:rPr sz="1350" b="1">
                <a:solidFill>
                  <a:srgbClr val="FFFFFF"/>
                </a:solidFill>
                <a:latin typeface="IPAexGothic"/>
                <a:ea typeface="IPAexGothic"/>
                <a:cs typeface="IPAexGothic"/>
              </a:rPr>
              <a:t>優先投資は『過去ファイル収集』ではなく、『今後のモデルを再利用資産として積み上げる仕組み』</a:t>
            </a:r>
          </a:p>
        </p:txBody>
      </p:sp>
    </p:spTree>
    <p:extLst>
      <p:ext uri="{BB962C8B-B14F-4D97-AF65-F5344CB8AC3E}">
        <p14:creationId xmlns:p14="http://schemas.microsoft.com/office/powerpoint/2010/main" val="30422451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2026-09-11T08:59:10.2060000Z</dcterms:created>
  <dcterms:modified xsi:type="dcterms:W3CDTF">2026-09-11T08:59:10.2060000Z</dcterms:modified>
</coreProperties>
</file>