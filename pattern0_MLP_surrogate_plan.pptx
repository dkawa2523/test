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【目的】少数ケース(10–30)でも精度を狙える“分布全体出力”サロゲートの実装計画を具体化
[Sources]
- https://arxiv.org/abs/2105.01601 (MLP-Mixer)
- https://arxiv.org/abs/2105.08050 (gMLP)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小データ(10–30ケース)での失敗原因を先に潰すために、MLPベンチで評価枠組みを固める。
[Sources]
- https://arxiv.org/abs/2105.01601 (MLP-Mixer)
- https://arxiv.org/abs/2105.08050 (gMLP)
- https://docs.pytorch.org/docs/stable/generated/torch.nn.PixelShuffle.html (PixelShuffle)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ケース数が少ないので、出力のスケーリングと評価設計（LOOCV）が特に重要。
[Sources]
- https://docs.pytorch.org/docs/stable/generated/torch.nn.PixelShuffle.html (可逆な要素再配置の例)
- https://www.machinelearningmastery.com/loocv-for-evaluating-machine-learning-algorithms/ (LOOCV概説)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MLPベンチは、後続モデルの改善を正しく測るための“評価と前処理の固定”が目的。
[Sources]
- https://www.machinelearningmastery.com/loocv-for-evaluating-machine-learning-algorithms/ (LOOCV)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0は「可逆変換＋MLP」で分布全体出力を実現しつつ、前処理と評価を固定するためのベンチ。
[Sources]
- https://arxiv.org/abs/2105.01601 (Mixerの概念的根拠)
- https://arxiv.org/abs/2105.08050 (gMLPのゲート)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0-1は最短で動く“分布全体出力”ベンチ。patchify/unpatchifyはreshape/permuteのみで可逆。
[Sources]
- https://docs.pytorch.org/docs/stable/generated/torch.nn.PixelShuffle.html (要素再配置の概念)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0-1はベンチ用。ここで前処理と評価が固まると、後続の0-2以降の改善が定量化できる。
[Sources]
- https://www.machinelearningmastery.com/loocv-for-evaluating-machine-learning-algorithms/ (LOOCVの目的)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小データでは「診断（どこで壊れるか）」が最重要。0-1はそのための最短ベンチ。
[Sources]
- https://www.machinelearningmastery.com/loocv-for-evaluating-machine-learning-algorithms/ (LOOCV)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0-2はMLP-Mixerの発想（token-mix / channel-mix）を“生成”に転用し、分布全体出力で空間整合を取りにいくベンチ本命。
[Sources]
- https://arxiv.org/abs/2105.01601 (MLP-Mixer)
- https://arxiv.org/abs/2105.08050 (gMLP)
- https://docs.pytorch.org/docs/stable/generated/torch.nn.PixelShuffle.html (可逆な再配置の例)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gMLPはMLPにゲーティングを入れることで表現力を上げる提案。token数Tが大きいとtoken-mixが重いのでAxial化が有効。
[Sources]
- https://arxiv.org/abs/2105.08050 (gMLP)
- https://docs.pytorch.org/docs/stable/generated/torch.nn.PixelShuffle.html (PixelShuffle/Unshuffleの再配置)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少データでは境界近傍の評価（SDFバンド）が重要。Mixerは空間整合を上げるが、損失設計で連続性を補強する。
[Sources]
- https://www.machinelearningmastery.com/loocv-for-evaluating-machine-learning-algorithms/ (LOOCV)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0-3は周波数領域で学習することで“滑らかさ”を先験として強く入れられる。FFT図はWikimedia Commons（CC BY-SA）。
[Sources]
- https://docs.pytorch.org/docs/stable/generated/torch.fft.rfft2.html (rfft2)
- https://docs.pytorch.org/docs/stable/generated/torch.fft.irfft2.html (irfft2)
- https://commons.wikimedia.org/wiki/File:DIT-FFT-butterfly.svg (図：DIT-FFT butterfly, CC BY-SA 4.0)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rfft2/irfft2は実入力のHermitian性を利用して片側のみを返すが、irfft2で可逆に復元できる。
[Sources]
- https://docs.pytorch.org/docs/stable/generated/torch.fft.rfft2.html
- https://docs.pytorch.org/docs/stable/generated/torch.fft.irfft2.html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FFT関連はPyTorch公式torch.fftで完結。
[Sources]
- https://docs.pytorch.org/docs/stable/fft.html
- https://docs.pytorch.org/docs/stable/generated/torch.fft.rfft2.html
- https://docs.pytorch.org/docs/stable/generated/torch.fft.irfft2.html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0-4は多解像（LL/LH/HL/HH）で局所境界を表現しやすい。図はWikimedia Commons（PD）。
[Sources]
- https://commons.wikimedia.org/wiki/File:2D_DWT.jpg (図：2D DWT, Public domain)
- https://en.wikipedia.org/wiki/Discrete_wavelet_transform (DWTの概要)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pytorch_waveletsは2D DWTと逆変換、勾配伝搬をサポートする。ベンチではまず依存なしHaarから始めるとデバッグが軽い。
[Sources]
- https://github.com/fbcotter/pytorch_wavelets (pytorch_wavelets)
- https://pytorch-wavelets.readthedocs.io/en/latest/readme.html (docs)
- https://en.wikipedia.org/wiki/Discrete_wavelet_transform (DWT概説)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Waveletは局所性があり、境界層の表現に向く場合がある。
[Sources]
- https://en.wikipedia.org/wiki/Discrete_wavelet_transform (DWT)
- https://github.com/fbcotter/pytorch_wavelets (実装例)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可逆変換はバグが致命的なので、往復テストを自動化して工数を抑える。
[Sources]
- https://docs.pytorch.org/docs/stable/generated/torch.nn.PixelShuffle.html (再配置の概念)
- https://docs.pytorch.org/docs/stable/generated/torch.fft.rfft2.html (FFT API)
- https://github.com/fbcotter/pytorch_wavelets (DWT実装例)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LOOCVは小規模データの評価で一般的。
[Sources]
- https://www.machinelearningmastery.com/loocv-for-evaluating-machine-learning-algorithms/ (LOOCV)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https://arxiv.org/abs/2105.01601 (MLP-Mixer)
- https://arxiv.org/abs/2105.08050 (gMLP)
- https://docs.pytorch.org/docs/stable/generated/torch.nn.PixelShuffle.html (PixelShuffle)
- https://docs.pytorch.org/docs/stable/generated/torch.fft.rfft2.html (rfft2)
- https://docs.pytorch.org/docs/stable/generated/torch.fft.irfft2.html (irfft2)
- https://commons.wikimedia.org/wiki/File:2D_DWT.jpg (2D DWT image)
- https://commons.wikimedia.org/wiki/File:DIT-FFT-butterfly.svg (FFT butterfly image)
- https://en.wikipedia.org/wiki/Discrete_wavelet_transform (DWT overview)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1488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プラズマ2D物性分布：サロゲートモデル構築計画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29718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Pattern 0（MLPベンチ）深掘り：可逆変換＋MLP設計（0-1〜0-4）と実装ロードマップ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6035040"/>
            <a:ext cx="4023360" cy="502920"/>
          </a:xfrm>
          <a:prstGeom prst="round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1539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COMSOL＿プラズマサロゲートモデル構築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全体像（エグゼクティブサマリー）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MLPベンチは「前処理・評価・失敗モードの可視化」を固めるための土台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886968"/>
            <a:ext cx="1133856" cy="292608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941832"/>
            <a:ext cx="905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271016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2D多物性場を “分布全体” として一括予測するサロゲートの開発計画を、まずMLPベンチで固める。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1984248"/>
            <a:ext cx="3606698" cy="28346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093976"/>
            <a:ext cx="32775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ベンチの役割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487168"/>
            <a:ext cx="3240938" cy="108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前処理（log/標準化/マスク）の正しさを検証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LOOCVで「外挿に近い条件」で壊れる箇所を把握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境界層（SDF小）・誘電境界（εr）での誤差を可視化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以降のUNet/物理レイヤ等の改善量を定量化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2498" y="1984248"/>
            <a:ext cx="3606698" cy="28346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7090" y="2093976"/>
            <a:ext cx="32775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Pattern 0：4系統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75378" y="2487168"/>
            <a:ext cx="3240938" cy="108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0-1 PatchHead（reshapeのみで可逆）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0-2 Mixer/gMLP（純MLPで空間混合）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0-3 FFT係数MLP（スペクトル正則化）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0-4 Wavelet係数MLP（多解像・局所境界）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2077" y="1984248"/>
            <a:ext cx="3606698" cy="28346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6669" y="2093976"/>
            <a:ext cx="32775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成功の鍵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64957" y="2487168"/>
            <a:ext cx="3240938" cy="108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出力：log(ne,ni,Te,Ti)+φ中心（Eは-∇φ）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損失：mask付きL1 + 勾配（H1/TV） + BC(可能なら)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可逆変換：情報を落とさず学習しやすい表現へ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テスト：変換の可逆性テストを自動化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問題設定（この資料で扱うスコープ）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条件入力 → プラズマ領域の2D多物性分布（ケース数が少ない）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32688"/>
            <a:ext cx="585216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042416"/>
            <a:ext cx="5522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入出力と制約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435608"/>
            <a:ext cx="5486400" cy="120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入力：Global Definitions（連続4–5種 + カテゴリ）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出力：電子密度/温度、イオン密度/温度、電位φ（推奨）などの 2D分布（多チャネル）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学習データ：10–30ケース程度（少データ）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物理性：バルクは滑らか／境界・シースは急峻、誘電率境界で勾配が変化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29400" y="932688"/>
            <a:ext cx="5559552" cy="25146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1042416"/>
            <a:ext cx="5230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“分布全体出力”の方針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1435608"/>
            <a:ext cx="5166360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MLPでも「2D→1D変換→MLP→逆変換」で全体出力は可能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ただし情報を落とさない（可逆変換）を厳守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評価はLOOCV（ケースが少ないため）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3721608"/>
            <a:ext cx="5559552" cy="26060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93992" y="3831336"/>
            <a:ext cx="5230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出力チャネル設計（推奨）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4224528"/>
            <a:ext cx="5166360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学習ターゲット：log(ne), log(ni), log(Te), log(Ti), φ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派生量：E = -∇φ（差分で計算し補助損失にも）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領域外はmaskで損失重み0（学習信号を集中）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ワークフロー（データ → 学習 → 検証 → 改善）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MLPベンチで「前処理と評価」を固めてから本線へ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69848"/>
            <a:ext cx="2090867" cy="10515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179576"/>
            <a:ext cx="17616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COMSOL出力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" y="1572768"/>
            <a:ext cx="17616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ne/Te/ni/Ti/φ…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93787" y="1595628"/>
            <a:ext cx="1828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76667" y="1069848"/>
            <a:ext cx="2090867" cy="1051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41259" y="1179576"/>
            <a:ext cx="17616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前処理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41259" y="1572768"/>
            <a:ext cx="17616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log・標準化・mask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67534" y="1595628"/>
            <a:ext cx="1828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50414" y="1069848"/>
            <a:ext cx="2090867" cy="10515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5006" y="1179576"/>
            <a:ext cx="17616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可逆変換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5006" y="1572768"/>
            <a:ext cx="17616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patch/FFT/Wavelet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41281" y="1595628"/>
            <a:ext cx="1828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24161" y="1069848"/>
            <a:ext cx="2090867" cy="10515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88753" y="1179576"/>
            <a:ext cx="17616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MLP学習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88753" y="1572768"/>
            <a:ext cx="17616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0-1〜0-4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15028" y="1595628"/>
            <a:ext cx="1828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97908" y="1069848"/>
            <a:ext cx="2090867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762500" y="1179576"/>
            <a:ext cx="17616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62500" y="1572768"/>
            <a:ext cx="17616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LOOCV・境界誤差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2487168"/>
            <a:ext cx="11185855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2624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実装ブロック（共通）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3035808"/>
            <a:ext cx="3500018" cy="20116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3145536"/>
            <a:ext cx="317083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データ/前処理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3538728"/>
            <a:ext cx="3134258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log/標準化（mask内統計）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NaN・外挿クリップ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派生量（∇φ）計算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60138" y="3035808"/>
            <a:ext cx="3500018" cy="20116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24730" y="3145536"/>
            <a:ext cx="317083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可逆変換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43018" y="3538728"/>
            <a:ext cx="3134258" cy="108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patchify / unpatchify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PixelShuffle/Unshuffle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FFT / Wavelet（全係数）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invertible test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88757" y="3035808"/>
            <a:ext cx="3500018" cy="20116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3349" y="3145536"/>
            <a:ext cx="317083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学習/評価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71637" y="3538728"/>
            <a:ext cx="3134258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mask付きL1 + 勾配損失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LOOCV（ケース別）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境界(SDF)重み評価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481529" y="5321808"/>
            <a:ext cx="0" cy="777240"/>
          </a:xfrm>
          <a:prstGeom prst="line">
            <a:avLst/>
          </a:prstGeom>
          <a:noFill/>
          <a:ln w="25400">
            <a:solidFill>
              <a:srgbClr val="00A3E0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731520" y="6144768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3E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次段（UNet/SPADE/多忠実度/物理レイヤ）へ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Pattern 0（MLPベンチ）全体設計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0-1〜0-4は「可逆変換×MLP」で分布全体出力を実現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06984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共通方針：情報を落とさない可逆変換 + “物理的に学びやすい”出力設計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11185855" cy="1435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45920"/>
            <a:ext cx="11185855" cy="26517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00784"/>
            <a:ext cx="10911535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共通仕様（ベンチとして固定）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4515179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92419" y="1965960"/>
            <a:ext cx="62591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log(ne), log(ni), log(Te), log(Ti), φ（推奨）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76272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31136"/>
            <a:ext cx="4515179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派生量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92419" y="2231136"/>
            <a:ext cx="62591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 = -∇φ（評価・補助損失に）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441448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496312"/>
            <a:ext cx="4515179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損失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92419" y="2496312"/>
            <a:ext cx="62591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mask付きL1 + 勾配（H1/TV） + BC（可能なら）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706624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761488"/>
            <a:ext cx="4515179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92419" y="2761488"/>
            <a:ext cx="625919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LOOCV（ケース数が少ないため）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97180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063240"/>
            <a:ext cx="2659304" cy="34747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3200400"/>
            <a:ext cx="2293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" y="3566160"/>
            <a:ext cx="2293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PatchHead MLP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3995928"/>
            <a:ext cx="2293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reshapeのみで可逆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最短実装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4846320"/>
            <a:ext cx="229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実装コスト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" y="5120640"/>
            <a:ext cx="2293544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5120640"/>
            <a:ext cx="802740" cy="2286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376672"/>
            <a:ext cx="229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45104" y="3063240"/>
            <a:ext cx="2659304" cy="34747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527984" y="3200400"/>
            <a:ext cx="2293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527984" y="3566160"/>
            <a:ext cx="2293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Mixer / gMLP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27984" y="3995928"/>
            <a:ext cx="2293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純MLPで空間混合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ベンチ本命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27984" y="4846320"/>
            <a:ext cx="229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実装コスト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527984" y="5120640"/>
            <a:ext cx="2293544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27984" y="5120640"/>
            <a:ext cx="1261449" cy="2286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7984" y="5376672"/>
            <a:ext cx="229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87288" y="3063240"/>
            <a:ext cx="2659304" cy="34747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70168" y="3200400"/>
            <a:ext cx="2293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370168" y="3566160"/>
            <a:ext cx="2293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FFT係数MLP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70168" y="3995928"/>
            <a:ext cx="2293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周波数正則化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滑らかさ先験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70168" y="4846320"/>
            <a:ext cx="229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実装コスト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70168" y="5120640"/>
            <a:ext cx="2293544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70168" y="5120640"/>
            <a:ext cx="1376126" cy="2286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70168" y="5376672"/>
            <a:ext cx="229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029471" y="3063240"/>
            <a:ext cx="2659304" cy="34747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212351" y="3200400"/>
            <a:ext cx="2293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0-4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212351" y="3566160"/>
            <a:ext cx="2293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Wavelet係数MLP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212351" y="3995928"/>
            <a:ext cx="2293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多解像・局所境界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シース/材料境界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212351" y="4846320"/>
            <a:ext cx="229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実装コスト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212351" y="5120640"/>
            <a:ext cx="2293544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12351" y="5120640"/>
            <a:ext cx="1376126" cy="2286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12351" y="5376672"/>
            <a:ext cx="229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0-1 PatchHead MLP：全体像（可逆reshapeのみ）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最短で「条件→分布全体」を動かし、前処理・評価の枠を固める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78408"/>
            <a:ext cx="1133856" cy="292608"/>
          </a:xfrm>
          <a:prstGeom prst="round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033272"/>
            <a:ext cx="905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024128"/>
            <a:ext cx="9402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パッチ列（トークン）を一括生成 → unpatchifyで2D復元（情報落ちなし）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481328"/>
            <a:ext cx="11185855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984248"/>
            <a:ext cx="2331720" cy="685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093976"/>
            <a:ext cx="2002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ConditionEncoder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368296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p_cont + p_cat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1984248"/>
            <a:ext cx="2331720" cy="685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2093976"/>
            <a:ext cx="2002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MLP trunk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2368296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 ∈ R^hidden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984248"/>
            <a:ext cx="2834640" cy="6858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209397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PatchHead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36829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tokens: [T, C·P·P]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81160" y="1984248"/>
            <a:ext cx="2423160" cy="685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5752" y="2093976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Unpatchify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18320" y="2368296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Ŷ: [C,H,W]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54680" y="2327148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806440" y="2327148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961120" y="2327148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22960" y="2990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テンソル形状（例）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3264408"/>
            <a:ext cx="566928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3337560"/>
            <a:ext cx="566928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3392424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patchify/unpatchifyは“並べ替え”のみ（可逆）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3703320"/>
            <a:ext cx="21982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H×W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5498" y="3703320"/>
            <a:ext cx="30595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128×128（例）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2960" y="3959352"/>
            <a:ext cx="5669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4014216"/>
            <a:ext cx="21982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P（patch）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95498" y="4014216"/>
            <a:ext cx="30595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8（→ H/P=16, W/P=16）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" y="4270248"/>
            <a:ext cx="5669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4325112"/>
            <a:ext cx="21982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95498" y="4325112"/>
            <a:ext cx="30595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256 tokens (=16×16)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" y="4581144"/>
            <a:ext cx="5669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4636008"/>
            <a:ext cx="21982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token dim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95498" y="4636008"/>
            <a:ext cx="30595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C·P·P（例：C=5なら 5·64=320）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2960" y="4892040"/>
            <a:ext cx="5669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20840" y="3264408"/>
            <a:ext cx="54406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20840" y="3337560"/>
            <a:ext cx="544068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3392424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このモデルで見るべき観点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58000" y="3703320"/>
            <a:ext cx="210220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得意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097366" y="3703320"/>
            <a:ext cx="292699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動作確認、前処理・評価枠の固定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20840" y="3959352"/>
            <a:ext cx="5440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0" y="4014216"/>
            <a:ext cx="210220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弱点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097366" y="4014216"/>
            <a:ext cx="292699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パッチ境界の整合（連続性）が崩れやすい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20840" y="4270248"/>
            <a:ext cx="5440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0" y="4325112"/>
            <a:ext cx="210220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097366" y="4325112"/>
            <a:ext cx="292699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勾配損失、0-2(Mixer)へ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720840" y="4581144"/>
            <a:ext cx="5440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0-1 PatchHead MLP：コード設計（推奨モジュール分割）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「再現性・保守性」を優先し、可逆変換は共通インターフェース化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69848"/>
            <a:ext cx="58064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179576"/>
            <a:ext cx="5477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推奨モジュール（最小）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572768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data/preprocess.py：log/標準化（mask内統計）、欠損処理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transforms/patchify.py：Patchify/Unpatchify（可逆）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models/cond.py：ConditionEncoder（連続+カテゴリembedding）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models/mlp_patchhead.py：trunk + patch head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losses.py：mask付きL1 + 勾配損失（差分conv）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tests/test_invertible.py：変換の可逆性を自動テスト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069848"/>
            <a:ext cx="5696712" cy="26974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1179576"/>
            <a:ext cx="5367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実装コスト（目安）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1572768"/>
            <a:ext cx="534924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1645920"/>
            <a:ext cx="534924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700784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0-1（PatchHead）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12280" y="2011680"/>
            <a:ext cx="206380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新規コード量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013241" y="2011680"/>
            <a:ext cx="2873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~250–450 LoC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2267712"/>
            <a:ext cx="5349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2322576"/>
            <a:ext cx="206380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実装工数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13241" y="2322576"/>
            <a:ext cx="2873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0.5–1.5 人日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2578608"/>
            <a:ext cx="5349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633472"/>
            <a:ext cx="206380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デバッグ難所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13241" y="2633472"/>
            <a:ext cx="2873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shape/permuteのミス、標準化統計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2889504"/>
            <a:ext cx="5349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2944368"/>
            <a:ext cx="206380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計算コスト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013241" y="2944368"/>
            <a:ext cx="2873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軽い（1 forward/ケース）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3200400"/>
            <a:ext cx="5349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3995928"/>
            <a:ext cx="5696712" cy="24231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4105656"/>
            <a:ext cx="5367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精度を左右する工夫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20840" y="4498848"/>
            <a:ext cx="5257800" cy="108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出力は log(ne,ni,Te,Ti)+φ を推奨（スケール差を抑制）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mask付き損失で領域外のノイズを学習しない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勾配損失（H1/TV）でパッチ境界の破綻を抑える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LOOCVで「壊れる条件」を早期に検出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0-1 PatchHead MLP：失敗モードと診断（プラズマ場で起こりがち）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“パッチ境界”と“物性レンジ”が主な落とし穴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69848"/>
            <a:ext cx="594360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179576"/>
            <a:ext cx="5614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よくある失敗モード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572768"/>
            <a:ext cx="5532120" cy="108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パッチ境界に段差（連続性の破綻）→ 特にシース/誘電境界が跨ると顕著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密度レンジが損失を支配 → 温度やφが学べない（log/標準化不足）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領域外の値を学習 → 出力が“にじむ”（mask損失不足）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LOOCVで特定条件だけ壊れる → 外挿に近い/カテゴリ偏り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29400" y="1069848"/>
            <a:ext cx="5513832" cy="26060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1179576"/>
            <a:ext cx="5184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診断プロット（必須）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1572768"/>
            <a:ext cx="5074920" cy="108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真値/予測/誤差（各チャネル）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SDFで色分けした誤差（壁近傍だけ集計）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E=-∇φの派生量誤差（プロセス指標に直結）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パッチ境界上の誤差ヒートマップ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3904488"/>
            <a:ext cx="5513832" cy="2514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93992" y="4014216"/>
            <a:ext cx="5184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次の一手（改善）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4407408"/>
            <a:ext cx="5074920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空間混合を入れる → 0-2（Mixer/gMLP）へ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滑らかさ先験 → 0-3（FFT正則化）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局所境界の強化 → 0-4（Wavelet多解像）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0-2 Mixer / gMLP：全体像（純MLPで空間混合）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0-1の弱点（パッチ間整合）を“token-mixing”で補う：ベンチ本命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78408"/>
            <a:ext cx="1133856" cy="292608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033272"/>
            <a:ext cx="905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024128"/>
            <a:ext cx="9402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パッチ化（可逆）→ トークン列をMixer層で更新 → 復元（分布全体出力）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481328"/>
            <a:ext cx="11185855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984248"/>
            <a:ext cx="2331720" cy="7315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093976"/>
            <a:ext cx="2002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ConditionEncoder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404872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 → cond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1984248"/>
            <a:ext cx="2514600" cy="7315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2093976"/>
            <a:ext cx="2185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Token init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40487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tokens0: [T,D]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984248"/>
            <a:ext cx="3017520" cy="7315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2093976"/>
            <a:ext cx="2688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Mixer layers × 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4048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token-mix + channel-mix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418320" y="1984248"/>
            <a:ext cx="2697480" cy="731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2912" y="2093976"/>
            <a:ext cx="2368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Unpatchify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55480" y="240487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Ŷ: [C,H,W]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63240" y="2350008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852160" y="2350008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44000" y="2350008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22960" y="28986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Mixerブロック（概念）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3200400"/>
            <a:ext cx="56692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337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tokens: [B,T,D]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5840" y="3639312"/>
            <a:ext cx="2423160" cy="4572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0432" y="3749040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Token-mixing MLP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0" y="3639312"/>
            <a:ext cx="2606040" cy="457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22192" y="3749040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Channel-mixing MLP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29000" y="3867912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005840" y="422452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残差 + LayerNorm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75120" y="2898648"/>
            <a:ext cx="546811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0" y="2971800"/>
            <a:ext cx="5468112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3026664"/>
            <a:ext cx="5193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12280" y="3337560"/>
            <a:ext cx="211372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0-1との違い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063167" y="3337560"/>
            <a:ext cx="29429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パッチ間整合を学習（空間混合）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75120" y="3593592"/>
            <a:ext cx="546811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3648456"/>
            <a:ext cx="211372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狙い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063167" y="3648456"/>
            <a:ext cx="29429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少データで“連続性”を出す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75120" y="3904488"/>
            <a:ext cx="546811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3959352"/>
            <a:ext cx="211372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関連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063167" y="3959352"/>
            <a:ext cx="29429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MLP-Mixer / gMLP（参考文献）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75120" y="4215384"/>
            <a:ext cx="546811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0-2 Mixer / gMLP：設計オプション（計算量と安定性）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token数Tがボトルネック：Axial化とgatingで現実的に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69848"/>
            <a:ext cx="585216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179576"/>
            <a:ext cx="5522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設計オプション（推奨順）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572768"/>
            <a:ext cx="5486400" cy="108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Axial Mixer：T=Ht×Wtを行/列に分けて混合（重いO(T²)を緩和）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gMLP的ゲート：channel-mixにゲーティング（条件依存の切替が効く）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固定マップ注入：SDF/εr/maskをトークン初期値へ（境界を丸暗記しない）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PixelUnshuffle：space→depthでトークン数Tを減らす（可逆）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069848"/>
            <a:ext cx="5696712" cy="2606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1179576"/>
            <a:ext cx="5367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計算量の見積り（概算）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1572768"/>
            <a:ext cx="53309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1645920"/>
            <a:ext cx="5330952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700784"/>
            <a:ext cx="5056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実装前に決めるパラメータ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2011680"/>
            <a:ext cx="205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標準token-mix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051280" y="2011680"/>
            <a:ext cx="286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Linear(T,T) → O(T²)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2267712"/>
            <a:ext cx="53309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322576"/>
            <a:ext cx="205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Axial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51280" y="2322576"/>
            <a:ext cx="286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O(Ht² + Wt²) に近づく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2578608"/>
            <a:ext cx="53309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633472"/>
            <a:ext cx="205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Tの制御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51280" y="2633472"/>
            <a:ext cx="286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P↑ or PixelUnshuffleでT↓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2889504"/>
            <a:ext cx="53309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944368"/>
            <a:ext cx="205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推奨初期値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051280" y="2944368"/>
            <a:ext cx="286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H=W=128, P=8 → T=256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3200400"/>
            <a:ext cx="53309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3858768"/>
            <a:ext cx="5696712" cy="25603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3968496"/>
            <a:ext cx="5367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実装コスト（目安）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20840" y="4361688"/>
            <a:ext cx="53309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20840" y="4434840"/>
            <a:ext cx="5330952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4489704"/>
            <a:ext cx="5056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0-2（Mixer/gMLP）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4800600"/>
            <a:ext cx="205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新規コード量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51280" y="4800600"/>
            <a:ext cx="286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~450–900 LoC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20840" y="5056632"/>
            <a:ext cx="53309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5111496"/>
            <a:ext cx="205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実装工数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51280" y="5111496"/>
            <a:ext cx="286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1.5–4 人日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20840" y="5367528"/>
            <a:ext cx="53309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5422392"/>
            <a:ext cx="205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デバッグ難所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051280" y="5422392"/>
            <a:ext cx="286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トークンshape、Axial化、メモリ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20840" y="5678424"/>
            <a:ext cx="53309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5733288"/>
            <a:ext cx="205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実行コスト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051280" y="5733288"/>
            <a:ext cx="286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中（Tに依存して増大）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20840" y="5989320"/>
            <a:ext cx="53309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0-2 Mixer / gMLP：学習レシピ（少データ向け）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“連続性”は損失と入力設計で補強：境界誤差を最優先で測る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69848"/>
            <a:ext cx="59893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179576"/>
            <a:ext cx="5660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学習設定（推奨）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572768"/>
            <a:ext cx="5577840" cy="1272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損失：L = L1(mask) + λ_grad·L_grad + λ_bc·L_bc（φ中心）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L_grad：差分convで∂/∂x, ∂/∂y（境界近傍は重み↑）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正則化：weight decay（特にtoken-mixのLinear）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学習率：AdamW、早期停止（LOOCVの平均で判断）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データ拡張：幾何が固定なら基本は不要（物理破綻しやすい）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1069848"/>
            <a:ext cx="5486400" cy="28346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9712" y="1179576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評価指標（必須）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1572768"/>
            <a:ext cx="5120640" cy="108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チャネル別：MAE（log空間）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SDFバンド別：壁近傍(小SDF)のMAE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派生量：E=-∇φ の誤差（プロセス指標）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誤差の最大値（境界層のピーク）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4133088"/>
            <a:ext cx="5486400" cy="2286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9712" y="4242816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0-2が強い状況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4636008"/>
            <a:ext cx="5120640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0-1でパッチ境界が崩れる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大域相関（条件の影響）が強い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“CNNを入れず”に空間整合を上げたい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0-3 FFT係数MLP：全体像（全係数保持・可逆）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空間の滑らかさを“周波数正則化”として強く入れる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78408"/>
            <a:ext cx="1133856" cy="29260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033272"/>
            <a:ext cx="905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024128"/>
            <a:ext cx="9402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rfft2で周波数係数へ → 係数をMLPで予測 → irfft2で2D復元（情報落ちなし）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481328"/>
            <a:ext cx="111858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984248"/>
            <a:ext cx="2423160" cy="7315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093976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ConditionEncoder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20440" y="1984248"/>
            <a:ext cx="2377440" cy="7315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5032" y="2093976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Coeff MLP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984248"/>
            <a:ext cx="2468880" cy="7315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093976"/>
            <a:ext cx="2139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Pack/Unpack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06840" y="1984248"/>
            <a:ext cx="2834640" cy="731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71432" y="209397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irfft2 → Ŷ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2350008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897880" y="2350008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686800" y="2350008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77240" y="2898648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rfft2/irfft2はHermitian性を利用し、実入力の冗長な負周波数を省略した表現（可逆）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85876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重要図：FFTの分割統治（DIT-FFTのバタフライ）</a:t>
            </a:r>
            <a:endParaRPr lang="en-US" sz="1200" dirty="0"/>
          </a:p>
        </p:txBody>
      </p:sp>
      <p:pic>
        <p:nvPicPr>
          <p:cNvPr id="24" name="Image 0" descr="/mnt/data/fft_butterf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3377" y="3813048"/>
            <a:ext cx="2174206" cy="214884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7406640" y="3813048"/>
            <a:ext cx="47548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3886200"/>
            <a:ext cx="475488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43800" y="3941064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0-3の位置づけ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543800" y="4251960"/>
            <a:ext cx="18141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495130" y="4251960"/>
            <a:ext cx="25292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滑らかさ先験（高周波暴れを抑制）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406640" y="4507992"/>
            <a:ext cx="4754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43800" y="4562856"/>
            <a:ext cx="18141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弱み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9495130" y="4562856"/>
            <a:ext cx="25292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局所境界（材料境界）は苦手になり得る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406640" y="4818888"/>
            <a:ext cx="4754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43800" y="4873752"/>
            <a:ext cx="18141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9495130" y="4873752"/>
            <a:ext cx="25292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φ・密度の“全体滑らか”が支配的な場合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406640" y="5129784"/>
            <a:ext cx="4754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0-3 FFT係数MLP：係数表現・正則化・端点対策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「情報を捨てずに」滑らかさを入れるのがコツ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69848"/>
            <a:ext cx="59893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179576"/>
            <a:ext cx="5660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係数のpack/unpack（実装の要点）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572768"/>
            <a:ext cx="5577840" cy="108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rfft2出力：複素テンソル [C,H,W/2+1]（実入力の片側周波数）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学習用ベクトル：実部・虚部をチャネルとして結合（可逆）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Hermitian性を壊さない：irfft2に渡す形へ正しく戻す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推論時：係数→irfft2→空間（出力）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1069848"/>
            <a:ext cx="5513832" cy="24688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9712" y="1179576"/>
            <a:ext cx="5184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スペクトル正則化（例）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157276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高周波を“捨てずに”抑える（ノイズ・非物理振動の抑制）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19385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L_spec = Σ w(kx,ky) · |F(kx,ky)|   例：w= (kx²+ky²)^(α/2)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2532888"/>
            <a:ext cx="5120640" cy="669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αは1〜2から開始（強すぎると境界層が丸まる）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チャネルごとにλ_specを変える（φは強め、密度は弱め等）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3721608"/>
            <a:ext cx="5513832" cy="26974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3831336"/>
            <a:ext cx="5184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端点（周期仮定）への対策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4224528"/>
            <a:ext cx="5120640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FFTは暗黙に周期境界：端でアーティファクトが出ることがある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対策：反射パディング→FFT→逆FFT→crop（情報を落とさずに元領域へ戻す）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評価は壁近傍（SDF小）を別集計（端の影響が顕在化）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0-3 FFT係数MLP：適用条件・メリット/デメリット・実装コスト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“滑らかさ優勢”の物性に強い。局所境界が強い場合は0-4も比較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69848"/>
            <a:ext cx="5852160" cy="2606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179576"/>
            <a:ext cx="5522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強い状況（チェックリスト）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572768"/>
            <a:ext cx="5486400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φや密度が“概ね滑らか”で、非物理な高周波が邪魔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ケースが少なく、空間で直接学習するとノイズが出る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グローバル形状を優先したい（境界層は補助損失で）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858768"/>
            <a:ext cx="58521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968496"/>
            <a:ext cx="5522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メリット / デメリット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361688"/>
            <a:ext cx="5486400" cy="108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メリット：スペクトル正則化で滑らかさ先験を強く注入、ノイズに強い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メリット：rfft2は片側表現で冗長を減らせる（可逆）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デメリット：局所境界（誘電体エッジ等）を周波数だけで表現しにくい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デメリット：端点の周期仮定に注意（反射padで対処）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1069848"/>
            <a:ext cx="5696712" cy="53492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1179576"/>
            <a:ext cx="5367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実装コスト（目安）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1572768"/>
            <a:ext cx="533095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1645920"/>
            <a:ext cx="5330952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700784"/>
            <a:ext cx="5056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0-3（FFT係数）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011680"/>
            <a:ext cx="205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新規コード量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51280" y="2011680"/>
            <a:ext cx="286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~400–900 LoC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2267712"/>
            <a:ext cx="53309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322576"/>
            <a:ext cx="205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実装工数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51280" y="2322576"/>
            <a:ext cx="286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2–5 人日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2578608"/>
            <a:ext cx="53309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633472"/>
            <a:ext cx="205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難所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051280" y="2633472"/>
            <a:ext cx="286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複素係数のpack/unpack、pad/crop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2889504"/>
            <a:ext cx="53309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944368"/>
            <a:ext cx="205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計算コスト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51280" y="2944368"/>
            <a:ext cx="286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FFTが入る（中）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3200400"/>
            <a:ext cx="53309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3255264"/>
            <a:ext cx="205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51280" y="3255264"/>
            <a:ext cx="286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PyTorch標準（torch.fft）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3511296"/>
            <a:ext cx="53309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0-4 Wavelet係数MLP：全体像（多解像・局所境界に強い）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FFTより局所性があり、境界層（シース）や材料境界の表現を狙う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78408"/>
            <a:ext cx="1133856" cy="29260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033272"/>
            <a:ext cx="905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024128"/>
            <a:ext cx="9402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 DWT（全係数保持）→ 係数MLP → 逆DWT（可逆）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481328"/>
            <a:ext cx="111858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984248"/>
            <a:ext cx="2423160" cy="7315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093976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ConditionEncoder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20440" y="1984248"/>
            <a:ext cx="2377440" cy="7315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5032" y="2093976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Coeff MLP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984248"/>
            <a:ext cx="2468880" cy="7315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093976"/>
            <a:ext cx="2139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DWT / iDWT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06840" y="1984248"/>
            <a:ext cx="2834640" cy="731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71432" y="209397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Ŷ: [C,H,W]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2350008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897880" y="2350008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686800" y="2350008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77240" y="2898648"/>
            <a:ext cx="106372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係数はLL/LH/HL/HH（スケール別）に分かれ、局所的な境界情報が高周波側に集まりやすい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72160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重要図：2D離散ウェーブレット変換（DWT）</a:t>
            </a:r>
            <a:endParaRPr lang="en-US" sz="1200" dirty="0"/>
          </a:p>
        </p:txBody>
      </p:sp>
      <p:pic>
        <p:nvPicPr>
          <p:cNvPr id="24" name="Image 0" descr="/mnt/data/2d_dw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3995928"/>
            <a:ext cx="6300216" cy="25146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7406640" y="3995928"/>
            <a:ext cx="47548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4069080"/>
            <a:ext cx="475488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43800" y="4123944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0-4の位置づけ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543800" y="4434840"/>
            <a:ext cx="18141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495130" y="4434840"/>
            <a:ext cx="25292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局所境界・シースの表現が出やすい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406640" y="4690872"/>
            <a:ext cx="4754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43800" y="4745736"/>
            <a:ext cx="18141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弱み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9495130" y="4745736"/>
            <a:ext cx="25292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実装がFFTより少し手間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406640" y="5001768"/>
            <a:ext cx="4754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43800" y="5056632"/>
            <a:ext cx="18141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9495130" y="5056632"/>
            <a:ext cx="25292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材料境界や急峻な局所構造が支配的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406640" y="5312664"/>
            <a:ext cx="4754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0-4 Wavelet係数MLP：実装方針（Haarから始める）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依存なしのHaar DWT（レベル1）→必要に応じ多段へ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69848"/>
            <a:ext cx="59893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179576"/>
            <a:ext cx="5660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実装の要点（Haar DWT）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572768"/>
            <a:ext cx="5577840" cy="108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まずはHaar（2×2ブロック平均/差分）で完全可逆を担保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LL/LH/HL/HHをチャネル方向に連結して係数テンソルにする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H,Wは偶数が前提：奇数の場合はreflect pad→逆変換後にcrop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レベル1で十分比較可能。必要ならLLに再帰して多段化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1069848"/>
            <a:ext cx="5513832" cy="26974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9712" y="1179576"/>
            <a:ext cx="5184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係数別の損失重み（例）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1572768"/>
            <a:ext cx="5120640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 = λ_LL·L_LL + λ_H·(L_LH+L_HL+L_HH)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境界層を出したい場合：λ_Hをやや大きめ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ノイズが出る場合：λ_Hを下げ、TV/勾配で抑制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3995928"/>
            <a:ext cx="5513832" cy="24231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9712" y="4105656"/>
            <a:ext cx="5184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ライブラリ選択肢（任意）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4498848"/>
            <a:ext cx="5120640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最小：自作Haar（依存ゼロ、挙動が明確）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拡張：pytorch_wavelets（2D DWTと逆変換＋勾配対応）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目的：ベンチ段階では“可逆性テスト”を最優先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0-4 Wavelet係数MLP：適用条件・メリット/デメリット・実装コスト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材料境界/シースなど局所構造が主因なら比較価値が高い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69848"/>
            <a:ext cx="5852160" cy="2606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179576"/>
            <a:ext cx="5522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強い状況（チェックリスト）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572768"/>
            <a:ext cx="5486400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壁近傍（小SDF）で誤差が支配的（シースの形が重要）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材料境界（誘電体エッジ）で局所的に急峻な構造が出る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FFT正則化だと境界が丸まりすぎる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858768"/>
            <a:ext cx="58521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968496"/>
            <a:ext cx="5522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メリット / デメリット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361688"/>
            <a:ext cx="5486400" cy="108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メリット：局所×周波数で境界層を表現しやすい（高周波が局在）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メリット：係数別重みで“境界優先”を設計できる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デメリット：H,Wの偶数制約やpad/cropが必要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デメリット：多段化すると実装とデバッグが増える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1069848"/>
            <a:ext cx="5696712" cy="53492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1179576"/>
            <a:ext cx="5367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実装コスト（目安）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1572768"/>
            <a:ext cx="533095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1645920"/>
            <a:ext cx="5330952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700784"/>
            <a:ext cx="5056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0-4（Wavelet係数）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011680"/>
            <a:ext cx="205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新規コード量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51280" y="2011680"/>
            <a:ext cx="286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~500–1100 LoC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2267712"/>
            <a:ext cx="53309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322576"/>
            <a:ext cx="205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実装工数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51280" y="2322576"/>
            <a:ext cx="286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2–6 人日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2578608"/>
            <a:ext cx="53309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633472"/>
            <a:ext cx="205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難所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051280" y="2633472"/>
            <a:ext cx="286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DWT/iDWTの可逆性、pad/crop、多段化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2889504"/>
            <a:ext cx="53309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944368"/>
            <a:ext cx="205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計算コスト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51280" y="2944368"/>
            <a:ext cx="286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中（DWTが入る）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3200400"/>
            <a:ext cx="53309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3255264"/>
            <a:ext cx="205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51280" y="3255264"/>
            <a:ext cx="2863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自作Haar or pytorch_wavelets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3511296"/>
            <a:ext cx="533095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共通インフラ：コード設計（再現性・デバッグ容易性）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可逆変換のインターフェース化 + 自動テストがコストを下げる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69848"/>
            <a:ext cx="58978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179576"/>
            <a:ext cx="5568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ディレクトリ設計（推奨）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5727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surrogate/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892808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data/ (io, dataset, preprocess)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transforms/ (invertible: patchify, pixelshuffle, fft2d, haar_dwt)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models/ (cond, mlp_patchhead, mlp_mixer, mlp_fft, mlp_wavelet)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losses.py / train.py / eval.py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tests/ (invertibility, shapes, nan)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127248"/>
            <a:ext cx="5440680" cy="29718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236976"/>
            <a:ext cx="5111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最重要テスト：可逆性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49300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assert allclose(x, inverse(forward(x)))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858768"/>
            <a:ext cx="5074920" cy="1018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Patchify/Unpatchify：reshape/permuteのミスを即検出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FFT：pad/cropを含めた往復一致をテスト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Wavelet：Haar DWT/iDWTの往復一致をテスト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shapeテスト：C/H/Wが想定通りか、NaNが無いか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1069848"/>
            <a:ext cx="5102352" cy="2697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1179576"/>
            <a:ext cx="4773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実装コストを下げる工夫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1572768"/>
            <a:ext cx="4663440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モデル切替：transformとmodelをconfigで差し替え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共通Loss：mask付きL1 + 勾配損失を固定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可視化：真値/予測/誤差 + SDF帯別をテンプレ化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3995928"/>
            <a:ext cx="5102352" cy="24231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4105656"/>
            <a:ext cx="4773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想定デバッグ時間（目安）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0" y="4498848"/>
            <a:ext cx="473659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4572000"/>
            <a:ext cx="4736592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4626864"/>
            <a:ext cx="44622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ベンチ全体（共通インフラ）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4937760"/>
            <a:ext cx="180648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可逆変換のバグ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47369" y="4937760"/>
            <a:ext cx="251862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0.5–2 人日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5193792"/>
            <a:ext cx="47365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5248656"/>
            <a:ext cx="180648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標準化/マスク統計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47369" y="5248656"/>
            <a:ext cx="251862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0.5–1 人日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5504688"/>
            <a:ext cx="47365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5559552"/>
            <a:ext cx="180648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LOOCV評価/可視化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847369" y="5559552"/>
            <a:ext cx="251862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1–2 人日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5815584"/>
            <a:ext cx="47365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評価プロトコル（少データ前提の必須セット）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LOOCV + 境界（SDF）重み評価 + 派生量（E=-∇φ）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69848"/>
            <a:ext cx="58978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179576"/>
            <a:ext cx="5568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LOOCV（leave-one-out）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572768"/>
            <a:ext cx="5486400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ケース数Nなら、N回学習：毎回「1ケースをテスト、残りN-1で学習」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平均誤差だけでなく、分散（どの条件で壊れるか）も見る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カテゴリがある場合：カテゴリ別のLOOCV結果も要集計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127248"/>
            <a:ext cx="5486400" cy="3246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236976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指標（推奨）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584448"/>
            <a:ext cx="5120640" cy="108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MAE（log空間）/ RMSE（参考）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SDFバンド別MAE：壁近傍・バルクを分けて評価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ピーク誤差：max|err|（シースの最大値ズレ）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派生量：E=-∇φ のMAE（プロセス指標へ直結）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1069848"/>
            <a:ext cx="5102352" cy="28803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1179576"/>
            <a:ext cx="4773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境界優先の重み例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1572768"/>
            <a:ext cx="4736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w(SDF) = 1 / (|SDF| + ε)^α  （例：α=1）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1938528"/>
            <a:ext cx="4736592" cy="669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学習損失と評価の両方に使う（境界層を重視）</a:t>
            </a:r>
            <a:endParaRPr lang="en-US" sz="1100" dirty="0"/>
          </a:p>
          <a:p>
            <a:pPr marL="139700" indent="-1397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強すぎるとバルクが崩れる → αや上限クリップを調整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4133088"/>
            <a:ext cx="5102352" cy="2286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4242816"/>
            <a:ext cx="4773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出力可視化テンプレ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4636008"/>
            <a:ext cx="4736592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真値/予測/誤差（同一カラーバー）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SDF等高線を重ねる（境界対応を視覚化）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E=-∇φの矢印/大きさも確認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まとめ：0-1〜0-4の比較と実装順（ベンチ→本線への接続）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858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MLPはベンチとして先行実装。結果に応じてUNet/物理レイヤへ進む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06984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MLPベンチで固めるべき成果物：①前処理の固定 ②LOOCV評価テンプレ ③失敗モード（境界/誘電）の同定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11185855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72768"/>
            <a:ext cx="11185855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6642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21408" y="16642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要点（可逆変換）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44568" y="16642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67728" y="16642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62288" y="166420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実装コスト(目安)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1572768"/>
            <a:ext cx="0" cy="2926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572768"/>
            <a:ext cx="0" cy="2926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1572768"/>
            <a:ext cx="0" cy="2926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572768"/>
            <a:ext cx="0" cy="2926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1984248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2093976"/>
            <a:ext cx="1325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0-1 PatchHead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21408" y="2093976"/>
            <a:ext cx="22402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patchify/unpatchify（reshape）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44568" y="2093976"/>
            <a:ext cx="22402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最短で動作確認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前処理・評価枠の固定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67728" y="2093976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連続性が弱い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（境界で段差）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62288" y="2093976"/>
            <a:ext cx="24505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0.5–1.5人日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2606040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2715768"/>
            <a:ext cx="1325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0-2 Mixer/gMLP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21408" y="2715768"/>
            <a:ext cx="22402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patchify + token-mix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44568" y="2715768"/>
            <a:ext cx="22402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空間整合が上がる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（ベンチ本命）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67728" y="2715768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T依存で重い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調整が必要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62288" y="2715768"/>
            <a:ext cx="24505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1.5–4人日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3227832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" y="3337560"/>
            <a:ext cx="1325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0-3 FFT係数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21408" y="3337560"/>
            <a:ext cx="22402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rfft2/irfft2（可逆）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44568" y="3337560"/>
            <a:ext cx="22402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滑らかさ先験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ノイズ抑制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67728" y="3337560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局所境界は苦手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端点対策必要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62288" y="3337560"/>
            <a:ext cx="24505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2–5人日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3849624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" y="3959352"/>
            <a:ext cx="1325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0-4 Wavelet係数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21408" y="3959352"/>
            <a:ext cx="22402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DWT/iDWT（可逆）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44568" y="3959352"/>
            <a:ext cx="22402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局所境界・シース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多解像で扱う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67728" y="3959352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偶数制約/pad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実装やや増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162288" y="3959352"/>
            <a:ext cx="24505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2–6人日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" y="4498848"/>
            <a:ext cx="111858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" y="4681728"/>
            <a:ext cx="7223760" cy="1737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" y="4791456"/>
            <a:ext cx="6894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推奨実装順（ベンチ→本線）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31520" y="5138928"/>
            <a:ext cx="6812280" cy="108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Step1：0-1で前処理・評価（LOOCV/境界誤差）の枠を固定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Step2：0-2で空間整合（境界の連続性）を改善し、失敗モードを定量化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Step3：滑らかさ問題なら0-3、局所境界問題なら0-4を追加比較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Step4：結果を根拠にUNet/SPADE/多忠実度/物理レイヤへ移行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909560" y="4681728"/>
            <a:ext cx="3776472" cy="17373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74152" y="4791456"/>
            <a:ext cx="3447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参考文献（主要）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110728" y="5065776"/>
            <a:ext cx="3429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MLP-Mixer (Tolstikhin et al., 2021)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gMLP (Liu et al., 2021)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PyTorch: PixelShuffle, torch.fft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DWTの概説（Wikipedia）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2D DWT図 / FFT図（Wikimedia Commons）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2026-01-13T04:28:25Z</dcterms:created>
  <dcterms:modified xsi:type="dcterms:W3CDTF">2026-01-13T04:28:25Z</dcterms:modified>
</cp:coreProperties>
</file>