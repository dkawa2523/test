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3005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Cantera Si₃N₄ CVD 例（SiF₄/NH₃）: https://cantera.org/3.1/examples/python/reactors/1D_pfr_surfchem.html
- Cantera diamond CVD 例: https://cantera.org/stable/examples/python/kinetics/diamond_cvd.html
- Cantera example-data: https://github.com/Cantera/cantera-example-data
- pyMARS ドキュメント: https://niemeyer-research-group.github.io/pyMARS/index.html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Cantera Si₃N₄ CVD（多相）: https://cantera.org/3.1/examples/python/reactors/1D_pfr_surfchem.html
- Cantera mechanism input（surface/bulk, import）: https://cantera.org/stable/userguide/creating-mechanisms.html
- Feinberg, Foundations of Chemical Reaction Network Theory (2019): https://link.springer.com/book/10.1007/978-3-030-03858-8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Cantera n-hexane例（1268 speciesの記載）: https://cantera.org/dev/examples/python/reactors/preconditioned_integration.html
- 1268 species / 5336 reactions（NUIG機構規模）: https://www.sciencedirect.com/science/article/pii/S0010218016301560
- Cantera example-data: https://github.com/Cantera/cantera-example-data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Cantera Si₃N₄成膜（SiF₄/NH₃, gas+surface+bulk deposition）例: https://cantera.org/3.1/examples/python/reactors/1D_pfr_surfchem.html
- Cantera mechanism input（surface/bulk）: https://cantera.org/stable/userguide/creating-mechanisms.html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Cantera Si₃N₄成膜例（gas+surface+bulk deposition）: https://cantera.org/3.1/examples/python/reactors/1D_pfr_surfchem.html
- Cantera YAML general structure（セクション参照・import）: https://www.cantera.org/3.1/yaml/general.html
- Feinberg (CRNT) 行列表現: https://link.springer.com/book/10.1007/978-3-030-03858-8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Cantera Si₃N₄ CVD 例: https://cantera.org/3.1/examples/python/reactors/1D_pfr_surfchem.html
- Cantera rate constant / sticking の説明: https://cantera.org/stable/reference/kinetics/rate-constants.html
- Feinberg (CRNT) 保存則（Aν=0）: https://link.springer.com/book/10.1007/978-3-030-03858-8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Cantera diamond CVD example: https://cantera.org/stable/examples/python/kinetics/diamond_cvd.html
- Cantera input: diamond.yaml: https://cantera.org/dev/examples/input/diamond.html
- GRI-Mech 3.0（gri30.yaml）: https://www.cantera.org/dev/examples/input/index.html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pyMARS ドキュメント（DRG/DRGEP/PFA/SA）: https://niemeyer-research-group.github.io/pyMARS/index.html
- Cantera diamond CVD: https://cantera.org/stable/examples/python/kinetics/diamond_cvd.html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Cantera example（preconditioned integration）: https://cantera.org/dev/examples/python/reactors/preconditioned_integration.html
- Cantera example-data repo: https://github.com/Cantera/cantera-example-data
- NUIG機構規模（1268 species / 5336 reactions）: https://www.sciencedirect.com/science/article/pii/S0010218016301560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Cantera example-data: https://github.com/Cantera/cantera-example-data
- Cantera preconditioned integration example: https://cantera.org/dev/examples/python/reactors/preconditioned_integration.html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pyMARS ドキュメント: https://niemeyer-research-group.github.io/pyMARS/index.html
- pyMARS GitHub: https://github.com/Niemeyer-Research-Group/pyMARS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Cantera mechanism input / YAML: https://cantera.org/stable/userguide/creating-mechanisms.html
- pyMARS: https://niemeyer-research-group.github.io/pyMARS/index.html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pyMARS: https://niemeyer-research-group.github.io/pyMARS/index.html
- LearnCK (overall reactions): https://pubs.rsc.org/en/content/articlehtml/2024/re/d3re00279a
- BN-Pool (graph pooling): https://arxiv.org/abs/2501.09821
- tgp pooling library: https://arxiv.org/html/2512.12642v1
- Data-driven discovery of chemical reaction networks (SINDy→CRN): https://arxiv.org/abs/2602.11849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LearnCK（overall reactions）: https://pubs.rsc.org/en/content/articlehtml/2024/re/d3re00279a
- Atom-conserving CRNN（原子保存を組込むNN）: https://www.sciencedirect.com/science/article/pii/S1540748924003158
- SRNN（surface kineticsの解釈可能NN）: https://www.sciencedirect.com/science/article/abs/pii/S0009250925001307
- ANN-hard（保存則を射影で厳密化）: https://www.sciencedirect.com/science/article/abs/pii/S0010218025001439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BN-Pool（Bayesian nonparametric graph pooling）: https://arxiv.org/abs/2501.09821
- tgp（graph pooling library）: https://arxiv.org/html/2512.12642v1
- Cantera YAML general structure（データ/機構の参照）: https://www.cantera.org/3.1/yaml/general.html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pyMARS: https://niemeyer-research-group.github.io/pyMARS/index.html
- Cantera preconditioned integration example（大規模機構の前提）: https://cantera.org/dev/examples/python/reactors/preconditioned_integration.html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Data-driven discovery of chemical reaction networks (arXiv:2602.11849): https://arxiv.org/abs/2602.11849
- GS-SINDy（Chaos, AIP）: https://pubs.aip.org/aip/cha/article-pdf/doi/10.1063/5.0214404/20446436/033139_1_5.0214404.pdf
- ADAM-SINDy（arXiv:2410.16528）: https://arxiv.org/abs/2410.16528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Cantera rate constant / sticking: https://cantera.org/stable/reference/kinetics/rate-constants.html
- Cantera mechanism input（surface/bulk）: https://cantera.org/stable/userguide/creating-mechanisms.html
- Feinberg (CRNT) 保存則（Aν=0）: https://link.springer.com/book/10.1007/978-3-030-03858-8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Cantera Si₃N₄ CVD（多相）: https://cantera.org/3.1/examples/python/reactors/1D_pfr_surfchem.html
- Cantera preconditioned integration（大規模/剛性の文脈）: https://cantera.org/dev/examples/python/reactors/preconditioned_integration.html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Cantera Si₃N₄ CVD: https://cantera.org/3.1/examples/python/reactors/1D_pfr_surfchem.html
- Cantera diamond CVD: https://cantera.org/stable/examples/python/kinetics/diamond_cvd.html
- Cantera preconditioned integration (n-hexane): https://cantera.org/dev/examples/python/reactors/preconditioned_integration.html
- pyMARS: https://niemeyer-research-group.github.io/pyMARS/index.html
- LearnCK (RSC 2024): https://pubs.rsc.org/en/content/articlehtml/2024/re/d3re00279a
- BN-Pool: https://arxiv.org/abs/2501.09821
- tgp: https://arxiv.org/html/2512.12642v1
- CRN discovery (arXiv:2602.11849): https://arxiv.org/abs/2602.11849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9BC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大規模CVD/ALD縮退ベンチマーク（3種）と開発手法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反応ネットワーク（行列/グラフ）× 多条件Cantera自動実行 × マージ/縮退/妥当性評価 —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3611880" cy="1143000"/>
          </a:xfrm>
          <a:prstGeom prst="roundRect">
            <a:avLst/>
          </a:prstGeom>
          <a:solidFill>
            <a:srgbClr val="E7F4FF"/>
          </a:solidFill>
          <a:ln w="25400">
            <a:solidFill>
              <a:srgbClr val="79C7F2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2057400"/>
            <a:ext cx="3282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 A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Si₃N₄ CVD/ALD-like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58952" y="2578608"/>
            <a:ext cx="3282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多相: gas+surface+bulk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（拡張: gas import + 多サイト）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1920240"/>
            <a:ext cx="3611880" cy="1143000"/>
          </a:xfrm>
          <a:prstGeom prst="roundRect">
            <a:avLst/>
          </a:prstGeom>
          <a:solidFill>
            <a:srgbClr val="EAF7F2"/>
          </a:solidFill>
          <a:ln w="25400">
            <a:solidFill>
              <a:srgbClr val="69D1B5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90872" y="2057400"/>
            <a:ext cx="3282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 B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Diamond CVD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90872" y="2578608"/>
            <a:ext cx="3282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同型表面反応群で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マージ性能を検証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58200" y="1920240"/>
            <a:ext cx="3611880" cy="1143000"/>
          </a:xfrm>
          <a:prstGeom prst="roundRect">
            <a:avLst/>
          </a:prstGeom>
          <a:solidFill>
            <a:srgbClr val="FFF4E6"/>
          </a:solidFill>
          <a:ln w="25400">
            <a:solidFill>
              <a:srgbClr val="F6B26B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22792" y="2057400"/>
            <a:ext cx="3282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 C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炭素膜CVD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22792" y="2578608"/>
            <a:ext cx="3282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超大規模gas(1268 sp)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合成surface(≥100 rxn)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434840"/>
            <a:ext cx="2602154" cy="59436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多条件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Cantera実行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5114" y="4434840"/>
            <a:ext cx="2602154" cy="594360"/>
          </a:xfrm>
          <a:prstGeom prst="rect">
            <a:avLst/>
          </a:prstGeom>
          <a:solidFill>
            <a:srgbClr val="0AA6A6"/>
          </a:solidFill>
          <a:ln w="12700">
            <a:solidFill>
              <a:srgbClr val="0AA6A6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反応ネットワーク化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(ν, r(t), F)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55868" y="4434840"/>
            <a:ext cx="2602154" cy="594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縮退（削除＋マージ）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制約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86621" y="4434840"/>
            <a:ext cx="2602154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妥当性評価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(Pareto)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196514" y="4727448"/>
            <a:ext cx="228600" cy="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27268" y="4727448"/>
            <a:ext cx="228600" cy="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858021" y="4727448"/>
            <a:ext cx="228600" cy="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C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課題設定：半導体成膜（CVD/ALD）における縮退は「多相＋位相＋保存則」問題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658368"/>
            <a:ext cx="1109441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76656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従来の削除型（skeletal）だけでは：表面KPI・位相切替・サイト収支が壊れやすい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多相反応ネットワーク（概念）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5532120" cy="1143000"/>
          </a:xfrm>
          <a:prstGeom prst="rect">
            <a:avLst/>
          </a:prstGeom>
          <a:solidFill>
            <a:srgbClr val="EAF4FF"/>
          </a:solidFill>
          <a:ln w="12700">
            <a:solidFill>
              <a:srgbClr val="79C7F2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気相（gas）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ラジカル/中性/分子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670048"/>
            <a:ext cx="5532120" cy="960120"/>
          </a:xfrm>
          <a:prstGeom prst="rect">
            <a:avLst/>
          </a:prstGeom>
          <a:solidFill>
            <a:srgbClr val="EAF7F2"/>
          </a:solidFill>
          <a:ln w="12700">
            <a:solidFill>
              <a:srgbClr val="69D1B5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表面（surface）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θ（被覆率）＋サイト収支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703320"/>
            <a:ext cx="5532120" cy="685800"/>
          </a:xfrm>
          <a:prstGeom prst="rect">
            <a:avLst/>
          </a:prstGeom>
          <a:solidFill>
            <a:srgbClr val="FFF4E6"/>
          </a:solidFill>
          <a:ln w="12700">
            <a:solidFill>
              <a:srgbClr val="F6B26B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堆積相（bulk）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成膜フラックス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4590288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反応経路（例）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937760"/>
            <a:ext cx="960120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79C7F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SiF₄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91640" y="5129784"/>
            <a:ext cx="13716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828800" y="4937760"/>
            <a:ext cx="960120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79C7F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SiFₓ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88920" y="5129784"/>
            <a:ext cx="13716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926080" y="4937760"/>
            <a:ext cx="960120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69D1B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Si*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86200" y="5129784"/>
            <a:ext cx="13716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023360" y="4937760"/>
            <a:ext cx="960120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69D1B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*–Si–N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83480" y="5129784"/>
            <a:ext cx="13716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120640" y="4937760"/>
            <a:ext cx="960120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F6B26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1051560"/>
            <a:ext cx="5242255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縮退の難所（CVD/ALD共通）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1444752"/>
            <a:ext cx="5242255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多段反応＋循環（ループ）→重要度が時間で変動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ALD：位相（pulse/purge）で支配反応が切替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表面：∑θ=1, 0≤θ≤1（違反すると暴走）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剛性：Δtが極小になる（ラジカル↔安定種）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KPI：成膜（堆積）・膜組成・副生成物を維持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3520440"/>
            <a:ext cx="5242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行列化（ν, F, 感度）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46520" y="3840480"/>
            <a:ext cx="730606" cy="63779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95414" y="3840480"/>
            <a:ext cx="730606" cy="63779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44307" y="3840480"/>
            <a:ext cx="730606" cy="63779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93201" y="3840480"/>
            <a:ext cx="730606" cy="63779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42094" y="3840480"/>
            <a:ext cx="730606" cy="63779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90988" y="3840480"/>
            <a:ext cx="730606" cy="63779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39882" y="3840480"/>
            <a:ext cx="730606" cy="63779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4496562"/>
            <a:ext cx="730606" cy="63779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95414" y="4496562"/>
            <a:ext cx="730606" cy="63779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44307" y="4496562"/>
            <a:ext cx="730606" cy="63779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93201" y="4496562"/>
            <a:ext cx="730606" cy="63779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42094" y="4496562"/>
            <a:ext cx="730606" cy="63779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90988" y="4496562"/>
            <a:ext cx="730606" cy="63779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39882" y="4496562"/>
            <a:ext cx="730606" cy="63779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5152644"/>
            <a:ext cx="730606" cy="63779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95414" y="5152644"/>
            <a:ext cx="730606" cy="63779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44307" y="5152644"/>
            <a:ext cx="730606" cy="63779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93201" y="5152644"/>
            <a:ext cx="730606" cy="63779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42094" y="5152644"/>
            <a:ext cx="730606" cy="63779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90988" y="5152644"/>
            <a:ext cx="730606" cy="63779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39882" y="5152644"/>
            <a:ext cx="730606" cy="63779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46520" y="5808726"/>
            <a:ext cx="730606" cy="63779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95414" y="5808726"/>
            <a:ext cx="730606" cy="63779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44307" y="5808726"/>
            <a:ext cx="730606" cy="63779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93201" y="5808726"/>
            <a:ext cx="730606" cy="63779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42094" y="5808726"/>
            <a:ext cx="730606" cy="63779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90988" y="5808726"/>
            <a:ext cx="730606" cy="63779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939882" y="5808726"/>
            <a:ext cx="730606" cy="63779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C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ベンチマーク（3種）とサイズ要件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658368"/>
            <a:ext cx="1109441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76656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縮退手法の開発・比較（pyMARS含む）に必要な “段階的難度” を用意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11094415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一覧（third-party向け）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2218883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13243" y="1417320"/>
            <a:ext cx="2218883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想定プロセス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32126" y="1417320"/>
            <a:ext cx="2218883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gas（species/reactions）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51009" y="1417320"/>
            <a:ext cx="2218883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surface（species/reactions）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469892" y="1417320"/>
            <a:ext cx="2218883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13243" y="182880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Si₃N₄成膜（CVD/ALD-like）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32126" y="182880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≥53 / ≥325（+α）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51009" y="182880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≥20 / ≥100（多サイト）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69892" y="182880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多相＋位相＋KPI（成膜）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2240280"/>
            <a:ext cx="2218883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13243" y="2240280"/>
            <a:ext cx="2218883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Diamond CVD（100面）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32126" y="2240280"/>
            <a:ext cx="2218883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53 / 325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51009" y="2240280"/>
            <a:ext cx="2218883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 / 60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69892" y="2240280"/>
            <a:ext cx="2218883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同型反応群→マージ検証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" y="265176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13243" y="265176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a-C/HM CVD（超大規模）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32126" y="265176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1268 / 5336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51009" y="265176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 / 100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69892" y="265176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剛性・性能・スケール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" y="3611880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規模（目安）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41422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 sp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057400" y="4160520"/>
            <a:ext cx="4114800" cy="164592"/>
          </a:xfrm>
          <a:prstGeom prst="rect">
            <a:avLst/>
          </a:prstGeom>
          <a:solidFill>
            <a:srgbClr val="E6E8EC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57400" y="4160520"/>
            <a:ext cx="167757" cy="164592"/>
          </a:xfrm>
          <a:prstGeom prst="rect">
            <a:avLst/>
          </a:prstGeom>
          <a:solidFill>
            <a:srgbClr val="79C7F2"/>
          </a:solidFill>
          <a:ln w="12700">
            <a:solidFill>
              <a:srgbClr val="79C7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39826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 rx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057400" y="4416552"/>
            <a:ext cx="4114800" cy="164592"/>
          </a:xfrm>
          <a:prstGeom prst="rect">
            <a:avLst/>
          </a:prstGeom>
          <a:solidFill>
            <a:srgbClr val="E6E8EC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57400" y="4416552"/>
            <a:ext cx="243147" cy="164592"/>
          </a:xfrm>
          <a:prstGeom prst="rect">
            <a:avLst/>
          </a:prstGeom>
          <a:solidFill>
            <a:srgbClr val="79C7F2"/>
          </a:solidFill>
          <a:ln w="12700">
            <a:solidFill>
              <a:srgbClr val="79C7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85546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 sp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057400" y="4873752"/>
            <a:ext cx="4114800" cy="164592"/>
          </a:xfrm>
          <a:prstGeom prst="rect">
            <a:avLst/>
          </a:prstGeom>
          <a:solidFill>
            <a:srgbClr val="E6E8EC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57400" y="4873752"/>
            <a:ext cx="167757" cy="164592"/>
          </a:xfrm>
          <a:prstGeom prst="rect">
            <a:avLst/>
          </a:prstGeom>
          <a:solidFill>
            <a:srgbClr val="69D1B5"/>
          </a:solidFill>
          <a:ln w="12700">
            <a:solidFill>
              <a:srgbClr val="69D1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11149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 rx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057400" y="5129784"/>
            <a:ext cx="4114800" cy="164592"/>
          </a:xfrm>
          <a:prstGeom prst="rect">
            <a:avLst/>
          </a:prstGeom>
          <a:solidFill>
            <a:srgbClr val="E6E8EC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57400" y="5129784"/>
            <a:ext cx="243147" cy="164592"/>
          </a:xfrm>
          <a:prstGeom prst="rect">
            <a:avLst/>
          </a:prstGeom>
          <a:solidFill>
            <a:srgbClr val="69D1B5"/>
          </a:solidFill>
          <a:ln w="12700">
            <a:solidFill>
              <a:srgbClr val="69D1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56869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 sp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057400" y="5586984"/>
            <a:ext cx="4114800" cy="164592"/>
          </a:xfrm>
          <a:prstGeom prst="rect">
            <a:avLst/>
          </a:prstGeom>
          <a:solidFill>
            <a:srgbClr val="E6E8EC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57400" y="5586984"/>
            <a:ext cx="4013513" cy="164592"/>
          </a:xfrm>
          <a:prstGeom prst="rect">
            <a:avLst/>
          </a:prstGeom>
          <a:solidFill>
            <a:srgbClr val="F6B26B"/>
          </a:solidFill>
          <a:ln w="12700">
            <a:solidFill>
              <a:srgbClr val="F6B2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58247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 rx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057400" y="5843016"/>
            <a:ext cx="4114800" cy="164592"/>
          </a:xfrm>
          <a:prstGeom prst="rect">
            <a:avLst/>
          </a:prstGeom>
          <a:solidFill>
            <a:srgbClr val="E6E8EC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57400" y="5843016"/>
            <a:ext cx="3992104" cy="164592"/>
          </a:xfrm>
          <a:prstGeom prst="rect">
            <a:avLst/>
          </a:prstGeom>
          <a:solidFill>
            <a:srgbClr val="F6B26B"/>
          </a:solidFill>
          <a:ln w="12700">
            <a:solidFill>
              <a:srgbClr val="F6B2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6217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Case Aは “gri30下限＋α（Si/F/N系）” を含む拡張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46520" y="3611880"/>
            <a:ext cx="5242255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共通KPI（妥当性）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492240" y="4005072"/>
            <a:ext cx="1463040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成膜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092440" y="4005072"/>
            <a:ext cx="1463040" cy="310896"/>
          </a:xfrm>
          <a:prstGeom prst="rect">
            <a:avLst/>
          </a:prstGeom>
          <a:solidFill>
            <a:srgbClr val="0AA6A6"/>
          </a:solidFill>
          <a:ln w="12700">
            <a:solidFill>
              <a:srgbClr val="0AA6A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膜組成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692640" y="4005072"/>
            <a:ext cx="1463040" cy="31089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副生成物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492240" y="4370832"/>
            <a:ext cx="1463040" cy="310896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θ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092440" y="4370832"/>
            <a:ext cx="1463040" cy="31089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位相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692640" y="4370832"/>
            <a:ext cx="1463040" cy="310896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保存則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629400" y="4800600"/>
            <a:ext cx="4876495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評価の基本：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(1) 多条件スイープで “ずれない”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(2) 位相別（ALD）で誤差を分解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(3) 元素保存・サイト収支を厳密化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C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 A：Si₃N₄成膜ベンチ（拡張）の詳細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658368"/>
            <a:ext cx="1109441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76656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公式SiF₄/NH₃成膜モデル（gas+surface+bulk）を核に、gas import と surface 多サイト化で拡張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566928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プロセス像（概念図）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389888"/>
            <a:ext cx="5669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874520"/>
            <a:ext cx="4663440" cy="96012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79C7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971800"/>
            <a:ext cx="4663440" cy="640080"/>
          </a:xfrm>
          <a:prstGeom prst="roundRect">
            <a:avLst/>
          </a:prstGeom>
          <a:solidFill>
            <a:srgbClr val="EAF7F2"/>
          </a:solidFill>
          <a:ln w="12700">
            <a:solidFill>
              <a:srgbClr val="69D1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749040"/>
            <a:ext cx="4663440" cy="50292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F6B2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993392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気相（PFR/CSTR）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SiF₄,NH₃ → フラグメント/副生成物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308152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表面（SI₃N₄）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吸着・反応・脱離（θ）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384962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堆積相（膜）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Si₃N₄成長フラックス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4407408"/>
            <a:ext cx="4663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449884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多サイト化（同型複製）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280160" y="4800600"/>
            <a:ext cx="960120" cy="1325880"/>
          </a:xfrm>
          <a:prstGeom prst="roundRect">
            <a:avLst/>
          </a:prstGeom>
          <a:solidFill>
            <a:srgbClr val="EAF7F2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491947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T-site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516636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ν_s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31720" y="4800600"/>
            <a:ext cx="960120" cy="1325880"/>
          </a:xfrm>
          <a:prstGeom prst="roundRect">
            <a:avLst/>
          </a:prstGeom>
          <a:solidFill>
            <a:srgbClr val="E7F4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491947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S-site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31720" y="516636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ν_s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4800600"/>
            <a:ext cx="960120" cy="132588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491947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K-site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516636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ν_s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34840" y="4800600"/>
            <a:ext cx="960120" cy="1325880"/>
          </a:xfrm>
          <a:prstGeom prst="roundRect">
            <a:avLst/>
          </a:prstGeom>
          <a:solidFill>
            <a:srgbClr val="F7EAF7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491947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D-site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34840" y="516636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ν_s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1024128"/>
            <a:ext cx="5425135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想定状態種・反応種（例：カテゴリ）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1417320"/>
            <a:ext cx="5425135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【気相】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前駆体・共反応剤・希釈/キャリア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分解フラグメント（SiFₓ, NHᵧ 等）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ラジカル（F, NH₂ 等）と再結合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副生成物（HF, N₂, H₂…）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【表面】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空サイト *、終端種 *H / *F 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吸着中間体 *SiFₓ, *NHₓ, *Si–N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脱離（HF等）／成膜（bulk生成）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63640" y="4846320"/>
            <a:ext cx="5425135" cy="1618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919472"/>
            <a:ext cx="50593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モデル式（代表）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46520" y="5166360"/>
            <a:ext cx="505937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ω̇ = ν · r(x,T,P)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θ̇ = ν_s · r_s(θ,x,T)  with  ∑θ_i = 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堆積:  G = ∫ ω̇_deposit(t) dt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C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 A：縮退の入力データ（多条件・位相別）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658368"/>
            <a:ext cx="1109441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76656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Cantera実行結果から “行列・グラフ” を構築し、階層性解析とマージ学習へ接続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生成するデータと用途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844040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38400" y="1417320"/>
            <a:ext cx="1844040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82440" y="1417320"/>
            <a:ext cx="1844040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縮退での役割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x_i(t)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38400" y="182880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気相濃度/モル分率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82440" y="182880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位相別特徴量・誤差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2240280"/>
            <a:ext cx="1844040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θ_k(t)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38400" y="2240280"/>
            <a:ext cx="1844040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表面被覆率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82440" y="2240280"/>
            <a:ext cx="1844040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サイト収支・安定性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265176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r_j(t)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38400" y="265176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rate of progress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82440" y="265176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重要度/フラックス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3063240"/>
            <a:ext cx="1844040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ν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38400" y="3063240"/>
            <a:ext cx="1844040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化学量論行列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82440" y="3063240"/>
            <a:ext cx="1844040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保存則 Aν=0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" y="347472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F(t)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438400" y="347472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種→種フラックス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82440" y="347472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lumpability/クラスタ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" y="3840480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行列化（例）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27939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種生成速度：ω̇(t) = ν · r(t)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7240" y="459028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集約（マージ）：y = Sᵀx,   ẏ = Sᵀνr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4901184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フラックス例：F_{i→k}(t)=Σ_j[−min(ν_{ij},0)][max(ν_{kj},0)]r_j(t)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523036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F̄（位相別に積分したフラックス）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" y="5550408"/>
            <a:ext cx="719763" cy="194310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15291" y="5550408"/>
            <a:ext cx="719763" cy="194310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53343" y="5550408"/>
            <a:ext cx="719763" cy="194310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91394" y="5550408"/>
            <a:ext cx="719763" cy="194310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29446" y="5550408"/>
            <a:ext cx="719763" cy="194310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67497" y="5550408"/>
            <a:ext cx="719763" cy="194310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05549" y="5550408"/>
            <a:ext cx="719763" cy="194310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763006"/>
            <a:ext cx="719763" cy="194310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15291" y="5763006"/>
            <a:ext cx="719763" cy="194310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53343" y="5763006"/>
            <a:ext cx="719763" cy="194310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91394" y="5763006"/>
            <a:ext cx="719763" cy="194310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29446" y="5763006"/>
            <a:ext cx="719763" cy="194310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67497" y="5763006"/>
            <a:ext cx="719763" cy="194310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05549" y="5763006"/>
            <a:ext cx="719763" cy="194310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7240" y="5975604"/>
            <a:ext cx="719763" cy="194310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15291" y="5975604"/>
            <a:ext cx="719763" cy="194310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53343" y="5975604"/>
            <a:ext cx="719763" cy="194310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91394" y="5975604"/>
            <a:ext cx="719763" cy="194310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29446" y="5975604"/>
            <a:ext cx="719763" cy="194310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67497" y="5975604"/>
            <a:ext cx="719763" cy="194310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05549" y="5975604"/>
            <a:ext cx="719763" cy="194310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77240" y="6188202"/>
            <a:ext cx="719763" cy="194310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515291" y="6188202"/>
            <a:ext cx="719763" cy="194310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53343" y="6188202"/>
            <a:ext cx="719763" cy="194310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91394" y="6188202"/>
            <a:ext cx="719763" cy="194310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29446" y="6188202"/>
            <a:ext cx="719763" cy="194310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67497" y="6188202"/>
            <a:ext cx="719763" cy="194310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205549" y="6188202"/>
            <a:ext cx="719763" cy="194310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46520" y="1024128"/>
            <a:ext cx="5242255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位相別（ALD）での特徴量化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629400" y="1417320"/>
            <a:ext cx="48764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pulse → purge → pulse → purge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629400" y="1783080"/>
            <a:ext cx="1200836" cy="292608"/>
          </a:xfrm>
          <a:prstGeom prst="rect">
            <a:avLst/>
          </a:prstGeom>
          <a:solidFill>
            <a:srgbClr val="EAF4FF"/>
          </a:solidFill>
          <a:ln w="12700">
            <a:solidFill>
              <a:srgbClr val="E6E8E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pulse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848524" y="1783080"/>
            <a:ext cx="1200836" cy="292608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purge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067648" y="1783080"/>
            <a:ext cx="1200836" cy="292608"/>
          </a:xfrm>
          <a:prstGeom prst="rect">
            <a:avLst/>
          </a:prstGeom>
          <a:solidFill>
            <a:srgbClr val="EAF4FF"/>
          </a:solidFill>
          <a:ln w="12700">
            <a:solidFill>
              <a:srgbClr val="E6E8E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pulse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0286771" y="1783080"/>
            <a:ext cx="1200836" cy="292608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purge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446520" y="2560320"/>
            <a:ext cx="524225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位相ごとに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統計量（max/∫/peak time）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重要度（F̄_phase）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を別に計算 → 学習が安定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446520" y="3749040"/>
            <a:ext cx="5242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位相別ネットワーク（F̄_pulse / F̄_purge）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446520" y="4069080"/>
            <a:ext cx="730606" cy="57607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95414" y="4069080"/>
            <a:ext cx="730606" cy="57607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44307" y="4069080"/>
            <a:ext cx="730606" cy="57607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93201" y="4069080"/>
            <a:ext cx="730606" cy="57607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42094" y="4069080"/>
            <a:ext cx="730606" cy="57607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190988" y="4069080"/>
            <a:ext cx="730606" cy="57607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939882" y="4069080"/>
            <a:ext cx="730606" cy="57607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446520" y="4663440"/>
            <a:ext cx="730606" cy="57607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95414" y="4663440"/>
            <a:ext cx="730606" cy="57607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44307" y="4663440"/>
            <a:ext cx="730606" cy="57607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693201" y="4663440"/>
            <a:ext cx="730606" cy="57607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442094" y="4663440"/>
            <a:ext cx="730606" cy="57607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190988" y="4663440"/>
            <a:ext cx="730606" cy="57607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939882" y="4663440"/>
            <a:ext cx="730606" cy="57607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46520" y="5257800"/>
            <a:ext cx="730606" cy="57607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195414" y="5257800"/>
            <a:ext cx="730606" cy="57607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944307" y="5257800"/>
            <a:ext cx="730606" cy="57607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693201" y="5257800"/>
            <a:ext cx="730606" cy="57607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442094" y="5257800"/>
            <a:ext cx="730606" cy="57607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190988" y="5257800"/>
            <a:ext cx="730606" cy="57607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939882" y="5257800"/>
            <a:ext cx="730606" cy="57607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446520" y="5852160"/>
            <a:ext cx="730606" cy="57607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195414" y="5852160"/>
            <a:ext cx="730606" cy="57607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944307" y="5852160"/>
            <a:ext cx="730606" cy="57607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693201" y="5852160"/>
            <a:ext cx="730606" cy="57607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442094" y="5852160"/>
            <a:ext cx="730606" cy="57607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190988" y="5852160"/>
            <a:ext cx="730606" cy="57607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939882" y="5852160"/>
            <a:ext cx="730606" cy="57607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C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 A：妥当性評価（KPI）と数式（位相別）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658368"/>
            <a:ext cx="1109441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76656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縮退後も “膜成長・副生成物・θ” を維持しつつ、反応数/状態数を最小化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KPI（例）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572768"/>
            <a:ext cx="1463040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1572768"/>
            <a:ext cx="1463040" cy="310896"/>
          </a:xfrm>
          <a:prstGeom prst="rect">
            <a:avLst/>
          </a:prstGeom>
          <a:solidFill>
            <a:srgbClr val="0AA6A6"/>
          </a:solidFill>
          <a:ln w="12700">
            <a:solidFill>
              <a:srgbClr val="0AA6A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膜組成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77640" y="1572768"/>
            <a:ext cx="1463040" cy="31089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副生成物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993392"/>
            <a:ext cx="1463040" cy="310896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5166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成膜フラックス：G = ∫ ω̇_deposit(t) dt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副生成物流量：∫ y_HF(t) dt など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表面：θ(t) の位相別誤差（pulse/purge）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383280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評価関数（例）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𝓛 = Σ_case Σ_phase w_p ||y_p(t) − ŷ_p(t)||²  +  λ_R·||z||₀  +  λ_S·||S||₀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160520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制約：A·ν_red = 0（元素保存）,  ∑θ=1（サイト）,  x≥0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498848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Pareto（概念）：縮退率↑ vs 誤差↑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5840" y="6217920"/>
            <a:ext cx="4846320" cy="0"/>
          </a:xfrm>
          <a:prstGeom prst="line">
            <a:avLst/>
          </a:prstGeom>
          <a:noFill/>
          <a:ln w="12700">
            <a:solidFill>
              <a:srgbClr val="B9C0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4800600"/>
            <a:ext cx="0" cy="1417320"/>
          </a:xfrm>
          <a:prstGeom prst="line">
            <a:avLst/>
          </a:prstGeom>
          <a:noFill/>
          <a:ln w="12700">
            <a:solidFill>
              <a:srgbClr val="B9C0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77924" y="4958334"/>
            <a:ext cx="109728" cy="109728"/>
          </a:xfrm>
          <a:prstGeom prst="ellipse">
            <a:avLst/>
          </a:prstGeom>
          <a:solidFill>
            <a:srgbClr val="79C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47188" y="5170932"/>
            <a:ext cx="109728" cy="109728"/>
          </a:xfrm>
          <a:prstGeom prst="ellipse">
            <a:avLst/>
          </a:prstGeom>
          <a:solidFill>
            <a:srgbClr val="F6B2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6452" y="5341010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85716" y="5525262"/>
            <a:ext cx="109728" cy="109728"/>
          </a:xfrm>
          <a:prstGeom prst="ellipse">
            <a:avLst/>
          </a:prstGeom>
          <a:solidFill>
            <a:srgbClr val="D35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1024128"/>
            <a:ext cx="5242255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数式（反応速度論）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29400" y="1554480"/>
            <a:ext cx="487649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気相（質量作用）： r_j = k_j(T)·∏_i x_i^{ν^-_{ij}}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Arrhenius： k(T)=A·T^b·exp(−E_a/RT)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表面（sticking例）： r = s(T)·Γ·p_A/√(2πmRT)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サイト： ∑_k θ_k = 1,  0 ≤ θ_k ≤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保存則： A·ν = 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4754880"/>
            <a:ext cx="52422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制約の可視化（元素×種, サイト×被覆率）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46520" y="5074920"/>
            <a:ext cx="730606" cy="32918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95414" y="5074920"/>
            <a:ext cx="730606" cy="32918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44307" y="5074920"/>
            <a:ext cx="730606" cy="32918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93201" y="5074920"/>
            <a:ext cx="730606" cy="32918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42094" y="5074920"/>
            <a:ext cx="730606" cy="32918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90988" y="5074920"/>
            <a:ext cx="730606" cy="32918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39882" y="5074920"/>
            <a:ext cx="730606" cy="32918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5422392"/>
            <a:ext cx="730606" cy="32918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95414" y="5422392"/>
            <a:ext cx="730606" cy="32918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44307" y="5422392"/>
            <a:ext cx="730606" cy="32918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93201" y="5422392"/>
            <a:ext cx="730606" cy="32918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442094" y="5422392"/>
            <a:ext cx="730606" cy="32918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90988" y="5422392"/>
            <a:ext cx="730606" cy="32918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39882" y="5422392"/>
            <a:ext cx="730606" cy="32918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46520" y="5769864"/>
            <a:ext cx="730606" cy="32918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95414" y="5769864"/>
            <a:ext cx="730606" cy="32918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44307" y="5769864"/>
            <a:ext cx="730606" cy="32918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93201" y="5769864"/>
            <a:ext cx="730606" cy="32918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42094" y="5769864"/>
            <a:ext cx="730606" cy="32918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90988" y="5769864"/>
            <a:ext cx="730606" cy="32918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39882" y="5769864"/>
            <a:ext cx="730606" cy="32918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46520" y="6117336"/>
            <a:ext cx="730606" cy="32918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95414" y="6117336"/>
            <a:ext cx="730606" cy="32918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44307" y="6117336"/>
            <a:ext cx="730606" cy="32918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93201" y="6117336"/>
            <a:ext cx="730606" cy="32918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442094" y="6117336"/>
            <a:ext cx="730606" cy="32918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190988" y="6117336"/>
            <a:ext cx="730606" cy="32918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939882" y="6117336"/>
            <a:ext cx="730606" cy="32918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C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 B：Diamond CVD（拡張）— 状態種と反応種の具体像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658368"/>
            <a:ext cx="1109441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76656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diamond.yamlの反応概念（H抽出/CH₃付加/再終端）を保ちつつ、同型反応群を増やす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状態種（例）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5166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【気相】H₂, H, CH₄, CH₃ …（gri30により拡張成分も含む）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【表面】*（空サイト）, *H（終端）, *（ラジカルサイト）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同型複製：T_* / S_* / K_* のように “サイト族” を増殖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749040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反応種（例：素過程）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206240"/>
            <a:ext cx="51663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1) H抽出：   *H + H → * + H₂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2) CH₃付加： * + CH₃ → *CH₃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3) β脱離/再終端： *CH₃ → *H + (成長種)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4) 堆積：    (成長種) → C_bulk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1024128"/>
            <a:ext cx="5242255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同型反応群（多サイト）の視覚化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0" y="1691640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93153" y="1691640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9746" y="1691640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46338" y="1691640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72931" y="1691640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99524" y="1691640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26117" y="1691640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52710" y="1691640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9302" y="1691640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2039112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93153" y="2039112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9746" y="2039112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46338" y="2039112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72931" y="2039112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99524" y="2039112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26117" y="2039112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52710" y="2039112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9302" y="2039112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0" y="2386584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93153" y="2386584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19746" y="2386584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46338" y="2386584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72931" y="2386584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99524" y="2386584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26117" y="2386584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52710" y="2386584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79302" y="2386584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66560" y="2734056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93153" y="2734056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19746" y="2734056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46338" y="2734056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72931" y="2734056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99524" y="2734056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926117" y="2734056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452710" y="2734056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79302" y="2734056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66560" y="3081528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93153" y="3081528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19746" y="3081528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46338" y="3081528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72931" y="3081528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99524" y="3081528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926117" y="3081528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452710" y="3081528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979302" y="3081528"/>
            <a:ext cx="73152" cy="73152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66560" y="3611880"/>
            <a:ext cx="1051560" cy="347472"/>
          </a:xfrm>
          <a:prstGeom prst="rect">
            <a:avLst/>
          </a:prstGeom>
          <a:solidFill>
            <a:srgbClr val="E7F4FF"/>
          </a:solidFill>
          <a:ln w="12700">
            <a:solidFill>
              <a:srgbClr val="E6E8EC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T-site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955280" y="3685032"/>
            <a:ext cx="34134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同型反応 × 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766560" y="4050792"/>
            <a:ext cx="1051560" cy="347472"/>
          </a:xfrm>
          <a:prstGeom prst="rect">
            <a:avLst/>
          </a:prstGeom>
          <a:solidFill>
            <a:srgbClr val="EAF7F2"/>
          </a:solidFill>
          <a:ln w="12700">
            <a:solidFill>
              <a:srgbClr val="E6E8EC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S-site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955280" y="4123944"/>
            <a:ext cx="34134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同型反応 × N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766560" y="4489704"/>
            <a:ext cx="1051560" cy="347472"/>
          </a:xfrm>
          <a:prstGeom prst="rect">
            <a:avLst/>
          </a:prstGeom>
          <a:solidFill>
            <a:srgbClr val="FFF4E6"/>
          </a:solidFill>
          <a:ln w="12700">
            <a:solidFill>
              <a:srgbClr val="E6E8EC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K-site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955280" y="4562856"/>
            <a:ext cx="34134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同型反応 × N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766560" y="5010912"/>
            <a:ext cx="4739335" cy="141732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規模（実測）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gas: 53 species / 325 reactions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surface: 24 species / 60 reactions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“同型群” はマージで強く圧縮できる（ただしθ/サイトを壊すと破綻）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C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 B：pyMARS（削除） vs 提案手法（削除＋マージ）の有用性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658368"/>
            <a:ext cx="1109441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76656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表面を含む成膜では「削るだけ」より “まとめる（マージ）＋制約” が効く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比較の視点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844040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38400" y="1417320"/>
            <a:ext cx="1844040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pyMARS（DRGEP/PFA）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82440" y="1417320"/>
            <a:ext cx="1844040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本コード（提案）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38400" y="182880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主に気相のskeletal（削除）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82440" y="182880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気相＋表面＋任意状態（マージ）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2240280"/>
            <a:ext cx="1844040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表面サイト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38400" y="2240280"/>
            <a:ext cx="1844040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直接の扱いが弱い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82440" y="2240280"/>
            <a:ext cx="1844040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∑θ=1, 0≤θ≤1 を制約内蔵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265176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同型群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38400" y="265176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削除のみ→残りが多い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82440" y="265176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Pooling/マージで同型群を集約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3063240"/>
            <a:ext cx="1844040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妥当性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38400" y="3063240"/>
            <a:ext cx="1844040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IDT等の燃焼KPI中心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82440" y="3063240"/>
            <a:ext cx="1844040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成膜フラックス/θ/副生成物を直接評価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" y="3703320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技術箇所（Case Bで効く）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160520"/>
            <a:ext cx="51663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S（割当行列）学習：同型表面種を同クラスタへ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lumpability：外向きフラックス分布が近いほどマージ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ANN-hard射影：θや元素保存を厳密に満たす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位相別特徴量：ALD/パルスに拡張可能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1024128"/>
            <a:ext cx="5242255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処理フロー（Case B）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1417320"/>
            <a:ext cx="25068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81948" y="1417320"/>
            <a:ext cx="25068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本コード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1691640"/>
            <a:ext cx="2369668" cy="5029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状態点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サンプリング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2331720"/>
            <a:ext cx="2369668" cy="5029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DRGEP/PFA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重要度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92240" y="2971800"/>
            <a:ext cx="2369668" cy="5029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削除（trim）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40" y="3611880"/>
            <a:ext cx="2369668" cy="5029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再計算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誤差確認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227668" y="1691640"/>
            <a:ext cx="2369668" cy="50292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多条件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Cantera実行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227668" y="2331720"/>
            <a:ext cx="2369668" cy="502920"/>
          </a:xfrm>
          <a:prstGeom prst="rect">
            <a:avLst/>
          </a:prstGeom>
          <a:solidFill>
            <a:srgbClr val="0AA6A6"/>
          </a:solidFill>
          <a:ln w="12700">
            <a:solidFill>
              <a:srgbClr val="0AA6A6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行列化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(ν,F,感度)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227668" y="2971800"/>
            <a:ext cx="2369668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削除＋マージ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(S学習)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227668" y="3611880"/>
            <a:ext cx="236966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制約＋KPI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（成膜/θ）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46520" y="4297680"/>
            <a:ext cx="52422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差分：表面を壊さない（θ/サイト） + 同型群を集約（マージ）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C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 C：炭素膜CVD（超大規模）— gas≥100 / rxn≥500 のスケール試験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658368"/>
            <a:ext cx="1109441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76656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n-hexane NUIG 2015（example_data）をgasに採用し、剛性・計算性能・縮退探索の限界を押し上げる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構成（Cantera入力の考え方）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2788920" cy="68580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gas: example_data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n-hexane-NUIG-2015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(species=1268)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20440" y="2029968"/>
            <a:ext cx="228600" cy="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749040" y="1691640"/>
            <a:ext cx="2240280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surface: 合成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(4サイト族)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rxn=100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2423160"/>
            <a:ext cx="0" cy="50292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749040" y="2926080"/>
            <a:ext cx="224028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bulk: C_bulk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堆積フラックス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5257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大規模gasでの前処理（prune/重要度）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表面の制約（θ/サイト）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成膜KPIを維持した縮退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1024128"/>
            <a:ext cx="5242255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規模（公表値）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1417320"/>
            <a:ext cx="4876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gas: 1268 species / 5336 reactions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surface: 40 species / 100 reactions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2057400"/>
            <a:ext cx="48764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目的：縮退探索（Pareto）と計算性能の比較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（pyMARS・GNN・SINDy等の限界評価）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3611880"/>
            <a:ext cx="5242255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剛性・前処理（概念）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3977640"/>
            <a:ext cx="4876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大規模ODE：J=∂ω̇/∂x が巨大・疎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前処理（preconditioning）で反復解法を安定化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0840" y="4709160"/>
            <a:ext cx="4693615" cy="164592"/>
          </a:xfrm>
          <a:prstGeom prst="rect">
            <a:avLst/>
          </a:prstGeom>
          <a:solidFill>
            <a:srgbClr val="E6E8EC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4709160"/>
            <a:ext cx="1642765" cy="164592"/>
          </a:xfrm>
          <a:prstGeom prst="rect">
            <a:avLst/>
          </a:prstGeom>
          <a:solidFill>
            <a:srgbClr val="F6B26B"/>
          </a:solidFill>
          <a:ln w="12700">
            <a:solidFill>
              <a:srgbClr val="F6B2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45079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55045" y="45079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前処理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4983480"/>
            <a:ext cx="48764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（概念）反復回数↓ → 計算時間↓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5257800"/>
            <a:ext cx="48764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疎行列（J, ν, F）のイメージ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29400" y="5577840"/>
            <a:ext cx="678354" cy="18745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26042" y="5577840"/>
            <a:ext cx="678354" cy="18745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22684" y="5577840"/>
            <a:ext cx="678354" cy="18745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19327" y="5577840"/>
            <a:ext cx="678354" cy="18745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15969" y="5577840"/>
            <a:ext cx="678354" cy="18745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12611" y="5577840"/>
            <a:ext cx="678354" cy="18745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09253" y="5577840"/>
            <a:ext cx="678354" cy="18745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5783580"/>
            <a:ext cx="678354" cy="18745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26042" y="5783580"/>
            <a:ext cx="678354" cy="18745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22684" y="5783580"/>
            <a:ext cx="678354" cy="18745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19327" y="5783580"/>
            <a:ext cx="678354" cy="18745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15969" y="5783580"/>
            <a:ext cx="678354" cy="18745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12611" y="5783580"/>
            <a:ext cx="678354" cy="18745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09253" y="5783580"/>
            <a:ext cx="678354" cy="18745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29400" y="5989320"/>
            <a:ext cx="678354" cy="18745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26042" y="5989320"/>
            <a:ext cx="678354" cy="18745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22684" y="5989320"/>
            <a:ext cx="678354" cy="18745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19327" y="5989320"/>
            <a:ext cx="678354" cy="18745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15969" y="5989320"/>
            <a:ext cx="678354" cy="18745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12611" y="5989320"/>
            <a:ext cx="678354" cy="18745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09253" y="5989320"/>
            <a:ext cx="678354" cy="18745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29400" y="6195060"/>
            <a:ext cx="678354" cy="18745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26042" y="6195060"/>
            <a:ext cx="678354" cy="18745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22684" y="6195060"/>
            <a:ext cx="678354" cy="18745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19327" y="6195060"/>
            <a:ext cx="678354" cy="18745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415969" y="6195060"/>
            <a:ext cx="678354" cy="18745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112611" y="6195060"/>
            <a:ext cx="678354" cy="18745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809253" y="6195060"/>
            <a:ext cx="678354" cy="18745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C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 C：合成surface（4サイト族）— マージ/制約のテストベッド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658368"/>
            <a:ext cx="1109441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76656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“物理形” を崩さずに反応網を大きくする：サイト族（T/S/K/D）× 同型反応セット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サイト族と状態種（例）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5166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各サイト族ごとに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空サイト X_?(s)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H終端 H_?(s)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CH₃, CH₂, CH などの吸着種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堆積前駆（C*）→ C_bulk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1234440" cy="868680"/>
          </a:xfrm>
          <a:prstGeom prst="rect">
            <a:avLst/>
          </a:prstGeom>
          <a:solidFill>
            <a:srgbClr val="E7F4FF"/>
          </a:solidFill>
          <a:ln w="12700">
            <a:solidFill>
              <a:srgbClr val="E6E8EC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T-site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同型反応群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3063240"/>
            <a:ext cx="1234440" cy="868680"/>
          </a:xfrm>
          <a:prstGeom prst="rect">
            <a:avLst/>
          </a:prstGeom>
          <a:solidFill>
            <a:srgbClr val="EAF7F2"/>
          </a:solidFill>
          <a:ln w="12700">
            <a:solidFill>
              <a:srgbClr val="E6E8EC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S-site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同型反応群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3063240"/>
            <a:ext cx="1234440" cy="868680"/>
          </a:xfrm>
          <a:prstGeom prst="rect">
            <a:avLst/>
          </a:prstGeom>
          <a:solidFill>
            <a:srgbClr val="FFF4E6"/>
          </a:solidFill>
          <a:ln w="12700">
            <a:solidFill>
              <a:srgbClr val="E6E8EC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K-site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同型反応群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3063240"/>
            <a:ext cx="1234440" cy="868680"/>
          </a:xfrm>
          <a:prstGeom prst="rect">
            <a:avLst/>
          </a:prstGeom>
          <a:solidFill>
            <a:srgbClr val="F7EAF7"/>
          </a:solidFill>
          <a:ln w="12700">
            <a:solidFill>
              <a:srgbClr val="E6E8EC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D-site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同型反応群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4315968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代表反応（例）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773168"/>
            <a:ext cx="5166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吸着:   CH₄ + X_T(s) → CH₃_T(s) + 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成長:   CH₃_T(s) → C_bulk + H_T(s)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再終端: H + X_T(s) → H_T(s)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（同様にS/K/Dへ複製 → マージ対象が明確）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1024128"/>
            <a:ext cx="5242255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縮退で難しい点（Case C）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508760"/>
            <a:ext cx="487649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gasが超大規模：重要度/剪定の前処理が必須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surfaceはサイト制約が強い（θの誤差が致命的）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同型群は「削除」より「マージ」が効く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成膜KPIは積分量（∫）→ 位相・長時間で誤差が蓄積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3429000"/>
            <a:ext cx="48764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gas+surface 結合ネットワーク（イメージ）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29400" y="3749040"/>
            <a:ext cx="678354" cy="64465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26042" y="3749040"/>
            <a:ext cx="678354" cy="64465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2684" y="3749040"/>
            <a:ext cx="678354" cy="64465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19327" y="3749040"/>
            <a:ext cx="678354" cy="64465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5969" y="3749040"/>
            <a:ext cx="678354" cy="64465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12611" y="3749040"/>
            <a:ext cx="678354" cy="64465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09253" y="3749040"/>
            <a:ext cx="678354" cy="64465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4411980"/>
            <a:ext cx="678354" cy="64465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26042" y="4411980"/>
            <a:ext cx="678354" cy="64465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22684" y="4411980"/>
            <a:ext cx="678354" cy="64465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19327" y="4411980"/>
            <a:ext cx="678354" cy="64465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15969" y="4411980"/>
            <a:ext cx="678354" cy="64465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12611" y="4411980"/>
            <a:ext cx="678354" cy="64465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09253" y="4411980"/>
            <a:ext cx="678354" cy="64465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5074920"/>
            <a:ext cx="678354" cy="64465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26042" y="5074920"/>
            <a:ext cx="678354" cy="64465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22684" y="5074920"/>
            <a:ext cx="678354" cy="64465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19327" y="5074920"/>
            <a:ext cx="678354" cy="64465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15969" y="5074920"/>
            <a:ext cx="678354" cy="64465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12611" y="5074920"/>
            <a:ext cx="678354" cy="64465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09253" y="5074920"/>
            <a:ext cx="678354" cy="64465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29400" y="5737860"/>
            <a:ext cx="678354" cy="64465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26042" y="5737860"/>
            <a:ext cx="678354" cy="64465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22684" y="5737860"/>
            <a:ext cx="678354" cy="64465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19327" y="5737860"/>
            <a:ext cx="678354" cy="64465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15969" y="5737860"/>
            <a:ext cx="678354" cy="64465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12611" y="5737860"/>
            <a:ext cx="678354" cy="64465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09253" y="5737860"/>
            <a:ext cx="678354" cy="64465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C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比較ベースライン：pyMARS（DRG/DRGEP/PFA/SA）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658368"/>
            <a:ext cx="1109441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76656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skeletal reduction（削除中心）の代表。成膜KPIに合わせた評価器で “公平に” 比較する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pyMARSの基本フロー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1737360" cy="5029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サンプリング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14600" y="1847088"/>
            <a:ext cx="228600" cy="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743200" y="1600200"/>
            <a:ext cx="1737360" cy="5029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DRGEP/PFA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重要度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847088"/>
            <a:ext cx="228600" cy="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709160" y="1600200"/>
            <a:ext cx="1737360" cy="5029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trim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（削除）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2176272"/>
            <a:ext cx="0" cy="338328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709160" y="2514600"/>
            <a:ext cx="1737360" cy="5029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誤差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チェック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15468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本プロジェクトでは、誤差指標を「成膜KPI」へ置換して比較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977640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理論式（DRGEP/PFAの要点）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407408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直接関係（例）：R_{AB} = max_j |ν_{A j} ω_j| / Σ_j |ν_{A j} ω_j| （概念）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75488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DRGEP：関係の積で “到達可能性” を評価し、閾値εで削除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504748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PFA：フラックス（反応進行）に基づくグラフ探索で重要種を残す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53766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重要度行列/グラフ（概念）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5696712"/>
            <a:ext cx="719763" cy="15773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15291" y="5696712"/>
            <a:ext cx="719763" cy="15773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53343" y="5696712"/>
            <a:ext cx="719763" cy="15773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91394" y="5696712"/>
            <a:ext cx="719763" cy="15773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9446" y="5696712"/>
            <a:ext cx="719763" cy="15773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67497" y="5696712"/>
            <a:ext cx="719763" cy="15773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05549" y="5696712"/>
            <a:ext cx="719763" cy="15773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872734"/>
            <a:ext cx="719763" cy="15773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15291" y="5872734"/>
            <a:ext cx="719763" cy="15773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53343" y="5872734"/>
            <a:ext cx="719763" cy="15773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91394" y="5872734"/>
            <a:ext cx="719763" cy="15773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9446" y="5872734"/>
            <a:ext cx="719763" cy="15773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67497" y="5872734"/>
            <a:ext cx="719763" cy="15773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05549" y="5872734"/>
            <a:ext cx="719763" cy="15773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6048756"/>
            <a:ext cx="719763" cy="15773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15291" y="6048756"/>
            <a:ext cx="719763" cy="15773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53343" y="6048756"/>
            <a:ext cx="719763" cy="15773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91394" y="6048756"/>
            <a:ext cx="719763" cy="15773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29446" y="6048756"/>
            <a:ext cx="719763" cy="15773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67497" y="6048756"/>
            <a:ext cx="719763" cy="15773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05549" y="6048756"/>
            <a:ext cx="719763" cy="15773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240" y="6224778"/>
            <a:ext cx="719763" cy="15773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15291" y="6224778"/>
            <a:ext cx="719763" cy="15773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53343" y="6224778"/>
            <a:ext cx="719763" cy="15773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91394" y="6224778"/>
            <a:ext cx="719763" cy="15773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29446" y="6224778"/>
            <a:ext cx="719763" cy="15773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67497" y="6224778"/>
            <a:ext cx="719763" cy="15773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05549" y="6224778"/>
            <a:ext cx="719763" cy="15773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1024128"/>
            <a:ext cx="5242255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成膜（CVD/ALD）での限界点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629400" y="1508760"/>
            <a:ext cx="487649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削除のみ：同型群が多いと “残りすぎる”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表面：θ/サイト収支を壊すと不安定化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位相（ALD）：支配反応が切替→単一重要度が難しい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KPIが積分量（成膜/GPC）：小誤差が蓄積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比較では「成膜KPI誤差」を評価軸に置き換える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583680" y="3657600"/>
            <a:ext cx="49222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gas-only削除 vs gas+surface+merge のギャップ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583680" y="3977640"/>
            <a:ext cx="684886" cy="59893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86854" y="3977640"/>
            <a:ext cx="684886" cy="59893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90027" y="3977640"/>
            <a:ext cx="684886" cy="59893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693201" y="3977640"/>
            <a:ext cx="684886" cy="59893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396374" y="3977640"/>
            <a:ext cx="684886" cy="59893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099548" y="3977640"/>
            <a:ext cx="684886" cy="59893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802722" y="3977640"/>
            <a:ext cx="684886" cy="59893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83680" y="4594860"/>
            <a:ext cx="684886" cy="59893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86854" y="4594860"/>
            <a:ext cx="684886" cy="59893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90027" y="4594860"/>
            <a:ext cx="684886" cy="59893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93201" y="4594860"/>
            <a:ext cx="684886" cy="59893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96374" y="4594860"/>
            <a:ext cx="684886" cy="59893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099548" y="4594860"/>
            <a:ext cx="684886" cy="59893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802722" y="4594860"/>
            <a:ext cx="684886" cy="59893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583680" y="5212080"/>
            <a:ext cx="684886" cy="59893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286854" y="5212080"/>
            <a:ext cx="684886" cy="59893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990027" y="5212080"/>
            <a:ext cx="684886" cy="59893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93201" y="5212080"/>
            <a:ext cx="684886" cy="59893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396374" y="5212080"/>
            <a:ext cx="684886" cy="59893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099548" y="5212080"/>
            <a:ext cx="684886" cy="59893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802722" y="5212080"/>
            <a:ext cx="684886" cy="59893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583680" y="5829300"/>
            <a:ext cx="684886" cy="59893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86854" y="5829300"/>
            <a:ext cx="684886" cy="59893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990027" y="5829300"/>
            <a:ext cx="684886" cy="59893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693201" y="5829300"/>
            <a:ext cx="684886" cy="59893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396374" y="5829300"/>
            <a:ext cx="684886" cy="59893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099548" y="5829300"/>
            <a:ext cx="684886" cy="59893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802722" y="5829300"/>
            <a:ext cx="684886" cy="59893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C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全体の機能・処理フロー（本コード）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658368"/>
            <a:ext cx="1109441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76656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ベンチ生成→ネットワーク化→縮退（複数手法）→妥当性評価（自動）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2468880" cy="64008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ケース定義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(条件CSV/YAML)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66160" y="1463040"/>
            <a:ext cx="2651760" cy="64008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多条件Cantera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自動実行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46520" y="1463040"/>
            <a:ext cx="2743200" cy="640080"/>
          </a:xfrm>
          <a:prstGeom prst="rect">
            <a:avLst/>
          </a:prstGeom>
          <a:solidFill>
            <a:srgbClr val="0AA6A6"/>
          </a:solidFill>
          <a:ln w="12700">
            <a:solidFill>
              <a:srgbClr val="0AA6A6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出力蓄積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(x, θ, r, ω̇)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783080"/>
            <a:ext cx="274320" cy="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217920" y="1783080"/>
            <a:ext cx="228600" cy="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22960" y="2468880"/>
            <a:ext cx="2926080" cy="731520"/>
          </a:xfrm>
          <a:prstGeom prst="rect">
            <a:avLst/>
          </a:prstGeom>
          <a:solidFill>
            <a:srgbClr val="0AA6A6"/>
          </a:solidFill>
          <a:ln w="12700">
            <a:solidFill>
              <a:srgbClr val="0AA6A6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ネットワーク化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(ν, F̄_phase, 感度)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0" y="2468880"/>
            <a:ext cx="2560320" cy="731520"/>
          </a:xfrm>
          <a:prstGeom prst="rect">
            <a:avLst/>
          </a:prstGeom>
          <a:solidFill>
            <a:srgbClr val="0AA6A6"/>
          </a:solidFill>
          <a:ln w="12700">
            <a:solidFill>
              <a:srgbClr val="0AA6A6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特徴量設計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(位相別/多条件)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03720" y="2468880"/>
            <a:ext cx="2286000" cy="7315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制約モジュール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(保存則/θ)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51960" y="2148840"/>
            <a:ext cx="0" cy="32004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675120" y="2834640"/>
            <a:ext cx="228600" cy="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2296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縮退モジュール（並列で比較）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1965960" cy="59436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Baseline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71800" y="3794760"/>
            <a:ext cx="1965960" cy="594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LearnCK++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/CRNN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3794760"/>
            <a:ext cx="1965960" cy="594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GNN Pooling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(S学習)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69480" y="3794760"/>
            <a:ext cx="1965960" cy="594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prune→merge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(L0 gate)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18320" y="3794760"/>
            <a:ext cx="1965960" cy="594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SINDy→CRN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4754880"/>
            <a:ext cx="361188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妥当性評価（自動）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 + 保存則 + 位相別誤差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805940" y="4389120"/>
            <a:ext cx="4549140" cy="36576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954780" y="4389120"/>
            <a:ext cx="2400300" cy="36576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103620" y="4389120"/>
            <a:ext cx="251460" cy="36576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52460" y="4389120"/>
            <a:ext cx="0" cy="36576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401300" y="4389120"/>
            <a:ext cx="0" cy="36576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412480" y="5669280"/>
            <a:ext cx="324612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レポート生成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Pareto/診断/機構出力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83880" y="5102352"/>
            <a:ext cx="228600" cy="91440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94360" y="6355080"/>
            <a:ext cx="57607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64282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縮退機構（YAML）／評価JSON／診断プロット（KPI, θ, Pareto）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C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提案手法セット（Top4）とpyMARSの位置づけ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658368"/>
            <a:ext cx="1109441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76656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“削除だけ”から “マージ＋階層化＋再合成” へ：CVD/ALDの多相・位相・KPIに適合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11094415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比較表（目的・出力・適用範囲）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2218883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13243" y="1417320"/>
            <a:ext cx="2218883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主目的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32126" y="1417320"/>
            <a:ext cx="2218883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キーアイデア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51009" y="1417320"/>
            <a:ext cx="2218883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多相/位相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469892" y="1417320"/>
            <a:ext cx="2218883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pyMARSとの差分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13243" y="182880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skeletal（削除）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32126" y="182880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DRGEP/PFA/SA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51009" y="182880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主にgas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69892" y="182880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マージなし・表面弱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2240280"/>
            <a:ext cx="2218883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LearnCK++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13243" y="2240280"/>
            <a:ext cx="2218883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強縮退＋解釈性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32126" y="2240280"/>
            <a:ext cx="2218883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overall反応/解釈可能NN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51009" y="2240280"/>
            <a:ext cx="2218883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gas+surface可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69892" y="2240280"/>
            <a:ext cx="2218883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反応再合成・制約内蔵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" y="265176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GNN Pooling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13243" y="265176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階層マージ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32126" y="265176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S（割当行列）学習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51009" y="265176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位相別特徴量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69892" y="265176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同型群を集約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" y="3063240"/>
            <a:ext cx="2218883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prune→merge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813243" y="3063240"/>
            <a:ext cx="2218883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超大規模対応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32126" y="3063240"/>
            <a:ext cx="2218883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L0 gateで剪定→マージ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51009" y="3063240"/>
            <a:ext cx="2218883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gas大規模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469892" y="3063240"/>
            <a:ext cx="2218883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探索空間を先に圧縮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4360" y="347472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SINDy→CRN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813243" y="347472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縮退最大化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32126" y="347472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スパース同定→CRN再構成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51009" y="347472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多条件向け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469892" y="3474720"/>
            <a:ext cx="2218883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元機構依存を弱める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4360" y="3886200"/>
            <a:ext cx="11094415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方法の組み合わせ（概念）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94360" y="4224528"/>
            <a:ext cx="11094415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5840" y="6080760"/>
            <a:ext cx="10271455" cy="0"/>
          </a:xfrm>
          <a:prstGeom prst="line">
            <a:avLst/>
          </a:prstGeom>
          <a:noFill/>
          <a:ln w="12700">
            <a:solidFill>
              <a:srgbClr val="B9C0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5840" y="4480560"/>
            <a:ext cx="0" cy="1600200"/>
          </a:xfrm>
          <a:prstGeom prst="line">
            <a:avLst/>
          </a:prstGeom>
          <a:noFill/>
          <a:ln w="12700">
            <a:solidFill>
              <a:srgbClr val="B9C0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 rot="5400000">
            <a:off x="960120" y="4251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縮退効果↑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539935" y="6126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解釈性/制約容易性→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09409" y="5429250"/>
            <a:ext cx="182880" cy="182880"/>
          </a:xfrm>
          <a:prstGeom prst="ellipse">
            <a:avLst/>
          </a:prstGeom>
          <a:solidFill>
            <a:srgbClr val="5555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26529" y="563041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617991" y="5109210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35111" y="531037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63700" y="5029200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0820" y="52303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63700" y="4789170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0820" y="499033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482264" y="4549140"/>
            <a:ext cx="182880" cy="18288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9384" y="475030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C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手法①：LearnCK++（overall反応）＋ CRNN/SRNN ＋ ANN-hard（保存則射影）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658368"/>
            <a:ext cx="1109441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76656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強縮退でも “物理破綻しない” を最優先：元素保存・サイト収支・非負性を構造で保証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アーキテクチャ（概念）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2011680" cy="640080"/>
          </a:xfrm>
          <a:prstGeom prst="rect">
            <a:avLst/>
          </a:prstGeom>
          <a:solidFill>
            <a:srgbClr val="0AA6A6"/>
          </a:solidFill>
          <a:ln w="12700">
            <a:solidFill>
              <a:srgbClr val="0AA6A6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代表状態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y=P 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88920" y="1965960"/>
            <a:ext cx="228600" cy="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017520" y="1645920"/>
            <a:ext cx="2194560" cy="6400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overall反応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候補生成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212080" y="1965960"/>
            <a:ext cx="228600" cy="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440680" y="1645920"/>
            <a:ext cx="868680" cy="6400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スパース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選択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79592" y="2331720"/>
            <a:ext cx="0" cy="45720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017520" y="2788920"/>
            <a:ext cx="2560320" cy="6400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速度学習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（CRNN/SRNN）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577840" y="3108960"/>
            <a:ext cx="228600" cy="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806440" y="2788920"/>
            <a:ext cx="868680" cy="64008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ANN-hard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射影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06240" y="3429000"/>
            <a:ext cx="0" cy="45720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017520" y="3886200"/>
            <a:ext cx="283464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縮退モデル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ẏ = ν_red r̂(y)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70916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ポイント：反応式（overall）として出力 → 解釈性を維持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983480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保存則（Aν=0）・サイト収支（∑θ=1）の射影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5303520"/>
            <a:ext cx="719763" cy="25603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15291" y="5303520"/>
            <a:ext cx="719763" cy="25603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53343" y="5303520"/>
            <a:ext cx="719763" cy="25603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91394" y="5303520"/>
            <a:ext cx="719763" cy="25603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9446" y="5303520"/>
            <a:ext cx="719763" cy="25603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67497" y="5303520"/>
            <a:ext cx="719763" cy="25603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05549" y="5303520"/>
            <a:ext cx="719763" cy="25603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577840"/>
            <a:ext cx="719763" cy="25603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15291" y="5577840"/>
            <a:ext cx="719763" cy="25603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53343" y="5577840"/>
            <a:ext cx="719763" cy="25603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91394" y="5577840"/>
            <a:ext cx="719763" cy="25603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9446" y="5577840"/>
            <a:ext cx="719763" cy="25603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67497" y="5577840"/>
            <a:ext cx="719763" cy="25603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05549" y="5577840"/>
            <a:ext cx="719763" cy="25603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5852160"/>
            <a:ext cx="719763" cy="25603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15291" y="5852160"/>
            <a:ext cx="719763" cy="25603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53343" y="5852160"/>
            <a:ext cx="719763" cy="25603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91394" y="5852160"/>
            <a:ext cx="719763" cy="25603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29446" y="5852160"/>
            <a:ext cx="719763" cy="25603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67497" y="5852160"/>
            <a:ext cx="719763" cy="25603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05549" y="5852160"/>
            <a:ext cx="719763" cy="25603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240" y="6126480"/>
            <a:ext cx="719763" cy="25603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15291" y="6126480"/>
            <a:ext cx="719763" cy="25603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53343" y="6126480"/>
            <a:ext cx="719763" cy="25603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91394" y="6126480"/>
            <a:ext cx="719763" cy="25603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29446" y="6126480"/>
            <a:ext cx="719763" cy="25603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67497" y="6126480"/>
            <a:ext cx="719763" cy="25603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05549" y="6126480"/>
            <a:ext cx="719763" cy="25603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1024128"/>
            <a:ext cx="5242255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数式（制約の内蔵）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629400" y="1600200"/>
            <a:ext cx="487649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overall反応：  ẏ = Σ_m ν_red,m · R_m(y,T)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元素保存：     A·ν_red = 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サイト収支：   C·θ = 1（複数サイト型も可）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ANN-hard：     ŷ → argmin||ŷ−ŷ₀||  s.t. 保存則/範囲制約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（非負性）     y ≥ 0,  0 ≤ θ ≤ 1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46520" y="3886200"/>
            <a:ext cx="2621128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CVD/ALDで効く理由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067648" y="3886200"/>
            <a:ext cx="2621128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具体的技術箇所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46520" y="4297680"/>
            <a:ext cx="26211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強縮退でも破綻しない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067648" y="4297680"/>
            <a:ext cx="26211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保存則射影（ANN-hard）、θのsimplex表現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46520" y="4709160"/>
            <a:ext cx="2621128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表面を扱える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067648" y="4709160"/>
            <a:ext cx="2621128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SRNN（被覆率補正）／CRNN（反応ノード解釈性）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46520" y="5120640"/>
            <a:ext cx="26211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KPIに直結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067648" y="5120640"/>
            <a:ext cx="26211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堆積（bulk生成）を教師/損失に含める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C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手法②：反応ネットワークPooling（S学習）— 階層マージを自動生成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658368"/>
            <a:ext cx="1109441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76656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種→代表状態の割当行列Sを学習。位相別フラックス・制約マスクで “許容マージ” を制御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グラフ表現（種–反応 二部グラフ）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228600" cy="228600"/>
          </a:xfrm>
          <a:prstGeom prst="ellipse">
            <a:avLst/>
          </a:prstGeom>
          <a:solidFill>
            <a:srgbClr val="79C7F2"/>
          </a:solidFill>
          <a:ln w="12700">
            <a:solidFill>
              <a:srgbClr val="79C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029968"/>
            <a:ext cx="228600" cy="228600"/>
          </a:xfrm>
          <a:prstGeom prst="ellipse">
            <a:avLst/>
          </a:prstGeom>
          <a:solidFill>
            <a:srgbClr val="79C7F2"/>
          </a:solidFill>
          <a:ln w="12700">
            <a:solidFill>
              <a:srgbClr val="79C7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414016"/>
            <a:ext cx="228600" cy="228600"/>
          </a:xfrm>
          <a:prstGeom prst="ellipse">
            <a:avLst/>
          </a:prstGeom>
          <a:solidFill>
            <a:srgbClr val="79C7F2"/>
          </a:solidFill>
          <a:ln w="12700">
            <a:solidFill>
              <a:srgbClr val="79C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798064"/>
            <a:ext cx="228600" cy="228600"/>
          </a:xfrm>
          <a:prstGeom prst="ellipse">
            <a:avLst/>
          </a:prstGeom>
          <a:solidFill>
            <a:srgbClr val="79C7F2"/>
          </a:solidFill>
          <a:ln w="12700">
            <a:solidFill>
              <a:srgbClr val="79C7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82112"/>
            <a:ext cx="228600" cy="228600"/>
          </a:xfrm>
          <a:prstGeom prst="ellipse">
            <a:avLst/>
          </a:prstGeom>
          <a:solidFill>
            <a:srgbClr val="79C7F2"/>
          </a:solidFill>
          <a:ln w="12700">
            <a:solidFill>
              <a:srgbClr val="79C7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783080"/>
            <a:ext cx="228600" cy="228600"/>
          </a:xfrm>
          <a:prstGeom prst="rect">
            <a:avLst/>
          </a:prstGeom>
          <a:solidFill>
            <a:srgbClr val="F6B26B"/>
          </a:solidFill>
          <a:ln w="12700">
            <a:solidFill>
              <a:srgbClr val="F6B2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2258568"/>
            <a:ext cx="228600" cy="228600"/>
          </a:xfrm>
          <a:prstGeom prst="rect">
            <a:avLst/>
          </a:prstGeom>
          <a:solidFill>
            <a:srgbClr val="F6B26B"/>
          </a:solidFill>
          <a:ln w="12700">
            <a:solidFill>
              <a:srgbClr val="F6B2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2734056"/>
            <a:ext cx="228600" cy="228600"/>
          </a:xfrm>
          <a:prstGeom prst="rect">
            <a:avLst/>
          </a:prstGeom>
          <a:solidFill>
            <a:srgbClr val="F6B26B"/>
          </a:solidFill>
          <a:ln w="12700">
            <a:solidFill>
              <a:srgbClr val="F6B2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209544"/>
            <a:ext cx="228600" cy="228600"/>
          </a:xfrm>
          <a:prstGeom prst="rect">
            <a:avLst/>
          </a:prstGeom>
          <a:solidFill>
            <a:srgbClr val="F6B26B"/>
          </a:solidFill>
          <a:ln w="12700">
            <a:solidFill>
              <a:srgbClr val="F6B2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1755648"/>
            <a:ext cx="1600200" cy="13716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143000" y="2139696"/>
            <a:ext cx="1600200" cy="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143000" y="2523744"/>
            <a:ext cx="1600200" cy="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43000" y="2907792"/>
            <a:ext cx="1600200" cy="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143000" y="3291840"/>
            <a:ext cx="1600200" cy="27432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143000" y="2139696"/>
            <a:ext cx="1600200" cy="704088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143000" y="2523744"/>
            <a:ext cx="1600200" cy="795528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234440" y="3566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○: species  □: reaction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1828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入力特徴：x(t), θ(t), r(t), F̄_phase, 感度…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2423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出力：S（種→代表状態）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階層Poolingで S¹,S²,…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160520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制約の入れ方（マスク＋罰則）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617720"/>
            <a:ext cx="5166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Hard禁止：gas vs surface、電荷状態、サイト占有数の混同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Soft罰則：neutral↔radical跨ぎ、元素族距離、役割（成膜/エッチ）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lumpability：外向きフラックス分布の距離 D(p_i→*, p_k→*) を最小化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1024128"/>
            <a:ext cx="5242255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Pooling（S）と縮退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29400" y="1554480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 = Sᵀx,  ẏ = Sᵀνr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629400" y="19202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S（割当行列）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0" y="2377440"/>
            <a:ext cx="320040" cy="128016"/>
          </a:xfrm>
          <a:prstGeom prst="rect">
            <a:avLst/>
          </a:prstGeom>
          <a:solidFill>
            <a:srgbClr val="79C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42048" y="2377440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26096" y="2377440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10144" y="2377440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2377440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0" y="2377440"/>
            <a:ext cx="320040" cy="128016"/>
          </a:xfrm>
          <a:prstGeom prst="rect">
            <a:avLst/>
          </a:prstGeom>
          <a:solidFill>
            <a:srgbClr val="79C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0" y="2542032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42048" y="2542032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26096" y="2542032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10144" y="2542032"/>
            <a:ext cx="320040" cy="128016"/>
          </a:xfrm>
          <a:prstGeom prst="rect">
            <a:avLst/>
          </a:prstGeom>
          <a:solidFill>
            <a:srgbClr val="79C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94192" y="2542032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78240" y="2542032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0" y="2706624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42048" y="2706624"/>
            <a:ext cx="320040" cy="128016"/>
          </a:xfrm>
          <a:prstGeom prst="rect">
            <a:avLst/>
          </a:prstGeom>
          <a:solidFill>
            <a:srgbClr val="79C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26096" y="2706624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10144" y="2706624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94192" y="2706624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78240" y="2706624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0" y="2871216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42048" y="2871216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26096" y="2871216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10144" y="2871216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94192" y="2871216"/>
            <a:ext cx="320040" cy="128016"/>
          </a:xfrm>
          <a:prstGeom prst="rect">
            <a:avLst/>
          </a:prstGeom>
          <a:solidFill>
            <a:srgbClr val="79C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78240" y="2871216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0" y="3035808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42048" y="3035808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626096" y="3035808"/>
            <a:ext cx="320040" cy="128016"/>
          </a:xfrm>
          <a:prstGeom prst="rect">
            <a:avLst/>
          </a:prstGeom>
          <a:solidFill>
            <a:srgbClr val="79C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10144" y="3035808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394192" y="3035808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778240" y="3035808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58000" y="3200400"/>
            <a:ext cx="320040" cy="128016"/>
          </a:xfrm>
          <a:prstGeom prst="rect">
            <a:avLst/>
          </a:prstGeom>
          <a:solidFill>
            <a:srgbClr val="79C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242048" y="3200400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626096" y="3200400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10144" y="3200400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94192" y="3200400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78240" y="3200400"/>
            <a:ext cx="320040" cy="128016"/>
          </a:xfrm>
          <a:prstGeom prst="rect">
            <a:avLst/>
          </a:prstGeom>
          <a:solidFill>
            <a:srgbClr val="79C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58000" y="3364992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42048" y="3364992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626096" y="3364992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10144" y="3364992"/>
            <a:ext cx="320040" cy="128016"/>
          </a:xfrm>
          <a:prstGeom prst="rect">
            <a:avLst/>
          </a:prstGeom>
          <a:solidFill>
            <a:srgbClr val="79C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394192" y="3364992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778240" y="3364992"/>
            <a:ext cx="3200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418320" y="1920240"/>
            <a:ext cx="22704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階層縮退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418320" y="2286000"/>
            <a:ext cx="2270455" cy="347472"/>
          </a:xfrm>
          <a:prstGeom prst="rect">
            <a:avLst/>
          </a:prstGeom>
          <a:solidFill>
            <a:srgbClr val="EAF7F2"/>
          </a:solidFill>
          <a:ln w="12700">
            <a:solidFill>
              <a:srgbClr val="E6E8E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弱縮退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9418320" y="2724912"/>
            <a:ext cx="2270455" cy="347472"/>
          </a:xfrm>
          <a:prstGeom prst="rect">
            <a:avLst/>
          </a:prstGeom>
          <a:solidFill>
            <a:srgbClr val="E7F4FF"/>
          </a:solidFill>
          <a:ln w="12700">
            <a:solidFill>
              <a:srgbClr val="E6E8E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中縮退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9418320" y="3163824"/>
            <a:ext cx="2270455" cy="347472"/>
          </a:xfrm>
          <a:prstGeom prst="rect">
            <a:avLst/>
          </a:prstGeom>
          <a:solidFill>
            <a:srgbClr val="FFF4E6"/>
          </a:solidFill>
          <a:ln w="12700">
            <a:solidFill>
              <a:srgbClr val="E6E8E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強縮退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629400" y="3977640"/>
            <a:ext cx="48764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BN-Pool等でクラスタ数を適応決定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629400" y="4251960"/>
            <a:ext cx="48764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縮退後ネットワーク（ν_red, F̄_red）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6629400" y="4572000"/>
            <a:ext cx="678354" cy="45491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326042" y="4572000"/>
            <a:ext cx="678354" cy="45491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22684" y="4572000"/>
            <a:ext cx="678354" cy="45491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19327" y="4572000"/>
            <a:ext cx="678354" cy="45491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415969" y="4572000"/>
            <a:ext cx="678354" cy="45491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112611" y="4572000"/>
            <a:ext cx="678354" cy="45491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809253" y="4572000"/>
            <a:ext cx="678354" cy="45491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29400" y="5045202"/>
            <a:ext cx="678354" cy="45491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326042" y="5045202"/>
            <a:ext cx="678354" cy="45491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022684" y="5045202"/>
            <a:ext cx="678354" cy="45491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719327" y="5045202"/>
            <a:ext cx="678354" cy="45491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415969" y="5045202"/>
            <a:ext cx="678354" cy="45491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112611" y="5045202"/>
            <a:ext cx="678354" cy="45491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809253" y="5045202"/>
            <a:ext cx="678354" cy="45491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629400" y="5518404"/>
            <a:ext cx="678354" cy="45491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326042" y="5518404"/>
            <a:ext cx="678354" cy="45491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022684" y="5518404"/>
            <a:ext cx="678354" cy="45491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719327" y="5518404"/>
            <a:ext cx="678354" cy="45491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415969" y="5518404"/>
            <a:ext cx="678354" cy="45491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112611" y="5518404"/>
            <a:ext cx="678354" cy="45491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809253" y="5518404"/>
            <a:ext cx="678354" cy="45491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29400" y="5991606"/>
            <a:ext cx="678354" cy="45491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326042" y="5991606"/>
            <a:ext cx="678354" cy="45491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022684" y="5991606"/>
            <a:ext cx="678354" cy="45491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719327" y="5991606"/>
            <a:ext cx="678354" cy="45491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415969" y="5991606"/>
            <a:ext cx="678354" cy="45491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112611" y="5991606"/>
            <a:ext cx="678354" cy="45491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809253" y="5991606"/>
            <a:ext cx="678354" cy="45491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C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手法③：prune（学習的剪定）→ merge（Pooling）— 超大規模gasの現実解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658368"/>
            <a:ext cx="1109441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76656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先に反応候補空間を圧縮し、次にマージで状態数を削る（Case Cに特に有効）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2段階パイプライン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1828800" cy="6400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反応ゲート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z_j∈[0,1]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1965960"/>
            <a:ext cx="228600" cy="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834640" y="1645920"/>
            <a:ext cx="1920240" cy="6400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剪定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(r ⊙ z)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965960"/>
            <a:ext cx="228600" cy="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983480" y="1645920"/>
            <a:ext cx="1417320" cy="6400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Pooling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(S学習)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損失（例）： 𝓛 = ||ω̇_full − ω̇_pruned||² + λ·||z||₀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834640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||z||₀ は hard-concrete等で近似（L0正則化）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154680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z（反応選択）の可視化（概念）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474720"/>
            <a:ext cx="719763" cy="15316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15291" y="3474720"/>
            <a:ext cx="719763" cy="15316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53343" y="3474720"/>
            <a:ext cx="719763" cy="15316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91394" y="3474720"/>
            <a:ext cx="719763" cy="15316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29446" y="3474720"/>
            <a:ext cx="719763" cy="15316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67497" y="3474720"/>
            <a:ext cx="719763" cy="15316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05549" y="3474720"/>
            <a:ext cx="719763" cy="15316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646170"/>
            <a:ext cx="719763" cy="15316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15291" y="3646170"/>
            <a:ext cx="719763" cy="15316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53343" y="3646170"/>
            <a:ext cx="719763" cy="15316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1394" y="3646170"/>
            <a:ext cx="719763" cy="15316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29446" y="3646170"/>
            <a:ext cx="719763" cy="15316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67497" y="3646170"/>
            <a:ext cx="719763" cy="15316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05549" y="3646170"/>
            <a:ext cx="719763" cy="15316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3817620"/>
            <a:ext cx="719763" cy="15316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15291" y="3817620"/>
            <a:ext cx="719763" cy="15316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53343" y="3817620"/>
            <a:ext cx="719763" cy="15316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1394" y="3817620"/>
            <a:ext cx="719763" cy="15316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9446" y="3817620"/>
            <a:ext cx="719763" cy="15316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67497" y="3817620"/>
            <a:ext cx="719763" cy="15316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05549" y="3817620"/>
            <a:ext cx="719763" cy="15316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3989070"/>
            <a:ext cx="719763" cy="15316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15291" y="3989070"/>
            <a:ext cx="719763" cy="15316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53343" y="3989070"/>
            <a:ext cx="719763" cy="15316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91394" y="3989070"/>
            <a:ext cx="719763" cy="15316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29446" y="3989070"/>
            <a:ext cx="719763" cy="15316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67497" y="3989070"/>
            <a:ext cx="719763" cy="15316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05549" y="3989070"/>
            <a:ext cx="719763" cy="15316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389120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CVD/ALDでの有用性（pyMARSとの差分）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77240" y="4846320"/>
            <a:ext cx="5166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大規模gas：pyMARSの行列計算が重い領域で、学習的ゲートが効く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多条件共通性：全ケース誤差をまとめて最適化（条件スイープに強い）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その後にマージ：同型群を圧縮（表面にも拡張可）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446520" y="1024128"/>
            <a:ext cx="5242255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 C（超大規模）での狙い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629400" y="1508760"/>
            <a:ext cx="48764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探索空間を先に圧縮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629400" y="1874520"/>
            <a:ext cx="4876495" cy="164592"/>
          </a:xfrm>
          <a:prstGeom prst="rect">
            <a:avLst/>
          </a:prstGeom>
          <a:solidFill>
            <a:srgbClr val="E6E8EC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29400" y="1874520"/>
            <a:ext cx="2682072" cy="164592"/>
          </a:xfrm>
          <a:prstGeom prst="rect">
            <a:avLst/>
          </a:prstGeom>
          <a:solidFill>
            <a:srgbClr val="F6B26B"/>
          </a:solidFill>
          <a:ln w="12700">
            <a:solidFill>
              <a:srgbClr val="F6B2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29400" y="2194560"/>
            <a:ext cx="4876495" cy="164592"/>
          </a:xfrm>
          <a:prstGeom prst="rect">
            <a:avLst/>
          </a:prstGeom>
          <a:solidFill>
            <a:srgbClr val="E6E8EC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29400" y="2194560"/>
            <a:ext cx="1219124" cy="16459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29400" y="2441448"/>
            <a:ext cx="48764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反応数（概念）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full → prune → merge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629400" y="2971800"/>
            <a:ext cx="48764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prune後ネットワーク → Poolingで集約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629400" y="3291840"/>
            <a:ext cx="678354" cy="77495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26042" y="3291840"/>
            <a:ext cx="678354" cy="77495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22684" y="3291840"/>
            <a:ext cx="678354" cy="77495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19327" y="3291840"/>
            <a:ext cx="678354" cy="77495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415969" y="3291840"/>
            <a:ext cx="678354" cy="77495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12611" y="3291840"/>
            <a:ext cx="678354" cy="77495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809253" y="3291840"/>
            <a:ext cx="678354" cy="77495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29400" y="4085082"/>
            <a:ext cx="678354" cy="77495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26042" y="4085082"/>
            <a:ext cx="678354" cy="77495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022684" y="4085082"/>
            <a:ext cx="678354" cy="77495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719327" y="4085082"/>
            <a:ext cx="678354" cy="77495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415969" y="4085082"/>
            <a:ext cx="678354" cy="77495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112611" y="4085082"/>
            <a:ext cx="678354" cy="77495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809253" y="4085082"/>
            <a:ext cx="678354" cy="77495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629400" y="4878324"/>
            <a:ext cx="678354" cy="77495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26042" y="4878324"/>
            <a:ext cx="678354" cy="77495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022684" y="4878324"/>
            <a:ext cx="678354" cy="77495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719327" y="4878324"/>
            <a:ext cx="678354" cy="77495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15969" y="4878324"/>
            <a:ext cx="678354" cy="77495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112611" y="4878324"/>
            <a:ext cx="678354" cy="77495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809253" y="4878324"/>
            <a:ext cx="678354" cy="77495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629400" y="5671566"/>
            <a:ext cx="678354" cy="77495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26042" y="5671566"/>
            <a:ext cx="678354" cy="77495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22684" y="5671566"/>
            <a:ext cx="678354" cy="77495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719327" y="5671566"/>
            <a:ext cx="678354" cy="77495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415969" y="5671566"/>
            <a:ext cx="678354" cy="77495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112611" y="5671566"/>
            <a:ext cx="678354" cy="77495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809253" y="5671566"/>
            <a:ext cx="678354" cy="77495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C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手法④：SINDy（スパース同定）→ 化学反応ネットワーク（CRN）再構成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658368"/>
            <a:ext cx="1109441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76656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“元機構に縛られず” 最小モデルを再発見（縮退効果最大化）。多条件データを活用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パイプライン（概念）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1920240" cy="640080"/>
          </a:xfrm>
          <a:prstGeom prst="rect">
            <a:avLst/>
          </a:prstGeom>
          <a:solidFill>
            <a:srgbClr val="0AA6A6"/>
          </a:solidFill>
          <a:ln w="12700">
            <a:solidFill>
              <a:srgbClr val="0AA6A6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代表状態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y=P 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97480" y="2011680"/>
            <a:ext cx="228600" cy="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926080" y="1691640"/>
            <a:ext cx="2011680" cy="64008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Integral/weak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SINDy回帰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2011680"/>
            <a:ext cx="228600" cy="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166360" y="1691640"/>
            <a:ext cx="1325880" cy="64008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スパース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選択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1960" y="2423160"/>
            <a:ext cx="0" cy="50292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926080" y="2926080"/>
            <a:ext cx="2834640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CRN再構成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（質量作用へ整合）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43400" y="3611880"/>
            <a:ext cx="0" cy="50292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926080" y="4114800"/>
            <a:ext cx="283464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縮退機構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（反応式として出力）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8920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多条件共通構造：group sparsity（GS-SINDy）等で頑健化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1937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スパース項（候補ライブラリ）と選択のイメージ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5513832"/>
            <a:ext cx="719763" cy="21031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15291" y="5513832"/>
            <a:ext cx="719763" cy="21031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53343" y="5513832"/>
            <a:ext cx="719763" cy="21031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91394" y="5513832"/>
            <a:ext cx="719763" cy="21031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9446" y="5513832"/>
            <a:ext cx="719763" cy="21031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67497" y="5513832"/>
            <a:ext cx="719763" cy="21031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05549" y="5513832"/>
            <a:ext cx="719763" cy="21031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742432"/>
            <a:ext cx="719763" cy="21031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15291" y="5742432"/>
            <a:ext cx="719763" cy="21031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53343" y="5742432"/>
            <a:ext cx="719763" cy="21031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1394" y="5742432"/>
            <a:ext cx="719763" cy="21031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9446" y="5742432"/>
            <a:ext cx="719763" cy="21031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67497" y="5742432"/>
            <a:ext cx="719763" cy="21031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05549" y="5742432"/>
            <a:ext cx="719763" cy="21031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5971032"/>
            <a:ext cx="719763" cy="21031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15291" y="5971032"/>
            <a:ext cx="719763" cy="21031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3343" y="5971032"/>
            <a:ext cx="719763" cy="21031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91394" y="5971032"/>
            <a:ext cx="719763" cy="21031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9446" y="5971032"/>
            <a:ext cx="719763" cy="21031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67497" y="5971032"/>
            <a:ext cx="719763" cy="21031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05549" y="5971032"/>
            <a:ext cx="719763" cy="21031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" y="6199632"/>
            <a:ext cx="719763" cy="21031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15291" y="6199632"/>
            <a:ext cx="719763" cy="21031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53343" y="6199632"/>
            <a:ext cx="719763" cy="21031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91394" y="6199632"/>
            <a:ext cx="719763" cy="21031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29446" y="6199632"/>
            <a:ext cx="719763" cy="21031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67497" y="6199632"/>
            <a:ext cx="719763" cy="21031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05549" y="6199632"/>
            <a:ext cx="719763" cy="21031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1024128"/>
            <a:ext cx="5242255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数式（例）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629400" y="1600200"/>
            <a:ext cx="487649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ẏ(t) = Θ(y(t))·ξ  （ξは疎）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Integral形式：∫ ẏ dt = ∫ Θ(y) dt · ξ  （微分ノイズに強い）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多条件：{ξ_c} に group sparsity（共通構造）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CRN化：質量作用に整合する反応集合 {ν_m, k_m} を最適化で復元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446520" y="3794760"/>
            <a:ext cx="2621128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CVD/ALDでの価値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067648" y="3794760"/>
            <a:ext cx="2621128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注意点（課題）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46520" y="4206240"/>
            <a:ext cx="26211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反応数最小化を狙える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067648" y="4206240"/>
            <a:ext cx="26211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擬似状態（P x）設計が重要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46520" y="4617720"/>
            <a:ext cx="2621128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多条件で共通構造抽出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067648" y="4617720"/>
            <a:ext cx="2621128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CRN再構成に追加最適化が必要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46520" y="5029200"/>
            <a:ext cx="26211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元機構依存が小さい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067648" y="5029200"/>
            <a:ext cx="26211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表面サイト制約を入れる工夫が要る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C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共通制約（理論ベース）— “壊れない縮退” のための条件の入れ方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658368"/>
            <a:ext cx="1109441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76656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半導体成膜では、保存則・サイト収支・位相別KPIが最重要。モデル/学習にハードに埋め込む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制約一覧（gas/surface/bulk）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844040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38400" y="1417320"/>
            <a:ext cx="1844040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数式（代表）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82440" y="1417320"/>
            <a:ext cx="1844040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破ると起きる問題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元素保存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38400" y="182880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A·ν = 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82440" y="182880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元素収支が破綻→KPIが崩壊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2240280"/>
            <a:ext cx="1844040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非負性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38400" y="2240280"/>
            <a:ext cx="1844040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 ≥ 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82440" y="2240280"/>
            <a:ext cx="1844040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負濃度→発散/非物理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265176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サイト収支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38400" y="265176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∑θ=1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82440" y="265176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被覆率暴走→成膜が破綻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3063240"/>
            <a:ext cx="1844040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被覆率範囲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38400" y="3063240"/>
            <a:ext cx="1844040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0≤θ≤1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82440" y="3063240"/>
            <a:ext cx="1844040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吸着/脱離速度が非物理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" y="347472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（可逆系）平衡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438400" y="347472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k_f/k_r = K_eq(T)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82440" y="3474720"/>
            <a:ext cx="1844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条件外で誤差が増幅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" y="3886200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縮退（マージ）と保存則の整合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343400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 = Sᵀx としたとき、保存則を保つには： A·ν_red = 0 かつ yの定義が元素rankを保持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489204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異組成マージ（CH₄とCH等）を許す場合：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種ではなく “元素モーメント” を状態に採用（y_C, y_H, …）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5532120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A（元素×種）とrank保持のイメージ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7240" y="5852160"/>
            <a:ext cx="719763" cy="10744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15291" y="5852160"/>
            <a:ext cx="719763" cy="10744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53343" y="5852160"/>
            <a:ext cx="719763" cy="10744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1394" y="5852160"/>
            <a:ext cx="719763" cy="10744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9446" y="5852160"/>
            <a:ext cx="719763" cy="10744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67497" y="5852160"/>
            <a:ext cx="719763" cy="10744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05549" y="5852160"/>
            <a:ext cx="719763" cy="10744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5977890"/>
            <a:ext cx="719763" cy="10744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15291" y="5977890"/>
            <a:ext cx="719763" cy="10744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53343" y="5977890"/>
            <a:ext cx="719763" cy="10744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91394" y="5977890"/>
            <a:ext cx="719763" cy="10744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29446" y="5977890"/>
            <a:ext cx="719763" cy="10744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67497" y="5977890"/>
            <a:ext cx="719763" cy="10744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05549" y="5977890"/>
            <a:ext cx="719763" cy="10744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" y="6103620"/>
            <a:ext cx="719763" cy="10744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15291" y="6103620"/>
            <a:ext cx="719763" cy="10744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53343" y="6103620"/>
            <a:ext cx="719763" cy="10744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91394" y="6103620"/>
            <a:ext cx="719763" cy="10744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29446" y="6103620"/>
            <a:ext cx="719763" cy="10744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67497" y="6103620"/>
            <a:ext cx="719763" cy="10744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05549" y="6103620"/>
            <a:ext cx="719763" cy="10744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7240" y="6229350"/>
            <a:ext cx="719763" cy="10744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15291" y="6229350"/>
            <a:ext cx="719763" cy="107442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253343" y="6229350"/>
            <a:ext cx="719763" cy="107442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91394" y="6229350"/>
            <a:ext cx="719763" cy="107442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729446" y="6229350"/>
            <a:ext cx="719763" cy="107442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467497" y="6229350"/>
            <a:ext cx="719763" cy="107442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05549" y="6229350"/>
            <a:ext cx="719763" cy="107442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46520" y="1024128"/>
            <a:ext cx="5242255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位相（ALD）を制約/損失へ入れる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629400" y="1554480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ALD：外力が周期的 → ベクトル場 f(x,t) が位相で変わる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629400" y="1874520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位相別損失： 𝓛 = Σ_p ||y_p(t)−ŷ_p(t)||²  （pulse/purgeで分解）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629400" y="2240280"/>
            <a:ext cx="1200836" cy="292608"/>
          </a:xfrm>
          <a:prstGeom prst="rect">
            <a:avLst/>
          </a:prstGeom>
          <a:solidFill>
            <a:srgbClr val="EAF4FF"/>
          </a:solidFill>
          <a:ln w="12700">
            <a:solidFill>
              <a:srgbClr val="E6E8E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pulse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848524" y="2240280"/>
            <a:ext cx="1200836" cy="292608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purge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067648" y="2240280"/>
            <a:ext cx="1200836" cy="292608"/>
          </a:xfrm>
          <a:prstGeom prst="rect">
            <a:avLst/>
          </a:prstGeom>
          <a:solidFill>
            <a:srgbClr val="EAF4FF"/>
          </a:solidFill>
          <a:ln w="12700">
            <a:solidFill>
              <a:srgbClr val="E6E8E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pulse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0286771" y="2240280"/>
            <a:ext cx="1200836" cy="292608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purge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629400" y="2743200"/>
            <a:ext cx="48764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位相別ネットワーク（F̄_phase）とKPI（積分量）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6629400" y="3063240"/>
            <a:ext cx="678354" cy="82067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26042" y="3063240"/>
            <a:ext cx="678354" cy="82067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022684" y="3063240"/>
            <a:ext cx="678354" cy="82067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719327" y="3063240"/>
            <a:ext cx="678354" cy="82067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15969" y="3063240"/>
            <a:ext cx="678354" cy="82067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112611" y="3063240"/>
            <a:ext cx="678354" cy="82067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809253" y="3063240"/>
            <a:ext cx="678354" cy="82067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629400" y="3902202"/>
            <a:ext cx="678354" cy="82067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26042" y="3902202"/>
            <a:ext cx="678354" cy="82067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022684" y="3902202"/>
            <a:ext cx="678354" cy="82067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19327" y="3902202"/>
            <a:ext cx="678354" cy="82067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415969" y="3902202"/>
            <a:ext cx="678354" cy="82067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112611" y="3902202"/>
            <a:ext cx="678354" cy="82067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809253" y="3902202"/>
            <a:ext cx="678354" cy="82067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629400" y="4741164"/>
            <a:ext cx="678354" cy="82067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326042" y="4741164"/>
            <a:ext cx="678354" cy="82067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22684" y="4741164"/>
            <a:ext cx="678354" cy="82067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19327" y="4741164"/>
            <a:ext cx="678354" cy="82067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415969" y="4741164"/>
            <a:ext cx="678354" cy="82067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112611" y="4741164"/>
            <a:ext cx="678354" cy="82067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809253" y="4741164"/>
            <a:ext cx="678354" cy="82067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29400" y="5580126"/>
            <a:ext cx="678354" cy="82067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326042" y="5580126"/>
            <a:ext cx="678354" cy="820674"/>
          </a:xfrm>
          <a:prstGeom prst="rect">
            <a:avLst/>
          </a:prstGeom>
          <a:solidFill>
            <a:srgbClr val="A8D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022684" y="5580126"/>
            <a:ext cx="678354" cy="820674"/>
          </a:xfrm>
          <a:prstGeom prst="rect">
            <a:avLst/>
          </a:prstGeom>
          <a:solidFill>
            <a:srgbClr val="8FD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719327" y="5580126"/>
            <a:ext cx="678354" cy="820674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415969" y="5580126"/>
            <a:ext cx="678354" cy="820674"/>
          </a:xfrm>
          <a:prstGeom prst="rect">
            <a:avLst/>
          </a:prstGeom>
          <a:solidFill>
            <a:srgbClr val="E7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112611" y="5580126"/>
            <a:ext cx="678354" cy="820674"/>
          </a:xfrm>
          <a:prstGeom prst="rect">
            <a:avLst/>
          </a:prstGeom>
          <a:solidFill>
            <a:srgbClr val="D8F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809253" y="5580126"/>
            <a:ext cx="678354" cy="820674"/>
          </a:xfrm>
          <a:prstGeom prst="rect">
            <a:avLst/>
          </a:prstGeom>
          <a:solidFill>
            <a:srgbClr val="C3E8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C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解析上の課題と工夫（難しさの整理）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658368"/>
            <a:ext cx="1109441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76656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半導体プロセス特有の難点を、解析カテゴリごとに “対策＝実装箇所” へ落とす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11094415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課題×工夫（マトリクス）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3576218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解析カテゴリ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53458" y="1600200"/>
            <a:ext cx="3576218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難しさ（なぜ）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29677" y="1600200"/>
            <a:ext cx="3576218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工夫（本コードの技術箇所）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357621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剛性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53458" y="2011680"/>
            <a:ext cx="357621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時間スケールが極端に広い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29677" y="2011680"/>
            <a:ext cx="357621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前処理・位相別特徴量・スパース化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423160"/>
            <a:ext cx="3576218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多相結合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53458" y="2423160"/>
            <a:ext cx="3576218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gas↔surface↔bulkでKPIが決まる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29677" y="2423160"/>
            <a:ext cx="3576218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サイト制約・堆積KPIを損失へ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2834640"/>
            <a:ext cx="357621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位相切替(ALD)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53458" y="2834640"/>
            <a:ext cx="357621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支配反応が位相で入替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29677" y="2834640"/>
            <a:ext cx="357621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phase分割・MoE/条件付きモデル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3246120"/>
            <a:ext cx="3576218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マージ妥当性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53458" y="3246120"/>
            <a:ext cx="3576218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異組成/状態種跨ぎは保存則が壊れやすい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29677" y="3246120"/>
            <a:ext cx="3576218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元素モーメント状態・S制約マスク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3657600"/>
            <a:ext cx="357621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53458" y="3657600"/>
            <a:ext cx="357621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多条件×長時系列で巨大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29677" y="3657600"/>
            <a:ext cx="357621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xarray/zarr・要点サンプリング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5715000"/>
            <a:ext cx="5242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難易度ヒートマップ（概念）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6355080"/>
            <a:ext cx="5532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 A→B→C の順に「スケール」「剛性」「同型群」が増す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5989320"/>
            <a:ext cx="1625498" cy="502920"/>
          </a:xfrm>
          <a:prstGeom prst="rect">
            <a:avLst/>
          </a:prstGeom>
          <a:solidFill>
            <a:srgbClr val="A8DFFF"/>
          </a:solidFill>
          <a:ln w="12700">
            <a:solidFill>
              <a:srgbClr val="E6E8E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 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32978" y="5989320"/>
            <a:ext cx="1625498" cy="502920"/>
          </a:xfrm>
          <a:prstGeom prst="rect">
            <a:avLst/>
          </a:prstGeom>
          <a:solidFill>
            <a:srgbClr val="C3E8FF"/>
          </a:solidFill>
          <a:ln w="12700">
            <a:solidFill>
              <a:srgbClr val="E6E8E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 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19437" y="5989320"/>
            <a:ext cx="1625498" cy="502920"/>
          </a:xfrm>
          <a:prstGeom prst="rect">
            <a:avLst/>
          </a:prstGeom>
          <a:solidFill>
            <a:srgbClr val="F6B26B"/>
          </a:solidFill>
          <a:ln w="12700">
            <a:solidFill>
              <a:srgbClr val="E6E8E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 C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C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まとめ：3ベンチ×pyMARS比較で「マージ縮退」の価値を定量化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658368"/>
            <a:ext cx="1109441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76656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次ステップ：各ベンチで Pareto（縮退率×KPI誤差）を自動生成し、最適手法セットを選定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結論（要点）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51663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ベンチA/B/Cで、(多相/同型群/超大規模) を段階的に検証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pyMARS（削除）に対し、提案は “マージ＋制約” で縮退効果が伸びる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物理制約（元素保存・サイト収支）を “学習/最適化の内部” に組込む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位相別（ALD）特徴量化で汎化と安定性が上がる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0"/>
            <a:ext cx="5532120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ロードマップ（実装・検証）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5303520"/>
            <a:ext cx="4983480" cy="0"/>
          </a:xfrm>
          <a:prstGeom prst="line">
            <a:avLst/>
          </a:prstGeom>
          <a:noFill/>
          <a:ln w="25400">
            <a:solidFill>
              <a:srgbClr val="B9C0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6414" y="5212080"/>
            <a:ext cx="182880" cy="182880"/>
          </a:xfrm>
          <a:prstGeom prst="ellipse">
            <a:avLst/>
          </a:prstGeom>
          <a:solidFill>
            <a:srgbClr val="0B2E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8942" y="5440680"/>
            <a:ext cx="877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Bench生成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72284" y="5212080"/>
            <a:ext cx="182880" cy="182880"/>
          </a:xfrm>
          <a:prstGeom prst="ellipse">
            <a:avLst/>
          </a:prstGeom>
          <a:solidFill>
            <a:srgbClr val="5555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4812" y="5669280"/>
            <a:ext cx="877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18154" y="5212080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0682" y="5440680"/>
            <a:ext cx="877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GNN/merge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14850" y="5212080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7378" y="5669280"/>
            <a:ext cx="877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LearnCK++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62042" y="5212080"/>
            <a:ext cx="182880" cy="18288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4570" y="5440680"/>
            <a:ext cx="877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SINDy→CRN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6520" y="1024128"/>
            <a:ext cx="5242255" cy="329184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主要参考文献（抜粋）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1417320"/>
            <a:ext cx="2621128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67648" y="1417320"/>
            <a:ext cx="2621128" cy="411480"/>
          </a:xfrm>
          <a:prstGeom prst="rect">
            <a:avLst/>
          </a:prstGeom>
          <a:solidFill>
            <a:srgbClr val="E6E8EC"/>
          </a:solidFill>
          <a:ln w="12700">
            <a:solidFill>
              <a:srgbClr val="B9C0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2E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1828800"/>
            <a:ext cx="26211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Cantera Si₃N₄ CVD例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67648" y="1828800"/>
            <a:ext cx="26211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cantera.org/3.1/examples/.../1D_pfr_surfchem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2240280"/>
            <a:ext cx="2621128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Cantera diamond CVD例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67648" y="2240280"/>
            <a:ext cx="2621128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cantera.org/.../diamond_cvd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46520" y="2651760"/>
            <a:ext cx="26211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n-hexane例/1268 species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67648" y="2651760"/>
            <a:ext cx="26211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cantera.org/.../preconditioned_integration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46520" y="3063240"/>
            <a:ext cx="2621128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067648" y="3063240"/>
            <a:ext cx="2621128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niemeyer-research-group.github.io/pyMARS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46520" y="3474720"/>
            <a:ext cx="26211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LearnCK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67648" y="3474720"/>
            <a:ext cx="26211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RSC 2024 d3re00279a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46520" y="3886200"/>
            <a:ext cx="2621128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BN-Pool / tgp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67648" y="3886200"/>
            <a:ext cx="2621128" cy="411480"/>
          </a:xfrm>
          <a:prstGeom prst="rect">
            <a:avLst/>
          </a:prstGeom>
          <a:solidFill>
            <a:srgbClr val="F6F7F9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2501.09821 / 2512.12642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46520" y="4297680"/>
            <a:ext cx="26211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SINDy→CRN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067648" y="4297680"/>
            <a:ext cx="26211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2602.11849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46520" y="6355080"/>
            <a:ext cx="5242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（スライド注釈にURLを完全記載）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5085</Words>
  <Application>Microsoft Macintosh PowerPoint</Application>
  <PresentationFormat>ワイド画面</PresentationFormat>
  <Paragraphs>628</Paragraphs>
  <Slides>20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3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cantera_netwark (generated by GPT-5.2 Thinking)</dc:creator>
  <cp:lastModifiedBy>kawahito</cp:lastModifiedBy>
  <cp:revision>2</cp:revision>
  <dcterms:created xsi:type="dcterms:W3CDTF">2026-02-23T04:18:52Z</dcterms:created>
  <dcterms:modified xsi:type="dcterms:W3CDTF">2026-02-23T08:20:42Z</dcterms:modified>
</cp:coreProperties>
</file>