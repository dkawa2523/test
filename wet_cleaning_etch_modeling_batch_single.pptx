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3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charts/chart4.xml" ContentType="application/vnd.openxmlformats-officedocument.drawingml.chart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k_eff / k_s</c:v>
                </c:pt>
              </c:strCache>
            </c:strRef>
          </c:tx>
          <c:spPr>
            <a:solidFill>
              <a:srgbClr val="1F77B4"/>
            </a:solidFill>
            <a:ln w="25400" cap="flat">
              <a:solidFill>
                <a:srgbClr val="1F77B4"/>
              </a:solidFill>
              <a:prstDash val="solid"/>
              <a:round/>
            </a:ln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F77B4"/>
              </a:solidFill>
              <a:ln w="9525" cap="flat">
                <a:solidFill>
                  <a:srgbClr val="1F77B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0.01</c:v>
                  </c:pt>
                  <c:pt idx="1">
                    <c:v>0.03</c:v>
                  </c:pt>
                  <c:pt idx="2">
                    <c:v>0.1</c:v>
                  </c:pt>
                  <c:pt idx="3">
                    <c:v>0.3</c:v>
                  </c:pt>
                  <c:pt idx="4">
                    <c:v>1</c:v>
                  </c:pt>
                  <c:pt idx="5">
                    <c:v>3</c:v>
                  </c:pt>
                  <c:pt idx="6">
                    <c:v>10</c:v>
                  </c:pt>
                  <c:pt idx="7">
                    <c:v>30</c:v>
                  </c:pt>
                  <c:pt idx="8">
                    <c:v>100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0.9900990099009901</c:v>
                </c:pt>
                <c:pt idx="1">
                  <c:v>0.970873786407767</c:v>
                </c:pt>
                <c:pt idx="2">
                  <c:v>0.9090909090909091</c:v>
                </c:pt>
                <c:pt idx="3">
                  <c:v>0.7692307692307692</c:v>
                </c:pt>
                <c:pt idx="4">
                  <c:v>0.5</c:v>
                </c:pt>
                <c:pt idx="5">
                  <c:v>0.25</c:v>
                </c:pt>
                <c:pt idx="6">
                  <c:v>0.09090909090909091</c:v>
                </c:pt>
                <c:pt idx="7">
                  <c:v>0.03225806451612903</c:v>
                </c:pt>
                <c:pt idx="8">
                  <c:v>0.009900990099009901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k_eff / k_m</c:v>
                </c:pt>
              </c:strCache>
            </c:strRef>
          </c:tx>
          <c:spPr>
            <a:solidFill>
              <a:srgbClr val="F59E0B"/>
            </a:solidFill>
            <a:ln w="25400" cap="flat">
              <a:solidFill>
                <a:srgbClr val="F59E0B"/>
              </a:solidFill>
              <a:prstDash val="solid"/>
              <a:round/>
            </a:ln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0.01</c:v>
                  </c:pt>
                  <c:pt idx="1">
                    <c:v>0.03</c:v>
                  </c:pt>
                  <c:pt idx="2">
                    <c:v>0.1</c:v>
                  </c:pt>
                  <c:pt idx="3">
                    <c:v>0.3</c:v>
                  </c:pt>
                  <c:pt idx="4">
                    <c:v>1</c:v>
                  </c:pt>
                  <c:pt idx="5">
                    <c:v>3</c:v>
                  </c:pt>
                  <c:pt idx="6">
                    <c:v>10</c:v>
                  </c:pt>
                  <c:pt idx="7">
                    <c:v>30</c:v>
                  </c:pt>
                  <c:pt idx="8">
                    <c:v>100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0.009900990099009901</c:v>
                </c:pt>
                <c:pt idx="1">
                  <c:v>0.029126213592233007</c:v>
                </c:pt>
                <c:pt idx="2">
                  <c:v>0.09090909090909091</c:v>
                </c:pt>
                <c:pt idx="3">
                  <c:v>0.23076923076923075</c:v>
                </c:pt>
                <c:pt idx="4">
                  <c:v>0.5</c:v>
                </c:pt>
                <c:pt idx="5">
                  <c:v>0.75</c:v>
                </c:pt>
                <c:pt idx="6">
                  <c:v>0.9090909090909091</c:v>
                </c:pt>
                <c:pt idx="7">
                  <c:v>0.967741935483871</c:v>
                </c:pt>
                <c:pt idx="8">
                  <c:v>0.9900990099009901</c:v>
                </c:pt>
              </c:numCache>
            </c:numRef>
          </c:val>
          <c:smooth val="0"/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r_s</c:v>
                </c:pt>
              </c:strCache>
            </c:strRef>
          </c:tx>
          <c:spPr>
            <a:solidFill>
              <a:srgbClr val="1F77B4"/>
            </a:solidFill>
            <a:ln w="25400" cap="flat">
              <a:solidFill>
                <a:srgbClr val="1F77B4"/>
              </a:solidFill>
              <a:prstDash val="solid"/>
              <a:round/>
            </a:ln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F77B4"/>
              </a:solidFill>
              <a:ln w="9525" cap="flat">
                <a:solidFill>
                  <a:srgbClr val="1F77B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0</c:v>
                  </c:pt>
                  <c:pt idx="1">
                    <c:v>0.1</c:v>
                  </c:pt>
                  <c:pt idx="2">
                    <c:v>0.2</c:v>
                  </c:pt>
                  <c:pt idx="3">
                    <c:v>0.5</c:v>
                  </c:pt>
                  <c:pt idx="4">
                    <c:v>1</c:v>
                  </c:pt>
                  <c:pt idx="5">
                    <c:v>2</c:v>
                  </c:pt>
                  <c:pt idx="6">
                    <c:v>5</c:v>
                  </c:pt>
                  <c:pt idx="7">
                    <c:v>10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</c:v>
                </c:pt>
                <c:pt idx="1">
                  <c:v>0.09090909090909091</c:v>
                </c:pt>
                <c:pt idx="2">
                  <c:v>0.16666666666666669</c:v>
                </c:pt>
                <c:pt idx="3">
                  <c:v>0.3333333333333333</c:v>
                </c:pt>
                <c:pt idx="4">
                  <c:v>0.5</c:v>
                </c:pt>
                <c:pt idx="5">
                  <c:v>0.6666666666666666</c:v>
                </c:pt>
                <c:pt idx="6">
                  <c:v>0.8333333333333334</c:v>
                </c:pt>
                <c:pt idx="7">
                  <c:v>0.9090909090909091</c:v>
                </c:pt>
              </c:numCache>
            </c:numRef>
          </c:val>
          <c:smooth val="0"/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x(t)</c:v>
                </c:pt>
              </c:strCache>
            </c:strRef>
          </c:tx>
          <c:spPr>
            <a:solidFill>
              <a:srgbClr val="1F77B4"/>
            </a:solidFill>
            <a:ln w="25400" cap="flat">
              <a:solidFill>
                <a:srgbClr val="1F77B4"/>
              </a:solidFill>
              <a:prstDash val="solid"/>
              <a:round/>
            </a:ln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F77B4"/>
              </a:solidFill>
              <a:ln w="9525" cap="flat">
                <a:solidFill>
                  <a:srgbClr val="1F77B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7</c:v>
                  </c:pt>
                  <c:pt idx="7">
                    <c:v>10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0.2</c:v>
                </c:pt>
                <c:pt idx="1">
                  <c:v>1.300281132072799</c:v>
                </c:pt>
                <c:pt idx="2">
                  <c:v>1.7155225118437878</c:v>
                </c:pt>
                <c:pt idx="3">
                  <c:v>2.004333946223826</c:v>
                </c:pt>
                <c:pt idx="4">
                  <c:v>2.227679645699644</c:v>
                </c:pt>
                <c:pt idx="5">
                  <c:v>2.4095171205975583</c:v>
                </c:pt>
                <c:pt idx="6">
                  <c:v>2.6940409835680503</c:v>
                </c:pt>
                <c:pt idx="7">
                  <c:v>2.998406662399233</c:v>
                </c:pt>
              </c:numCache>
            </c:numRef>
          </c:val>
          <c:smooth val="0"/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k_m</c:v>
                </c:pt>
              </c:strCache>
            </c:strRef>
          </c:tx>
          <c:spPr>
            <a:solidFill>
              <a:srgbClr val="1F77B4"/>
            </a:solidFill>
            <a:ln w="25400" cap="flat">
              <a:solidFill>
                <a:srgbClr val="1F77B4"/>
              </a:solidFill>
              <a:prstDash val="solid"/>
              <a:round/>
            </a:ln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F77B4"/>
              </a:solidFill>
              <a:ln w="9525" cap="flat">
                <a:solidFill>
                  <a:srgbClr val="1F77B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500</c:v>
                  </c:pt>
                  <c:pt idx="1">
                    <c:v>1000</c:v>
                  </c:pt>
                  <c:pt idx="2">
                    <c:v>1500</c:v>
                  </c:pt>
                  <c:pt idx="3">
                    <c:v>2000</c:v>
                  </c:pt>
                  <c:pt idx="4">
                    <c:v>2500</c:v>
                  </c:pt>
                  <c:pt idx="5">
                    <c:v>3000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</c:v>
                </c:pt>
                <c:pt idx="1">
                  <c:v>1.4142135623730951</c:v>
                </c:pt>
                <c:pt idx="2">
                  <c:v>1.7320508075688772</c:v>
                </c:pt>
                <c:pt idx="3">
                  <c:v>2</c:v>
                </c:pt>
                <c:pt idx="4">
                  <c:v>2.23606797749979</c:v>
                </c:pt>
                <c:pt idx="5">
                  <c:v>2.449489742783178</c:v>
                </c:pt>
              </c:numCache>
            </c:numRef>
          </c:val>
          <c:smooth val="0"/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https://diyhpl.us/~nmz787/mems/unorganized/RCA_Kern_Puotinen.pdf (RCA clean: SC-1/SC-2の原典)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https://www.gruppotpp.it/wp-content/uploads/2015/10/Mass-Transfer-Correlations-da-Perrys-8th-ed.pdf (Sh-Re-Sc相関の代表例)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https://www.eng.uc.edu/~beaucag/Classes/AdvancedMaterialsThermodynamics/Books/R.%20Byron%20Bird%2C%20Warren%20E.%20Stewart%2C%20Edwin%20N.%20Lightfoot%20-%20Transport%20Phenomena%2C%202nd%20Edition-Wiley%20%282001%29.pdf (膜理論・物質移動の基礎)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https://ansyshelp.ansys.com/public/Views/Secured/corp/v251/en/flu_tg/flu_tg_magnus.html (Fluent: species transport機能の概要)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https://ansyshelp.ansys.com/public/Views/Secured/corp/v251/en/flu_tg/flu_tg_magnus.html (species transport一般式の位置付け)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https://innovationspace.ansys.com/knowledge/forums/topic/using-report-definitions-for-solution-monitoring-in-ansys-fluent/ (Report Definitionsでの出力/モニタ)
- https://www.researchgate.net/profile/Esmaeel-Safijahanshahi-2/post/How_can_I_create_a_script_to_generate_the_meshing_in_Ansys/attachment/59d631f8c49f478072ea1506/AS%3A273628963246080%401442249636152/download/UDF%2BTraining-%2BPetrodanesh.pdf (UDFマクロ: F_FLUX等)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https://ansyshelp.ansys.com/public/Views/Secured/corp/v251/en/flu_tg/flu_tg_magnus.html (species transport)
- https://innovationspace.ansys.com/knowledge/forums/topic/using-report-definitions-for-solution-monitoring-in-ansys-fluent/ (出力の自動化)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https://www.researchgate.net/publication/234973024_Water_Motion_in_Carrierless_Wet_Station (バッチ槽内流れの研究例)
- https://www.sfu.ca/~aroudgar/Tutorials/lecture23%2B24.pdf (回転ディスクの質量移動: Levich)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https://www.eng.uc.edu/~beaucag/Classes/AdvancedMaterialsThermodynamics/Books/R.%20Byron%20Bird%2C%20Warren%20E.%20Stewart%2C%20Edwin%20N.%20Lightfoot%20-%20Transport%20Phenomena%2C%202nd%20Edition-Wiley%20%282001%29.pdf (film theory/物質移動の基本構造)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https://www.eng.uc.edu/~beaucag/Classes/AdvancedMaterialsThermodynamics/Books/R.%20Byron%20Bird%2C%20Warren%20E.%20Stewart%2C%20Edwin%20N.%20Lightfoot%20-%20Transport%20Phenomena%2C%202nd%20Edition-Wiley%20%282001%29.pdf (抵抗直列/Daの考え方)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https://www.scirp.org/reference/referencespapers?referenceid=1866723 (Habukaら: 枚葉ウェットエッチの数値モデルの文献情報)
- https://ptacts.uspto.gov/ptacts/public-informations/petitions/1556211/download-documents?artifactId=31fyiNWN-YV3L5jADlJmNg8YLozLNsyIVp5M3pPbeMlWL00yvGbEjSU (Petitdidier 2005: 酸化/溶解の速度式例)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https://www.gruppotpp.it/wp-content/uploads/2015/10/Mass-Transfer-Correlations-da-Perrys-8th-ed.pdf (Perry’s: Sh–Re–Sc相関)
- https://www.researchgate.net/profile/Esmaeel-Safijahanshahi-2/post/How_can_I_create_a_script_to_generate_the_meshing_in_Ansys/attachment/59d631f8c49f478072ea1506/AS%3A273628963246080%401442249636152/download/UDF%2BTraining-%2BPetrodanesh.pdf (Fluent UDFでのflux/種の取り出しマクロ例)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https://innovationspace.ansys.com/knowledge/forums/topic/using-report-definitions-for-solution-monitoring-in-ansys-fluent/ (Report Definitionsでの出力)
- https://www.cfd-online.com/Forums/fluent/39474-how-specify-surface-flux-species.html (Fluentでの境界フラックス指定・出力の考え方)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https://www.eng.uc.edu/~beaucag/Classes/AdvancedMaterialsThermodynamics/Books/R.%20Byron%20Bird%2C%20Warren%20E.%20Stewart%2C%20Edwin%20N.%20Lightfoot%20-%20Transport%20Phenomena%2C%202nd%20Edition-Wiley%20%282001%29.pdf (film + 反応の結合の基礎)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https://ptacts.uspto.gov/ptacts/public-informations/petitions/1556211/download-documents?artifactId=31fyiNWN-YV3L5jADlJmNg8YLozLNsyIVp5M3pPbeMlWL00yvGbEjSU (Petitdidier et al., Thin Solid Films 476 (2005): dx/dt = D1C0/x − K)
- https://diyhpl.us/~nmz787/mems/unorganized/RCA_Kern_Puotinen.pdf (SC-1/SC-2洗浄の基礎)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https://www.sfu.ca/~aroudgar/Tutorials/lecture23%2B24.pdf (物質移動律速の整理に使う基礎)
- https://www.scirp.org/reference/referencespapers?referenceid=1866723 (Habuka関連文献情報)
- https://www.idc-online.com/technical_references/pdfs/chemical_engineering/Acid_Based_Etching_of_Wafers.pdf (HF系ウェットエッチでの輸送/速度論・気泡マスキングの議論)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https://static.horiba.com/fileadmin/Horiba/Company/About_HORIBA/Readout/R51E/R51J_10_034_2.pdf (希薄HFエッチのシミュレーション例: HF系の議論)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https://download.e-bookshelf.de/download/0000/5904/48/L-G-0000590448-0002362647.pdf (半導体洗浄技術の体系的整理: 装置・薬液管理の観点)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https://www.researchgate.net/publication/234973024_Water_Motion_in_Carrierless_Wet_Station (バッチ槽内流れ・カセット周り流れの解析例)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https://www.researchgate.net/publication/234973024_Water_Motion_in_Carrierless_Wet_Station (バッチ槽のウェハ間流れのモデリング例)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https://www.idc-online.com/technical_references/pdfs/chemical_engineering/Acid_Based_Etching_of_Wafers.pdf (bubble maskingと有効抵抗の議論)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https://innovationspace.ansys.com/knowledge/forums/topic/using-report-definitions-for-solution-monitoring-in-ansys-fluent/ (Report Definitions)
- https://www.researchgate.net/profile/Esmaeel-Safijahanshahi-2/post/How_can_I_create_a_script_to_generate_the_meshing_in_Ansys/attachment/59d631f8c49f478072ea1506/AS%3A273628963246080%401442249636152/download/UDF%2BTraining-%2BPetrodanesh.pdf (F_FLUX/F_YIの参照)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https://www.sfu.ca/~aroudgar/Tutorials/lecture23%2B24.pdf (Levich式: ω^{1/2}依存)
- https://old.vscht.cz/kat/download/lab_rde_eng_old.pdf (RDEの拡散層厚さの概念図・均一性)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https://cir.nii.ac.jp/crid/1360011146201886976 (回転円盤上の薄膜流に関する古典的薄膜モデルの位置付け: Emslieら)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https://www.researchgate.net/publication/257556294_Numerical_Calculation_Model_of_Single_Wafer_Wet_Etcher_Using_Swinging_Nozzle (Habukaら: 枚葉ウェットエッチをCFD+速度論でモデル化)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https://www.researchgate.net/publication/257556294_Numerical_Calculation_Model_of_Single_Wafer_Wet_Etcher_Using_Swinging_Nozzle (非軸対称供給のCFD+速度論モデル)
- https://www.semi.org/sites/semi.org/files/2023-12/3_Naser%20Belmiloud.pdf (回転ディスク流れのLES等：乱流/高忠実度の議論例)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https://innovationspace.ansys.com/knowledge/forums/topic/using-report-definitions-for-solution-monitoring-in-ansys-fluent/ (Report Definitions)
- https://www.researchgate.net/profile/Esmaeel-Safijahanshahi-2/post/How_can_I_create_a_script_to_generate_the_meshing_in_Ansys/attachment/59d631f8c49f478072ea1506/AS%3A273628963246080%401442249636152/download/UDF%2BTraining-%2BPetrodanesh.pdf (UDFでのflux抽出)
- https://www.sfu.ca/~aroudgar/Tutorials/lecture23%2B24.pdf (Levich: 回転ディスク)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https://www.eng.uc.edu/~beaucag/Classes/AdvancedMaterialsThermodynamics/Books/R.%20Byron%20Bird%2C%20Warren%20E.%20Stewart%2C%20Edwin%20N.%20Lightfoot%20-%20Transport%20Phenomena%2C%202nd%20Edition-Wiley%20%282001%29.pdf (パラメータの物理解釈の基礎)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https://diyhpl.us/~nmz787/mems/unorganized/RCA_Kern_Puotinen.pdf
- https://ptacts.uspto.gov/ptacts/public-informations/petitions/1556211/download-documents?artifactId=31fyiNWN-YV3L5jADlJmNg8YLozLNsyIVp5M3pPbeMlWL00yvGbEjSU
- https://www.researchgate.net/publication/257556294_Numerical_Calculation_Model_of_Single_Wafer_Wet_Etcher_Using_Swinging_Nozzle
- https://www.gruppotpp.it/wp-content/uploads/2015/10/Mass-Transfer-Correlations-da-Perrys-8th-ed.pdf
- https://www.eng.uc.edu/~beaucag/Classes/AdvancedMaterialsThermodynamics/Books/R.%20Byron%20Bird%2C%20Warren%20E.%20Stewart%2C%20Edwin%20N.%20Lightfoot%20-%20Transport%20Phenomena%2C%202nd%20Edition-Wiley%20%282001%29.pdf
- https://www.idc-online.com/technical_references/pdfs/chemical_engineering/Acid_Based_Etching_of_Wafers.pdf
- https://innovationspace.ansys.com/knowledge/forums/topic/using-report-definitions-for-solution-monitoring-in-ansys-fluent/
- https://www.researchgate.net/profile/Esmaeel-Safijahanshahi-2/post/How_can_I_create_a_script_to_generate_the_meshing_in_Ansys/attachment/59d631f8c49f478072ea1506/AS%3A273628963246080%401442249636152/download/UDF%2BTraining-%2BPetrodanesh.pdf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https://innovationspace.ansys.com/knowledge/forums/topic/using-report-definitions-for-solution-monitoring-in-ansys-fluent/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886200"/>
            <a:ext cx="12191695" cy="29718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463040"/>
            <a:ext cx="1054577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ウェット洗浄装置のエッチング量予測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（バッチ洗浄 vs 枚葉洗浄）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22960" y="2788920"/>
            <a:ext cx="105457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Fluent（Ansys）等のシミュレーション結果を入力にした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反応・膜拡散・装置スケール連成の低次元モデル化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4617720"/>
            <a:ext cx="10545775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対象：半導体製造装置（バッチ洗浄／枚葉洗浄）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入力：Fluent 等の別シミュレーション結果（濃度・フラックス・温度・流れ）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出力：ウェハ位置ごとのエッチングアマウント／膜厚変化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45775" y="653796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p.1/30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46304"/>
            <a:ext cx="5715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概要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355080" y="146304"/>
            <a:ext cx="5470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Agenda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45775" y="66019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p.2/30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7772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この資料で扱うこと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22960" y="1508760"/>
            <a:ext cx="1078992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3520" indent="-22352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目的：Fluent等の結果（濃度・フラックス・温度・流れ）から、ウェハ位置ごとのエッチングアマウント/膜厚変化を予測</a:t>
            </a:r>
            <a:endParaRPr lang="en-US" sz="1600" dirty="0"/>
          </a:p>
          <a:p>
            <a:pPr marL="223520" indent="-22352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対象装置：①バッチ浸漬洗浄（カセット/循環/オーバーフロー）②枚葉洗浄（回転＋ノズル、puddle/薄膜）</a:t>
            </a:r>
            <a:endParaRPr lang="en-US" sz="1600" dirty="0"/>
          </a:p>
          <a:p>
            <a:pPr marL="223520" indent="-22352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焦点：解析解・ODEに落とすための理論/近似（film theory、抵抗直列、区画モデル、薄膜モデル）</a:t>
            </a:r>
            <a:endParaRPr lang="en-US" sz="1600" dirty="0"/>
          </a:p>
          <a:p>
            <a:pPr marL="223520" indent="-22352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Fluentから「何を出せば各手法が回るか」＝必要な入力粒度を手法別に整理</a:t>
            </a:r>
            <a:endParaRPr lang="en-US" sz="1600" dirty="0"/>
          </a:p>
          <a:p>
            <a:pPr marL="223520" indent="-22352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最後に：推奨パイプライン（Fluent→抽出→低次元ODE→校正/同化→検証）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46304"/>
            <a:ext cx="5715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背景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355080" y="146304"/>
            <a:ext cx="5470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Why now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45775" y="66019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p.3/30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7772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背景：ウェット工程の均一性要求とモデル化の難しさ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731520" y="1508760"/>
            <a:ext cx="52120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60120" y="167335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バッチ洗浄：多数枚同時処理ゆえ「槽内の弱い不均一」が増幅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2075688"/>
            <a:ext cx="4754880" cy="1399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カセット内の狭隙・よどみ域 → 物質移動係数 k_m の空間分布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浴の劣化/消費 → 濃度 C(t) の時間変動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気泡・微小温度差 → 局所マスキング/速度定数変化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63640" y="1508760"/>
            <a:ext cx="52120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92240" y="167335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枚葉洗浄：回転＋薄膜流で「半径方向・時間方向の枯渇」を作る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92240" y="2075688"/>
            <a:ext cx="4754880" cy="1399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回転ディスク境界層 → k_m(ω) の解析式が使える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ノズル掃引/非中心供給 → 非軸対称（r,θ,t）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自由表面・薄膜厚み h(r,t) が輸送と反応を強結合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31520" y="3886200"/>
            <a:ext cx="10698480" cy="13563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96112" y="3995928"/>
            <a:ext cx="103692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目的の最終量：局所膜厚/エッチ深さ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96112" y="4233672"/>
            <a:ext cx="10369296" cy="917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dh/dt = -α · J_s(x,y,t)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J_s = k_m(C_b - C_s) = r_s(C_s,T,…)  （film + 反応）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α = M_s /(ρ_s · ν)  （化学量論→厚み換算）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46304"/>
            <a:ext cx="5715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目的/スコープ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355080" y="146304"/>
            <a:ext cx="5470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Goal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45775" y="66019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p.4/30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7772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目的：Fluentの結果を「物理整合な低次元モデル」に写像する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822960" y="1691640"/>
            <a:ext cx="1975104" cy="960120"/>
          </a:xfrm>
          <a:prstGeom prst="roundRect">
            <a:avLst/>
          </a:prstGeom>
          <a:solidFill>
            <a:srgbClr val="1F77B4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32688" y="1828800"/>
            <a:ext cx="17556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Fluent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825496" y="2008480"/>
            <a:ext cx="128016" cy="326441"/>
          </a:xfrm>
          <a:prstGeom prst="rightArrow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80944" y="1691640"/>
            <a:ext cx="1975104" cy="9601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090672" y="1828800"/>
            <a:ext cx="17556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抽出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983480" y="2008480"/>
            <a:ext cx="128016" cy="326441"/>
          </a:xfrm>
          <a:prstGeom prst="rightArrow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38928" y="1691640"/>
            <a:ext cx="1975104" cy="9601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248656" y="1828800"/>
            <a:ext cx="17556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界面モデル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141464" y="2008480"/>
            <a:ext cx="128016" cy="326441"/>
          </a:xfrm>
          <a:prstGeom prst="rightArrow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96912" y="1691640"/>
            <a:ext cx="1975104" cy="9601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406640" y="1828800"/>
            <a:ext cx="17556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ODE積分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299448" y="2008480"/>
            <a:ext cx="128016" cy="326441"/>
          </a:xfrm>
          <a:prstGeom prst="rightArrow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54896" y="1691640"/>
            <a:ext cx="1975104" cy="9601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564624" y="1828800"/>
            <a:ext cx="17556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校正/検証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68680" y="2834640"/>
            <a:ext cx="107899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9550" indent="-20955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入力（Fluent等）：速度 u、温度 T、種濃度/質量分率 Y_i、壁面フラックス、壁せん断 τ_w、乱流粘性 μ_t、自由表面（VOF）など</a:t>
            </a:r>
            <a:endParaRPr lang="en-US" sz="1500" dirty="0"/>
          </a:p>
          <a:p>
            <a:pPr marL="209550" indent="-20955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中核：film theory（k_m）＋界面反応（r_s）を「抵抗直列」で結合 → 局所フラックス J_s</a:t>
            </a:r>
            <a:endParaRPr lang="en-US" sz="1500" dirty="0"/>
          </a:p>
          <a:p>
            <a:pPr marL="209550" indent="-20955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低次元化：バッチ＝槽0D/区画ODE＋カセット補正、枚葉＝回転ディスク/薄膜リングODE</a:t>
            </a:r>
            <a:endParaRPr lang="en-US" sz="1500" dirty="0"/>
          </a:p>
          <a:p>
            <a:pPr marL="209550" indent="-20955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同化：係数はMLで合わせるが、構造（符号制約、温度依存、レジーム遷移）は物理で固定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46304"/>
            <a:ext cx="5715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定式化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355080" y="146304"/>
            <a:ext cx="5470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Problem statement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45775" y="66019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p.5/30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7772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定式化：入力（濃度/フラックス分布）→エッチ量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731520" y="1508760"/>
            <a:ext cx="5577840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60120" y="167335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入力（別シミュレーション）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2075688"/>
            <a:ext cx="5120640" cy="1856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代表ケース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Case A: 壁面フラックス J_s(x,y,t) が直接得られる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Case B: バルク濃度 C_b(x,y,t) と流れ/乱流量が得られる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Case C: 濃度場 c(x,y,z,t) が得られる（境界層も解像）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出力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膜厚 h(x,y,t) / エッチ深さ e(x,y,t)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ウェハ間（z方向）・面内（r,θ）の分布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92240" y="1508760"/>
            <a:ext cx="4983480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720840" y="1673352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記号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720840" y="2075688"/>
            <a:ext cx="4526280" cy="1856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C_b: 境界層外の代表濃度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C_s: 固液界面濃度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J_s: 固液界面フラックス（mol/m²/s）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k_m: 物質移動係数（m/s）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r_s: 表面反応速度（mol/m²/s）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α: 厚み換算係数 M/(ρ·ν)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Da: Damköhler数 ≈ k_s/k_m（一次反応）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31520" y="4343400"/>
            <a:ext cx="10744200" cy="11430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96112" y="4453128"/>
            <a:ext cx="104150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支配方程式（高忠実度→低次元へ）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96112" y="4690872"/>
            <a:ext cx="10415016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∂c_i/∂t + u·∇c_i = ∇·(D_eff,i ∇c_i) + R_i(c, T)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wall BC:  -D_eff,i (∂c_i/∂n)|w = J_i,w  = r_i,surf( C_s, … )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46304"/>
            <a:ext cx="5715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Fluent出力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355080" y="146304"/>
            <a:ext cx="5470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必要な入力粒度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45775" y="66019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p.6/30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7772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Fluent（Ansys）から取り出せる量：手法選択を決める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731520" y="1417320"/>
            <a:ext cx="1504188" cy="868680"/>
          </a:xfrm>
          <a:prstGeom prst="rect">
            <a:avLst/>
          </a:prstGeom>
          <a:solidFill>
            <a:srgbClr val="F5F7FA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472184"/>
            <a:ext cx="1357884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3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カテゴリ</a:t>
            </a:r>
            <a:endParaRPr lang="en-US" sz="1130" dirty="0"/>
          </a:p>
        </p:txBody>
      </p:sp>
      <p:sp>
        <p:nvSpPr>
          <p:cNvPr id="10" name="Shape 8"/>
          <p:cNvSpPr/>
          <p:nvPr/>
        </p:nvSpPr>
        <p:spPr>
          <a:xfrm>
            <a:off x="2235708" y="1417320"/>
            <a:ext cx="5264658" cy="868680"/>
          </a:xfrm>
          <a:prstGeom prst="rect">
            <a:avLst/>
          </a:prstGeom>
          <a:solidFill>
            <a:srgbClr val="F5F7FA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08860" y="1472184"/>
            <a:ext cx="5118354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3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例（Fluentでの出力/抽出）</a:t>
            </a:r>
            <a:endParaRPr lang="en-US" sz="1130" dirty="0"/>
          </a:p>
        </p:txBody>
      </p:sp>
      <p:sp>
        <p:nvSpPr>
          <p:cNvPr id="12" name="Shape 10"/>
          <p:cNvSpPr/>
          <p:nvPr/>
        </p:nvSpPr>
        <p:spPr>
          <a:xfrm>
            <a:off x="7500366" y="1417320"/>
            <a:ext cx="3975354" cy="868680"/>
          </a:xfrm>
          <a:prstGeom prst="rect">
            <a:avLst/>
          </a:prstGeom>
          <a:solidFill>
            <a:srgbClr val="F5F7FA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73518" y="1472184"/>
            <a:ext cx="3829050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3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用途（後続モデル）</a:t>
            </a:r>
            <a:endParaRPr lang="en-US" sz="1130" dirty="0"/>
          </a:p>
        </p:txBody>
      </p:sp>
      <p:sp>
        <p:nvSpPr>
          <p:cNvPr id="14" name="Shape 12"/>
          <p:cNvSpPr/>
          <p:nvPr/>
        </p:nvSpPr>
        <p:spPr>
          <a:xfrm>
            <a:off x="731520" y="2286000"/>
            <a:ext cx="150418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2340864"/>
            <a:ext cx="1357884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壁面（wall）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2235708" y="2286000"/>
            <a:ext cx="526465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08860" y="2340864"/>
            <a:ext cx="5118354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Species diffusive/total flux（壁面積分 or 面分布）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壁面濃度/質量分率 Y_i,w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壁せん断 τ_w, 壁面熱流束 q_w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7500366" y="2286000"/>
            <a:ext cx="3975354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73518" y="2340864"/>
            <a:ext cx="3829050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Case A: J_s直接積分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Case B/C: k_m推定・境界層評価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731520" y="3154680"/>
            <a:ext cx="150418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" y="3209544"/>
            <a:ext cx="1357884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近壁（near-wall）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2235708" y="3154680"/>
            <a:ext cx="526465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08860" y="3209544"/>
            <a:ext cx="5118354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1st cell中心の C_i, T, μ_t, ρ, y+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壁法則や乱流Schmidt数 Sc_t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7500366" y="3154680"/>
            <a:ext cx="3975354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73518" y="3209544"/>
            <a:ext cx="3829050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C_b定義・D_eff算出・k_m同定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731520" y="4023360"/>
            <a:ext cx="150418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4672" y="4078224"/>
            <a:ext cx="1357884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バルク/槽内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2235708" y="4023360"/>
            <a:ext cx="526465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08860" y="4078224"/>
            <a:ext cx="5118354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濃度場 C(x,y,z,t)、流速 u(x,y,z,t)、滞留/循環パス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VOF自由表面（薄膜厚み proxy）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7500366" y="4023360"/>
            <a:ext cx="3975354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73518" y="4078224"/>
            <a:ext cx="3829050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バッチ区画モデル、枚葉薄膜リングモデルの入力</a:t>
            </a:r>
            <a:endParaRPr lang="en-US" sz="1080" dirty="0"/>
          </a:p>
        </p:txBody>
      </p:sp>
      <p:sp>
        <p:nvSpPr>
          <p:cNvPr id="32" name="Shape 30"/>
          <p:cNvSpPr/>
          <p:nvPr/>
        </p:nvSpPr>
        <p:spPr>
          <a:xfrm>
            <a:off x="731520" y="4892040"/>
            <a:ext cx="150418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4672" y="4946904"/>
            <a:ext cx="1357884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UDF/モニタ</a:t>
            </a:r>
            <a:endParaRPr lang="en-US" sz="1080" dirty="0"/>
          </a:p>
        </p:txBody>
      </p:sp>
      <p:sp>
        <p:nvSpPr>
          <p:cNvPr id="34" name="Shape 32"/>
          <p:cNvSpPr/>
          <p:nvPr/>
        </p:nvSpPr>
        <p:spPr>
          <a:xfrm>
            <a:off x="2235708" y="4892040"/>
            <a:ext cx="526465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308860" y="4946904"/>
            <a:ext cx="5118354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面ごとのFlux/平均値を逐次出力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F_FLUX, F_YI 等のマクロで壁面量抽出</a:t>
            </a:r>
            <a:endParaRPr lang="en-US" sz="1080" dirty="0"/>
          </a:p>
        </p:txBody>
      </p:sp>
      <p:sp>
        <p:nvSpPr>
          <p:cNvPr id="36" name="Shape 34"/>
          <p:cNvSpPr/>
          <p:nvPr/>
        </p:nvSpPr>
        <p:spPr>
          <a:xfrm>
            <a:off x="7500366" y="4892040"/>
            <a:ext cx="3975354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573518" y="4946904"/>
            <a:ext cx="3829050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抽出自動化・校正/同化用の時系列生成</a:t>
            </a:r>
            <a:endParaRPr lang="en-US" sz="1080" dirty="0"/>
          </a:p>
        </p:txBody>
      </p:sp>
      <p:sp>
        <p:nvSpPr>
          <p:cNvPr id="38" name="Text 36"/>
          <p:cNvSpPr/>
          <p:nvPr/>
        </p:nvSpPr>
        <p:spPr>
          <a:xfrm>
            <a:off x="777240" y="5833872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ポイント：手法ごとに必要な“粒度”が違う（次スライド以降で対応表を提示）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46304"/>
            <a:ext cx="5715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Fluent出力→手法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355080" y="146304"/>
            <a:ext cx="5470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必要な粒度マップ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45775" y="66019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p.7/30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7772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各手法が必要とする“Fluent出力の粒度”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731520" y="1481328"/>
            <a:ext cx="2578608" cy="71323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536192"/>
            <a:ext cx="2432304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手法（低次元化）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10128" y="1481328"/>
            <a:ext cx="4082796" cy="71323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1536192"/>
            <a:ext cx="3936492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Fluentから必要な出力（最小）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392924" y="1481328"/>
            <a:ext cx="4082796" cy="71323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66076" y="1536192"/>
            <a:ext cx="3936492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備考（推奨の抽出定義）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31520" y="2194560"/>
            <a:ext cx="257860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2249424"/>
            <a:ext cx="2432304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M0: 壁面フラックス直接積分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3310128" y="2194560"/>
            <a:ext cx="408279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0" y="2249424"/>
            <a:ext cx="3936492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J_s(x,y,t)（wall flux map）</a:t>
            </a:r>
            <a:endParaRPr lang="en-US" sz="1030" dirty="0"/>
          </a:p>
        </p:txBody>
      </p:sp>
      <p:sp>
        <p:nvSpPr>
          <p:cNvPr id="18" name="Shape 16"/>
          <p:cNvSpPr/>
          <p:nvPr/>
        </p:nvSpPr>
        <p:spPr>
          <a:xfrm>
            <a:off x="7392924" y="2194560"/>
            <a:ext cx="408279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66076" y="2249424"/>
            <a:ext cx="3936492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Fluentの壁面Fluxが「反応消費フラックス」なら最短</a:t>
            </a:r>
            <a:endParaRPr lang="en-US" sz="1030" dirty="0"/>
          </a:p>
        </p:txBody>
      </p:sp>
      <p:sp>
        <p:nvSpPr>
          <p:cNvPr id="20" name="Shape 18"/>
          <p:cNvSpPr/>
          <p:nvPr/>
        </p:nvSpPr>
        <p:spPr>
          <a:xfrm>
            <a:off x="731520" y="2907792"/>
            <a:ext cx="257860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" y="2962656"/>
            <a:ext cx="2432304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M1: film + 反応（抵抗直列）</a:t>
            </a:r>
            <a:endParaRPr lang="en-US" sz="1030" dirty="0"/>
          </a:p>
        </p:txBody>
      </p:sp>
      <p:sp>
        <p:nvSpPr>
          <p:cNvPr id="22" name="Shape 20"/>
          <p:cNvSpPr/>
          <p:nvPr/>
        </p:nvSpPr>
        <p:spPr>
          <a:xfrm>
            <a:off x="3310128" y="2907792"/>
            <a:ext cx="408279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0" y="2962656"/>
            <a:ext cx="3936492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C_b近傍 + (k_m or 近壁∇C) + T</a:t>
            </a:r>
            <a:endParaRPr lang="en-US" sz="1030" dirty="0"/>
          </a:p>
        </p:txBody>
      </p:sp>
      <p:sp>
        <p:nvSpPr>
          <p:cNvPr id="24" name="Shape 22"/>
          <p:cNvSpPr/>
          <p:nvPr/>
        </p:nvSpPr>
        <p:spPr>
          <a:xfrm>
            <a:off x="7392924" y="2907792"/>
            <a:ext cx="408279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66076" y="2962656"/>
            <a:ext cx="3936492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C_bは“境界層外”の代表値を定義（1st cell/サンプリング面）</a:t>
            </a:r>
            <a:endParaRPr lang="en-US" sz="1030" dirty="0"/>
          </a:p>
        </p:txBody>
      </p:sp>
      <p:sp>
        <p:nvSpPr>
          <p:cNvPr id="26" name="Shape 24"/>
          <p:cNvSpPr/>
          <p:nvPr/>
        </p:nvSpPr>
        <p:spPr>
          <a:xfrm>
            <a:off x="731520" y="3621024"/>
            <a:ext cx="257860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4672" y="3675888"/>
            <a:ext cx="2432304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M2: k_mをCFD→相関で抽出</a:t>
            </a:r>
            <a:endParaRPr lang="en-US" sz="1030" dirty="0"/>
          </a:p>
        </p:txBody>
      </p:sp>
      <p:sp>
        <p:nvSpPr>
          <p:cNvPr id="28" name="Shape 26"/>
          <p:cNvSpPr/>
          <p:nvPr/>
        </p:nvSpPr>
        <p:spPr>
          <a:xfrm>
            <a:off x="3310128" y="3621024"/>
            <a:ext cx="408279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83280" y="3675888"/>
            <a:ext cx="3936492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壁せん断 τ_w or u, μ_t など</a:t>
            </a:r>
            <a:endParaRPr lang="en-US" sz="1030" dirty="0"/>
          </a:p>
        </p:txBody>
      </p:sp>
      <p:sp>
        <p:nvSpPr>
          <p:cNvPr id="30" name="Shape 28"/>
          <p:cNvSpPr/>
          <p:nvPr/>
        </p:nvSpPr>
        <p:spPr>
          <a:xfrm>
            <a:off x="7392924" y="3621024"/>
            <a:ext cx="408279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66076" y="3675888"/>
            <a:ext cx="3936492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τ_w→摩擦速度 u_*→境界層スケール→k_mを同定</a:t>
            </a:r>
            <a:endParaRPr lang="en-US" sz="1030" dirty="0"/>
          </a:p>
        </p:txBody>
      </p:sp>
      <p:sp>
        <p:nvSpPr>
          <p:cNvPr id="32" name="Shape 30"/>
          <p:cNvSpPr/>
          <p:nvPr/>
        </p:nvSpPr>
        <p:spPr>
          <a:xfrm>
            <a:off x="731520" y="4334256"/>
            <a:ext cx="257860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4672" y="4389120"/>
            <a:ext cx="2432304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M3: バッチ槽0D/区画ODE</a:t>
            </a:r>
            <a:endParaRPr lang="en-US" sz="1030" dirty="0"/>
          </a:p>
        </p:txBody>
      </p:sp>
      <p:sp>
        <p:nvSpPr>
          <p:cNvPr id="34" name="Shape 32"/>
          <p:cNvSpPr/>
          <p:nvPr/>
        </p:nvSpPr>
        <p:spPr>
          <a:xfrm>
            <a:off x="3310128" y="4334256"/>
            <a:ext cx="408279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83280" y="4389120"/>
            <a:ext cx="3936492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区画ごとの平均 C(t), 流量Q, 体積V</a:t>
            </a:r>
            <a:endParaRPr lang="en-US" sz="1030" dirty="0"/>
          </a:p>
        </p:txBody>
      </p:sp>
      <p:sp>
        <p:nvSpPr>
          <p:cNvPr id="36" name="Shape 34"/>
          <p:cNvSpPr/>
          <p:nvPr/>
        </p:nvSpPr>
        <p:spPr>
          <a:xfrm>
            <a:off x="7392924" y="4334256"/>
            <a:ext cx="408279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66076" y="4389120"/>
            <a:ext cx="3936492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CFDからトレーサ/流量分配→区画間Q_ij推定</a:t>
            </a:r>
            <a:endParaRPr lang="en-US" sz="1030" dirty="0"/>
          </a:p>
        </p:txBody>
      </p:sp>
      <p:sp>
        <p:nvSpPr>
          <p:cNvPr id="38" name="Shape 36"/>
          <p:cNvSpPr/>
          <p:nvPr/>
        </p:nvSpPr>
        <p:spPr>
          <a:xfrm>
            <a:off x="731520" y="5047488"/>
            <a:ext cx="257860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04672" y="5102352"/>
            <a:ext cx="2432304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M4: 枚葉リング薄膜ODE（軸対称）</a:t>
            </a:r>
            <a:endParaRPr lang="en-US" sz="1030" dirty="0"/>
          </a:p>
        </p:txBody>
      </p:sp>
      <p:sp>
        <p:nvSpPr>
          <p:cNvPr id="40" name="Shape 38"/>
          <p:cNvSpPr/>
          <p:nvPr/>
        </p:nvSpPr>
        <p:spPr>
          <a:xfrm>
            <a:off x="3310128" y="5047488"/>
            <a:ext cx="408279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83280" y="5102352"/>
            <a:ext cx="3936492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薄膜厚 h(r,t) or VOF, 面内平均C(r,t), 供給条件</a:t>
            </a:r>
            <a:endParaRPr lang="en-US" sz="1030" dirty="0"/>
          </a:p>
        </p:txBody>
      </p:sp>
      <p:sp>
        <p:nvSpPr>
          <p:cNvPr id="42" name="Shape 40"/>
          <p:cNvSpPr/>
          <p:nvPr/>
        </p:nvSpPr>
        <p:spPr>
          <a:xfrm>
            <a:off x="7392924" y="5047488"/>
            <a:ext cx="408279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466076" y="5102352"/>
            <a:ext cx="3936492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薄膜平均化（深さ方向は混合）を仮定し1D化</a:t>
            </a:r>
            <a:endParaRPr lang="en-US" sz="1030" dirty="0"/>
          </a:p>
        </p:txBody>
      </p:sp>
      <p:sp>
        <p:nvSpPr>
          <p:cNvPr id="44" name="Shape 42"/>
          <p:cNvSpPr/>
          <p:nvPr/>
        </p:nvSpPr>
        <p:spPr>
          <a:xfrm>
            <a:off x="731520" y="5760720"/>
            <a:ext cx="257860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04672" y="5815584"/>
            <a:ext cx="2432304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M5: 枚葉2D（ノズル掃引/非中心）</a:t>
            </a:r>
            <a:endParaRPr lang="en-US" sz="1030" dirty="0"/>
          </a:p>
        </p:txBody>
      </p:sp>
      <p:sp>
        <p:nvSpPr>
          <p:cNvPr id="46" name="Shape 44"/>
          <p:cNvSpPr/>
          <p:nvPr/>
        </p:nvSpPr>
        <p:spPr>
          <a:xfrm>
            <a:off x="3310128" y="5760720"/>
            <a:ext cx="408279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83280" y="5815584"/>
            <a:ext cx="3936492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C(r,θ,t) あるいは供給ソースS(r,θ,t) + u_film</a:t>
            </a:r>
            <a:endParaRPr lang="en-US" sz="1030" dirty="0"/>
          </a:p>
        </p:txBody>
      </p:sp>
      <p:sp>
        <p:nvSpPr>
          <p:cNvPr id="48" name="Shape 46"/>
          <p:cNvSpPr/>
          <p:nvPr/>
        </p:nvSpPr>
        <p:spPr>
          <a:xfrm>
            <a:off x="7392924" y="5760720"/>
            <a:ext cx="408279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466076" y="5815584"/>
            <a:ext cx="3936492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CFDで得たノズル分布をソース項として2D移流拡散へ</a:t>
            </a:r>
            <a:endParaRPr lang="en-US" sz="103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46304"/>
            <a:ext cx="5715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装置物理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355080" y="146304"/>
            <a:ext cx="5470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Batch vs Single-wafer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45775" y="66019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p.8/30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7772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装置スケールの違い：何が“支配的な不均一”を作るか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731520" y="1508760"/>
            <a:ext cx="5532120" cy="49834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6916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バッチ浸漬（多枚数）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097280" y="2148840"/>
            <a:ext cx="4892040" cy="3017520"/>
          </a:xfrm>
          <a:prstGeom prst="rect">
            <a:avLst/>
          </a:prstGeom>
          <a:solidFill>
            <a:srgbClr val="DCEB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417320" y="2423160"/>
            <a:ext cx="164592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03120" y="2423160"/>
            <a:ext cx="164592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88920" y="2423160"/>
            <a:ext cx="164592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74720" y="2423160"/>
            <a:ext cx="164592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60520" y="2423160"/>
            <a:ext cx="164592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46320" y="2423160"/>
            <a:ext cx="164592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43000" y="2212848"/>
            <a:ext cx="320040" cy="502920"/>
          </a:xfrm>
          <a:prstGeom prst="downArrow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81328" y="2249424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供給/循環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596128" y="4709160"/>
            <a:ext cx="320040" cy="502920"/>
          </a:xfrm>
          <a:prstGeom prst="upArrow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5486400"/>
            <a:ext cx="51206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4625" indent="-174625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濃度・温度が槽内で空間分布（よどみ域/短絡流）</a:t>
            </a:r>
            <a:endParaRPr lang="en-US" sz="1250" dirty="0"/>
          </a:p>
          <a:p>
            <a:pPr marL="174625" indent="-174625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カセット内狭隙 → k_m が位置依存</a:t>
            </a:r>
            <a:endParaRPr lang="en-US" sz="1250" dirty="0"/>
          </a:p>
          <a:p>
            <a:pPr marL="174625" indent="-174625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浴消耗・分解 → C(t) が時間変動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92240" y="1508760"/>
            <a:ext cx="4983480" cy="49834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20840" y="1691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枚葉（回転＋ノズル/薄膜）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452360" y="2148840"/>
            <a:ext cx="3337560" cy="33375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43800" y="2240280"/>
            <a:ext cx="3154680" cy="3154680"/>
          </a:xfrm>
          <a:prstGeom prst="arc">
            <a:avLst/>
          </a:prstGeom>
          <a:noFill/>
          <a:ln w="25400">
            <a:solidFill>
              <a:srgbClr val="1F77B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961120" y="2331720"/>
            <a:ext cx="256032" cy="256032"/>
          </a:xfrm>
          <a:prstGeom prst="triangl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961120" y="285292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ω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851392" y="2084832"/>
            <a:ext cx="292608" cy="41148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878824" y="2496312"/>
            <a:ext cx="237744" cy="384048"/>
          </a:xfrm>
          <a:prstGeom prst="downArrow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20840" y="562356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4625" indent="-174625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回転境界層 → k_m ∝ ω^1/2（解析式あり）</a:t>
            </a:r>
            <a:endParaRPr lang="en-US" sz="1250" dirty="0"/>
          </a:p>
          <a:p>
            <a:pPr marL="174625" indent="-174625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薄膜流 → r方向枯渇・非定常</a:t>
            </a:r>
            <a:endParaRPr lang="en-US" sz="1250" dirty="0"/>
          </a:p>
          <a:p>
            <a:pPr marL="174625" indent="-174625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ノズル掃引→非軸対称（r,θ,t）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46304"/>
            <a:ext cx="5715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モデリング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355080" y="146304"/>
            <a:ext cx="5470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Core structure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45775" y="66019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p.9/30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7772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共通骨格：輸送→界面→膜厚（“抵抗直列”でODE化）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822960" y="1645920"/>
            <a:ext cx="5394960" cy="45262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18288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境界層の縮約（film theory）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097280" y="5669280"/>
            <a:ext cx="489204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" y="5669280"/>
            <a:ext cx="0" cy="-320040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237744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51560" y="571500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壁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508760" y="5486400"/>
            <a:ext cx="320040" cy="-365760"/>
          </a:xfrm>
          <a:prstGeom prst="line">
            <a:avLst/>
          </a:prstGeom>
          <a:noFill/>
          <a:ln w="25400">
            <a:solidFill>
              <a:srgbClr val="1F77B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28800" y="5120640"/>
            <a:ext cx="731520" cy="-1097280"/>
          </a:xfrm>
          <a:prstGeom prst="line">
            <a:avLst/>
          </a:prstGeom>
          <a:noFill/>
          <a:ln w="25400">
            <a:solidFill>
              <a:srgbClr val="1F77B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60320" y="4023360"/>
            <a:ext cx="914400" cy="-822960"/>
          </a:xfrm>
          <a:prstGeom prst="line">
            <a:avLst/>
          </a:prstGeom>
          <a:noFill/>
          <a:ln w="25400">
            <a:solidFill>
              <a:srgbClr val="1F77B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0" y="3200400"/>
            <a:ext cx="1920240" cy="-365760"/>
          </a:xfrm>
          <a:prstGeom prst="line">
            <a:avLst/>
          </a:prstGeom>
          <a:noFill/>
          <a:ln w="25400">
            <a:solidFill>
              <a:srgbClr val="1F77B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17320" y="53492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77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49240" y="269748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77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C_b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286000" y="5440680"/>
            <a:ext cx="914400" cy="228600"/>
          </a:xfrm>
          <a:prstGeom prst="rightArrow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46120" y="523036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92240" y="1645920"/>
            <a:ext cx="5074920" cy="13563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656832" y="1755648"/>
            <a:ext cx="47457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界面の結合条件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656832" y="1993392"/>
            <a:ext cx="4745736" cy="917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 = k_m (C_b − C_s)  （輸送）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 = r_s(C_s, T, pH, …) （反応）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⇒ k_m(C_b − C_s) = r_s(C_s) を解く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492240" y="4251960"/>
            <a:ext cx="5074920" cy="11430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656832" y="4361688"/>
            <a:ext cx="47457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膜厚更新（最終出力）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656832" y="4599432"/>
            <a:ext cx="4745736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dh/dt = − α · J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α = M_s /(ρ_s · ν)   （有効化学量論）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46304"/>
            <a:ext cx="5715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レジーム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355080" y="146304"/>
            <a:ext cx="5470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Reaction vs Mass Transfer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45775" y="66019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p.10/30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7772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レジーム判定：Da ≈ k_s / k_m（一次反応）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731520" y="1600200"/>
            <a:ext cx="54406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60120" y="1764792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3つの典型レジーム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2167128"/>
            <a:ext cx="4983480" cy="1673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反応律速（Da≪1）：C_s≈C_b、J≈k_s C_b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輸送律速（Da≫1）：C_s≈0、J≈k_m C_b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混合律速（Da~1）：J≈(k_s k_m/(k_s+k_m)) C_b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※バッチ/枚葉とも「条件変更でDaが動く」→係数だけのフィットが破綻しやすい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46520" y="1463040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抵抗直列：k_eff = (k_s k_m)/(k_s+k_m)</a:t>
            </a:r>
            <a:endParaRPr lang="en-US" sz="13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6446520" y="1965960"/>
          <a:ext cx="5074920" cy="2971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Shape 10"/>
          <p:cNvSpPr/>
          <p:nvPr/>
        </p:nvSpPr>
        <p:spPr>
          <a:xfrm>
            <a:off x="731520" y="4160520"/>
            <a:ext cx="5440680" cy="11430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896112" y="4270248"/>
            <a:ext cx="51114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一次反応の解析解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96112" y="4507992"/>
            <a:ext cx="5111496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C_s = (k_m/(k_m + k_s)) · C_b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 = (k_m k_s/(k_m + k_s)) · C_b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46304"/>
            <a:ext cx="5715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界面反応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355080" y="146304"/>
            <a:ext cx="5470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Rate laws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45775" y="66019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p.11/30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7772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界面反応則：ODEで扱いやすい形に落とす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731520" y="1645920"/>
            <a:ext cx="5440680" cy="13563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96112" y="1755648"/>
            <a:ext cx="51114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候補1：べき乗（有効次数）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96112" y="1993392"/>
            <a:ext cx="5111496" cy="917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r_s = k_s(T) · C_s^n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k_s(T)=k_0 exp(−E_a/RT)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（n=1なら解析、n≠1でも各点で1変数根探し）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3886200"/>
            <a:ext cx="5440680" cy="11430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96112" y="3995928"/>
            <a:ext cx="51114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候補2：Langmuir吸着（飽和）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96112" y="4233672"/>
            <a:ext cx="5111496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r_s = k_r · (K C_s)/(1 + K C_s)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低濃度：r_s≈(k_r K)C_s、 高濃度：r_s→k_r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46520" y="1645920"/>
            <a:ext cx="5074920" cy="11430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611112" y="1755648"/>
            <a:ext cx="47457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候補3：阻害/生成物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611112" y="1993392"/>
            <a:ext cx="4745736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r_s = k_s · C_s^n /(1 + K_I I)^m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（I：阻害種や生成物濃度、簡易に経験式でも可）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46520" y="3383280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概念：Langmuir飽和の速度曲線（例）</a:t>
            </a:r>
            <a:endParaRPr lang="en-US" sz="130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6446520" y="3886200"/>
          <a:ext cx="507492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46304"/>
            <a:ext cx="5715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物質移動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355080" y="146304"/>
            <a:ext cx="5470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k_m estimation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45775" y="66019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p.12/30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7772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k_m（物質移動係数）をどう得るか：Fluentからの抽出戦略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731520" y="1600200"/>
            <a:ext cx="557784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60120" y="176479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ルートA：Fluentの壁面フラックスから同定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2167128"/>
            <a:ext cx="5120640" cy="1673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近壁で C_b を定義し、k_m = J / (C_b − C_s)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C_sが未知なら「壁面濃度（Y_w）」を採用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D_eff を使って J = −D_eff ∂C/∂n を直接評価するのも有効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必要：壁面Flux、近壁C, μ_t, Sc_t, 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31520" y="4160520"/>
            <a:ext cx="557784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60120" y="432511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ルートB：相関式（Sh–Re–Sc）で推定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4727448"/>
            <a:ext cx="5120640" cy="1581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Sh = k_m L / D、Sh=f(Re,Sc)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形状と流れレジームを選んで適用（平板/円盤/自然対流 等）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必要：代表速度U、粘度μ（or ν）、D、代表長さL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46520" y="1600200"/>
            <a:ext cx="5074920" cy="11430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611112" y="1709928"/>
            <a:ext cx="47457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乱流の有効拡散（Fluentの一般的扱い）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611112" y="1947672"/>
            <a:ext cx="4745736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D_eff = D + (μ_t/ρ)/Sc_t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 = − ρ D_eff ∇Y · n    （壁面拡散フラックス）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46520" y="3840480"/>
            <a:ext cx="5074920" cy="13563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611112" y="3950208"/>
            <a:ext cx="47457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相関例（平板：Perry’s Table 5-17）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611112" y="4187952"/>
            <a:ext cx="4745736" cy="917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Sh_x = 0.332 Re_x^(1/2) Sc^(1/3)  （層流・局所）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Sh_avg = 0.664 Re_L^(1/2) Sc^(1/3) （層流・平均）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Sh_x ≈ 0.0292 Re_x^0.8 Sc^(1/3)    （乱流・局所）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46304"/>
            <a:ext cx="5715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手法M0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355080" y="146304"/>
            <a:ext cx="5470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壁面フラックス直接積分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45775" y="66019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p.13/30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7772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M0：壁面フラックス J_s を直接積分（最短・頑健）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22960" y="1600200"/>
            <a:ext cx="107899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2565" indent="-202565">
              <a:lnSpc>
                <a:spcPct val="115000"/>
              </a:lnSpc>
              <a:buSzPct val="100000"/>
              <a:buChar char="•"/>
            </a:pPr>
            <a:r>
              <a:rPr lang="en-US" sz="14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前提：Fluentで壁面反応（あるいは壁面フラックス）を定義済み → J_s(x,y,t) が取れる</a:t>
            </a:r>
            <a:endParaRPr lang="en-US" sz="1450" dirty="0"/>
          </a:p>
          <a:p>
            <a:pPr marL="202565" indent="-202565">
              <a:lnSpc>
                <a:spcPct val="115000"/>
              </a:lnSpc>
              <a:buSzPct val="100000"/>
              <a:buChar char="•"/>
            </a:pPr>
            <a:r>
              <a:rPr lang="en-US" sz="14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計算：膜厚の時間積分のみ（各点独立、超高速）</a:t>
            </a:r>
            <a:endParaRPr lang="en-US" sz="1450" dirty="0"/>
          </a:p>
          <a:p>
            <a:pPr marL="202565" indent="-202565">
              <a:lnSpc>
                <a:spcPct val="115000"/>
              </a:lnSpc>
              <a:buSzPct val="100000"/>
              <a:buChar char="•"/>
            </a:pPr>
            <a:r>
              <a:rPr lang="en-US" sz="14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用途：設計比較・感度解析・大量条件スイープのベースライン</a:t>
            </a:r>
            <a:endParaRPr lang="en-US" sz="1450" dirty="0"/>
          </a:p>
          <a:p>
            <a:pPr marL="202565" indent="-202565">
              <a:lnSpc>
                <a:spcPct val="115000"/>
              </a:lnSpc>
              <a:buSzPct val="100000"/>
              <a:buChar char="•"/>
            </a:pPr>
            <a:r>
              <a:rPr lang="en-US" sz="14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落とし穴：J_s が「総フラックス」か「拡散フラックス」か、反応消費込みかを必ず確認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22960" y="3246120"/>
            <a:ext cx="5486400" cy="13563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87552" y="3355848"/>
            <a:ext cx="51572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実装（離散時間）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87552" y="3593592"/>
            <a:ext cx="5157216" cy="917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given: J_s(x,y,t_k)  k=0..N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Δh(x,y) = α · Σ_k 0.5·(J_k+J_{k+1})·Δt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α = M/(ρ·ν)  （または α を有効係数として同定）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92240" y="3246120"/>
            <a:ext cx="507492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720840" y="3410712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Fluentから必要な出力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720840" y="3813048"/>
            <a:ext cx="4617720" cy="1216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壁面フラックスの面分布（CSV/field data）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可能なら、同時に壁面温度/濃度も出して品質チェック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抽出例：Report Definitions / Surface Integrals / Custom Field Function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2960" y="5349240"/>
            <a:ext cx="107442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51560" y="5513832"/>
            <a:ext cx="10287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検証の観点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51560" y="5916168"/>
            <a:ext cx="102870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面内積分で総消費量が妥当か（物質収支）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メッシュ依存（壁近傍のフラックス収束）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反応境界条件の妥当性（UDF/ユーザ反応）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46304"/>
            <a:ext cx="5715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手法M1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355080" y="146304"/>
            <a:ext cx="5470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film + 反応（抵抗直列）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45775" y="66019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p.14/30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7772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M1：film theory + 反応（C_b入力からJを再構成）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731520" y="1600200"/>
            <a:ext cx="557784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60120" y="176479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いつ使う？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2167128"/>
            <a:ext cx="5120640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Fluentから“濃度場”は出せるが、壁面反応は後段で試したい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複数の反応則（べき乗/Langmuir/酸化+溶解）を差し替えたい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係数同定（ML）でレシピ変更への外挿性を確保したい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46520" y="1600200"/>
            <a:ext cx="5074920" cy="156972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611112" y="1709928"/>
            <a:ext cx="47457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コア方程式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11112" y="1947672"/>
            <a:ext cx="4745736" cy="1130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 = k_m (C_b − C_s)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 = r_s(C_s, T, …)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solve: k_m(C_b − C_s) − r_s(C_s)=0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then: dh/dt = −α J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1520" y="4069080"/>
            <a:ext cx="10789920" cy="242316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4206240"/>
            <a:ext cx="1033272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each surface patch p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read Cb_p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T_p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km_p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define r_s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kinetics model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solve F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km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Cb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r_s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r_s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h_p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alpha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calibration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fit params theta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r_s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alpha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optional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to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metrology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46304"/>
            <a:ext cx="5715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複合反応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355080" y="146304"/>
            <a:ext cx="5470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酸化膜 成長×溶解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45775" y="66019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p.15/30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7772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洗浄特有：酸化膜の成長と溶解が競合（SC1/SC2 など）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22960" y="1600200"/>
            <a:ext cx="107899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2565" indent="-202565">
              <a:lnSpc>
                <a:spcPct val="115000"/>
              </a:lnSpc>
              <a:buSzPct val="100000"/>
              <a:buChar char="•"/>
            </a:pPr>
            <a:r>
              <a:rPr lang="en-US" sz="14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洗浄液に酸化剤（H₂O₂/O₃ 等）があると、表面に薄い化学酸化膜が形成される</a:t>
            </a:r>
            <a:endParaRPr lang="en-US" sz="1450" dirty="0"/>
          </a:p>
          <a:p>
            <a:pPr marL="202565" indent="-202565">
              <a:lnSpc>
                <a:spcPct val="115000"/>
              </a:lnSpc>
              <a:buSzPct val="100000"/>
              <a:buChar char="•"/>
            </a:pPr>
            <a:r>
              <a:rPr lang="en-US" sz="14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同時にアルカリ/酸で溶解するため「成長→飽和」や「定常厚み」が現れる</a:t>
            </a:r>
            <a:endParaRPr lang="en-US" sz="1450" dirty="0"/>
          </a:p>
          <a:p>
            <a:pPr marL="202565" indent="-202565">
              <a:lnSpc>
                <a:spcPct val="115000"/>
              </a:lnSpc>
              <a:buSzPct val="100000"/>
              <a:buChar char="•"/>
            </a:pPr>
            <a:r>
              <a:rPr lang="en-US" sz="14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エッチ量評価では “膜厚 x(t)” を状態変数に入れると整合が取れる（ODE化しやすい）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22960" y="2788920"/>
            <a:ext cx="5669280" cy="13563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87552" y="2898648"/>
            <a:ext cx="53400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Petitdidierモデル（代表的な1本ODE）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87552" y="3136392"/>
            <a:ext cx="5340096" cy="917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dx/dt = (D1·C0)/x − K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短時間：x^2 ≈ 2 D1 C0 t  （放物則）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長時間：x_∞ = D1 C0 / K  （飽和）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83680" y="228600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概念図：成長→飽和（例）</a:t>
            </a:r>
            <a:endParaRPr lang="en-US" sz="13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6583680" y="2788920"/>
          <a:ext cx="489204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Shape 11"/>
          <p:cNvSpPr/>
          <p:nvPr/>
        </p:nvSpPr>
        <p:spPr>
          <a:xfrm>
            <a:off x="822960" y="5440680"/>
            <a:ext cx="106527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1051560" y="5605272"/>
            <a:ext cx="10195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Fluentから必要な入力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051560" y="6007608"/>
            <a:ext cx="1019556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酸化種/溶解種の C_b(x,y,t)（またはフラックス）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温度 T(x,y,t)（k(T), D(T) に効く）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必要なら、膜厚を反応抵抗に入れて自己整合（x依存）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46304"/>
            <a:ext cx="5715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化学（HF系）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355080" y="146304"/>
            <a:ext cx="5470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活性種・速度式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45775" y="66019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p.16/30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7772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HF系：活性種（HF, HF₂⁻…）と速度式の選び方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731520" y="1600200"/>
            <a:ext cx="557784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60120" y="176479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なぜ必要？（装置用途に直結）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2167128"/>
            <a:ext cx="5120640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酸化膜/ネイティブ酸化膜の除去（BOE/希薄HF）で広く使われる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pH・NH₄F混合・温度で活性種分率が変わり、同じ総Fでもレートが変わる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低次元モデルでは「活性種の合成変数」を状態/入力として持つと外挿に強い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46520" y="1600200"/>
            <a:ext cx="5074920" cy="11430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611112" y="1709928"/>
            <a:ext cx="47457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速度式テンプレ（有効線形/飽和）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11112" y="1947672"/>
            <a:ext cx="4745736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Option A: R = a·[HF] + b·[HF2−]   （有効一次結合）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Option B: R = (k_r K C_HF)/(1 + K C_HF)  （Langmuir飽和）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1520" y="4206240"/>
            <a:ext cx="5577840" cy="13563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96112" y="4315968"/>
            <a:ext cx="52486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酸解離/会合（活性種分率の導入）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96112" y="4553712"/>
            <a:ext cx="5248656" cy="917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HF ⇌ H+ + F−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HF + F− ⇌ HF2−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⇒ 与えられた総濃度から [HF],[HF2−] を平衡計算（簡略でも可）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46520" y="4206240"/>
            <a:ext cx="50749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675120" y="4370832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Fluent側の実装オプション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675120" y="4773168"/>
            <a:ext cx="461772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種輸送で [HF], [F−], [HF2−] を明示的に持つ（液相平衡を反応として入れる）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低次元側で平衡分解（Fluentは総HFのみ）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反応を壁境界UDFで与え、壁面フラックスとして出力（M0）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46304"/>
            <a:ext cx="5715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拡張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355080" y="146304"/>
            <a:ext cx="5470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EDL/イオン輸送（必要時のみ）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45775" y="66019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p.17/30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7772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狭隙/帯電が効く場合：Nernst–Planck型の補正（オプション）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731520" y="1600200"/>
            <a:ext cx="557784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60120" y="176479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必要になる条件（装置用途に限定）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2167128"/>
            <a:ext cx="5120640" cy="1216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ウェハ間ギャップが非常に狭い/構造内部へ浸透する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反応に寄与する種が荷電（例：HF₂⁻）で、界面電位で分布が変わる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実測で“濃度だけでは説明できないレート差”が残る場合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46520" y="1600200"/>
            <a:ext cx="5074920" cy="11430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611112" y="1709928"/>
            <a:ext cx="47457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PNP（簡略記述）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11112" y="1947672"/>
            <a:ext cx="4745736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∂c_i/∂t + ∇·(u c_i) = ∇·(D_i ∇c_i + z_i μ_i F c_i ∇φ) + R_i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−∇·(ε∇φ) = Σ_i z_i F c_i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1520" y="3794760"/>
            <a:ext cx="5577840" cy="11430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96112" y="3904488"/>
            <a:ext cx="52486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薄いEDLの近似（界面濃度の補正）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96112" y="4142232"/>
            <a:ext cx="5248656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c_i(0) ≈ c_i,bulk · exp(−z_i F ψ0 / RT)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⇒ film+反応の C_s を “電位補正後の有効濃度” に置換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46520" y="3794760"/>
            <a:ext cx="50749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675120" y="3959352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実装の現実解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675120" y="4361688"/>
            <a:ext cx="461772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本格PNPはCFD/PDEが重い → まずは薄EDL近似で感度を見る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必要なら、狭隙の代表セルだけPNPを解き、補正係数として低次元へ還元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46304"/>
            <a:ext cx="5715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バッチ装置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355080" y="146304"/>
            <a:ext cx="5470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槽スケールモデル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45775" y="66019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p.18/30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7772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バッチ：槽スケール（0D）＋局所面モデルの結合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731520" y="1600200"/>
            <a:ext cx="10744200" cy="11430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96112" y="1709928"/>
            <a:ext cx="104150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槽の物質収支（CSTR近似）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96112" y="1947672"/>
            <a:ext cx="10415016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dC/dt = (Q/V)(C_in − C) − (A_tot/V)·⟨J(C, …)⟩ − k_decay C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Jは各ウェハ面パッチで film+反応（M1）または flux積分（M0）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3337560"/>
            <a:ext cx="10744200" cy="30632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5204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結合イメージ（計算フロー）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60120" y="3886200"/>
            <a:ext cx="1883664" cy="868680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69848" y="4023360"/>
            <a:ext cx="16642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C(t)（槽）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2871216" y="4172864"/>
            <a:ext cx="128016" cy="295351"/>
          </a:xfrm>
          <a:prstGeom prst="rightArrow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026664" y="3886200"/>
            <a:ext cx="1883664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136392" y="4023360"/>
            <a:ext cx="16642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各ウェハへC_b配布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937760" y="4172864"/>
            <a:ext cx="128016" cy="295351"/>
          </a:xfrm>
          <a:prstGeom prst="rightArrow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93208" y="3886200"/>
            <a:ext cx="1883664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202936" y="4023360"/>
            <a:ext cx="16642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各パッチでJ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004304" y="4172864"/>
            <a:ext cx="128016" cy="295351"/>
          </a:xfrm>
          <a:prstGeom prst="rightArrow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59752" y="3886200"/>
            <a:ext cx="1883664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269480" y="4023360"/>
            <a:ext cx="16642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A_totで平均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9070848" y="4172864"/>
            <a:ext cx="128016" cy="295351"/>
          </a:xfrm>
          <a:prstGeom prst="rightArrow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226296" y="3886200"/>
            <a:ext cx="1883664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336024" y="4023360"/>
            <a:ext cx="16642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C(t)更新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960120" y="4892040"/>
            <a:ext cx="101498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4625" indent="-174625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“浴の劣化/消耗” が効くときに必須（ロット/時間でレートが変わる）</a:t>
            </a:r>
            <a:endParaRPr lang="en-US" sz="1250" dirty="0"/>
          </a:p>
          <a:p>
            <a:pPr marL="174625" indent="-174625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混合不良が強い場合は次スライドの区画モデルへ（C_j(t)）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46304"/>
            <a:ext cx="5715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バッチ装置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355080" y="146304"/>
            <a:ext cx="5470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区画（compartment）モデル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45775" y="66019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p.19/30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7772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バッチ：混合不良をODEで表す（区画ネットワーク）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731520" y="1600200"/>
            <a:ext cx="5669280" cy="11430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96112" y="1709928"/>
            <a:ext cx="53400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区画jの収支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96112" y="1947672"/>
            <a:ext cx="5340096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dC_j/dt = Σ_k (Q_kj/V_j)·C_k − Σ_k (Q_jk/V_j)·C_j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− (A_j/V_j)·⟨J_j⟩ − k_decay C_j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46520" y="1600200"/>
            <a:ext cx="507492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675120" y="1764792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区画モデルの作り方（Fluent活用）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675120" y="2167128"/>
            <a:ext cx="4617720" cy="1581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1) Fluentでトレーサ輸送/流量分配を計算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2) カセット周りを数区画に粗視化（供給域/よどみ域/排出域…）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3) 区画間の実効流量 Q_ij を抽出（またはパラメータ同定）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4) 各区画でM1（film+反応）を解き、J_j を戻す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31520" y="4160520"/>
            <a:ext cx="10744200" cy="23317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431596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区画ネットワーク例（概念）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1188720" y="4800600"/>
            <a:ext cx="1920240" cy="777240"/>
          </a:xfrm>
          <a:prstGeom prst="roundRect">
            <a:avLst/>
          </a:prstGeom>
          <a:solidFill>
            <a:srgbClr val="1F77B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88720" y="501091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供給域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840480" y="4800600"/>
            <a:ext cx="1920240" cy="777240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0" y="501091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カセット上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92240" y="4800600"/>
            <a:ext cx="1920240" cy="777240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501091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カセット下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144000" y="4800600"/>
            <a:ext cx="1920240" cy="77724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0" y="501091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排出域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063240" y="5047488"/>
            <a:ext cx="502920" cy="292608"/>
          </a:xfrm>
          <a:prstGeom prst="rightArrow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15000" y="5047488"/>
            <a:ext cx="502920" cy="292608"/>
          </a:xfrm>
          <a:prstGeom prst="rightArrow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366760" y="5047488"/>
            <a:ext cx="502920" cy="292608"/>
          </a:xfrm>
          <a:prstGeom prst="rightArrow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91840" y="489204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Q_ij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943600" y="489204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Q_ij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595360" y="489204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Q_ij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46304"/>
            <a:ext cx="5715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バッチ装置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355080" y="146304"/>
            <a:ext cx="5470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ウェハ間狭隙モデル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45775" y="66019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p.20/30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7772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バッチ：ウェハ間ギャップ（狭隙）での枯渇/遅れをモデル化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731520" y="1600200"/>
            <a:ext cx="5577840" cy="1874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60120" y="176479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いつ必要？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2167128"/>
            <a:ext cx="5120640" cy="1124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ウェハピッチが狭い/流量が小さい → ギャップ内が拡散律速に寄る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ウェハ番号（上段/下段）でエッチ量が系統的にズレる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“槽スケールCFD”だけでは境界層が潰れてしまう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46520" y="1600200"/>
            <a:ext cx="5074920" cy="13563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611112" y="1709928"/>
            <a:ext cx="47457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最小：平行平板の1D+反応境界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11112" y="1947672"/>
            <a:ext cx="4745736" cy="917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∂C/∂t + u(z) ∂C/∂x = D_eff ∂²C/∂z²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wall: −D_eff (∂C/∂z)|w = r_s(C_s)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入口: C(x=0)=C_in（区画/槽モデルから供給）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1520" y="3749040"/>
            <a:ext cx="10744200" cy="26974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391363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狭隙の模式図（概念）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1188720" y="4343400"/>
            <a:ext cx="996696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88720" y="5760720"/>
            <a:ext cx="996696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417320" y="4983480"/>
            <a:ext cx="1371600" cy="256032"/>
          </a:xfrm>
          <a:prstGeom prst="rightArrow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34640" y="49377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主流 x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561320" y="4572000"/>
            <a:ext cx="0" cy="109728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10652760" y="501091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拡散 z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88720" y="5989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壁面で消費（r_s）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60120" y="6172200"/>
            <a:ext cx="10424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数値実装：method-of-lines（zを差分、xをセル/ステップ）→局所J→膜厚へ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46304"/>
            <a:ext cx="5715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バッチ装置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355080" y="146304"/>
            <a:ext cx="5470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気泡マスキング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45775" y="66019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p.21/30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7772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バッチ：気泡付着（bubble masking）が局所ムラを作る場合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731520" y="1600200"/>
            <a:ext cx="557784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60120" y="176479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必要になる条件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2167128"/>
            <a:ext cx="5120640" cy="1033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反応/分解でガスが発生（酸化剤・混酸・超音波など）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水平面/低流速で気泡が滞留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“斑点状”・“島状”の局所エッチ遅れ/面粗さ変化が観測される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46520" y="1600200"/>
            <a:ext cx="5074920" cy="156972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611112" y="1709928"/>
            <a:ext cx="47457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最小モデル（面積補正）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11112" y="1947672"/>
            <a:ext cx="4745736" cy="1130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J_eff = (1 − θ_b) · J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θ_b: 気泡被覆率（0〜1）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dθ_b/dt = G(生成,過飽和) − R(剥離,せん断,浮上)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⇒ まずは θ_b = f(τ_w, Q, 音響強度) を経験式で同定でも有効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1520" y="3657600"/>
            <a:ext cx="10744200" cy="27889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382219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模式図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1143000" y="5989320"/>
            <a:ext cx="996696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63040" y="4617720"/>
            <a:ext cx="320040" cy="320040"/>
          </a:xfrm>
          <a:prstGeom prst="ellipse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148840" y="4937760"/>
            <a:ext cx="320040" cy="320040"/>
          </a:xfrm>
          <a:prstGeom prst="ellipse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34640" y="4617720"/>
            <a:ext cx="320040" cy="320040"/>
          </a:xfrm>
          <a:prstGeom prst="ellipse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20440" y="4937760"/>
            <a:ext cx="320040" cy="320040"/>
          </a:xfrm>
          <a:prstGeom prst="ellipse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06240" y="4617720"/>
            <a:ext cx="320040" cy="320040"/>
          </a:xfrm>
          <a:prstGeom prst="ellipse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92040" y="4937760"/>
            <a:ext cx="320040" cy="320040"/>
          </a:xfrm>
          <a:prstGeom prst="ellipse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577840" y="4617720"/>
            <a:ext cx="320040" cy="320040"/>
          </a:xfrm>
          <a:prstGeom prst="ellipse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63640" y="4937760"/>
            <a:ext cx="320040" cy="320040"/>
          </a:xfrm>
          <a:prstGeom prst="ellipse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49440" y="4617720"/>
            <a:ext cx="320040" cy="320040"/>
          </a:xfrm>
          <a:prstGeom prst="ellipse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35240" y="4937760"/>
            <a:ext cx="320040" cy="320040"/>
          </a:xfrm>
          <a:prstGeom prst="ellipse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321040" y="4617720"/>
            <a:ext cx="320040" cy="320040"/>
          </a:xfrm>
          <a:prstGeom prst="ellipse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006840" y="4937760"/>
            <a:ext cx="320040" cy="320040"/>
          </a:xfrm>
          <a:prstGeom prst="ellipse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692640" y="4617720"/>
            <a:ext cx="320040" cy="320040"/>
          </a:xfrm>
          <a:prstGeom prst="ellipse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378440" y="4937760"/>
            <a:ext cx="320040" cy="320040"/>
          </a:xfrm>
          <a:prstGeom prst="ellipse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43000" y="416052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気泡で反応種の到達が遮蔽 → 局所J低下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863840" y="5212080"/>
            <a:ext cx="1554480" cy="274320"/>
          </a:xfrm>
          <a:prstGeom prst="rightArrow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464040" y="51663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τ_w↑で剥離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46304"/>
            <a:ext cx="5715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実装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355080" y="146304"/>
            <a:ext cx="5470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Fluent→低次元モデル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45775" y="66019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p.22/30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7772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バッチ：Fluent出力の抽出→ODE計算（実装案）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822960" y="1600200"/>
            <a:ext cx="1975104" cy="960120"/>
          </a:xfrm>
          <a:prstGeom prst="roundRect">
            <a:avLst/>
          </a:prstGeom>
          <a:solidFill>
            <a:srgbClr val="1F77B4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32688" y="1737360"/>
            <a:ext cx="17556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Fluent計算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825496" y="1917040"/>
            <a:ext cx="128016" cy="326441"/>
          </a:xfrm>
          <a:prstGeom prst="rightArrow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80944" y="1600200"/>
            <a:ext cx="1975104" cy="9601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090672" y="1737360"/>
            <a:ext cx="17556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壁面/近壁を抽出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983480" y="1917040"/>
            <a:ext cx="128016" cy="326441"/>
          </a:xfrm>
          <a:prstGeom prst="rightArrow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38928" y="1600200"/>
            <a:ext cx="1975104" cy="9601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248656" y="1737360"/>
            <a:ext cx="17556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k_m・C_b定義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141464" y="1917040"/>
            <a:ext cx="128016" cy="326441"/>
          </a:xfrm>
          <a:prstGeom prst="rightArrow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96912" y="1600200"/>
            <a:ext cx="1975104" cy="9601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406640" y="1737360"/>
            <a:ext cx="17556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M0/M1でJ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299448" y="1917040"/>
            <a:ext cx="128016" cy="326441"/>
          </a:xfrm>
          <a:prstGeom prst="rightArrow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54896" y="1600200"/>
            <a:ext cx="1975104" cy="9601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564624" y="1737360"/>
            <a:ext cx="17556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バッチODE統合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22960" y="2743200"/>
            <a:ext cx="525780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051560" y="2907792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抽出（例）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51560" y="3310128"/>
            <a:ext cx="4800600" cy="1673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Surface (wafer) ごとに：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- 面分布：J_s, Y_i,w, τ_w, T_w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- 近壁：1st cellのY_i, μ_t, y+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Report Definitionsで時系列出力（CSV）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必要ならUDFで面ごとの統計量をUDMへ書き出す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309360" y="2743200"/>
            <a:ext cx="49834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537960" y="2907792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C_b と C_s の定義（推奨）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537960" y="3310128"/>
            <a:ext cx="4526280" cy="1673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C_s：壁面値（Y_w）を採用（壁反応モデルがある場合）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C_b：壁からnセル離れたサンプリング面の平均（例：y≈(3〜5)δ目安）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代替：C_bを1st cell中心、k_mを flux から逆算（k_m=J/(C_b−C_s)）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定義は固定し、係数同定で吸収する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22960" y="5349240"/>
            <a:ext cx="10469880" cy="10972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05840" y="5449824"/>
            <a:ext cx="10241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Fluent UDF (concept)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begin_f_loop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t_wall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real flux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F_FLUX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t_wall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mass flux across face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real Yi  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F_YI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t_wall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species mass fraction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store to UDM / write to file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end_f_loop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t_wall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46304"/>
            <a:ext cx="5715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枚葉装置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355080" y="146304"/>
            <a:ext cx="5470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回転ディスク境界層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45775" y="66019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p.23/30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7772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枚葉：回転ディスク境界層（解析式でk_mを与える）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731520" y="1600200"/>
            <a:ext cx="55778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60120" y="176479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適用シーン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2167128"/>
            <a:ext cx="512064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回転＋連続供給で“回転境界層”が支配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まずは軸対称（rのみ）で平均化してよい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CFDを回さずに ω, ν, D から k_m を推定したい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46520" y="1600200"/>
            <a:ext cx="5074920" cy="13563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611112" y="1709928"/>
            <a:ext cx="47457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Levich型（代表形）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11112" y="1947672"/>
            <a:ext cx="4745736" cy="917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δ ∝ D^(1/3) ν^(1/6) ω^(−1/2)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k_m = D/δ ∝ D^(2/3) ν^(−1/6) ω^(1/2)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（係数は文献/条件で調整。乱流域は別補正）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347472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概念図：k_m ∝ ω^{1/2}</a:t>
            </a:r>
            <a:endParaRPr lang="en-US" sz="13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731520" y="3977640"/>
          <a:ext cx="5577840" cy="2423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Shape 13"/>
          <p:cNvSpPr/>
          <p:nvPr/>
        </p:nvSpPr>
        <p:spPr>
          <a:xfrm>
            <a:off x="6446520" y="3977640"/>
            <a:ext cx="50749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675120" y="4142232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Fluentから必要な入力（最小）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675120" y="4544568"/>
            <a:ext cx="4617720" cy="210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ω（回転数）、物性（ν, D）、温度T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反応則 r_s（M1で使用）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CFDを使う場合：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6446520" y="4983480"/>
            <a:ext cx="50749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675120" y="5148072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CFDを併用する場合（精度↑）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675120" y="5550408"/>
            <a:ext cx="461772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ノズル供給で非軸対称 → C_b(r,θ,t) をCFDで取得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乱流/自由表面 → k_m を壁面Fluxから逆算し、解析式の補正へ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46304"/>
            <a:ext cx="5715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枚葉装置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355080" y="146304"/>
            <a:ext cx="5470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薄膜リングODE（軸対称）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45775" y="66019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p.24/30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7772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枚葉：薄膜流による半径方向枯渇を1D（r）でモデル化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731520" y="1600200"/>
            <a:ext cx="55778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60120" y="176479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コアの考え方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2167128"/>
            <a:ext cx="5120640" cy="1399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薄膜厚み方向は混合（深さ平均）とみなし、面内（r）の移流＋反応消費でC(r,t)を更新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各リングで film+反応（M1）を解き、J(r,t) を得て膜厚を更新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軸対称なら 1D で済み、実装が軽い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46520" y="1600200"/>
            <a:ext cx="5074920" cy="13563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611112" y="1709928"/>
            <a:ext cx="47457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深さ平均の輸送（例）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11112" y="1947672"/>
            <a:ext cx="4745736" cy="917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∂(hC)/∂t + (1/r) ∂(r q C)/∂r = − J + S(r,t)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 = k_m(C − C_s) = r_s(C_s)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h(r,t), q(r,t): 薄膜流モデル or Fluent(VOF)から入力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1520" y="3886200"/>
            <a:ext cx="10744200" cy="26060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39502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リング分割（概念）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1965960" y="4526280"/>
            <a:ext cx="1645920" cy="14630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17320" y="4343400"/>
            <a:ext cx="2743200" cy="1783080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0120" y="4160520"/>
            <a:ext cx="3657600" cy="2148840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46120" y="5285232"/>
            <a:ext cx="1417320" cy="256032"/>
          </a:xfrm>
          <a:prstGeom prst="rightArrow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5221224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r方向流れ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126480" y="4133088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実装：有限体積（上流）＋各セルで根探し→J→膜厚更新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26480" y="4800600"/>
            <a:ext cx="51663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09360" y="4910328"/>
            <a:ext cx="4800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each ring i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advect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solve km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r_s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h_solid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alpha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dt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46304"/>
            <a:ext cx="5715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枚葉装置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355080" y="146304"/>
            <a:ext cx="5470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ノズル掃引（非軸対称）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45775" y="66019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p.25/30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7772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枚葉：ノズル掃引・非中心供給 → 2D（r,θ,t）へ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731520" y="1600200"/>
            <a:ext cx="557784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60120" y="176479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必要になる条件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2167128"/>
            <a:ext cx="5120640" cy="1033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非中心ノズル、スイング/スキャン供給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測定で“方位角方向”のムラが出る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中心供給モデル（軸対称）では残差パターンが説明できない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46520" y="1600200"/>
            <a:ext cx="5074920" cy="13563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611112" y="1709928"/>
            <a:ext cx="47457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2D薄膜輸送（深さ平均の例）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11112" y="1947672"/>
            <a:ext cx="4745736" cy="917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∂(hC)/∂t + ∇_2D·(q C) = −J + S(r,θ,t)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S：ノズル供給ソース（軌跡に沿って時間変化）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J：film+反応（M1）  or  壁面Flux（M0）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1520" y="3657600"/>
            <a:ext cx="10744200" cy="27889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463040" y="3886200"/>
            <a:ext cx="2834640" cy="2468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00200" y="3977640"/>
            <a:ext cx="2560320" cy="2286000"/>
          </a:xfrm>
          <a:prstGeom prst="arc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08760" y="372160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ノズル軌跡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429000" y="4160520"/>
            <a:ext cx="228600" cy="228600"/>
          </a:xfrm>
          <a:prstGeom prst="triangl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3977640"/>
            <a:ext cx="6583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CFD（Fluent）で得た流れ/供給分布をソース項に写像 → 2D薄膜PDEをmethod-of-linesで解く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754880" y="4709160"/>
            <a:ext cx="67208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4828032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実装上の工夫：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時間刻みは「ノズル通過時間」と「反応/拡散時間」を両方解像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まずは周期平均（定常化）→必要なら位相解像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メッシュはポーラ格子（r,θ）で自然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46304"/>
            <a:ext cx="5715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枚葉装置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355080" y="146304"/>
            <a:ext cx="5470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CFDの必要度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45775" y="66019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p.26/30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7772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枚葉：CFDが必要になる境界（自由表面・乱流・液滴化）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731520" y="1417320"/>
            <a:ext cx="3545586" cy="71323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472184"/>
            <a:ext cx="3399282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2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状況</a:t>
            </a:r>
            <a:endParaRPr lang="en-US" sz="1120" dirty="0"/>
          </a:p>
        </p:txBody>
      </p:sp>
      <p:sp>
        <p:nvSpPr>
          <p:cNvPr id="10" name="Shape 8"/>
          <p:cNvSpPr/>
          <p:nvPr/>
        </p:nvSpPr>
        <p:spPr>
          <a:xfrm>
            <a:off x="4277106" y="1417320"/>
            <a:ext cx="1504188" cy="71323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50258" y="1472184"/>
            <a:ext cx="1357884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2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低次元でいける？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5781294" y="1417320"/>
            <a:ext cx="5694426" cy="71323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54446" y="1472184"/>
            <a:ext cx="5548122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2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推奨アプローチ（Fluentの使い方）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731520" y="2130552"/>
            <a:ext cx="354558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2185416"/>
            <a:ext cx="3399282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7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回転境界層が支配（供給十分・軸対称）</a:t>
            </a:r>
            <a:endParaRPr lang="en-US" sz="1070" dirty="0"/>
          </a:p>
        </p:txBody>
      </p:sp>
      <p:sp>
        <p:nvSpPr>
          <p:cNvPr id="16" name="Shape 14"/>
          <p:cNvSpPr/>
          <p:nvPr/>
        </p:nvSpPr>
        <p:spPr>
          <a:xfrm>
            <a:off x="4277106" y="2130552"/>
            <a:ext cx="150418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50258" y="2185416"/>
            <a:ext cx="1357884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7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◯</a:t>
            </a:r>
            <a:endParaRPr lang="en-US" sz="1070" dirty="0"/>
          </a:p>
        </p:txBody>
      </p:sp>
      <p:sp>
        <p:nvSpPr>
          <p:cNvPr id="18" name="Shape 16"/>
          <p:cNvSpPr/>
          <p:nvPr/>
        </p:nvSpPr>
        <p:spPr>
          <a:xfrm>
            <a:off x="5781294" y="2130552"/>
            <a:ext cx="569442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54446" y="2185416"/>
            <a:ext cx="5548122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7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Levich型k_m(ω) + M1（film+反応）で十分。補正係数のみ同定</a:t>
            </a:r>
            <a:endParaRPr lang="en-US" sz="1070" dirty="0"/>
          </a:p>
        </p:txBody>
      </p:sp>
      <p:sp>
        <p:nvSpPr>
          <p:cNvPr id="20" name="Shape 18"/>
          <p:cNvSpPr/>
          <p:nvPr/>
        </p:nvSpPr>
        <p:spPr>
          <a:xfrm>
            <a:off x="731520" y="2843784"/>
            <a:ext cx="354558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" y="2898648"/>
            <a:ext cx="3399282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7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薄膜で半径枯渇（中心供給・定常）</a:t>
            </a:r>
            <a:endParaRPr lang="en-US" sz="1070" dirty="0"/>
          </a:p>
        </p:txBody>
      </p:sp>
      <p:sp>
        <p:nvSpPr>
          <p:cNvPr id="22" name="Shape 20"/>
          <p:cNvSpPr/>
          <p:nvPr/>
        </p:nvSpPr>
        <p:spPr>
          <a:xfrm>
            <a:off x="4277106" y="2843784"/>
            <a:ext cx="150418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50258" y="2898648"/>
            <a:ext cx="1357884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7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◯</a:t>
            </a:r>
            <a:endParaRPr lang="en-US" sz="1070" dirty="0"/>
          </a:p>
        </p:txBody>
      </p:sp>
      <p:sp>
        <p:nvSpPr>
          <p:cNvPr id="24" name="Shape 22"/>
          <p:cNvSpPr/>
          <p:nvPr/>
        </p:nvSpPr>
        <p:spPr>
          <a:xfrm>
            <a:off x="5781294" y="2843784"/>
            <a:ext cx="569442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54446" y="2898648"/>
            <a:ext cx="5548122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7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リング1D（S-2）。h,qは薄膜モデル or FluentのVOFから抽出</a:t>
            </a:r>
            <a:endParaRPr lang="en-US" sz="1070" dirty="0"/>
          </a:p>
        </p:txBody>
      </p:sp>
      <p:sp>
        <p:nvSpPr>
          <p:cNvPr id="26" name="Shape 24"/>
          <p:cNvSpPr/>
          <p:nvPr/>
        </p:nvSpPr>
        <p:spPr>
          <a:xfrm>
            <a:off x="731520" y="3557016"/>
            <a:ext cx="354558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4672" y="3611880"/>
            <a:ext cx="3399282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7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ノズル掃引/非中心で非軸対称</a:t>
            </a:r>
            <a:endParaRPr lang="en-US" sz="1070" dirty="0"/>
          </a:p>
        </p:txBody>
      </p:sp>
      <p:sp>
        <p:nvSpPr>
          <p:cNvPr id="28" name="Shape 26"/>
          <p:cNvSpPr/>
          <p:nvPr/>
        </p:nvSpPr>
        <p:spPr>
          <a:xfrm>
            <a:off x="4277106" y="3557016"/>
            <a:ext cx="150418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50258" y="3611880"/>
            <a:ext cx="1357884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7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△</a:t>
            </a:r>
            <a:endParaRPr lang="en-US" sz="1070" dirty="0"/>
          </a:p>
        </p:txBody>
      </p:sp>
      <p:sp>
        <p:nvSpPr>
          <p:cNvPr id="30" name="Shape 28"/>
          <p:cNvSpPr/>
          <p:nvPr/>
        </p:nvSpPr>
        <p:spPr>
          <a:xfrm>
            <a:off x="5781294" y="3557016"/>
            <a:ext cx="569442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54446" y="3611880"/>
            <a:ext cx="5548122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7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Fluentで供給分布S(r,θ,t)や速度場を得て2D薄膜へ（S-3）</a:t>
            </a:r>
            <a:endParaRPr lang="en-US" sz="1070" dirty="0"/>
          </a:p>
        </p:txBody>
      </p:sp>
      <p:sp>
        <p:nvSpPr>
          <p:cNvPr id="32" name="Shape 30"/>
          <p:cNvSpPr/>
          <p:nvPr/>
        </p:nvSpPr>
        <p:spPr>
          <a:xfrm>
            <a:off x="731520" y="4270248"/>
            <a:ext cx="354558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4672" y="4325112"/>
            <a:ext cx="3399282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7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自由表面が破断/液滴化/飛散</a:t>
            </a:r>
            <a:endParaRPr lang="en-US" sz="1070" dirty="0"/>
          </a:p>
        </p:txBody>
      </p:sp>
      <p:sp>
        <p:nvSpPr>
          <p:cNvPr id="34" name="Shape 32"/>
          <p:cNvSpPr/>
          <p:nvPr/>
        </p:nvSpPr>
        <p:spPr>
          <a:xfrm>
            <a:off x="4277106" y="4270248"/>
            <a:ext cx="150418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50258" y="4325112"/>
            <a:ext cx="1357884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7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✕</a:t>
            </a:r>
            <a:endParaRPr lang="en-US" sz="1070" dirty="0"/>
          </a:p>
        </p:txBody>
      </p:sp>
      <p:sp>
        <p:nvSpPr>
          <p:cNvPr id="36" name="Shape 34"/>
          <p:cNvSpPr/>
          <p:nvPr/>
        </p:nvSpPr>
        <p:spPr>
          <a:xfrm>
            <a:off x="5781294" y="4270248"/>
            <a:ext cx="569442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854446" y="4325112"/>
            <a:ext cx="5548122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7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VOF/離散相などをFluentで解く→低次元はサロゲート化</a:t>
            </a:r>
            <a:endParaRPr lang="en-US" sz="1070" dirty="0"/>
          </a:p>
        </p:txBody>
      </p:sp>
      <p:sp>
        <p:nvSpPr>
          <p:cNvPr id="38" name="Shape 36"/>
          <p:cNvSpPr/>
          <p:nvPr/>
        </p:nvSpPr>
        <p:spPr>
          <a:xfrm>
            <a:off x="731520" y="4983480"/>
            <a:ext cx="354558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04672" y="5038344"/>
            <a:ext cx="3399282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7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遷移/乱流が強くk_mが未知</a:t>
            </a:r>
            <a:endParaRPr lang="en-US" sz="1070" dirty="0"/>
          </a:p>
        </p:txBody>
      </p:sp>
      <p:sp>
        <p:nvSpPr>
          <p:cNvPr id="40" name="Shape 38"/>
          <p:cNvSpPr/>
          <p:nvPr/>
        </p:nvSpPr>
        <p:spPr>
          <a:xfrm>
            <a:off x="4277106" y="4983480"/>
            <a:ext cx="150418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50258" y="5038344"/>
            <a:ext cx="1357884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7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△〜✕</a:t>
            </a:r>
            <a:endParaRPr lang="en-US" sz="1070" dirty="0"/>
          </a:p>
        </p:txBody>
      </p:sp>
      <p:sp>
        <p:nvSpPr>
          <p:cNvPr id="42" name="Shape 40"/>
          <p:cNvSpPr/>
          <p:nvPr/>
        </p:nvSpPr>
        <p:spPr>
          <a:xfrm>
            <a:off x="5781294" y="4983480"/>
            <a:ext cx="569442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854446" y="5038344"/>
            <a:ext cx="5548122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7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壁面フラックスからk_mを逆算して解析式を補正（M2）</a:t>
            </a:r>
            <a:endParaRPr lang="en-US" sz="1070" dirty="0"/>
          </a:p>
        </p:txBody>
      </p:sp>
      <p:sp>
        <p:nvSpPr>
          <p:cNvPr id="44" name="Shape 42"/>
          <p:cNvSpPr/>
          <p:nvPr/>
        </p:nvSpPr>
        <p:spPr>
          <a:xfrm>
            <a:off x="731520" y="5742432"/>
            <a:ext cx="107442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960120" y="5907024"/>
            <a:ext cx="10287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設計上の定石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960120" y="6309360"/>
            <a:ext cx="102870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CFDは「教師データ生成」と割り切り、低次元モデルの形（符号/飽和/ω依存）は解析で固定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非軸対称の主因（供給分布か、流れ場か）を分離し、最小の次元を増やす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46304"/>
            <a:ext cx="5715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対応表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355080" y="146304"/>
            <a:ext cx="5470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手法×必要なFluent出力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45775" y="66019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p.27/30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7772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手法ごとの「必要なFluent出力の粒度」—詳細版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731520" y="1417320"/>
            <a:ext cx="1933956" cy="566928"/>
          </a:xfrm>
          <a:prstGeom prst="rect">
            <a:avLst/>
          </a:prstGeom>
          <a:solidFill>
            <a:srgbClr val="F5F7FA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472184"/>
            <a:ext cx="17876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2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手法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2665476" y="1417320"/>
            <a:ext cx="4405122" cy="566928"/>
          </a:xfrm>
          <a:prstGeom prst="rect">
            <a:avLst/>
          </a:prstGeom>
          <a:solidFill>
            <a:srgbClr val="F5F7FA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38628" y="1472184"/>
            <a:ext cx="425881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2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必要なFluent出力（最小セット）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7070598" y="1417320"/>
            <a:ext cx="4405122" cy="566928"/>
          </a:xfrm>
          <a:prstGeom prst="rect">
            <a:avLst/>
          </a:prstGeom>
          <a:solidFill>
            <a:srgbClr val="F5F7FA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43750" y="1472184"/>
            <a:ext cx="425881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2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推奨の抽出方法（Fluent）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731520" y="1984248"/>
            <a:ext cx="1933956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2039112"/>
            <a:ext cx="17876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M0 壁面Flux積分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2665476" y="1984248"/>
            <a:ext cx="440512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38628" y="2039112"/>
            <a:ext cx="425881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J_s(x,y,t)（種の壁面フラックス）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•（推奨）壁面T, 壁面Y_i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7070598" y="1984248"/>
            <a:ext cx="440512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43750" y="2039112"/>
            <a:ext cx="425881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Report Definitions: Surface Integrals/Area-Weighted Avg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または Field Data Export（wall faces）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731520" y="2551176"/>
            <a:ext cx="1933956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" y="2606040"/>
            <a:ext cx="17876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M1 film+反応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2665476" y="2551176"/>
            <a:ext cx="440512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38628" y="2606040"/>
            <a:ext cx="425881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C_bの定義用：近壁Y_i（1st cellまたはサンプリング面）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k_m（CFDで推定 or 同定）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T（Arrhenius/物性）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7070598" y="2551176"/>
            <a:ext cx="440512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43750" y="2606040"/>
            <a:ext cx="425881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Near-wall sampling surface を作り Export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k_mは (i)Fluxから逆算 (ii)τ_w等から推定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731520" y="3118104"/>
            <a:ext cx="1933956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4672" y="3172968"/>
            <a:ext cx="17876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M2 k_m逆算/壁せん断ベース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2665476" y="3118104"/>
            <a:ext cx="440512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38628" y="3172968"/>
            <a:ext cx="425881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壁面拡散Flux or ∇Y·n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τ_w（wall shear）、μ_t、Sc_t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7070598" y="3118104"/>
            <a:ext cx="440512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43750" y="3172968"/>
            <a:ext cx="425881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Wall Flux &amp; Wall Shear を面分布でExport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UDFで F_FLUX/F_WALL_SHEAR を集計</a:t>
            </a:r>
            <a:endParaRPr lang="en-US" sz="920" dirty="0"/>
          </a:p>
        </p:txBody>
      </p:sp>
      <p:sp>
        <p:nvSpPr>
          <p:cNvPr id="32" name="Shape 30"/>
          <p:cNvSpPr/>
          <p:nvPr/>
        </p:nvSpPr>
        <p:spPr>
          <a:xfrm>
            <a:off x="731520" y="3685032"/>
            <a:ext cx="1933956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4672" y="3739896"/>
            <a:ext cx="17876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B0 槽0D（CSTR）</a:t>
            </a:r>
            <a:endParaRPr lang="en-US" sz="920" dirty="0"/>
          </a:p>
        </p:txBody>
      </p:sp>
      <p:sp>
        <p:nvSpPr>
          <p:cNvPr id="34" name="Shape 32"/>
          <p:cNvSpPr/>
          <p:nvPr/>
        </p:nvSpPr>
        <p:spPr>
          <a:xfrm>
            <a:off x="2665476" y="3685032"/>
            <a:ext cx="440512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38628" y="3739896"/>
            <a:ext cx="425881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槽全体平均C(t)、流量Q、体積V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総反応面積A_tot</a:t>
            </a:r>
            <a:endParaRPr lang="en-US" sz="920" dirty="0"/>
          </a:p>
        </p:txBody>
      </p:sp>
      <p:sp>
        <p:nvSpPr>
          <p:cNvPr id="36" name="Shape 34"/>
          <p:cNvSpPr/>
          <p:nvPr/>
        </p:nvSpPr>
        <p:spPr>
          <a:xfrm>
            <a:off x="7070598" y="3685032"/>
            <a:ext cx="440512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43750" y="3739896"/>
            <a:ext cx="425881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Volume/Surface integrals（zone average）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複数ゾーンはNamed Selectionsで分割</a:t>
            </a:r>
            <a:endParaRPr lang="en-US" sz="920" dirty="0"/>
          </a:p>
        </p:txBody>
      </p:sp>
      <p:sp>
        <p:nvSpPr>
          <p:cNvPr id="38" name="Shape 36"/>
          <p:cNvSpPr/>
          <p:nvPr/>
        </p:nvSpPr>
        <p:spPr>
          <a:xfrm>
            <a:off x="731520" y="4251960"/>
            <a:ext cx="1933956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04672" y="4306824"/>
            <a:ext cx="17876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B1 区画ネットワーク</a:t>
            </a:r>
            <a:endParaRPr lang="en-US" sz="920" dirty="0"/>
          </a:p>
        </p:txBody>
      </p:sp>
      <p:sp>
        <p:nvSpPr>
          <p:cNvPr id="40" name="Shape 38"/>
          <p:cNvSpPr/>
          <p:nvPr/>
        </p:nvSpPr>
        <p:spPr>
          <a:xfrm>
            <a:off x="2665476" y="4251960"/>
            <a:ext cx="440512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38628" y="4306824"/>
            <a:ext cx="425881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区画平均C_j(t)、区画間流量Q_ij（またはトレーサ遷移）</a:t>
            </a:r>
            <a:endParaRPr lang="en-US" sz="920" dirty="0"/>
          </a:p>
        </p:txBody>
      </p:sp>
      <p:sp>
        <p:nvSpPr>
          <p:cNvPr id="42" name="Shape 40"/>
          <p:cNvSpPr/>
          <p:nvPr/>
        </p:nvSpPr>
        <p:spPr>
          <a:xfrm>
            <a:off x="7070598" y="4251960"/>
            <a:ext cx="440512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43750" y="4306824"/>
            <a:ext cx="425881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トレーサ輸送をFluentで解き、各区画の入出FluxをSurface Integralsで評価</a:t>
            </a:r>
            <a:endParaRPr lang="en-US" sz="920" dirty="0"/>
          </a:p>
        </p:txBody>
      </p:sp>
      <p:sp>
        <p:nvSpPr>
          <p:cNvPr id="44" name="Shape 42"/>
          <p:cNvSpPr/>
          <p:nvPr/>
        </p:nvSpPr>
        <p:spPr>
          <a:xfrm>
            <a:off x="731520" y="4818888"/>
            <a:ext cx="1933956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04672" y="4873752"/>
            <a:ext cx="17876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S1 回転ディスク解析式</a:t>
            </a:r>
            <a:endParaRPr lang="en-US" sz="920" dirty="0"/>
          </a:p>
        </p:txBody>
      </p:sp>
      <p:sp>
        <p:nvSpPr>
          <p:cNvPr id="46" name="Shape 44"/>
          <p:cNvSpPr/>
          <p:nvPr/>
        </p:nvSpPr>
        <p:spPr>
          <a:xfrm>
            <a:off x="2665476" y="4818888"/>
            <a:ext cx="440512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38628" y="4873752"/>
            <a:ext cx="425881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ω、物性（D,ν）、T、反応則パラメータ</a:t>
            </a:r>
            <a:endParaRPr lang="en-US" sz="920" dirty="0"/>
          </a:p>
        </p:txBody>
      </p:sp>
      <p:sp>
        <p:nvSpPr>
          <p:cNvPr id="48" name="Shape 46"/>
          <p:cNvSpPr/>
          <p:nvPr/>
        </p:nvSpPr>
        <p:spPr>
          <a:xfrm>
            <a:off x="7070598" y="4818888"/>
            <a:ext cx="440512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143750" y="4873752"/>
            <a:ext cx="425881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Fluent無しでも可。Fluentは補正用（k_m逆算）のみに使う</a:t>
            </a:r>
            <a:endParaRPr lang="en-US" sz="920" dirty="0"/>
          </a:p>
        </p:txBody>
      </p:sp>
      <p:sp>
        <p:nvSpPr>
          <p:cNvPr id="50" name="Shape 48"/>
          <p:cNvSpPr/>
          <p:nvPr/>
        </p:nvSpPr>
        <p:spPr>
          <a:xfrm>
            <a:off x="731520" y="5385816"/>
            <a:ext cx="1933956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04672" y="5440680"/>
            <a:ext cx="17876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S2 薄膜リング1D</a:t>
            </a:r>
            <a:endParaRPr lang="en-US" sz="920" dirty="0"/>
          </a:p>
        </p:txBody>
      </p:sp>
      <p:sp>
        <p:nvSpPr>
          <p:cNvPr id="52" name="Shape 50"/>
          <p:cNvSpPr/>
          <p:nvPr/>
        </p:nvSpPr>
        <p:spPr>
          <a:xfrm>
            <a:off x="2665476" y="5385816"/>
            <a:ext cx="440512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738628" y="5440680"/>
            <a:ext cx="425881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h(r,t) or 近似（一定h）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供給流量・濃度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•（推奨）面内速度/流量 q(r,t)</a:t>
            </a:r>
            <a:endParaRPr lang="en-US" sz="920" dirty="0"/>
          </a:p>
        </p:txBody>
      </p:sp>
      <p:sp>
        <p:nvSpPr>
          <p:cNvPr id="54" name="Shape 52"/>
          <p:cNvSpPr/>
          <p:nvPr/>
        </p:nvSpPr>
        <p:spPr>
          <a:xfrm>
            <a:off x="7070598" y="5385816"/>
            <a:ext cx="440512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143750" y="5440680"/>
            <a:ext cx="425881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VOFで薄膜厚みを抽出 or 既知モデル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r方向の面平均をUDF/後処理で作成</a:t>
            </a:r>
            <a:endParaRPr lang="en-US" sz="920" dirty="0"/>
          </a:p>
        </p:txBody>
      </p:sp>
      <p:sp>
        <p:nvSpPr>
          <p:cNvPr id="56" name="Shape 54"/>
          <p:cNvSpPr/>
          <p:nvPr/>
        </p:nvSpPr>
        <p:spPr>
          <a:xfrm>
            <a:off x="731520" y="5952744"/>
            <a:ext cx="1933956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04672" y="6007608"/>
            <a:ext cx="17876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S3 非軸対称2D</a:t>
            </a:r>
            <a:endParaRPr lang="en-US" sz="920" dirty="0"/>
          </a:p>
        </p:txBody>
      </p:sp>
      <p:sp>
        <p:nvSpPr>
          <p:cNvPr id="58" name="Shape 56"/>
          <p:cNvSpPr/>
          <p:nvPr/>
        </p:nvSpPr>
        <p:spPr>
          <a:xfrm>
            <a:off x="2665476" y="5952744"/>
            <a:ext cx="440512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738628" y="6007608"/>
            <a:ext cx="425881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供給ソース S(r,θ,t)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薄膜内の有効流れ q(r,θ,t) or 簡略モデル</a:t>
            </a:r>
            <a:endParaRPr lang="en-US" sz="920" dirty="0"/>
          </a:p>
        </p:txBody>
      </p:sp>
      <p:sp>
        <p:nvSpPr>
          <p:cNvPr id="60" name="Shape 58"/>
          <p:cNvSpPr/>
          <p:nvPr/>
        </p:nvSpPr>
        <p:spPr>
          <a:xfrm>
            <a:off x="7070598" y="5952744"/>
            <a:ext cx="440512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143750" y="6007608"/>
            <a:ext cx="425881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ノズル境界の流量/濃度をExport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必要なら時間位相で分割して出力</a:t>
            </a:r>
            <a:endParaRPr lang="en-US" sz="92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46304"/>
            <a:ext cx="5715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同化/検証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355080" y="146304"/>
            <a:ext cx="5470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Calibration &amp; Validation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45775" y="66019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p.28/30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7772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係数同定（ML）と検証：物理モデルを壊さず合わせる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731520" y="1600200"/>
            <a:ext cx="557784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60120" y="176479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推奨パラメータ化（例）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2167128"/>
            <a:ext cx="5120640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反応：k_0, E_a, n（べき乗）／K, k_r（Langmuir）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輸送：k_mをCFDから出し、倍率 s_m だけ学習（k_m^eff = s_m k_m^CFD）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厚み換算：α（M/(ρν)）を有効係数としてまとめ、材料差は別途固定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“形”は固定し、係数だけをロバストに同定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46520" y="1600200"/>
            <a:ext cx="507492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675120" y="1764792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検証メトリクス（装置用途）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675120" y="2167128"/>
            <a:ext cx="4617720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面内：RMS, PV（max-min）, ring平均, 2Dスペクトル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ウェハ間：slot依存（上段/下段）、ロット間再現性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物質収支：総消費量 vs 供給/排出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感度：温度・流量・回転数変更での外挿性能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31520" y="4343400"/>
            <a:ext cx="10744200" cy="11430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96112" y="4453128"/>
            <a:ext cx="104150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制約付き最適化（例）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96112" y="4690872"/>
            <a:ext cx="10415016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min_θ  Σ ||h_pred(x,y;θ) − h_meas(x,y)||^2 + λ||θ||^2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s.t. k_0&gt;0, E_a&gt;0, K&gt;0, s_m&gt;0  （物理制約）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46304"/>
            <a:ext cx="5715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参考文献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355080" y="146304"/>
            <a:ext cx="5470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Key references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45775" y="66019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p.29/30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7772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主要参考文献（手法の後追い用）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731520" y="1554480"/>
            <a:ext cx="10744200" cy="49377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783080"/>
            <a:ext cx="1028700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2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RCA洗浄（SC-1/SC-2）</a:t>
            </a:r>
            <a:endParaRPr lang="en-US" sz="13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2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W. Kern, D. A. Puotinen, “Cleaning Solutions Based on Hydrogen Peroxide for Use in Silicon Semiconductor Technology,” RCA Review (1970).</a:t>
            </a:r>
            <a:endParaRPr lang="en-US" sz="1320" dirty="0"/>
          </a:p>
          <a:p>
            <a:pPr indent="0" marL="0">
              <a:lnSpc>
                <a:spcPct val="118000"/>
              </a:lnSpc>
              <a:buNone/>
            </a:pPr>
            <a:endParaRPr lang="en-US" sz="13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2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化学酸化膜（成長×溶解のODE）</a:t>
            </a:r>
            <a:endParaRPr lang="en-US" sz="13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2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S. Petitdidier et al., Thin Solid Films 476 (2005) 51–58.（dx/dt = D1C0/x − K）</a:t>
            </a:r>
            <a:endParaRPr lang="en-US" sz="1320" dirty="0"/>
          </a:p>
          <a:p>
            <a:pPr indent="0" marL="0">
              <a:lnSpc>
                <a:spcPct val="118000"/>
              </a:lnSpc>
              <a:buNone/>
            </a:pPr>
            <a:endParaRPr lang="en-US" sz="13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2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枚葉ウェットエッチ（CFD+速度論）</a:t>
            </a:r>
            <a:endParaRPr lang="en-US" sz="13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2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H. Habuka et al., “Numerical calculation model of a single wafer wet etcher using a swinging nozzle,” Materials Science in Semiconductor Processing 15 (2012) 543–548.</a:t>
            </a:r>
            <a:endParaRPr lang="en-US" sz="1320" dirty="0"/>
          </a:p>
          <a:p>
            <a:pPr indent="0" marL="0">
              <a:lnSpc>
                <a:spcPct val="118000"/>
              </a:lnSpc>
              <a:buNone/>
            </a:pPr>
            <a:endParaRPr lang="en-US" sz="13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2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物質移動相関・film theory</a:t>
            </a:r>
            <a:endParaRPr lang="en-US" sz="13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2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Perry’s Chemical Engineers’ Handbook (Table 5-17)</a:t>
            </a:r>
            <a:endParaRPr lang="en-US" sz="13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2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Bird, Stewart, Lightfoot, Transport Phenomena (2nd ed.)</a:t>
            </a:r>
            <a:endParaRPr lang="en-US" sz="1320" dirty="0"/>
          </a:p>
          <a:p>
            <a:pPr indent="0" marL="0">
              <a:lnSpc>
                <a:spcPct val="118000"/>
              </a:lnSpc>
              <a:buNone/>
            </a:pPr>
            <a:endParaRPr lang="en-US" sz="13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2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気泡マスキング（酸系ウェットエッチの輸送/速度論）</a:t>
            </a:r>
            <a:endParaRPr lang="en-US" sz="13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2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M. S. Kulkarni et al., “Acid-Based Etching of Silicon Wafers: Mass-Transfer and Kinetic Effects,” (PDF配布)</a:t>
            </a:r>
            <a:endParaRPr lang="en-US" sz="1320" dirty="0"/>
          </a:p>
          <a:p>
            <a:pPr indent="0" marL="0">
              <a:lnSpc>
                <a:spcPct val="118000"/>
              </a:lnSpc>
              <a:buNone/>
            </a:pPr>
            <a:endParaRPr lang="en-US" sz="13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2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Fluent出力・UDF</a:t>
            </a:r>
            <a:endParaRPr lang="en-US" sz="13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2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ANSYS Innovation Space: Report Definitions</a:t>
            </a:r>
            <a:endParaRPr lang="en-US" sz="13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2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UDF training notes（F_FLUX等）</a:t>
            </a:r>
            <a:endParaRPr lang="en-US" sz="132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46304"/>
            <a:ext cx="5715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まとめ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355080" y="146304"/>
            <a:ext cx="5470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Recommendations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45775" y="66019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p.30/30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7772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まとめ：推奨ワークフロー（バッチ/枚葉 共通）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822960" y="1691640"/>
            <a:ext cx="1975104" cy="960120"/>
          </a:xfrm>
          <a:prstGeom prst="roundRect">
            <a:avLst/>
          </a:prstGeom>
          <a:solidFill>
            <a:srgbClr val="1F77B4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32688" y="1828800"/>
            <a:ext cx="17556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(1) Fluent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825496" y="2008480"/>
            <a:ext cx="128016" cy="326441"/>
          </a:xfrm>
          <a:prstGeom prst="rightArrow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80944" y="1691640"/>
            <a:ext cx="1975104" cy="9601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090672" y="1828800"/>
            <a:ext cx="17556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(2) 抽出定義固定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983480" y="2008480"/>
            <a:ext cx="128016" cy="326441"/>
          </a:xfrm>
          <a:prstGeom prst="rightArrow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38928" y="1691640"/>
            <a:ext cx="1975104" cy="9601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248656" y="1828800"/>
            <a:ext cx="17556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(3) 低次元ODE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141464" y="2008480"/>
            <a:ext cx="128016" cy="326441"/>
          </a:xfrm>
          <a:prstGeom prst="rightArrow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96912" y="1691640"/>
            <a:ext cx="1975104" cy="9601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406640" y="1828800"/>
            <a:ext cx="17556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(4) 係数同定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299448" y="2008480"/>
            <a:ext cx="128016" cy="326441"/>
          </a:xfrm>
          <a:prstGeom prst="rightArrow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54896" y="1691640"/>
            <a:ext cx="1975104" cy="9601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564624" y="1828800"/>
            <a:ext cx="17556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(5) 検証→改善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68680" y="2971800"/>
            <a:ext cx="107899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2565" indent="-202565">
              <a:lnSpc>
                <a:spcPct val="115000"/>
              </a:lnSpc>
              <a:buSzPct val="100000"/>
              <a:buChar char="•"/>
            </a:pPr>
            <a:r>
              <a:rPr lang="en-US" sz="14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まずM0（壁面Flux積分）で最短に“分布”を出し、残差パターンで不足物理を特定</a:t>
            </a:r>
            <a:endParaRPr lang="en-US" sz="1450" dirty="0"/>
          </a:p>
          <a:p>
            <a:pPr marL="202565" indent="-202565">
              <a:lnSpc>
                <a:spcPct val="115000"/>
              </a:lnSpc>
              <a:buSzPct val="100000"/>
              <a:buChar char="•"/>
            </a:pPr>
            <a:r>
              <a:rPr lang="en-US" sz="14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次にM1（film+反応）へ：反応則を差し替え可能にし、外挿性を確保</a:t>
            </a:r>
            <a:endParaRPr lang="en-US" sz="1450" dirty="0"/>
          </a:p>
          <a:p>
            <a:pPr marL="202565" indent="-202565">
              <a:lnSpc>
                <a:spcPct val="115000"/>
              </a:lnSpc>
              <a:buSzPct val="100000"/>
              <a:buChar char="•"/>
            </a:pPr>
            <a:r>
              <a:rPr lang="en-US" sz="14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バッチは B0/B1（槽0D/区画）で時間・位置の濃度変動を入れる。必要なら狭隙モデルや気泡マスクを追加</a:t>
            </a:r>
            <a:endParaRPr lang="en-US" sz="1450" dirty="0"/>
          </a:p>
          <a:p>
            <a:pPr marL="202565" indent="-202565">
              <a:lnSpc>
                <a:spcPct val="115000"/>
              </a:lnSpc>
              <a:buSzPct val="100000"/>
              <a:buChar char="•"/>
            </a:pPr>
            <a:r>
              <a:rPr lang="en-US" sz="14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枚葉は S1（回転境界層解析）→S2（薄膜リング）→S3（非軸対称）と最小次元から増やす</a:t>
            </a:r>
            <a:endParaRPr lang="en-US" sz="1450" dirty="0"/>
          </a:p>
          <a:p>
            <a:pPr marL="202565" indent="-202565">
              <a:lnSpc>
                <a:spcPct val="115000"/>
              </a:lnSpc>
              <a:buSzPct val="100000"/>
              <a:buChar char="•"/>
            </a:pPr>
            <a:r>
              <a:rPr lang="en-US" sz="14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Fluent側は「出力粒度」を設計：壁面Flux/近壁C/τ_w/VOF を出せると選択肢が広がる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822960" y="5989320"/>
            <a:ext cx="10607040" cy="502920"/>
          </a:xfrm>
          <a:prstGeom prst="round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51560" y="6099048"/>
            <a:ext cx="10149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Deliverable：Fluent出力→エッチ量予測の“実装可能な数式/手順”を、装置別に標準化（テンプレ化）</a:t>
            </a:r>
            <a:endParaRPr lang="en-US" sz="13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2026-01-24T05:59:26Z</dcterms:created>
  <dcterms:modified xsi:type="dcterms:W3CDTF">2026-01-24T05:59:26Z</dcterms:modified>
</cp:coreProperties>
</file>