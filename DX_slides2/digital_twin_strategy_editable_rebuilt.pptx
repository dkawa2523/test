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76978a018849fe" /><Relationship Type="http://schemas.openxmlformats.org/officeDocument/2006/relationships/extended-properties" Target="/docProps/app.xml" Id="R810f787dd6db480a" /><Relationship Type="http://schemas.openxmlformats.org/officeDocument/2006/relationships/officeDocument" Target="/ppt/presentation.xml" Id="R6f206f366a1040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19937872fe4b7a"/>
  </p:sldMasterIdLst>
  <p:notesMasterIdLst>
    <p:notesMasterId xmlns:r="http://schemas.openxmlformats.org/officeDocument/2006/relationships" r:id="Rd14dcd32a7624cc1"/>
  </p:notesMasterIdLst>
  <p:sldIdLst>
    <p:sldId xmlns:r="http://schemas.openxmlformats.org/officeDocument/2006/relationships" id="256" r:id="Rd74bddaf79824b7e"/>
    <p:sldId xmlns:r="http://schemas.openxmlformats.org/officeDocument/2006/relationships" id="257" r:id="R3872e0d585094669"/>
    <p:sldId xmlns:r="http://schemas.openxmlformats.org/officeDocument/2006/relationships" id="258" r:id="Rd22910a9785d42af"/>
    <p:sldId xmlns:r="http://schemas.openxmlformats.org/officeDocument/2006/relationships" id="259" r:id="R77c12d8050054230"/>
    <p:sldId xmlns:r="http://schemas.openxmlformats.org/officeDocument/2006/relationships" id="260" r:id="Rf1728a252a4947ef"/>
    <p:sldId xmlns:r="http://schemas.openxmlformats.org/officeDocument/2006/relationships" id="261" r:id="Rce413d2b03c34751"/>
    <p:sldId xmlns:r="http://schemas.openxmlformats.org/officeDocument/2006/relationships" id="262" r:id="R7d096d58d9954397"/>
    <p:sldId xmlns:r="http://schemas.openxmlformats.org/officeDocument/2006/relationships" id="263" r:id="R0c6773c57e7043d2"/>
  </p:sldIdLst>
  <p:sldSz cx="15925800" cy="896302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89436332e840eb" /><Relationship Type="http://schemas.openxmlformats.org/officeDocument/2006/relationships/slideMaster" Target="/ppt/slideMasters/slideMaster1.xml" Id="R4b19937872fe4b7a" /><Relationship Type="http://schemas.openxmlformats.org/officeDocument/2006/relationships/notesMaster" Target="/ppt/notesMasters/notesMaster1.xml" Id="Rd14dcd32a7624cc1" /><Relationship Type="http://schemas.openxmlformats.org/officeDocument/2006/relationships/presProps" Target="/ppt/presProps.xml" Id="Ref084c87541f4dfe" /><Relationship Type="http://schemas.openxmlformats.org/officeDocument/2006/relationships/tableStyles" Target="/ppt/tableStyles.xml" Id="R8dd5cdf073d64454" /><Relationship Type="http://schemas.openxmlformats.org/officeDocument/2006/relationships/slide" Target="/ppt/slides/slide1.xml" Id="Rd74bddaf79824b7e" /><Relationship Type="http://schemas.openxmlformats.org/officeDocument/2006/relationships/slide" Target="/ppt/slides/slide2.xml" Id="R3872e0d585094669" /><Relationship Type="http://schemas.openxmlformats.org/officeDocument/2006/relationships/slide" Target="/ppt/slides/slide3.xml" Id="Rd22910a9785d42af" /><Relationship Type="http://schemas.openxmlformats.org/officeDocument/2006/relationships/slide" Target="/ppt/slides/slide4.xml" Id="R77c12d8050054230" /><Relationship Type="http://schemas.openxmlformats.org/officeDocument/2006/relationships/slide" Target="/ppt/slides/slide5.xml" Id="Rf1728a252a4947ef" /><Relationship Type="http://schemas.openxmlformats.org/officeDocument/2006/relationships/slide" Target="/ppt/slides/slide6.xml" Id="Rce413d2b03c34751" /><Relationship Type="http://schemas.openxmlformats.org/officeDocument/2006/relationships/slide" Target="/ppt/slides/slide7.xml" Id="R7d096d58d9954397" /><Relationship Type="http://schemas.openxmlformats.org/officeDocument/2006/relationships/slide" Target="/ppt/slides/slide8.xml" Id="R0c6773c57e7043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4d3553e2fa4b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3bac7c031b4c6b" /><Relationship Type="http://schemas.openxmlformats.org/officeDocument/2006/relationships/notesMaster" Target="/ppt/notesMasters/notesMaster1.xml" Id="R3071e437f47c49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825e119d424796" /><Relationship Type="http://schemas.openxmlformats.org/officeDocument/2006/relationships/notesMaster" Target="/ppt/notesMasters/notesMaster1.xml" Id="R050ae575d94b40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b5969c81cd42b2" /><Relationship Type="http://schemas.openxmlformats.org/officeDocument/2006/relationships/notesMaster" Target="/ppt/notesMasters/notesMaster1.xml" Id="Ra53d86472a2e40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e5462255c444fe" /><Relationship Type="http://schemas.openxmlformats.org/officeDocument/2006/relationships/notesMaster" Target="/ppt/notesMasters/notesMaster1.xml" Id="Ra04474e5d6f04c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a565dd06394672" /><Relationship Type="http://schemas.openxmlformats.org/officeDocument/2006/relationships/notesMaster" Target="/ppt/notesMasters/notesMaster1.xml" Id="R32f7831472204f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a02cb4da2746d4" /><Relationship Type="http://schemas.openxmlformats.org/officeDocument/2006/relationships/notesMaster" Target="/ppt/notesMasters/notesMaster1.xml" Id="Rd5133c93bfad48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110cb5d26d4565" /><Relationship Type="http://schemas.openxmlformats.org/officeDocument/2006/relationships/notesMaster" Target="/ppt/notesMasters/notesMaster1.xml" Id="Rdf46b872c5cd42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45f4a33cfd42ed" /><Relationship Type="http://schemas.openxmlformats.org/officeDocument/2006/relationships/notesMaster" Target="/ppt/notesMasters/notesMaster1.xml" Id="R2588b670053240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e31f74c9b842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8cc9b5a7fa4e58" /><Relationship Type="http://schemas.openxmlformats.org/officeDocument/2006/relationships/slideLayout" Target="/ppt/slideLayouts/slideLayout1.xml" Id="R7ee845928ff242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e845928ff242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8ef4847d949f9" /><Relationship Type="http://schemas.openxmlformats.org/officeDocument/2006/relationships/image" Target="/ppt/media/image.png" Id="R18a7b37b68054fb9" /><Relationship Type="http://schemas.openxmlformats.org/officeDocument/2006/relationships/image" Target="/ppt/media/image2.png" Id="Rcf7bb19ad2404416" /><Relationship Type="http://schemas.openxmlformats.org/officeDocument/2006/relationships/image" Target="/ppt/media/image3.png" Id="R82801b3e4f9e4580" /><Relationship Type="http://schemas.openxmlformats.org/officeDocument/2006/relationships/image" Target="/ppt/media/image4.png" Id="R94af5147843e4c19" /><Relationship Type="http://schemas.openxmlformats.org/officeDocument/2006/relationships/notesSlide" Target="/ppt/notesSlides/notesSlide1.xml" Id="R9edf1ca0d8494c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c204831324b3d" /><Relationship Type="http://schemas.openxmlformats.org/officeDocument/2006/relationships/image" Target="/ppt/media/image5.png" Id="R23afe7d80f5149f6" /><Relationship Type="http://schemas.openxmlformats.org/officeDocument/2006/relationships/image" Target="/ppt/media/image6.png" Id="Reb409fcc918a4af9" /><Relationship Type="http://schemas.openxmlformats.org/officeDocument/2006/relationships/image" Target="/ppt/media/image7.png" Id="Re1ce9b53e6f540ac" /><Relationship Type="http://schemas.openxmlformats.org/officeDocument/2006/relationships/image" Target="/ppt/media/image8.png" Id="Rcdd8a0c8a7074146" /><Relationship Type="http://schemas.openxmlformats.org/officeDocument/2006/relationships/image" Target="/ppt/media/image9.png" Id="Rf537f99382ff4c57" /><Relationship Type="http://schemas.openxmlformats.org/officeDocument/2006/relationships/notesSlide" Target="/ppt/notesSlides/notesSlide2.xml" Id="Rc752196e715d4c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89bded47c404d" /><Relationship Type="http://schemas.openxmlformats.org/officeDocument/2006/relationships/image" Target="/ppt/media/image10.png" Id="Ra1305ed1bac24766" /><Relationship Type="http://schemas.openxmlformats.org/officeDocument/2006/relationships/image" Target="/ppt/media/image11.png" Id="R7e3a53c8e84b4a93" /><Relationship Type="http://schemas.openxmlformats.org/officeDocument/2006/relationships/image" Target="/ppt/media/image12.png" Id="R989eeaebd05b4d95" /><Relationship Type="http://schemas.openxmlformats.org/officeDocument/2006/relationships/notesSlide" Target="/ppt/notesSlides/notesSlide3.xml" Id="Rc83f2cfa5afc43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a64a38e2e4bf8" /><Relationship Type="http://schemas.openxmlformats.org/officeDocument/2006/relationships/image" Target="/ppt/media/image13.png" Id="Rcf779cb664ac492c" /><Relationship Type="http://schemas.openxmlformats.org/officeDocument/2006/relationships/image" Target="/ppt/media/image14.png" Id="Rb2af3e0da2404062" /><Relationship Type="http://schemas.openxmlformats.org/officeDocument/2006/relationships/notesSlide" Target="/ppt/notesSlides/notesSlide4.xml" Id="R62c479fc0d1946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b1f2aca9f48f5" /><Relationship Type="http://schemas.openxmlformats.org/officeDocument/2006/relationships/notesSlide" Target="/ppt/notesSlides/notesSlide5.xml" Id="Rd871dc55d0fd40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2e0e9753a4872" /><Relationship Type="http://schemas.openxmlformats.org/officeDocument/2006/relationships/notesSlide" Target="/ppt/notesSlides/notesSlide6.xml" Id="R06caceeb7f634c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e329047334e23" /><Relationship Type="http://schemas.openxmlformats.org/officeDocument/2006/relationships/image" Target="/ppt/media/image15.png" Id="Reee6dbe76dca4380" /><Relationship Type="http://schemas.openxmlformats.org/officeDocument/2006/relationships/image" Target="/ppt/media/image16.png" Id="R143c27c26c2d4352" /><Relationship Type="http://schemas.openxmlformats.org/officeDocument/2006/relationships/image" Target="/ppt/media/image17.png" Id="R1830e7a3d79e4980" /><Relationship Type="http://schemas.openxmlformats.org/officeDocument/2006/relationships/image" Target="/ppt/media/image18.png" Id="R657c46cab38a49d4" /><Relationship Type="http://schemas.openxmlformats.org/officeDocument/2006/relationships/image" Target="/ppt/media/image19.png" Id="Rce682a6409534bc5" /><Relationship Type="http://schemas.openxmlformats.org/officeDocument/2006/relationships/image" Target="/ppt/media/image20.png" Id="Rd6c0bd4508ea4db8" /><Relationship Type="http://schemas.openxmlformats.org/officeDocument/2006/relationships/image" Target="/ppt/media/image21.png" Id="Raf405d5366d748ae" /><Relationship Type="http://schemas.openxmlformats.org/officeDocument/2006/relationships/image" Target="/ppt/media/image22.png" Id="Rc0cd75a40daf4a4c" /><Relationship Type="http://schemas.openxmlformats.org/officeDocument/2006/relationships/notesSlide" Target="/ppt/notesSlides/notesSlide7.xml" Id="Ra83c6434c1b842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fe4e1a4794a6f" /><Relationship Type="http://schemas.openxmlformats.org/officeDocument/2006/relationships/image" Target="/ppt/media/image23.png" Id="R1bd926ee68d84b89" /><Relationship Type="http://schemas.openxmlformats.org/officeDocument/2006/relationships/image" Target="/ppt/media/image24.png" Id="R1fb7d07bcb874824" /><Relationship Type="http://schemas.openxmlformats.org/officeDocument/2006/relationships/image" Target="/ppt/media/image25.png" Id="Re643bb2280674268" /><Relationship Type="http://schemas.openxmlformats.org/officeDocument/2006/relationships/image" Target="/ppt/media/image26.png" Id="R4020d3194d564964" /><Relationship Type="http://schemas.openxmlformats.org/officeDocument/2006/relationships/image" Target="/ppt/media/image27.png" Id="Rd30b11be8adc454e" /><Relationship Type="http://schemas.openxmlformats.org/officeDocument/2006/relationships/image" Target="/ppt/media/image28.png" Id="R7c758cbc36e2458c" /><Relationship Type="http://schemas.openxmlformats.org/officeDocument/2006/relationships/image" Target="/ppt/media/image29.png" Id="R0535ddea7e1945f3" /><Relationship Type="http://schemas.openxmlformats.org/officeDocument/2006/relationships/notesSlide" Target="/ppt/notesSlides/notesSlide8.xml" Id="Rd7c1a035681a4f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13D0D2-D8B8-4E22-A783-68355C28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01  |  世間一般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94433-721E-4579-A2EB-CFF6CF6D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485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5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デジタルツインって、結局なんだ？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7b37b68054fb9"/>
          <a:stretch xmlns:a="http://schemas.openxmlformats.org/drawingml/2006/main"/>
        </p:blipFill>
        <p:spPr>
          <a:xfrm xmlns:a="http://schemas.openxmlformats.org/drawingml/2006/main">
            <a:off x="3381375" y="1571625"/>
            <a:ext cx="2714625" cy="2428875"/>
          </a:xfrm>
          <a:prstGeom xmlns:a="http://schemas.openxmlformats.org/drawingml/2006/main" prst="rect">
            <a:avLst/>
          </a:prstGeom>
        </p:spPr>
      </p:pic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bb19ad2404416"/>
          <a:stretch xmlns:a="http://schemas.openxmlformats.org/drawingml/2006/main"/>
        </p:blipFill>
        <p:spPr>
          <a:xfrm xmlns:a="http://schemas.openxmlformats.org/drawingml/2006/main">
            <a:off x="9810750" y="1571625"/>
            <a:ext cx="2714625" cy="2428875"/>
          </a:xfrm>
          <a:prstGeom xmlns:a="http://schemas.openxmlformats.org/drawingml/2006/main" prst="rect">
            <a:avLst/>
          </a:prstGeom>
        </p:spPr>
      </p:pic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01b3e4f9e4580"/>
          <a:stretch xmlns:a="http://schemas.openxmlformats.org/drawingml/2006/main"/>
        </p:blipFill>
        <p:spPr>
          <a:xfrm xmlns:a="http://schemas.openxmlformats.org/drawingml/2006/main">
            <a:off x="3381375" y="4095750"/>
            <a:ext cx="2714625" cy="2428875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f5147843e4c19"/>
          <a:stretch xmlns:a="http://schemas.openxmlformats.org/drawingml/2006/main"/>
        </p:blipFill>
        <p:spPr>
          <a:xfrm xmlns:a="http://schemas.openxmlformats.org/drawingml/2006/main">
            <a:off x="9810750" y="4095750"/>
            <a:ext cx="2714625" cy="2428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984F7-DA44-4E58-9BA1-47FB4AC9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6FF"/>
          </a:solidFill>
          <a:ln xmlns:a="http://schemas.openxmlformats.org/drawingml/2006/main" w="19050">
            <a:solidFill>
              <a:srgbClr val="68B9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F478A-FF01-40B8-959A-084EE2B4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90775"/>
            <a:ext cx="2838450" cy="2838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B9DD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8DAE1-BFB8-4D46-834D-DAD7B9AA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748463" y="2605088"/>
            <a:ext cx="657225" cy="766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C9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F2ECD1-71C4-4CD2-9640-33257890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688" y="2605088"/>
            <a:ext cx="87630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C9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827C9-E276-465F-B9CF-9A097F6B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1988" y="2824163"/>
            <a:ext cx="766763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C9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073726-D38D-4A88-8A95-DC0AC3E6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463" y="3371850"/>
            <a:ext cx="1204913" cy="8324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C9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3F78C-173A-4FAF-8441-BD94AFDE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688" y="2605088"/>
            <a:ext cx="547688" cy="15992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C9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1CAC51-330E-4F80-B3EE-1C3C0379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953375" y="2824163"/>
            <a:ext cx="328613" cy="13801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C9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FA615-3596-4DB5-B060-614AFD92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939213" y="3481388"/>
            <a:ext cx="109538" cy="11610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C9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2741F6-CC62-40F6-8E03-2180D9F4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077075" y="4204335"/>
            <a:ext cx="876300" cy="3724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C9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841BE8-4F9A-4E0B-902F-2B6757F5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204335"/>
            <a:ext cx="985838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C9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88C124-FFBC-413F-A428-12D5330B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576763"/>
            <a:ext cx="766763" cy="503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C9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B91560-07A1-415F-9330-CC6A6A04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43838" y="4204335"/>
            <a:ext cx="109538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C9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000038-2CF0-42A9-B3AF-6A18EC0B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43838" y="4642485"/>
            <a:ext cx="1095375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C9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27F84E-881C-4A57-9A95-DFB2E73B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363" y="3333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B7F2"/>
          </a:solidFill>
          <a:ln xmlns:a="http://schemas.openxmlformats.org/drawingml/2006/main" w="9525">
            <a:solidFill>
              <a:srgbClr val="63B7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0C8A21-308E-4588-9AA6-FBDD63C4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7588" y="25669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B7F2"/>
          </a:solidFill>
          <a:ln xmlns:a="http://schemas.openxmlformats.org/drawingml/2006/main" w="9525">
            <a:solidFill>
              <a:srgbClr val="63B7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269BC3-5DAB-4548-904C-EB5F8EC0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888" y="27860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B7F2"/>
          </a:solidFill>
          <a:ln xmlns:a="http://schemas.openxmlformats.org/drawingml/2006/main" w="9525">
            <a:solidFill>
              <a:srgbClr val="63B7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9C2E24-E3A3-4FC8-B720-0C470CC7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432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B7F2"/>
          </a:solidFill>
          <a:ln xmlns:a="http://schemas.openxmlformats.org/drawingml/2006/main" w="9525">
            <a:solidFill>
              <a:srgbClr val="63B7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40D08D-F8FD-49BE-9734-EF08CD28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5386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B7F2"/>
          </a:solidFill>
          <a:ln xmlns:a="http://schemas.openxmlformats.org/drawingml/2006/main" w="9525">
            <a:solidFill>
              <a:srgbClr val="63B7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D3C8C1-65FB-4B25-B046-97AFE99B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16623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B7F2"/>
          </a:solidFill>
          <a:ln xmlns:a="http://schemas.openxmlformats.org/drawingml/2006/main" w="9525">
            <a:solidFill>
              <a:srgbClr val="63B7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ADDB81-424D-4147-94E3-3CBB5F4D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113" y="460438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B7F2"/>
          </a:solidFill>
          <a:ln xmlns:a="http://schemas.openxmlformats.org/drawingml/2006/main" w="9525">
            <a:solidFill>
              <a:srgbClr val="63B7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AE31EB-368F-4FF4-8A5D-867C5567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5738" y="504253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B7F2"/>
          </a:solidFill>
          <a:ln xmlns:a="http://schemas.openxmlformats.org/drawingml/2006/main" w="9525">
            <a:solidFill>
              <a:srgbClr val="63B7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41FD3D-0846-4F1C-B0E7-372671CB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48000"/>
            <a:ext cx="1714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9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Digital</a:t>
            </a:r>
          </a:p>
          <a:p xmlns:a="http://schemas.openxmlformats.org/drawingml/2006/main">
            <a:pPr algn="ctr">
              <a:defRPr sz="39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9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Twin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423A62-5265-4AF8-B901-76E828B2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05125"/>
            <a:ext cx="55245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5F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6920BB-C48A-42D5-80AF-1685A9D6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47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E3DED2-B708-41C6-8070-2AEBA743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382125" y="2905125"/>
            <a:ext cx="47625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5F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606C18-D5DD-43CE-8CC1-B68B135B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847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22D4EA-40AC-443E-8C0E-7B6C142E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62650" y="4714875"/>
            <a:ext cx="60960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5F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753AC3-9D24-4024-B25C-6F9D91B4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91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053522-9404-4189-A40A-C1FCD2DD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14875"/>
            <a:ext cx="52387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5F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688E19-A192-4B84-B1F2-76EA0680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991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3B4B28-45AE-4558-B780-4A93E8EE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9075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5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航空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6711DA-0F2A-47E6-98DD-E32A0DED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機体 × 整備・寿命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5C5238-56A7-48C5-9FEC-C9B4EA76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19075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5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製造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9F6EC4-6122-4CAC-8C4E-E4D4047F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73367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設備 × 生産・保全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A8B60A-45BF-4D81-A4AD-C0E5A207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05375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5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都市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201DE3-C538-4A5B-8CA6-C7D91BBB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483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インフラ × 安全・運用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A556AF-6A1F-4DD8-AD4E-5E521408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905375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5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医療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159213-0187-4D8E-9A77-5670879F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54483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人体 × 診断・予測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8AA96C-9BBC-44CF-8D7D-40122E9D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334125"/>
            <a:ext cx="6048375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E72A355-80D0-4B0F-A1E3-D0C8D518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457950"/>
            <a:ext cx="566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現実</a:t>
            </a:r>
            <a:r>
              <a: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  ↔  </a:t>
            </a:r>
            <a:r>
              <a: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デジタル表現</a:t>
            </a:r>
            <a:r>
              <a: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  →  </a:t>
            </a:r>
            <a:r>
              <a: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判断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EB96F0-5237-44F2-A85B-99DCF76C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81625"/>
            <a:ext cx="953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5FF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032B26-869E-40D2-8233-117512F4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0"/>
            <a:ext cx="14630400" cy="1095375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69F5CD-3620-4190-A0CA-A9D80705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353300"/>
            <a:ext cx="7239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1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一つの正解ではない。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AEA29A-45CB-4930-B314-CDDD42B3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353300"/>
            <a:ext cx="6572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150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rPr>
              <a:t>目的が定義を決める。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A54C173-6D64-4E91-8C66-9A621238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543925"/>
            <a:ext cx="1021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Sources: NIST (2026), Digital Twin Consortium</a:t>
            </a:r>
          </a:p>
        </p:txBody>
      </p:sp>
    </p:spTree>
    <p:extLst>
      <p:ext uri="{BB962C8B-B14F-4D97-AF65-F5344CB8AC3E}">
        <p14:creationId xmlns:p14="http://schemas.microsoft.com/office/powerpoint/2010/main" val="18259504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9ED34B-E302-45C7-B823-89E29A1E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02  |  半導体業界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25249-7DD3-46E2-9D7E-1F4314C6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485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5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半導体の「時間」は、ひとつではない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fe7d80f5149f6"/>
          <a:stretch xmlns:a="http://schemas.openxmlformats.org/drawingml/2006/main"/>
        </p:blipFill>
        <p:spPr>
          <a:xfrm xmlns:a="http://schemas.openxmlformats.org/drawingml/2006/main">
            <a:off x="266700" y="1952625"/>
            <a:ext cx="3000375" cy="409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87191-43FA-43E0-9ED1-5C9884A8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478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同期・判断の単位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0D74B-638B-414C-91FD-7EFA62A4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43150"/>
            <a:ext cx="34766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ED727-E5A9-479E-8D45-0DFB3AD4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343150"/>
            <a:ext cx="3048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A7D82-9ECA-4A47-A9EE-3EB92C3F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43150"/>
            <a:ext cx="953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F76C2-BE26-44A6-BDD4-EAA27E64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2343150"/>
            <a:ext cx="953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409fcc918a4af9"/>
          <a:stretch xmlns:a="http://schemas.openxmlformats.org/drawingml/2006/main"/>
        </p:blipFill>
        <p:spPr>
          <a:xfrm xmlns:a="http://schemas.openxmlformats.org/drawingml/2006/main">
            <a:off x="3476625" y="2781300"/>
            <a:ext cx="1905000" cy="1905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A482D-7E71-4C8A-B6A0-EAC1A67D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33800"/>
            <a:ext cx="10001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5F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3DDB10-B3DF-4254-8589-15C06359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676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EF026-AB9B-441E-BB19-7F8AD45D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76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e9b53e6f540ac"/>
          <a:stretch xmlns:a="http://schemas.openxmlformats.org/drawingml/2006/main"/>
        </p:blipFill>
        <p:spPr>
          <a:xfrm xmlns:a="http://schemas.openxmlformats.org/drawingml/2006/main">
            <a:off x="6572250" y="2781300"/>
            <a:ext cx="1905000" cy="1905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A3C9D0-E61C-4E2B-9FCD-587C25C9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33800"/>
            <a:ext cx="10001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5F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2D35C-E005-4C0E-94A7-E23ADFF2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76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D0E73F-B1CB-4F58-8968-DA2C3E93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676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8a0c8a7074146"/>
          <a:stretch xmlns:a="http://schemas.openxmlformats.org/drawingml/2006/main"/>
        </p:blipFill>
        <p:spPr>
          <a:xfrm xmlns:a="http://schemas.openxmlformats.org/drawingml/2006/main">
            <a:off x="9667875" y="2781300"/>
            <a:ext cx="1905000" cy="19050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F21EEF-4AD0-4161-B2D4-3BBA18F1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3733800"/>
            <a:ext cx="10001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5F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D76610-38E9-4DC4-8A70-EA0C51F7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3676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66E4A7-F186-497B-8144-31C268C4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676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7f99382ff4c57"/>
          <a:stretch xmlns:a="http://schemas.openxmlformats.org/drawingml/2006/main"/>
        </p:blipFill>
        <p:spPr>
          <a:xfrm xmlns:a="http://schemas.openxmlformats.org/drawingml/2006/main">
            <a:off x="12763500" y="2781300"/>
            <a:ext cx="1905000" cy="19050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63623F-97B1-472A-B531-0AA4DCBC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9053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ms～秒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E68D1C-B4B0-4551-95BA-6886EFE2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2925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制御周期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0945D0-F256-473F-A65E-9ECB06A3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6000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制御・安全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C01444-7E04-434E-99A3-A52639CA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053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秒～時間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C05B85-27C6-4DBB-B256-7D7E2523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42925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Step / Run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1E321D-308C-4336-8205-B435A51C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000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レシピ・均一性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389243-5C61-4385-AE9C-5A0DA0C5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9053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時間～日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EE4749-B1E4-49B4-94F3-E5E4CA4E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2925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Wafer / Lot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39F249-1D79-4E7F-81ED-6E18E460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6000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品質・Matching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0632E8-62ED-4FEF-B6B6-9FD74763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49053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週～月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38BBAB-DB0D-407C-A9E3-20F494EA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39115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実験 / 設計Gate /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78F523-E2E5-4090-8D4D-780B4FC2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0" y="56578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rPr>
              <a:t>POR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04A079-2788-49AF-88C9-DCBB6918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6000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開発・顧客評価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7EE19A-E719-4CF5-B2AD-B57B42C4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24700"/>
            <a:ext cx="146304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17E9FF-EAE2-42A4-A24C-549675C9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2390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0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最速ではなく、変える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9283E1-BCDF-4DA9-8CEA-52F0BD87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239000"/>
            <a:ext cx="657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000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rPr>
              <a:t>判断に合う同期が正しい。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97B9D6-ABD8-4547-9930-94083A1B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543925"/>
            <a:ext cx="1021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Sources: DTC, SEMI E157/E174/E168, TEL (2025)</a:t>
            </a:r>
          </a:p>
        </p:txBody>
      </p:sp>
    </p:spTree>
    <p:extLst>
      <p:ext uri="{BB962C8B-B14F-4D97-AF65-F5344CB8AC3E}">
        <p14:creationId xmlns:p14="http://schemas.microsoft.com/office/powerpoint/2010/main" val="7987702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7CFC96-0F9C-4D8C-AEA3-6150785E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03  |  3C分析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79CA2-FDE8-4D97-80F3-454A7406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485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5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東京エレクトロン視点の3C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C6EF8-AA14-4118-BDDC-45319ACC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6A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869AA-5E0E-4AEF-9736-6A24AE10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049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78AA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4BE92-8893-42B5-A5DE-B61A4866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476625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A5F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4967B-70F7-4F3B-A425-C62E1187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5287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rPr>
              <a:t>Competitor | 競合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20D80-C61C-4BF5-A6AD-D8060EBA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29125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275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Applied：工程・装置を統合</a:t>
            </a:r>
          </a:p>
          <a:p xmlns:a="http://schemas.openxmlformats.org/drawingml/2006/main">
            <a:pPr algn="ctr">
              <a:defRPr sz="18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Lam：Virtual Fab + AI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05ed1bac24766"/>
          <a:stretch xmlns:a="http://schemas.openxmlformats.org/drawingml/2006/main"/>
        </p:blipFill>
        <p:spPr>
          <a:xfrm xmlns:a="http://schemas.openxmlformats.org/drawingml/2006/main">
            <a:off x="1952625" y="5258176"/>
            <a:ext cx="3524250" cy="143752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01A532-14F7-4044-8486-FD436E4B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669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78AA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1">
                <a:solidFill>
                  <a:srgbClr val="078AA7"/>
                </a:solidFill>
                <a:latin typeface="Noto Sans CJK JP"/>
                <a:ea typeface="Noto Sans CJK JP"/>
                <a:cs typeface="Noto Sans CJK JP"/>
              </a:rPr>
              <a:t>Customer | 顧客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0956FA-1152-4CA2-8CA7-C4EAEB98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2714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開発短縮・少ない試作</a:t>
            </a:r>
          </a:p>
          <a:p xmlns:a="http://schemas.openxmlformats.org/drawingml/2006/main">
            <a:pPr algn="ctr">
              <a:def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再現性・生産性・稼働率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a53c8e84b4a93"/>
          <a:stretch xmlns:a="http://schemas.openxmlformats.org/drawingml/2006/main"/>
        </p:blipFill>
        <p:spPr>
          <a:xfrm xmlns:a="http://schemas.openxmlformats.org/drawingml/2006/main">
            <a:off x="6477000" y="3000375"/>
            <a:ext cx="2952750" cy="14763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2061D-39A0-4DBC-A374-3179E2C6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95287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A5FF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1">
                <a:solidFill>
                  <a:srgbClr val="0A5FF0"/>
                </a:solidFill>
                <a:latin typeface="Noto Sans CJK JP"/>
                <a:ea typeface="Noto Sans CJK JP"/>
                <a:cs typeface="Noto Sans CJK JP"/>
              </a:rPr>
              <a:t>Company | TEL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C9215-C1CF-46EE-8F90-CD300E09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29125"/>
            <a:ext cx="300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322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幅広い装置群・プロセス知</a:t>
            </a:r>
          </a:p>
          <a:p xmlns:a="http://schemas.openxmlformats.org/drawingml/2006/main">
            <a:pPr algn="ctr">
              <a:def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実験・装置データ・Physics AI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9eeaebd05b4d95"/>
          <a:stretch xmlns:a="http://schemas.openxmlformats.org/drawingml/2006/main"/>
        </p:blipFill>
        <p:spPr>
          <a:xfrm xmlns:a="http://schemas.openxmlformats.org/drawingml/2006/main">
            <a:off x="10001250" y="5238750"/>
            <a:ext cx="3714750" cy="14763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1C0D87-EDB8-423C-BB90-FFFD311D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19625"/>
            <a:ext cx="2809875" cy="2809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AFF"/>
          </a:solidFill>
          <a:ln xmlns:a="http://schemas.openxmlformats.org/drawingml/2006/main" w="19050">
            <a:solidFill>
              <a:srgbClr val="A9CA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C45D9-49C5-421F-9D38-3411EA10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2524125" cy="2524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9B145-153A-485D-A5F7-696A3737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装置開発・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7C9406-5D22-4765-AC32-4C37BFB0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715000"/>
            <a:ext cx="1857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925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rPr>
              <a:t>POR判断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D180E9-E41B-4E7C-AA55-AB0ACF01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721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5A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565920-51EA-4FAC-BD1B-65BC697C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524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00"/>
          </a:solidFill>
          <a:ln xmlns:a="http://schemas.openxmlformats.org/drawingml/2006/main" w="9525">
            <a:solidFill>
              <a:srgbClr val="FF5A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E0D859-E935-49C8-961B-AC458445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572125"/>
            <a:ext cx="5048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A5F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D308E1-6C55-4F0C-972B-AB34EB76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5524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4ADB9A-D3C3-4BDD-8D57-00012F4B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33875"/>
            <a:ext cx="953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78AA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7427CD-A132-4D71-B7FA-AB458D6E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19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A7"/>
          </a:solidFill>
          <a:ln xmlns:a="http://schemas.openxmlformats.org/drawingml/2006/main" w="9525">
            <a:solidFill>
              <a:srgbClr val="078AA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082424-2A54-4345-8C0C-6E96B2CF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76275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競争軸 ＝ 判断の速度 × 確度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51CD76-B7DB-46D7-A553-45E2F8BE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524750"/>
            <a:ext cx="14630400" cy="904875"/>
          </a:xfrm>
          <a:prstGeom xmlns:a="http://schemas.openxmlformats.org/drawingml/2006/main" prst="roundRect">
            <a:avLst>
              <a:gd name="adj" fmla="val 147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23F0DC-C79F-4758-915E-9D611D4F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639050"/>
            <a:ext cx="619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9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9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差はAIの有無ではない。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AAF246-D406-49DA-B751-D0AC3CFB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7639050"/>
            <a:ext cx="7620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925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rPr>
              <a:t>装置知を実機で学習し続ける力。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EB19FC-20C6-4F61-984A-7404610D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543925"/>
            <a:ext cx="1021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Sources: TEL, Applied Materials, Lam Research（公開情報）</a:t>
            </a:r>
          </a:p>
        </p:txBody>
      </p:sp>
    </p:spTree>
    <p:extLst>
      <p:ext uri="{BB962C8B-B14F-4D97-AF65-F5344CB8AC3E}">
        <p14:creationId xmlns:p14="http://schemas.microsoft.com/office/powerpoint/2010/main" val="3106367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F9809E-2D0E-42C5-B234-1CF9B838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04  |  自社定義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A52D0-66E4-48F1-8D98-D06B23AE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2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当社のDigital Twinは、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B823F-A283-4614-B1D9-3D0F51A8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667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200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rPr>
              <a:t>「判断」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0C6DD-58E3-4852-A14A-1EDF6B36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667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2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から定義する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79cb664ac492c"/>
          <a:stretch xmlns:a="http://schemas.openxmlformats.org/drawingml/2006/main"/>
        </p:blipFill>
        <p:spPr>
          <a:xfrm xmlns:a="http://schemas.openxmlformats.org/drawingml/2006/main">
            <a:off x="452438" y="1666875"/>
            <a:ext cx="4762500" cy="3143250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f3e0da2404062"/>
          <a:stretch xmlns:a="http://schemas.openxmlformats.org/drawingml/2006/main"/>
        </p:blipFill>
        <p:spPr>
          <a:xfrm xmlns:a="http://schemas.openxmlformats.org/drawingml/2006/main">
            <a:off x="10906125" y="1666875"/>
            <a:ext cx="4476750" cy="3143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8E309-7E1A-4096-BA5C-806EDEDE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0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実機・実験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B0977-B9E7-40BB-9F9C-EF8CB312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8577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8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Simulation・AI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03855-3124-45A8-9C87-D8FA93F0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81300"/>
            <a:ext cx="6096000" cy="514350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16AD1-0E63-48F4-8A2D-C3D34718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7662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6AA4A4-43B2-4BA1-8A6A-638E5706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38550"/>
            <a:ext cx="781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対象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55DF0-6DC8-4E56-B310-F59925CF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7662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6AB02A-3758-459D-8279-6AD1B4FB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781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目的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B0F40E-F583-49AC-999A-796C859E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7662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88BA31-9FE6-4566-94C7-D8998187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38550"/>
            <a:ext cx="781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同期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FB5920-9BCC-4860-99C0-374970CF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7662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31B0D5-7742-4E3C-890C-B3A88D06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38550"/>
            <a:ext cx="781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モデル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8640C4-C06C-4B37-97E5-39B1B9FF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47662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1918D4-D5A9-43D6-AA0D-882CA4AD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38550"/>
            <a:ext cx="781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検証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7E28BF-6AFD-41CC-8E71-813A9DB8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955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9E8"/>
          </a:solidFill>
          <a:ln xmlns:a="http://schemas.openxmlformats.org/drawingml/2006/main" w="9525">
            <a:solidFill>
              <a:srgbClr val="11B9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752A3E-030C-4B5A-9085-F0FCA9BB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813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CFD342-2A2E-4C16-AEE3-C03FFF76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670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73B055-4FC7-4912-8232-0D227498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955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B3D5F4-3F61-4A98-BEDA-29DDBFB2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813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9E8"/>
          </a:solidFill>
          <a:ln xmlns:a="http://schemas.openxmlformats.org/drawingml/2006/main" w="9525">
            <a:solidFill>
              <a:srgbClr val="11B9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7FA867-6679-4C60-9B39-9BCEA605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670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5E682B-9114-4D77-8AC2-EE5ABE79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955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92046E-ECDB-4732-A4D4-34B522EA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813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F71E93-2B86-4CAE-96A3-9840AE5A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670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9E8"/>
          </a:solidFill>
          <a:ln xmlns:a="http://schemas.openxmlformats.org/drawingml/2006/main" w="9525">
            <a:solidFill>
              <a:srgbClr val="11B9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6D74D5-13E5-4E88-8FEF-E4C0C54A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955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AC89FA-F2D0-477D-98F3-588FC035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813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E4BEEA-2E5A-4391-94B4-1112BE46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670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41EFF0-917D-4EA8-A0C8-C69E37B3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955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9E8"/>
          </a:solidFill>
          <a:ln xmlns:a="http://schemas.openxmlformats.org/drawingml/2006/main" w="9525">
            <a:solidFill>
              <a:srgbClr val="11B9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D1A003-A34B-408A-957D-428F29DE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813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314425-D3AD-4D39-8AB5-8201E509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670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18B90E-3F7A-4F95-AE6D-EAD654CD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955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186089-1C3D-49A6-AE37-94480B90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7813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9E8"/>
          </a:solidFill>
          <a:ln xmlns:a="http://schemas.openxmlformats.org/drawingml/2006/main" w="9525">
            <a:solidFill>
              <a:srgbClr val="11B9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D75B2C-9549-405A-B663-B886D215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670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590038-E5F2-47CC-8400-A69B5916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143637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536FB4-A28E-446D-8D52-FA0E77A9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829300"/>
            <a:ext cx="1338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実機・実験とモデルを必要な頻度で</a:t>
            </a:r>
            <a:r>
              <a:rPr sz="27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同期・検証</a:t>
            </a:r>
            <a:r>
              <a:rPr sz="27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し、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F3C8B8-C1E9-440F-BDC3-EA072F25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429375"/>
            <a:ext cx="1190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9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装置開発と顧客判断を速く確かにする仕組み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F8E881-356A-4FB4-8FE0-D3334822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81875"/>
            <a:ext cx="14630400" cy="971550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257CFF-18F8-4007-85A7-46BE60A0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496175"/>
            <a:ext cx="700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9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9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リアルタイムは選択肢。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B0E12F-AD85-4D38-84CB-44EC84E3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96175"/>
            <a:ext cx="6810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925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rPr>
              <a:t>判断と検証が定義の中心。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93FB6B-34AF-47A5-8CDA-B4D9EEBF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543925"/>
            <a:ext cx="1021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提案定義  |  Sources: NIST, DTC, TEL（公開情報）</a:t>
            </a:r>
          </a:p>
        </p:txBody>
      </p:sp>
    </p:spTree>
    <p:extLst>
      <p:ext uri="{BB962C8B-B14F-4D97-AF65-F5344CB8AC3E}">
        <p14:creationId xmlns:p14="http://schemas.microsoft.com/office/powerpoint/2010/main" val="19072526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19180A-9534-47DB-B716-5CD686FE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05  |  経営・運用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60AED-F647-4004-AF15-5ADCDC91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485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5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定義を、案件選別と投資の基準にする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18F5A-F52A-4639-B221-D4A7FD85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6192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技術案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3F6E9-FA5E-4BF6-A7E0-F98987ED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95500"/>
            <a:ext cx="15716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BD96E-C6DE-436A-89D9-8EC82800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16192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rPr>
              <a:t>経営成果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BFF56-0175-4E1E-A9D5-FDBAFCEE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095500"/>
            <a:ext cx="2047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3C44C-A2A9-4411-A4B5-1B59070C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C1634-C306-4459-B8C5-6184CF55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457200" cy="32385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941E0-AD78-44C1-B792-83085EF3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781300"/>
            <a:ext cx="304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54A37-188F-47D4-A8D2-44E1521F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24150"/>
            <a:ext cx="953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BA935-1EA0-4895-BBF7-2C24E406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812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監視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0BF46-D539-4CDA-81B1-335807D1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EC195-5497-440F-826D-FE6037FD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228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5F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C13B7A-98F2-4448-9417-260F5039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314450" y="3267075"/>
            <a:ext cx="14287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5F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F1E22A-D1B4-4D7C-8D31-035B4D5A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09950"/>
            <a:ext cx="14287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5F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7A6FD-73BD-4D4F-9965-FA373DF2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09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2DB728-C75F-4BF9-BE7F-3EE515CF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33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93C9A5-B07F-4B28-9117-917B0370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908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Simulation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B618AB-75B9-4909-9B3A-C8C6CF2F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26E7BB-620B-4090-BE19-1D4F3935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323850" cy="32385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7593BD-37C2-4F4A-AA99-6ABCF9EE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05275"/>
            <a:ext cx="76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7994D0-418E-4382-A2B3-42FC4460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05275"/>
            <a:ext cx="76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E7AB22-32C4-4214-99A4-7E1ADED4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81475"/>
            <a:ext cx="76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780BBB-6476-4C7B-9F84-53EAEA5C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81475"/>
            <a:ext cx="76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17B700-B329-4AE6-B977-A44FEBBF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57675"/>
            <a:ext cx="76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55A1F2-93B1-4633-A0CE-617456A8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57675"/>
            <a:ext cx="76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F2F12F-7CC4-4F03-872C-8A83805D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33875"/>
            <a:ext cx="76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93B87B-FEF2-4673-84CC-F360EC86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33875"/>
            <a:ext cx="76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7B1CAD-90D4-4640-8F9A-00739029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005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AI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75E30F-8522-4AC5-9451-45C74314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F14160-AC2B-4742-A8C5-99D00B8E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86325"/>
            <a:ext cx="457200" cy="4572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10ADAA-3520-43A8-9DA7-93EA9BC2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314450" y="4962525"/>
            <a:ext cx="14287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5F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5084C9-212F-4713-908A-DEC190B0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76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04EF01-008A-4DAF-9228-9F4A975B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101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最適化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517A0F-B408-46CA-88E3-A04C994E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4476750" cy="37147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A5F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9DBA3E-F9FA-40B9-8ECB-9757489E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52625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0A5FF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075" b="1">
                <a:solidFill>
                  <a:srgbClr val="0A5FF0"/>
                </a:solidFill>
                <a:latin typeface="Noto Sans CJK JP"/>
                <a:ea typeface="Noto Sans CJK JP"/>
                <a:cs typeface="Noto Sans CJK JP"/>
              </a:rPr>
              <a:t>6つの条件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C3256E-1314-4F29-ACB8-B48D6C83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19375"/>
            <a:ext cx="714375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DF6F65-DB2B-4247-84BA-B08D86BC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52725"/>
            <a:ext cx="400050" cy="400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C9EBFA-6021-43C6-B6E6-6B3FE32E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47975"/>
            <a:ext cx="209550" cy="209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381B13-10FC-49F9-AF6D-A24A23C2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695575"/>
            <a:ext cx="953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32B975-F984-47B4-952F-53B87C09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52750"/>
            <a:ext cx="514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58108A-C6CF-43AD-B97E-6E21357F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62325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対象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E24205-2D58-47C4-8448-7640A628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19375"/>
            <a:ext cx="714375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4840CB-ED45-4AA7-BC57-3EC1FE7D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52750"/>
            <a:ext cx="228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5F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5E7053-7A31-4EF6-A205-5D8BAE66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086725" y="2809875"/>
            <a:ext cx="14287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5F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89FF83-5A55-46CF-A724-A6D1FD54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952750"/>
            <a:ext cx="14287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5F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81DF865-50BF-4F4C-AC7D-1E538166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52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B01F778-B997-4F5B-B87C-3FDCFE83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76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67D905-3B7B-4D71-87B5-7001B036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62325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判断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4501C63-AE06-4D23-84F5-D85207D1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714375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A4BF06-21C4-4747-A01C-DCA77C92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52725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AA3D2C-5B9A-48D2-9A75-A11F829F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051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0A5FF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550" b="0">
                <a:solidFill>
                  <a:srgbClr val="0A5FF0"/>
                </a:solidFill>
                <a:latin typeface="Noto Sans CJK JP"/>
                <a:ea typeface="Noto Sans CJK JP"/>
                <a:cs typeface="Noto Sans CJK JP"/>
              </a:rPr>
              <a:t>↻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347E14-8438-404F-B1D1-5BB6C542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62325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同期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81C5E61-3207-4B88-81EE-0FD36155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05250"/>
            <a:ext cx="714375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4F2E3A-3618-4556-B714-2BACEB2E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57650"/>
            <a:ext cx="400050" cy="4000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9B53E43-55C0-4491-A48A-0E611AA5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057650"/>
            <a:ext cx="953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C0F545-DF7D-4642-BEB0-7CED575B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91000"/>
            <a:ext cx="20002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5364106-2351-44AA-A300-7429603D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886575" y="4191000"/>
            <a:ext cx="20002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F5AF293-C1C8-4009-AD92-56E06AA2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48200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モデル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BBFBD55-21D6-4FD7-ABB8-F3C3ADCB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05250"/>
            <a:ext cx="714375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5182153-E43F-4549-8B91-533D8103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057650"/>
            <a:ext cx="361950" cy="438150"/>
          </a:xfrm>
          <a:prstGeom xmlns:a="http://schemas.openxmlformats.org/drawingml/2006/main" prst="roundRect">
            <a:avLst>
              <a:gd name="adj" fmla="val 789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B0BAF57-CA77-436B-B963-525D5823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267200"/>
            <a:ext cx="6667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5FF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B70AC7D-1029-4746-8E30-14FB8110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039100" y="4171950"/>
            <a:ext cx="15240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5F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0021466-FC33-49E2-A40A-60EB8813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648200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検証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F0B9171-B238-4907-AEEE-C8B52A8E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05250"/>
            <a:ext cx="714375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F776508-1804-412F-9565-1EC94622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19550"/>
            <a:ext cx="209550" cy="209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1215ED8-853E-4D28-90D3-C10737B3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248150"/>
            <a:ext cx="457200" cy="2857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10800E2-3003-4651-A215-BF006279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48200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Owner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FDBE4B9-1E35-45A2-B9D2-7BE1F326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22860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F89C6F4-A7C9-4442-89A0-23BB0E61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438400"/>
            <a:ext cx="457200" cy="32385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B7E1FED-2F4F-4053-958D-98B3456F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8225" y="2819400"/>
            <a:ext cx="304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996E939-A0FD-406A-A94E-115D4BD4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2762250"/>
            <a:ext cx="953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919C6EC-DD7A-469E-B635-49AFEDF8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23622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rPr>
              <a:t>設計凍結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83A7D1B-2FC1-4718-8C6A-6BB947AC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4766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87E502A-5232-4716-B51B-34853182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3619500"/>
            <a:ext cx="342900" cy="342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4B6F33F-0E52-43AA-962F-8AD22405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2487275" y="3943350"/>
            <a:ext cx="2857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1CBC691-206C-4C12-BB22-353D1811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3943350"/>
            <a:ext cx="4762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86D522D-7A1E-4C7C-A9B5-9BEA74AB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790950"/>
            <a:ext cx="571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5A0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30C9BD7-D17F-4DC7-8012-A1E79A3E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2592050" y="3724275"/>
            <a:ext cx="857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5A0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606768C-F062-44C9-9012-46F5987F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35528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rPr>
              <a:t>Qualification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3F2BFF1-5535-4A5D-A230-86E5B151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46672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0BD61E2-E5A6-4ADD-ACE2-887502C3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50006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E171C89-20F5-41E8-8C43-BA342CF9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2420600" y="4895850"/>
            <a:ext cx="11430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BD75973-5E95-4B6F-BA4A-3978947C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4895850"/>
            <a:ext cx="9525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9EDB39F-1314-469F-9C3A-4DB2AFDB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2630150" y="4895850"/>
            <a:ext cx="9525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3486345-4F5F-415D-9177-2583ED86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810125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5A0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95D4388-5CFC-4165-99B2-A2D7353C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47434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rPr>
              <a:t>POR・Service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581EF60-9F77-4066-A55A-F151D718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19375"/>
            <a:ext cx="361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A5F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7B892FA-09A4-4F71-B759-BBC3DA76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19375"/>
            <a:ext cx="361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A5FF0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C318C27-0FA5-4715-A6F7-99384A07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71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25DD287-3FDC-4305-A0FD-6C629D81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290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9ADB4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DCE44A2-B02A-4AAF-8C81-EB1E3968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428625" cy="242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9ADB4"/>
            </a:solidFill>
            <a:prstDash val="dash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2C1CACC-1396-4384-8F48-2DF7EB4B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38625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9ADB4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DBFC8CD-49E0-4E0B-8303-4EADB007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38625"/>
            <a:ext cx="428625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9ADB4"/>
            </a:solidFill>
            <a:prstDash val="dash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CB368F0-A5E2-44D3-9AEF-0EE78F8A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4825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9ADB4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C89D5DE-C833-4D5E-97BA-064634AD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048250"/>
            <a:ext cx="428625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9ADB4"/>
            </a:solidFill>
            <a:prstDash val="dash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913B544-6C81-45F1-96B6-C9EC0EBA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19500"/>
            <a:ext cx="904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5A00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EAC2B87-2568-4679-B6D1-7C838473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19375"/>
            <a:ext cx="953" cy="242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5A0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57D32E5-545F-43C2-8773-357D3F69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19375"/>
            <a:ext cx="904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5A00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9CC5163-77D9-46A0-B67B-CC47FD98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2571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00"/>
          </a:solidFill>
          <a:ln xmlns:a="http://schemas.openxmlformats.org/drawingml/2006/main" w="9525">
            <a:solidFill>
              <a:srgbClr val="FF5A00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8DA482C-AFB2-40EB-A44E-5F8CFBDF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857625"/>
            <a:ext cx="904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5A00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19E880D-7CB4-451E-B2C8-FCAF894D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3810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00"/>
          </a:solidFill>
          <a:ln xmlns:a="http://schemas.openxmlformats.org/drawingml/2006/main" w="9525">
            <a:solidFill>
              <a:srgbClr val="FF5A0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6E7C780-6A93-475D-B2D5-F00732F3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5048250"/>
            <a:ext cx="904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5A00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71F2B51-D9CE-471F-819D-7A0FD137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5000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00"/>
          </a:solidFill>
          <a:ln xmlns:a="http://schemas.openxmlformats.org/drawingml/2006/main" w="9525">
            <a:solidFill>
              <a:srgbClr val="FF5A00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9892FF8-5FC6-472A-8936-45102F39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76875"/>
            <a:ext cx="953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ADB4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1852C93-5F42-441F-9B1F-65FDCD93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00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ADB4"/>
          </a:solidFill>
          <a:ln xmlns:a="http://schemas.openxmlformats.org/drawingml/2006/main" w="9525">
            <a:solidFill>
              <a:srgbClr val="A9ADB4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7E93734-D1D9-4BA5-8DBC-077C7308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476875"/>
            <a:ext cx="953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ADB4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A8A824E-3BA5-4631-AD3F-E8712024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00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ADB4"/>
          </a:solidFill>
          <a:ln xmlns:a="http://schemas.openxmlformats.org/drawingml/2006/main" w="9525">
            <a:solidFill>
              <a:srgbClr val="A9ADB4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2258242-7F75-4498-84D4-21BA8C46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476875"/>
            <a:ext cx="953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ADB4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981D142-F37F-4719-A2D9-44B7B1F9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00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ADB4"/>
          </a:solidFill>
          <a:ln xmlns:a="http://schemas.openxmlformats.org/drawingml/2006/main" w="9525">
            <a:solidFill>
              <a:srgbClr val="A9ADB4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FF60250-BF20-4D51-BB64-B703BD8F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172200"/>
            <a:ext cx="9906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5F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73D524D-8EEB-4E4F-8EB1-CFF021D0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15075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9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用語統一</a:t>
            </a:r>
            <a:r>
              <a:rPr sz="29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  →  </a:t>
            </a:r>
            <a:r>
              <a:rPr sz="29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案件選別</a:t>
            </a:r>
            <a:r>
              <a:rPr sz="29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  →  </a:t>
            </a:r>
            <a:r>
              <a:rPr sz="29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全社資産化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7F198BD-7EA6-449D-9E3E-D3B22BC0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19950"/>
            <a:ext cx="14630400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AB30581-CC15-4249-BBAC-7C43490A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3342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7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Digital Twinを名乗る条件を決め、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E12AEB9-8EE5-4E5D-A63E-D2EF9D9C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7334250"/>
            <a:ext cx="628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75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rPr>
              <a:t>成果までつながる案件へ集中する。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20108F1-3A14-4541-B137-82D4A0D1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543925"/>
            <a:ext cx="1021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社内運用への提案</a:t>
            </a:r>
          </a:p>
        </p:txBody>
      </p:sp>
    </p:spTree>
    <p:extLst>
      <p:ext uri="{BB962C8B-B14F-4D97-AF65-F5344CB8AC3E}">
        <p14:creationId xmlns:p14="http://schemas.microsoft.com/office/powerpoint/2010/main" val="13332447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40464A-2F98-4A8A-9634-6F883175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05  |  経営・運用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06864-66E8-4B09-BB4F-F517B4FB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485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5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定義を、案件選別と投資の基準にする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A4651-BDC7-422D-911B-9C6E6C8A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6192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技術案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B3CEC-3682-459B-9A76-6503B98E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95500"/>
            <a:ext cx="15716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5883A-D900-4A01-BF64-71604EBC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16192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rPr>
              <a:t>経営成果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FACE0-873C-4A68-91A7-DAEDF1CD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095500"/>
            <a:ext cx="2047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5661A-5E00-4E6D-BB1B-F3359553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DC64C-689C-434E-B3AE-35B69263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457200" cy="32385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6F275-250C-4AE6-B1A8-0F7EBFE1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781300"/>
            <a:ext cx="304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57CCA-2BCD-44AD-8EB3-4A9E3DC8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24150"/>
            <a:ext cx="953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CEFCE-42C7-412A-983A-FA1E3197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812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監視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D3982-D799-4419-8D90-4892F752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CB9602-1369-4C63-A039-DE12C02D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228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5F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E88748-A6C4-4360-BF54-BC6029EB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314450" y="3267075"/>
            <a:ext cx="14287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5F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2721C-2867-4910-82F9-5DAF6970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09950"/>
            <a:ext cx="14287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5F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F33B06-05C7-4303-BF21-C83527F8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09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0B0FC1-87B1-4EAB-8B42-A161F203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33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B40E4-96BD-4851-9C94-CD2E1EF4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908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Simulation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D61491-A2F4-410A-B398-959BA957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BECBE9-FAA9-4B81-8D1A-FEA68740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323850" cy="32385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7A3F81-9339-439C-9B2C-73476C68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05275"/>
            <a:ext cx="76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5C46F0-4E2F-43A8-81FA-BD7BDDE8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05275"/>
            <a:ext cx="76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115C34-5136-46DB-9A47-1BD2D906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81475"/>
            <a:ext cx="76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C2FC94-A067-43AF-91D0-79DF6213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81475"/>
            <a:ext cx="76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239C1D-E889-46D3-B014-ABEAB345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57675"/>
            <a:ext cx="76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755B1A-6B4B-4C3D-AC6D-3B8A3E45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57675"/>
            <a:ext cx="76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030128-EAED-4436-B162-0EE7D9B3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33875"/>
            <a:ext cx="76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81EEA4-7125-4964-8A14-8CC22747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33875"/>
            <a:ext cx="76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937B31-BC3E-4B88-96DA-DC97D23F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005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AI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13E075-46CD-4E8A-9399-786A4413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D6B7B1-2BDA-423D-B65E-B06FEDD9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86325"/>
            <a:ext cx="457200" cy="4572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284D55-43BA-4D7F-99A5-7D5CEFB6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314450" y="4962525"/>
            <a:ext cx="14287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5F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F7DB2A-7ABD-47C8-B70D-76A36F34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76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7353F4-C330-42F3-8D03-05FFAC6C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101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最適化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7C2FC9-29F7-49F0-947B-A30FCBF4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4476750" cy="37147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A5F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56AD67-E03D-4C93-BF39-F3890C28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52625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0A5FF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075" b="1">
                <a:solidFill>
                  <a:srgbClr val="0A5FF0"/>
                </a:solidFill>
                <a:latin typeface="Noto Sans CJK JP"/>
                <a:ea typeface="Noto Sans CJK JP"/>
                <a:cs typeface="Noto Sans CJK JP"/>
              </a:rPr>
              <a:t>6つの条件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B18A72-AFCB-4345-96B2-9C423285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19375"/>
            <a:ext cx="714375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E60B32-189D-4387-93CF-6F6E3C1B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52725"/>
            <a:ext cx="400050" cy="400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A82479-C875-4D1E-8A59-317E2281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47975"/>
            <a:ext cx="209550" cy="209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A62BD9-2FCC-4387-B218-C70E9CB8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695575"/>
            <a:ext cx="953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7029E2-A409-4E7C-B537-FFFD92B1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52750"/>
            <a:ext cx="514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F2D33E-E320-4331-8CFC-B1181802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62325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対象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A6BC43-7BDF-4AB6-B837-C56C4884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19375"/>
            <a:ext cx="714375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BD6107-2522-4A80-B61C-B31442E4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52750"/>
            <a:ext cx="228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5F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9001A9-0377-41B4-82DD-7C7DC2E8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086725" y="2809875"/>
            <a:ext cx="14287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5F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9840F4-4F31-4783-9A52-B4D2F202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952750"/>
            <a:ext cx="14287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5F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EFC9979-F540-4CCB-9080-29B75D62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52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806286-E6CA-4D62-928F-327FF20E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76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096BFF-796E-4B23-8D93-2C475491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62325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判断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7197405-7819-4E7A-8FF9-6B055E6B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714375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C4FFA6-4E49-4612-B4BB-C64682E8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52725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E7F1CD-2A06-4B9A-8635-3D1C7F9E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051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0A5FF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550" b="0">
                <a:solidFill>
                  <a:srgbClr val="0A5FF0"/>
                </a:solidFill>
                <a:latin typeface="Noto Sans CJK JP"/>
                <a:ea typeface="Noto Sans CJK JP"/>
                <a:cs typeface="Noto Sans CJK JP"/>
              </a:rPr>
              <a:t>↻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9D81ED3-F232-4956-9089-B7BECA51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62325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同期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F848767-4B59-4A9E-A333-F1C15686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05250"/>
            <a:ext cx="714375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FF6904-0005-4F31-901E-1914574B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57650"/>
            <a:ext cx="400050" cy="4000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0A19C45-DFDD-4838-8379-9F6B09B5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057650"/>
            <a:ext cx="953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720EBEA-54BE-4A7A-BAC6-D729EBBF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91000"/>
            <a:ext cx="20002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324079B-1175-4BE9-A219-36B240EB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886575" y="4191000"/>
            <a:ext cx="20002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989FF50-D1DD-4670-BE79-7BE6DF67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48200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モデル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6D14892-DEC6-4EA4-BD3C-B56858F5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05250"/>
            <a:ext cx="714375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9DA7457-771F-4088-8315-6DDF60C3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057650"/>
            <a:ext cx="361950" cy="438150"/>
          </a:xfrm>
          <a:prstGeom xmlns:a="http://schemas.openxmlformats.org/drawingml/2006/main" prst="roundRect">
            <a:avLst>
              <a:gd name="adj" fmla="val 789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FD6B13F-7001-452E-8491-16F463A7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267200"/>
            <a:ext cx="6667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5FF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D4C98A6-5A52-471D-B3CD-8D23F8FB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039100" y="4171950"/>
            <a:ext cx="15240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5F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D059D65-8054-493B-953D-7D9E4DC1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648200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検証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EB2ED9C-B563-439F-A13E-8B65B900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05250"/>
            <a:ext cx="714375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D7B6C15-572D-4F7F-ADA8-B251A388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19550"/>
            <a:ext cx="209550" cy="209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AC2F7CD-5EE1-4773-8800-B26A70CD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248150"/>
            <a:ext cx="457200" cy="2857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ECEF114-03AE-4DCD-B5E7-10AA24AB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48200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Owner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9245C5E-69D5-467E-B8EF-B3B3BA91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22860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56AF164-4DA6-4AFB-A75D-51975D18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438400"/>
            <a:ext cx="457200" cy="32385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BA9B6BB-68A9-42A3-B0EE-090CED9F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8225" y="2819400"/>
            <a:ext cx="304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83DD93E-B676-4C29-919B-E9630D3D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2762250"/>
            <a:ext cx="953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991F144-3317-469A-8438-297180B3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23622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rPr>
              <a:t>設計凍結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6E193AF-0ECB-48A5-A927-5416AF92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4766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C928749-FE0F-4B3D-8833-D13AD716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3619500"/>
            <a:ext cx="342900" cy="342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25B0DBE-E109-469A-9C3F-4BF453FB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2487275" y="3943350"/>
            <a:ext cx="2857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F6CF50F-AB53-420B-BA4B-54E97306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3943350"/>
            <a:ext cx="4762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D4B5436-C822-4DA3-BF75-4A9F7B69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790950"/>
            <a:ext cx="571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5A0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60692D1-D81D-49DE-AAF0-287285B8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2592050" y="3724275"/>
            <a:ext cx="857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5A0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7662E68-6CCB-46C9-95FD-EED31951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35528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rPr>
              <a:t>Qualification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BCF30EE-AA8C-45A2-9373-38D61104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46672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92A549A-6BDA-472A-9CFC-6E9B358A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50006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A297AFC-8BBA-41FC-8141-1990225E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2420600" y="4895850"/>
            <a:ext cx="11430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79EE639-13BE-4DD9-AFBE-90E7B41D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4895850"/>
            <a:ext cx="9525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C7DA42E-5DF1-4EA2-BB6B-F2AA0941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2630150" y="4895850"/>
            <a:ext cx="9525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AD62240-1F81-41A5-8B68-4C8C4178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810125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5A0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C968A85-E891-41A0-B68A-51EC8AD3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47434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rPr>
              <a:t>POR・Service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D5A8F65-EFD4-437B-97CD-D5B4FD2C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19375"/>
            <a:ext cx="1524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A5F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E371C80-A527-4800-A343-0DD9A928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19375"/>
            <a:ext cx="123825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A5FF0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AFB8C18-0D6E-4C1A-B97E-CACFB98C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29000"/>
            <a:ext cx="1524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A5FF0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7BBD818-6732-441B-B8A8-2C1FE074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123825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A5FF0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87B4FE1-CEFE-497E-83C5-909C8378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38625"/>
            <a:ext cx="1524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A5FF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B1AE74A-A8DB-41AD-9E99-A8BAC3E4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381500" y="3619500"/>
            <a:ext cx="123825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A5FF0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AEDCC77-860C-4936-BC22-7A2340B2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1524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A5FF0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2B27C09-116E-45A0-862E-7B55BC18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381500" y="3619500"/>
            <a:ext cx="123825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A5FF0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1967994-1874-4BF2-BB88-FC536D06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552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18D1F2C-A981-4165-B629-5E8F3289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19500"/>
            <a:ext cx="333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A5FF0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ACBBBA9-4690-4E04-A20A-8CBF4B94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71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DF7BC78-597B-4DCB-ABA0-104F0FAC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19500"/>
            <a:ext cx="904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5A00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0F7F07F-4075-4AC3-9E28-F0D2B7E0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19375"/>
            <a:ext cx="953" cy="242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5A00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FD5DA59-CF1E-410E-A314-F746F043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19375"/>
            <a:ext cx="904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5A00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ED4A9A2-EBB4-4915-947E-9E6FE810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2571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00"/>
          </a:solidFill>
          <a:ln xmlns:a="http://schemas.openxmlformats.org/drawingml/2006/main" w="9525">
            <a:solidFill>
              <a:srgbClr val="FF5A0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0892441-3BE5-46A8-8AE7-90841A07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857625"/>
            <a:ext cx="904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5A00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A62776A-3D99-4B60-885D-8E0B2C63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3810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00"/>
          </a:solidFill>
          <a:ln xmlns:a="http://schemas.openxmlformats.org/drawingml/2006/main" w="9525">
            <a:solidFill>
              <a:srgbClr val="FF5A00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68D3CD2-99C9-48A6-941A-2B98C952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5048250"/>
            <a:ext cx="904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5A00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9E6915F-FDE1-4DC1-8CDC-AF7BFD25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5000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00"/>
          </a:solidFill>
          <a:ln xmlns:a="http://schemas.openxmlformats.org/drawingml/2006/main" w="9525">
            <a:solidFill>
              <a:srgbClr val="FF5A00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46BC41E-7616-4E19-942E-5A110F65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76875"/>
            <a:ext cx="953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ADB4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68B47D2-19F2-43A2-A63B-AF8C537B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00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ADB4"/>
          </a:solidFill>
          <a:ln xmlns:a="http://schemas.openxmlformats.org/drawingml/2006/main" w="9525">
            <a:solidFill>
              <a:srgbClr val="A9ADB4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8F17F04-78EA-4F25-89A4-46F966FA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476875"/>
            <a:ext cx="953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ADB4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D4F79CB-991B-4120-BC2E-A130546E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00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ADB4"/>
          </a:solidFill>
          <a:ln xmlns:a="http://schemas.openxmlformats.org/drawingml/2006/main" w="9525">
            <a:solidFill>
              <a:srgbClr val="A9ADB4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08AA2FF-A6DA-4A2D-BC83-8E9D01BB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476875"/>
            <a:ext cx="953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ADB4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7CAB721-B5F0-48A7-B11D-7D35046F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00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ADB4"/>
          </a:solidFill>
          <a:ln xmlns:a="http://schemas.openxmlformats.org/drawingml/2006/main" w="9525">
            <a:solidFill>
              <a:srgbClr val="A9ADB4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9D7FDBC-8F8C-466D-8ACD-3BF0CFC8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172200"/>
            <a:ext cx="9906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5F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A9F5770-C2F6-472E-BEBF-4F9FD629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15075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9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用語統一</a:t>
            </a:r>
            <a:r>
              <a:rPr sz="29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  →  </a:t>
            </a:r>
            <a:r>
              <a:rPr sz="29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案件選別</a:t>
            </a:r>
            <a:r>
              <a:rPr sz="29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  →  </a:t>
            </a:r>
            <a:r>
              <a:rPr sz="29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全社資産化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B4C0660-4088-42AF-8DD7-007E2C60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19950"/>
            <a:ext cx="14630400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6A6432D-745D-4543-B66E-22BDB33B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3342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7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Digital Twinを名乗る条件を決め、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FCB269A-F1D3-44CA-A6B8-CD623328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7334250"/>
            <a:ext cx="628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75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rPr>
              <a:t>成果までつながる案件へ集中する。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622B352-0852-4E65-B297-AC98C357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543925"/>
            <a:ext cx="1021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社内運用への提案</a:t>
            </a:r>
          </a:p>
        </p:txBody>
      </p:sp>
    </p:spTree>
    <p:extLst>
      <p:ext uri="{BB962C8B-B14F-4D97-AF65-F5344CB8AC3E}">
        <p14:creationId xmlns:p14="http://schemas.microsoft.com/office/powerpoint/2010/main" val="2635899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9E5D22-5BE2-4839-A7EF-C0FA9F6B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1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デジタルツインってなんだ？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59792-931C-4CC0-8D23-591528FD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4770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同じ言葉でも、“何を・いつ同期し・何を決めるか”が違う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5C1A8-B901-4D48-ADCF-CA1413C1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095375"/>
            <a:ext cx="7000875" cy="16764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e6dbe76dca4380"/>
          <a:stretch xmlns:a="http://schemas.openxmlformats.org/drawingml/2006/main"/>
        </p:blipFill>
        <p:spPr>
          <a:xfrm xmlns:a="http://schemas.openxmlformats.org/drawingml/2006/main">
            <a:off x="523875" y="1162050"/>
            <a:ext cx="2333625" cy="1476375"/>
          </a:xfrm>
          <a:prstGeom xmlns:a="http://schemas.openxmlformats.org/drawingml/2006/main" prst="rect">
            <a:avLst/>
          </a:prstGeom>
        </p:spPr>
      </p:pic>
      <p:pic>
        <p:nvPicPr>
          <p:cNvPr id="1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c27c26c2d4352"/>
          <a:stretch xmlns:a="http://schemas.openxmlformats.org/drawingml/2006/main"/>
        </p:blipFill>
        <p:spPr>
          <a:xfrm xmlns:a="http://schemas.openxmlformats.org/drawingml/2006/main">
            <a:off x="5715000" y="1237247"/>
            <a:ext cx="1619250" cy="127835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8C0F8-F77E-4A72-B8B3-6773B55E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238250"/>
            <a:ext cx="190500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310DC-3330-4D94-BB77-FE67425A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257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共通する核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A1828-432E-461D-8D0B-B03B1C2C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1450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現実の対象・プロセスを、</a:t>
            </a:r>
          </a:p>
          <a:p xmlns:a="http://schemas.openxmlformats.org/drawingml/2006/main">
            <a:pPr algn="ctr">
              <a:defRPr sz="17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目的に必要な頻度と忠実度で</a:t>
            </a:r>
          </a:p>
          <a:p xmlns:a="http://schemas.openxmlformats.org/drawingml/2006/main">
            <a:pPr algn="ctr">
              <a:defRPr sz="17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同期するデジタル表現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E49B2-6694-4028-AECA-D4143425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905000"/>
            <a:ext cx="523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5F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A14B2-3496-4900-A27A-587F4E3F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857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42D9D-7639-4598-9B90-2291B10F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05000"/>
            <a:ext cx="4286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5F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07CA78-EBD5-4CB8-967D-FD30D5ED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57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FF0"/>
          </a:solidFill>
          <a:ln xmlns:a="http://schemas.openxmlformats.org/drawingml/2006/main" w="9525">
            <a:solidFill>
              <a:srgbClr val="0A5F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A0DE44-34CC-487E-8802-201D2CA5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095375"/>
            <a:ext cx="8143875" cy="16764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ADF7C-3282-4FA6-BAAB-2EB4A09D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71575"/>
            <a:ext cx="1762125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0FB60-175F-44CB-8BB4-E50272CB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157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業界で違う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721E61-CC5A-428A-A232-76C0FBC2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476375"/>
            <a:ext cx="228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26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788228-12F8-4746-9B94-CA1810A8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763125" y="1333500"/>
            <a:ext cx="14287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26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D33D0C-B822-47DC-A15D-2C6F2FE9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476375"/>
            <a:ext cx="14287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26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95363B-AF94-4DF0-8905-19115605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276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DD963B-6756-4029-BFFE-70BA88BC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600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F45703-1CA5-40EA-B7C0-1079CB3E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8110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航空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A46CE5-A541-4562-9B19-C46100A7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668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Mission・Lifecycle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157C6D-92AE-4084-9193-63EF0BC4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162050"/>
            <a:ext cx="953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8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5F9733-55BF-4327-A17C-2B4A28BE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314450"/>
            <a:ext cx="323850" cy="32385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07A886-4FC1-49D8-B326-2C9DA797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1362075"/>
            <a:ext cx="76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710CDD-CBD7-4D02-AD75-94CB02CF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362075"/>
            <a:ext cx="76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A9676-2441-419A-B3B5-68ADA37E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1438275"/>
            <a:ext cx="76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212C41-CD37-4E43-9B3A-8729FE2E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438275"/>
            <a:ext cx="76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33F934-19E1-4DAF-A91B-870E9A6F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1514475"/>
            <a:ext cx="76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4FB4C4-5134-4C9B-9F29-4203A366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514475"/>
            <a:ext cx="76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6B813A-097B-4099-9CE1-0645626A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1590675"/>
            <a:ext cx="76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5C90F8-AE24-45A2-94E4-D7939369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590675"/>
            <a:ext cx="76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0EE58D-DC4C-42C7-A5E7-07055ECA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18110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装置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1A9940-C9A1-49FE-A5B7-009D2546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14668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状態・制御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6268BF-E231-44A4-A453-2271D084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1162050"/>
            <a:ext cx="953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8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B641C1-EEB7-4761-835A-4F384EB7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14573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06AF0F-5E1E-459B-8CA8-800BD5C7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2506325" y="1352550"/>
            <a:ext cx="11430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E15862-B747-4573-BD32-2D7EC87B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1352550"/>
            <a:ext cx="9525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54E548-4E25-4F25-8A95-BA5E75E1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2715875" y="1352550"/>
            <a:ext cx="9525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BFCF86-9770-4FD9-992C-C8DAFE3D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1266825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265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56AE8B-355F-412A-98B2-BE8A6CB7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118110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工場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E711FA-0DAC-4338-9F5B-B5C48EDD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14668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生産・搬送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89FC70-3478-404D-B817-940AAB89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1162050"/>
            <a:ext cx="953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8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835B6D-9EB6-4E84-9F0E-EB5F310F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1276350"/>
            <a:ext cx="457200" cy="32385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0C61D3-154B-4895-A69B-8AEA1EB2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1657350"/>
            <a:ext cx="304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BBE30B-4AD5-41DF-9B86-41D22C88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1600200"/>
            <a:ext cx="953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4AF4A7-EBE4-454D-964D-E3D6036F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25" y="118110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インフラ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B72F88D-FF9A-4AA6-B263-DC3803F0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14668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資産・安全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9DEEDD7-90D7-45A2-AFD7-797C8C24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71650"/>
            <a:ext cx="1762125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2152C8A-B897-49DD-9F29-891BF613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90700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同じ会社・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顧客でも違う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12A3983-3582-47FC-96A5-20FEBAD5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設計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9B65285-85A1-40E0-A05F-F78E75D7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809750"/>
            <a:ext cx="953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8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FF2879D-7C96-4709-A4E1-BFAD4FB5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8097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AI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607FA8-83C7-4DC3-9ACE-33BAD370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1809750"/>
            <a:ext cx="953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8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919D2C-DA03-44B5-AAC4-6D49BA98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18097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IT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2E82D3C-5322-4ABD-A00B-B556E951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1809750"/>
            <a:ext cx="953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8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EB6C68A-9B43-469F-A911-084622D4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18097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製造・保全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F5B7E29-25B5-47D8-BBA4-7102C6A0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1809750"/>
            <a:ext cx="953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8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5B85657-BD57-4599-88F8-2C160D70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18097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顧客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611E723-DBEA-4503-8CE6-3FAF98FE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52675"/>
            <a:ext cx="79533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5A0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AFEDADC-63A7-4C8A-A862-526D4DF6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62200"/>
            <a:ext cx="728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rPr>
              <a:t>全員が同じ言葉で、違う対象・時間・判断を見ている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9910F0A-DE51-491C-A8E4-AE3C66BC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000375"/>
            <a:ext cx="15259050" cy="3476625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41EAD27-8C51-4FFD-9C48-C6E0BCBF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同じ装置にも、異なる時間軸のTwinがある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748C1D2-0DC8-4B8D-B9E9-D834C96B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0480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6466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FF5A00"/>
                </a:solidFill>
                <a:latin typeface="Noto Sans CJK JP"/>
                <a:ea typeface="Noto Sans CJK JP"/>
                <a:cs typeface="Noto Sans CJK JP"/>
              </a:rPr>
              <a:t>リアルタイムは一形態。速いほど高度・高価値ではない。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9790748-2370-416A-A0F5-552FD9BD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476625"/>
            <a:ext cx="240030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09C7F75-267E-4BD4-8900-58A906B2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7662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ms～秒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69C9EFB-88C7-499B-8E6B-35B5ED94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857625"/>
            <a:ext cx="24003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26CF644-50B8-4CF9-988E-A5CE34A3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57625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制御周期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8C1B33A-C30A-48CA-94DB-C2EC2516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76625"/>
            <a:ext cx="240030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D2C5908-5AA2-4256-A906-0D38A2C7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47662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秒～分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86EFB18-2013-44CE-B999-82A9CBB6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57625"/>
            <a:ext cx="24003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FF7F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58AC631-DB72-4C9F-8C75-BB7FA5A4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57625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Sensor・Event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806447A-042E-46CC-9324-7D160A0A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476625"/>
            <a:ext cx="240030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D442602-0272-4BFC-8AD8-F1F6A06C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47662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分～時間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52EC5EB-F443-4C75-84A5-07E567AA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857625"/>
            <a:ext cx="24003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FF7F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1F5C304-0C03-46B2-A5CD-AE6EF3D2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57625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Recipe Step・Run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35F8369-53A0-4A1D-8803-A6267037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76625"/>
            <a:ext cx="240030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0291824-CF2A-49A9-99F5-3AF2814A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7662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時間～日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4A88EF1-6CDE-46C0-ABF6-289F429E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57625"/>
            <a:ext cx="24003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FF7F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35B2409-D116-4211-A377-5F5C8589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57625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Wafer・Lot・Shift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A374BC2-61C2-4463-A0C1-EACDD455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476625"/>
            <a:ext cx="240030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708EEEE-E67A-4086-AD42-AEBC89C1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47662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週～月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7F97CA3-A40C-40F9-A397-8DE7C53B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857625"/>
            <a:ext cx="24003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FF7F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11F08FA-CD8B-4F24-8739-BED199ED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57625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実験・設計Gate・POR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63D8214-5EA8-42A5-885C-DAFF87F4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3476625"/>
            <a:ext cx="240030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2A35248-BFC5-4D6A-BCB1-6590A9DD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347662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月～年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4C7FFE2-D0CB-400E-8DDA-CCB96835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3857625"/>
            <a:ext cx="24003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FF7F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2FE00A2-C453-4E7D-82B0-6F051A5B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857625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PM・改造・Lifecycle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46FAA2A-72BE-4696-8F03-A97DC2D0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05300"/>
            <a:ext cx="2238375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42E041A-C47C-4148-9C99-4A67C469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3619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C62C0AC-6A38-4798-9798-09083339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910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A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BF64E6C-DC37-466F-9A10-9AE41692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81500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制御Twin</a:t>
            </a:r>
          </a:p>
        </p:txBody>
      </p:sp>
      <p:pic>
        <p:nvPicPr>
          <p:cNvPr id="2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30e7a3d79e4980"/>
          <a:stretch xmlns:a="http://schemas.openxmlformats.org/drawingml/2006/main"/>
        </p:blipFill>
        <p:spPr>
          <a:xfrm xmlns:a="http://schemas.openxmlformats.org/drawingml/2006/main">
            <a:off x="600075" y="4786313"/>
            <a:ext cx="1952625" cy="904875"/>
          </a:xfrm>
          <a:prstGeom xmlns:a="http://schemas.openxmlformats.org/drawingml/2006/main" prst="rect">
            <a:avLst/>
          </a:prstGeom>
        </p:spPr>
      </p:pic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40A714E-8FF4-42AB-93A0-BB944C60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1500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補正・安全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F38AFB2-D80F-42D7-9AB9-00F19B8D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3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A7"/>
          </a:solidFill>
          <a:ln xmlns:a="http://schemas.openxmlformats.org/drawingml/2006/main" w="9525">
            <a:solidFill>
              <a:srgbClr val="078AA7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7D8499E-A7BF-4B57-98A7-1AF70D9A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096000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78AA7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BBD323F-033B-4158-913A-9FF19A73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05300"/>
            <a:ext cx="2238375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DC12675-2261-4987-AEB1-C91EA772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10075"/>
            <a:ext cx="3619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FDA10E1-B7DB-4C27-AA14-BC621C68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910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B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8B77E2F-0059-4E6B-BFDC-0CF948A7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381500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状態Twin</a:t>
            </a:r>
          </a:p>
        </p:txBody>
      </p:sp>
      <p:pic>
        <p:nvPicPr>
          <p:cNvPr id="2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c46cab38a49d4"/>
          <a:stretch xmlns:a="http://schemas.openxmlformats.org/drawingml/2006/main"/>
        </p:blipFill>
        <p:spPr>
          <a:xfrm xmlns:a="http://schemas.openxmlformats.org/drawingml/2006/main">
            <a:off x="3076575" y="4786313"/>
            <a:ext cx="1952625" cy="904875"/>
          </a:xfrm>
          <a:prstGeom xmlns:a="http://schemas.openxmlformats.org/drawingml/2006/main" prst="rect">
            <a:avLst/>
          </a:prstGeom>
        </p:spPr>
      </p:pic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7C0F70A-43B9-46E2-8EE0-BD349C56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71500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異常・劣化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6A36495-AE4C-4D3D-AFF2-100794A1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03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A7"/>
          </a:solidFill>
          <a:ln xmlns:a="http://schemas.openxmlformats.org/drawingml/2006/main" w="9525">
            <a:solidFill>
              <a:srgbClr val="078AA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76B0940-C629-4CB8-9514-81651BF0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096000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78AA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43F58F4-7D05-402B-9F83-B878B2D3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305300"/>
            <a:ext cx="2238375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4897CFB-E4F3-4DF6-977E-648D269E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10075"/>
            <a:ext cx="3619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9D3DEC2-DB1E-4BFF-AA11-E707FCD4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910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C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0258287-6CAC-47CA-9463-81BFA67A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381500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Process Twin</a:t>
            </a:r>
          </a:p>
        </p:txBody>
      </p:sp>
      <p:pic>
        <p:nvPicPr>
          <p:cNvPr id="3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82a6409534bc5"/>
          <a:stretch xmlns:a="http://schemas.openxmlformats.org/drawingml/2006/main"/>
        </p:blipFill>
        <p:spPr>
          <a:xfrm xmlns:a="http://schemas.openxmlformats.org/drawingml/2006/main">
            <a:off x="5553075" y="4786313"/>
            <a:ext cx="1952625" cy="904875"/>
          </a:xfrm>
          <a:prstGeom xmlns:a="http://schemas.openxmlformats.org/drawingml/2006/main" prst="rect">
            <a:avLst/>
          </a:prstGeom>
        </p:spPr>
      </p:pic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711A526-46E0-47A7-9491-A51D2AFB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71500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条件最適化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EA4D869-B460-4003-AB00-CA32B524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3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A7"/>
          </a:solidFill>
          <a:ln xmlns:a="http://schemas.openxmlformats.org/drawingml/2006/main" w="9525">
            <a:solidFill>
              <a:srgbClr val="078AA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09A67CA-98A8-4C38-9AC0-79DAF0AA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096000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78AA7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D2B805D-1402-445E-9B3C-902F2B0D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05300"/>
            <a:ext cx="2238375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DEF0FB7-872E-4290-AEAF-C7EE6E68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10075"/>
            <a:ext cx="3619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BDF1E04-8656-4C28-82A7-BBD475EA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910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D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C72E7F0-924A-4E42-9E43-625D9208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81500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8111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Wafer・Fab Twin</a:t>
            </a:r>
          </a:p>
        </p:txBody>
      </p:sp>
      <p:pic>
        <p:nvPicPr>
          <p:cNvPr id="3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0bd4508ea4db8"/>
          <a:stretch xmlns:a="http://schemas.openxmlformats.org/drawingml/2006/main"/>
        </p:blipFill>
        <p:spPr>
          <a:xfrm xmlns:a="http://schemas.openxmlformats.org/drawingml/2006/main">
            <a:off x="8029575" y="4786313"/>
            <a:ext cx="1952625" cy="904875"/>
          </a:xfrm>
          <a:prstGeom xmlns:a="http://schemas.openxmlformats.org/drawingml/2006/main" prst="rect">
            <a:avLst/>
          </a:prstGeom>
        </p:spPr>
      </p:pic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902977C-6AD4-4E71-805E-58A01BCE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71500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品質・生産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1C3DE52-353D-4563-B803-9F6E84C5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03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A7"/>
          </a:solidFill>
          <a:ln xmlns:a="http://schemas.openxmlformats.org/drawingml/2006/main" w="9525">
            <a:solidFill>
              <a:srgbClr val="078AA7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6E94C71-A31E-41EE-A218-D567C5E7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096000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78AA7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15B9951-E560-43CD-932C-CCDDAD8A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305300"/>
            <a:ext cx="2238375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39A7D2D-3C07-44C6-A786-EAEB4F66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410075"/>
            <a:ext cx="3619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73434E7-2D59-4165-8547-A5657BD7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3910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E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21C4F5A-68AD-4792-A55E-54AEBB61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381500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062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開発・顧客Twin</a:t>
            </a:r>
          </a:p>
        </p:txBody>
      </p:sp>
      <p:pic>
        <p:nvPicPr>
          <p:cNvPr id="3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405d5366d748ae"/>
          <a:stretch xmlns:a="http://schemas.openxmlformats.org/drawingml/2006/main"/>
        </p:blipFill>
        <p:spPr>
          <a:xfrm xmlns:a="http://schemas.openxmlformats.org/drawingml/2006/main">
            <a:off x="10506075" y="4786313"/>
            <a:ext cx="1952625" cy="904875"/>
          </a:xfrm>
          <a:prstGeom xmlns:a="http://schemas.openxmlformats.org/drawingml/2006/main" prst="rect">
            <a:avLst/>
          </a:prstGeom>
        </p:spPr>
      </p:pic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0C3E1E4-E890-4F98-BB3A-F35207C3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571500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評価・POR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D87515D-1BB6-44AC-BEF6-EA2716CA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03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A7"/>
          </a:solidFill>
          <a:ln xmlns:a="http://schemas.openxmlformats.org/drawingml/2006/main" w="9525">
            <a:solidFill>
              <a:srgbClr val="078AA7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15F3527-209B-467B-8B1B-A4ABD26C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096000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78AA7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FCC49ED-DA1F-4154-A464-38C0A193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4305300"/>
            <a:ext cx="2238375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51BDDD0-2623-4EF0-82E1-45E9E0ED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410075"/>
            <a:ext cx="3619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6B826E0-8E2E-4DB1-BC01-9A831FDF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3910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F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029494B-69D7-42E6-881B-C4B4DEE3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381500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Asset Twin</a:t>
            </a:r>
          </a:p>
        </p:txBody>
      </p:sp>
      <p:pic>
        <p:nvPicPr>
          <p:cNvPr id="3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d75a40daf4a4c"/>
          <a:stretch xmlns:a="http://schemas.openxmlformats.org/drawingml/2006/main"/>
        </p:blipFill>
        <p:spPr>
          <a:xfrm xmlns:a="http://schemas.openxmlformats.org/drawingml/2006/main">
            <a:off x="12982575" y="4786313"/>
            <a:ext cx="1952625" cy="904875"/>
          </a:xfrm>
          <a:prstGeom xmlns:a="http://schemas.openxmlformats.org/drawingml/2006/main" prst="rect">
            <a:avLst/>
          </a:prstGeom>
        </p:spPr>
      </p:pic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E16DA13-FD28-4E24-B019-E218ACB8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825" y="571500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保全・寿命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D5C550F-4ADE-4EA7-8188-97618390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03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A7"/>
          </a:solidFill>
          <a:ln xmlns:a="http://schemas.openxmlformats.org/drawingml/2006/main" w="9525">
            <a:solidFill>
              <a:srgbClr val="078AA7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E8C316D-5F72-4EC8-85B4-20EB8E13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6096000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78AA7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D9A9A94-3739-484D-95B9-96A8C77D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13049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78AA7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29BD5B0-7C2F-473F-9960-1D63BC6C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15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78AA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1">
                <a:solidFill>
                  <a:srgbClr val="078AA7"/>
                </a:solidFill>
                <a:latin typeface="Noto Sans CJK JP"/>
                <a:ea typeface="Noto Sans CJK JP"/>
                <a:cs typeface="Noto Sans CJK JP"/>
              </a:rPr>
              <a:t>共通データ基盤 ／ Digital Thread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5D37A12-B467-48BC-89AC-ED51288F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600825"/>
            <a:ext cx="152590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EF71389-E29D-4097-80B6-A1778AB8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43700"/>
            <a:ext cx="2333625" cy="81915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7900E29-B819-42C7-A8B8-DE8FA979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199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当社Digital Twin ＝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E875973-92AE-4A6E-91D6-7EEA5EEC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670560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D3CBE61-14C7-4949-9724-7E0A01C8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6915150"/>
            <a:ext cx="400050" cy="400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4727938D-3B28-4C48-B2BB-4D8B0B01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7010400"/>
            <a:ext cx="209550" cy="209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7A819F1E-7154-4D02-95FE-BFC7B40B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858000"/>
            <a:ext cx="953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BABEB692-C13E-4DDB-B18C-750A8073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7115175"/>
            <a:ext cx="514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DEECFC6-0873-49D2-8D2A-7188751B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73417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対象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86F6108-782D-4224-84BD-DD194D07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7219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何の双子か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BE9B393-0624-4B45-9688-21B65498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9151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5719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×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CBC6BE5-2727-4FD9-AEEB-2CE23A2E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70560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65E86D4-6EA3-4407-B47C-BF00C55F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691515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45CBC4A-3BAC-4A01-B649-EAA5E719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867525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550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↻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B3094B2-07BC-4039-B249-C711BB9F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73417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時間軸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559812CF-9F8D-413E-9EAE-D941496E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7219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いつ・何単位か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04838C02-A8A7-458E-BC84-86E9929E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9151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5719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×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F1E5FF37-029E-45EC-B35B-8EE31A51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70560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54FDDA6-1F2E-41CE-95F8-9386F05A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7115175"/>
            <a:ext cx="228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265F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DD886DA-C081-4A91-9DD7-8C6BF47F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96175" y="6972300"/>
            <a:ext cx="14287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265F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53F6BA31-836A-42FE-A98A-2E252A7F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7115175"/>
            <a:ext cx="14287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265F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70B6E97B-FB66-4CA0-9B6D-6A435717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6915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AE67D0C2-10D9-4722-B1CB-27600255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7239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5BC63163-4133-4254-B4D0-E0B3BE7F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73417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同期データ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871480C-8873-4CF7-B077-8E58C0C8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7219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何を更新するか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021991F4-1E96-4FFA-964C-BBBC9593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9151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5719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×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84F8FD98-1267-4A78-9E09-2E75F09B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70560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B000AC40-489B-458F-82F1-BD171616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934200"/>
            <a:ext cx="400050" cy="4000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C072E67-92DC-4B80-969A-FA329C29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934200"/>
            <a:ext cx="953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F6E90AA5-E27A-4346-8393-5F11D5A2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7067550"/>
            <a:ext cx="20002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69C15E0F-83D0-4BA2-A142-2ED9C518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486900" y="7067550"/>
            <a:ext cx="20002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F906E0C1-7230-4B92-9B75-C05EFF2F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73417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モデル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F9317D8-E7A8-42B4-A08C-43456504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219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何を表現・予測するか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D1D0145D-12AC-4A29-BAC5-15491ACE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9151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5719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×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BF02ACB1-B969-4C44-AFB2-84B4FBF4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70560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EE251278-6488-460C-9A1E-86AD0E07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7115175"/>
            <a:ext cx="228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265F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A7C2020-BC9B-4390-A4E7-99FFABCD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496675" y="6972300"/>
            <a:ext cx="14287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265F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E2FD48D5-3C97-49D2-B38A-C3E92CA0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7115175"/>
            <a:ext cx="14287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265F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A8F09BF7-E247-4E71-A763-3C767A7F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915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6E916FF6-7B43-41CF-8C3C-E00C6DFC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7239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102A8179-F05A-4A9A-9EB9-CF5A0370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73417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意思決定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D4F4E0AB-B4CC-4AAB-984A-292E07A9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7219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何を変えるか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6F3053B-6D57-4C9C-9EB6-BF951E7B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69151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5719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×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E59B11CC-0678-4359-82CF-B347A265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70560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BD66B504-9CC9-414C-A98D-EE7FE5EA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425" y="6934200"/>
            <a:ext cx="361950" cy="438150"/>
          </a:xfrm>
          <a:prstGeom xmlns:a="http://schemas.openxmlformats.org/drawingml/2006/main" prst="roundRect">
            <a:avLst>
              <a:gd name="adj" fmla="val 789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F3AD03B9-29FB-4710-BF28-C26D4390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7143750"/>
            <a:ext cx="6667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265F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05C14380-EABC-4666-8B2E-8254B7E8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3449300" y="7048500"/>
            <a:ext cx="15240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265F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F5D79334-1E81-4516-946F-3DF4CB4A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673417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検証範囲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B6CA498D-2269-49DE-B4C5-BFBDF4D3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7219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何なら信じられるか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524F4A6A-4818-4789-A005-4C3B5EEC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10500"/>
            <a:ext cx="15259050" cy="523875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AD55A193-3B7B-4A6A-904C-C4DDA2A3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48600"/>
            <a:ext cx="1459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外部定義は共通語。競争力になる仕様は、顧客PORと装置開発判断から当社が決める。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4FB44BE8-EB99-48A4-84FE-180CF9C7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4296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根拠：NIST＝単一の統一定義なし ／ DTC・UK＝同期頻度・時間枠は用途と意思決定で変わる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25B23073-20A4-4D0F-AC3A-112425C4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648700"/>
            <a:ext cx="1381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Sources: NIST Digital Twins (2026)／Digital Twin Consortium／GOV.UK (2025)／ISO 23247</a:t>
            </a:r>
          </a:p>
        </p:txBody>
      </p:sp>
    </p:spTree>
    <p:extLst>
      <p:ext uri="{BB962C8B-B14F-4D97-AF65-F5344CB8AC3E}">
        <p14:creationId xmlns:p14="http://schemas.microsoft.com/office/powerpoint/2010/main" val="14908767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88399B-9624-401A-8DFE-DFCD6C24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1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デジタルツインってなんだ？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4566D-E05D-4C91-970C-55C5DFAA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4770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A5FF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A5FF0"/>
                </a:solidFill>
                <a:latin typeface="Noto Sans CJK JP"/>
                <a:ea typeface="Noto Sans CJK JP"/>
                <a:cs typeface="Noto Sans CJK JP"/>
              </a:rPr>
              <a:t>同じ言葉を使っていても、見ている対象・時間・目的が違う</a:t>
            </a:r>
          </a:p>
        </p:txBody>
      </p:sp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926ee68d84b89"/>
          <a:stretch xmlns:a="http://schemas.openxmlformats.org/drawingml/2006/main"/>
        </p:blipFill>
        <p:spPr>
          <a:xfrm xmlns:a="http://schemas.openxmlformats.org/drawingml/2006/main">
            <a:off x="2428875" y="1000125"/>
            <a:ext cx="1809750" cy="1428750"/>
          </a:xfrm>
          <a:prstGeom xmlns:a="http://schemas.openxmlformats.org/drawingml/2006/main" prst="rect">
            <a:avLst/>
          </a:prstGeom>
        </p:spPr>
      </p:pic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b7d07bcb874824"/>
          <a:stretch xmlns:a="http://schemas.openxmlformats.org/drawingml/2006/main"/>
        </p:blipFill>
        <p:spPr>
          <a:xfrm xmlns:a="http://schemas.openxmlformats.org/drawingml/2006/main">
            <a:off x="11382375" y="958818"/>
            <a:ext cx="2238375" cy="141611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09877-0112-45EC-BF50-7053BCAB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257300"/>
            <a:ext cx="66675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F89C2-0BEB-4FB6-85B8-E8C162CC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906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共通する核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A132D-DB22-4D02-8A0C-290FFBFE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38300"/>
            <a:ext cx="561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現実の対象・プロセスを、目的に応じた頻度</a:t>
            </a:r>
          </a:p>
          <a:p xmlns:a="http://schemas.openxmlformats.org/drawingml/2006/main">
            <a:pPr algn="ctr">
              <a:defRPr sz="20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と忠実度で同期するデジタル表現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860EC-A209-47D4-B959-E50F9919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43075"/>
            <a:ext cx="142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B9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A5532-4BDA-4559-A5D2-344473B4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9E8"/>
          </a:solidFill>
          <a:ln xmlns:a="http://schemas.openxmlformats.org/drawingml/2006/main" w="9525">
            <a:solidFill>
              <a:srgbClr val="11B9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B119D-FFBA-4710-81CC-33606328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743075"/>
            <a:ext cx="142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B9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63CA5-55FB-4627-87C4-AE3E9BC0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9E8"/>
          </a:solidFill>
          <a:ln xmlns:a="http://schemas.openxmlformats.org/drawingml/2006/main" w="9525">
            <a:solidFill>
              <a:srgbClr val="11B9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96A40-24A6-46A5-9C60-B471458F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571750"/>
            <a:ext cx="6572250" cy="37147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27203-10FF-4F5B-AFD7-CF1C32BF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4953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17069-CCF8-4A55-A02E-E6B15DD5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業界ごとに“ツイン”の役割が違う</a:t>
            </a:r>
          </a:p>
        </p:txBody>
      </p:sp>
      <p:pic>
        <p:nvPicPr>
          <p:cNvPr id="1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43bb2280674268"/>
          <a:srcRect xmlns:a="http://schemas.openxmlformats.org/drawingml/2006/main" l="0" t="10000" r="0" b="10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" y="3000375"/>
            <a:ext cx="3429000" cy="7239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9FAE77-6B65-4CB5-A9A8-85CCE2DE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000375"/>
            <a:ext cx="2857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7915A6-E3A9-441B-AF16-ECCB4AFA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0003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8BA85D-F2A6-4976-9EBB-9E91CB8F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0194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航空・宇宙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254C74-DD99-4781-AC73-8C07B4EF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30517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5658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寿命・健全性・ミッション予測</a:t>
            </a:r>
          </a:p>
        </p:txBody>
      </p:sp>
      <p:pic>
        <p:nvPicPr>
          <p:cNvPr id="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20d3194d564964"/>
          <a:srcRect xmlns:a="http://schemas.openxmlformats.org/drawingml/2006/main" l="0" t="7778" r="0" b="77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" y="3800475"/>
            <a:ext cx="3429000" cy="7239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FEBAA7-6DE4-4EAB-82EF-F3E1D996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800475"/>
            <a:ext cx="2857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9A2384-4D1E-48BB-B0F4-38406346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8004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FFA569-B876-4DC0-B216-8FF5BE39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8195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製造装置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D1F704-EBE9-46E1-A5AB-C1BFA404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0527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状態監視・診断・制御</a:t>
            </a:r>
          </a:p>
        </p:txBody>
      </p:sp>
      <p:pic>
        <p:nvPicPr>
          <p:cNvPr id="1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b11be8adc454e"/>
          <a:srcRect xmlns:a="http://schemas.openxmlformats.org/drawingml/2006/main" l="0" t="7778" r="0" b="77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" y="4600575"/>
            <a:ext cx="3429000" cy="7239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7CE3FA-AA46-4514-B506-A55DD452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600575"/>
            <a:ext cx="2857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A0AC6E-6D76-4E8D-97F4-0B8299B5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6005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F4984D-8325-49C5-A711-569A8AD8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6196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工場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0E8511-9198-4692-BCC1-06642A11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90537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生産・搬送・能力・エネルギー最適化</a:t>
            </a:r>
          </a:p>
        </p:txBody>
      </p:sp>
      <p:pic>
        <p:nvPicPr>
          <p:cNvPr id="1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58cbc36e2458c"/>
          <a:srcRect xmlns:a="http://schemas.openxmlformats.org/drawingml/2006/main" l="0" t="7778" r="0" b="77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" y="5400675"/>
            <a:ext cx="3429000" cy="72390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597657-2090-4A8D-83DB-452B856C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400675"/>
            <a:ext cx="2857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4AFFF5-35FF-4E5A-A412-7267755A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4006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7CED37-3441-400E-96B4-48671E5E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4197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建物・インフラ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8E594F-2669-469C-B56B-BD1BF933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70547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資産管理・保全・安全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07B444-6EF5-475B-ADCD-73A2897C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8382000" cy="37147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E15A5D-A1F3-406F-B4FA-D3505CDF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50482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71C582-C885-4CBA-92FA-0A85D708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自社内・顧客でも想定が違う</a:t>
            </a:r>
          </a:p>
        </p:txBody>
      </p:sp>
      <p:pic>
        <p:nvPicPr>
          <p:cNvPr id="1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35ddea7e1945f3"/>
          <a:stretch xmlns:a="http://schemas.openxmlformats.org/drawingml/2006/main"/>
        </p:blipFill>
        <p:spPr>
          <a:xfrm xmlns:a="http://schemas.openxmlformats.org/drawingml/2006/main">
            <a:off x="9680933" y="3333750"/>
            <a:ext cx="3688633" cy="2333625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350DD5-AED1-4124-A26B-7FCACDC6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480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826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57FE5F-191E-4727-A675-C87C7C75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971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E35776-07D0-4371-8181-4E8B67C0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971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D59FB2-8DD6-4485-8BC8-A2F72559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95650"/>
            <a:ext cx="400050" cy="4000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4ED4F6-B36E-41DB-B94F-3DC5DE27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295650"/>
            <a:ext cx="953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C393A8-AA43-40B6-89CB-D6F81592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29000"/>
            <a:ext cx="20002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060531-6487-44B7-9F0C-D79F2A72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277225" y="3429000"/>
            <a:ext cx="20002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055ADD-3268-4C79-955C-8E8E56C3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95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設計・解析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6F7C42-AC15-4CE2-9121-DA55D23A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718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高忠実度物理モデル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1A5121-7256-44C8-ACDB-B3DE6B89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67100"/>
            <a:ext cx="3248025" cy="1104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dash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489EAC-A6FD-4317-9BE7-EBC377D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0480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826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068382E-D274-4854-A186-1A06BA18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2971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CA913E9-EDAB-45DB-839C-9564D932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2971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36D93B7-F9EC-473E-8B83-0D6E3FF2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3476625"/>
            <a:ext cx="228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265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96C24A-BB71-422B-BFA4-FE45A806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3954125" y="3333750"/>
            <a:ext cx="14287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265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5EF206E-33EB-4F38-8C27-215E7EA0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3476625"/>
            <a:ext cx="14287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265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424C2A4-1A9C-4975-A4EB-E7B9DE4F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3276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206CD6F-1C52-40D7-A0BC-7B3908BD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3600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E2AE113-E5F5-4043-8815-C7249C4A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095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AI・データ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BB619FB-2E60-4E46-98D9-EFB388E9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3718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予測モデル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6CF6B47-79AB-448C-9984-1373BC0F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525250" y="3467100"/>
            <a:ext cx="2419350" cy="1104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dash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C501EB4-2F7A-4563-B6CE-68378BEF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3862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826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65FCFA3-C2CD-4BC7-9DC3-C8890CF6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1624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9D83013-72E7-42EF-8D96-1824EA47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1624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783A8F6-FB55-43B4-8113-1BD10EFD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67250"/>
            <a:ext cx="228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265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5372CCF-79DF-46B6-B9E8-1DD4381B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096250" y="4524375"/>
            <a:ext cx="14287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265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3D8FC96-64DF-4314-B7DD-CF9B41D8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14287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265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871AC98-1E0E-4299-A455-B216687C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67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ADCA081-A002-4CCF-9CF7-D4CB1EBC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91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B51036A-68AA-4FAF-AC57-FC9A3347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IT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9CAFFEE-ECF2-4159-9B86-9347CF03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624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データ統合・同期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848427D-082A-40A6-993B-6D07A8A6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086725" y="4572000"/>
            <a:ext cx="3438525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dash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2C099E4-0E4E-44E0-B8D0-5BFF6F98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423862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826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EA22813-23FA-4273-B759-0D6A8E32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41624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34656CB-D3B9-4F75-BAD5-A45D5A3C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41624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F6C58B4-A9A1-4555-A495-A6B05CBB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4467225"/>
            <a:ext cx="457200" cy="32385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ED37233-67E6-4919-A5FE-FA515E23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4848225"/>
            <a:ext cx="304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4EB1AC4-354B-4DB4-B7ED-DB580B13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4791075"/>
            <a:ext cx="953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F627A64-CF5F-48A7-9345-E1EE4E02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4286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製造・保全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7274D94-5B91-455D-A875-3F45B206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45624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監視・運用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82F6DB2-2A1C-4868-8B61-D289240A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572000"/>
            <a:ext cx="26098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dash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2287DDC-41F7-44F0-9024-E3508797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38162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826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EA718E0-0093-469A-9F41-5B726073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0" y="53054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BA915FD-2A8D-43AC-B809-50CEC4CF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0" y="53054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442F15D-6B13-42E2-A44E-462C134A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5629275"/>
            <a:ext cx="361950" cy="438150"/>
          </a:xfrm>
          <a:prstGeom xmlns:a="http://schemas.openxmlformats.org/drawingml/2006/main" prst="roundRect">
            <a:avLst>
              <a:gd name="adj" fmla="val 789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695841A-A39F-40A5-A26A-5BF6B1E9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5838825"/>
            <a:ext cx="6667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265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8EBB055-7213-447F-891B-ED5143CE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3620750" y="5743575"/>
            <a:ext cx="15240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265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55B0E6C-67F8-473E-915B-F17C1992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5429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顧客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8E01A0B-27A0-4434-AFD8-47CD7C47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57054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Qualification・POR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CF3D859-9943-4D6C-9EC6-822FA8B9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572000"/>
            <a:ext cx="2133600" cy="1228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5FF0"/>
            </a:solidFill>
            <a:prstDash val="dash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6BF4AF5-9CAE-4A6E-B775-5D42ECA8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695950"/>
            <a:ext cx="4953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E36EDAC-29ED-4AF8-B528-C6E291B3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15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全員が同じ言葉で、違うものを見ている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5E3A9C1-E566-43F1-94A5-954B99C0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3341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だから、当社の定義は“名前”ではなく5項目で固定する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1EA7B13-4840-427E-BF46-E97B76A4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743700"/>
            <a:ext cx="153162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E0AA494-F01F-4246-9B91-CAB8DAD0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905625"/>
            <a:ext cx="2762250" cy="81915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A8AC91E-8576-4FF0-B2D3-A915ADE9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53250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当社Digital Twin ＝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0AE5833-4752-47B8-B74C-8CB0CF8C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810375"/>
            <a:ext cx="20478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78AA7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09070B3-0BF2-42FF-8CA4-3EE0EBB0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7038975"/>
            <a:ext cx="400050" cy="400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57C19CD-EA58-4BAD-B085-0A20C6FB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7134225"/>
            <a:ext cx="209550" cy="209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76A5046-FE7B-4F41-8F5B-4DF7836C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6981825"/>
            <a:ext cx="953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D03A87B-8844-4E5D-99BD-495AA201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7239000"/>
            <a:ext cx="514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71DAC46-742C-4F47-8E5B-76D69078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8580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8AA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078AA7"/>
                </a:solidFill>
                <a:latin typeface="Noto Sans CJK JP"/>
                <a:ea typeface="Noto Sans CJK JP"/>
                <a:cs typeface="Noto Sans CJK JP"/>
              </a:rPr>
              <a:t>対象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47A4A68-266E-4461-8429-3F40F04E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73056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何の双子か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FADB209-3CC1-486F-8250-DFC106CF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7048500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700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×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778FAE2-2BFC-499C-9460-A3CC5ECF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6810375"/>
            <a:ext cx="20478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78AA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FC0D8B9-2763-422C-AE42-E2ACEF37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7038975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B5C4B9A-B0BF-483F-A6AE-4463CA6C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9913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550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↻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AF0F9A0-31F6-4A54-B31B-D9A98E94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8580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8AA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078AA7"/>
                </a:solidFill>
                <a:latin typeface="Noto Sans CJK JP"/>
                <a:ea typeface="Noto Sans CJK JP"/>
                <a:cs typeface="Noto Sans CJK JP"/>
              </a:rPr>
              <a:t>同期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840F802-19C8-426D-B39A-EB7E3340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73056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どのデータを、いつ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BC31584-7B43-481B-8ABF-DC4FF9E1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048500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700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×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762DF87-17A1-49D2-A89F-9FD2BF4C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810375"/>
            <a:ext cx="20478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78AA7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821D42A-C55B-444F-BE91-4CA07B46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058025"/>
            <a:ext cx="400050" cy="4000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F902016-B984-4AF7-83D7-1F2285A4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7058025"/>
            <a:ext cx="953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19115FA-FBD8-4D69-98EE-77E978CC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191375"/>
            <a:ext cx="20002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59E0B60-D0A0-4B3F-9A9E-F8722FC4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820150" y="7191375"/>
            <a:ext cx="20002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4E39F21-AB8E-454E-B3D9-6C161EC7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8580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8AA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078AA7"/>
                </a:solidFill>
                <a:latin typeface="Noto Sans CJK JP"/>
                <a:ea typeface="Noto Sans CJK JP"/>
                <a:cs typeface="Noto Sans CJK JP"/>
              </a:rPr>
              <a:t>モデル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B7195B1-D11B-42A1-A19A-07D10571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73056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何を表現・予測するか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30A4865-2EA9-44BE-94A8-1D68478A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7048500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700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×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726AA84-1F8D-4C70-AB12-792B44B1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810375"/>
            <a:ext cx="20478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78AA7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C96C549-AA02-43BC-AB19-8E7ADB2D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7239000"/>
            <a:ext cx="228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265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762C27C-E6C0-41AE-B341-DB076DA1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210925" y="7096125"/>
            <a:ext cx="14287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265F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F665D8E-1701-49A1-93C9-85B88AEC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7239000"/>
            <a:ext cx="14287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265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A4F9548-800D-4607-87D6-10CDDD64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7038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5ABF485-882D-4A1A-A133-8FDE5A1F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7362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886C750-9AF9-43DC-893F-64C55577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8580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8AA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078AA7"/>
                </a:solidFill>
                <a:latin typeface="Noto Sans CJK JP"/>
                <a:ea typeface="Noto Sans CJK JP"/>
                <a:cs typeface="Noto Sans CJK JP"/>
              </a:rPr>
              <a:t>意思決定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C013D61-3D05-4579-97DA-83EAA100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73056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何を変えるか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D06A72A-0770-47F1-8E51-DE80838B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7048500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700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×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4FAA949-5F3D-49BF-83C0-68F78ED6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6810375"/>
            <a:ext cx="20478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78AA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9F2122A-DDCA-47EA-9108-C16676BF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675" y="7058025"/>
            <a:ext cx="361950" cy="438150"/>
          </a:xfrm>
          <a:prstGeom xmlns:a="http://schemas.openxmlformats.org/drawingml/2006/main" prst="roundRect">
            <a:avLst>
              <a:gd name="adj" fmla="val 789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265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0036236-D3AD-47AB-8653-50642B2D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7267575"/>
            <a:ext cx="6667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265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17242D6-5245-472C-B205-7084A3C2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3544550" y="7172325"/>
            <a:ext cx="15240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265F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CF79624-C85A-4AA8-A368-70935632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68580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8AA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078AA7"/>
                </a:solidFill>
                <a:latin typeface="Noto Sans CJK JP"/>
                <a:ea typeface="Noto Sans CJK JP"/>
                <a:cs typeface="Noto Sans CJK JP"/>
              </a:rPr>
              <a:t>検証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30095C8-70C2-4252-9C57-0F0F5B63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425" y="73056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何なら信じられるか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9AF40F8-1C94-4593-90E4-A026B8D6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0"/>
            <a:ext cx="15125700" cy="523875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08265F"/>
          </a:solidFill>
          <a:ln xmlns:a="http://schemas.openxmlformats.org/drawingml/2006/main" w="9525">
            <a:solidFill>
              <a:srgbClr val="08265F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635ED3A-8E60-4BCC-94C3-A1B9A369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39100"/>
            <a:ext cx="1419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定義に振り回されない。顧客PORと装置開発判断に必要な範囲を、当社自身で定義する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B79932F-53CA-44E9-A59A-B3D84A98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696325"/>
            <a:ext cx="1428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0">
                <a:solidFill>
                  <a:srgbClr val="08265F"/>
                </a:solidFill>
                <a:latin typeface="Noto Sans CJK JP"/>
                <a:ea typeface="Noto Sans CJK JP"/>
                <a:cs typeface="Noto Sans CJK JP"/>
              </a:rPr>
              <a:t>Sources: NIST Digital Twins Definitions (2025)／Digital Twin Consortium／ISO 23247-1:2021／ISO/TR 23247-100:2025</a:t>
            </a:r>
          </a:p>
        </p:txBody>
      </p:sp>
    </p:spTree>
    <p:extLst>
      <p:ext uri="{BB962C8B-B14F-4D97-AF65-F5344CB8AC3E}">
        <p14:creationId xmlns:p14="http://schemas.microsoft.com/office/powerpoint/2010/main" val="13499745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2026-07-21T19:41:36.6760000Z</dcterms:created>
  <dcterms:modified xsi:type="dcterms:W3CDTF">2026-07-21T19:41:36.6760000Z</dcterms:modified>
</coreProperties>
</file>