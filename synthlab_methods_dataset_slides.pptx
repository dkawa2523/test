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Gaussian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0.01</c:v>
                </c:pt>
                <c:pt idx="1">
                  <c:v>0.07</c:v>
                </c:pt>
                <c:pt idx="2">
                  <c:v>0.13</c:v>
                </c:pt>
                <c:pt idx="3">
                  <c:v>0.18</c:v>
                </c:pt>
                <c:pt idx="4">
                  <c:v>0.24</c:v>
                </c:pt>
                <c:pt idx="5">
                  <c:v>0.30</c:v>
                </c:pt>
                <c:pt idx="6">
                  <c:v>0.36</c:v>
                </c:pt>
                <c:pt idx="7">
                  <c:v>0.42</c:v>
                </c:pt>
                <c:pt idx="8">
                  <c:v>0.48</c:v>
                </c:pt>
                <c:pt idx="9">
                  <c:v>0.53</c:v>
                </c:pt>
                <c:pt idx="10">
                  <c:v>0.59</c:v>
                </c:pt>
                <c:pt idx="11">
                  <c:v>0.65</c:v>
                </c:pt>
                <c:pt idx="12">
                  <c:v>0.71</c:v>
                </c:pt>
                <c:pt idx="13">
                  <c:v>0.77</c:v>
                </c:pt>
                <c:pt idx="14">
                  <c:v>0.83</c:v>
                </c:pt>
                <c:pt idx="15">
                  <c:v>0.88</c:v>
                </c:pt>
                <c:pt idx="16">
                  <c:v>0.94</c:v>
                </c:pt>
                <c:pt idx="17">
                  <c:v>1.00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6.8644361023982199E-3</c:v>
                </c:pt>
                <c:pt idx="1">
                  <c:v>9.2653112414704628E-2</c:v>
                </c:pt>
                <c:pt idx="2">
                  <c:v>0.48751919959441897</c:v>
                </c:pt>
                <c:pt idx="3">
                  <c:v>1</c:v>
                </c:pt>
                <c:pt idx="4">
                  <c:v>0.79962219672502188</c:v>
                </c:pt>
                <c:pt idx="5">
                  <c:v>0.24925635938052249</c:v>
                </c:pt>
                <c:pt idx="6">
                  <c:v>3.0288950033640155E-2</c:v>
                </c:pt>
                <c:pt idx="7">
                  <c:v>1.4348244054926619E-3</c:v>
                </c:pt>
                <c:pt idx="8">
                  <c:v>2.6496582125444645E-5</c:v>
                </c:pt>
                <c:pt idx="9">
                  <c:v>1.9074691515518971E-7</c:v>
                </c:pt>
                <c:pt idx="10">
                  <c:v>5.3530556047141205E-10</c:v>
                </c:pt>
                <c:pt idx="11">
                  <c:v>5.8562896851301206E-13</c:v>
                </c:pt>
                <c:pt idx="12">
                  <c:v>2.497582903591803E-16</c:v>
                </c:pt>
                <c:pt idx="13">
                  <c:v>4.1523489170039145E-20</c:v>
                </c:pt>
                <c:pt idx="14">
                  <c:v>2.6911898206391968E-24</c:v>
                </c:pt>
                <c:pt idx="15">
                  <c:v>6.7994124833226313E-29</c:v>
                </c:pt>
                <c:pt idx="16">
                  <c:v>6.6969184452956741E-34</c:v>
                </c:pt>
                <c:pt idx="17">
                  <c:v>2.571314489557811E-39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16-E843-ADEA-46C60BC2CE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Lognormal</c:v>
                </c:pt>
              </c:strCache>
            </c:strRef>
          </c:tx>
          <c:spPr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0.01</c:v>
                </c:pt>
                <c:pt idx="1">
                  <c:v>0.07</c:v>
                </c:pt>
                <c:pt idx="2">
                  <c:v>0.13</c:v>
                </c:pt>
                <c:pt idx="3">
                  <c:v>0.18</c:v>
                </c:pt>
                <c:pt idx="4">
                  <c:v>0.24</c:v>
                </c:pt>
                <c:pt idx="5">
                  <c:v>0.30</c:v>
                </c:pt>
                <c:pt idx="6">
                  <c:v>0.36</c:v>
                </c:pt>
                <c:pt idx="7">
                  <c:v>0.42</c:v>
                </c:pt>
                <c:pt idx="8">
                  <c:v>0.48</c:v>
                </c:pt>
                <c:pt idx="9">
                  <c:v>0.53</c:v>
                </c:pt>
                <c:pt idx="10">
                  <c:v>0.59</c:v>
                </c:pt>
                <c:pt idx="11">
                  <c:v>0.65</c:v>
                </c:pt>
                <c:pt idx="12">
                  <c:v>0.71</c:v>
                </c:pt>
                <c:pt idx="13">
                  <c:v>0.77</c:v>
                </c:pt>
                <c:pt idx="14">
                  <c:v>0.83</c:v>
                </c:pt>
                <c:pt idx="15">
                  <c:v>0.88</c:v>
                </c:pt>
                <c:pt idx="16">
                  <c:v>0.94</c:v>
                </c:pt>
                <c:pt idx="17">
                  <c:v>1.00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5.5997278413375227E-3</c:v>
                </c:pt>
                <c:pt idx="1">
                  <c:v>1</c:v>
                </c:pt>
                <c:pt idx="2">
                  <c:v>0.39775506367389074</c:v>
                </c:pt>
                <c:pt idx="3">
                  <c:v>0.12108981364429548</c:v>
                </c:pt>
                <c:pt idx="4">
                  <c:v>3.8102501055844985E-2</c:v>
                </c:pt>
                <c:pt idx="5">
                  <c:v>1.2936435911012118E-2</c:v>
                </c:pt>
                <c:pt idx="6">
                  <c:v>4.744289681619036E-3</c:v>
                </c:pt>
                <c:pt idx="7">
                  <c:v>1.8657315062819352E-3</c:v>
                </c:pt>
                <c:pt idx="8">
                  <c:v>7.8022401154063622E-4</c:v>
                </c:pt>
                <c:pt idx="9">
                  <c:v>3.4432676523486592E-4</c:v>
                </c:pt>
                <c:pt idx="10">
                  <c:v>1.5931567436429335E-4</c:v>
                </c:pt>
                <c:pt idx="11">
                  <c:v>7.6856462158878208E-5</c:v>
                </c:pt>
                <c:pt idx="12">
                  <c:v>3.847812102463713E-5</c:v>
                </c:pt>
                <c:pt idx="13">
                  <c:v>1.99136290153121E-5</c:v>
                </c:pt>
                <c:pt idx="14">
                  <c:v>1.0617901900239068E-5</c:v>
                </c:pt>
                <c:pt idx="15">
                  <c:v>5.8161789341134519E-6</c:v>
                </c:pt>
                <c:pt idx="16">
                  <c:v>3.2649707385396934E-6</c:v>
                </c:pt>
                <c:pt idx="17">
                  <c:v>1.8742937413904945E-6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16-E843-ADEA-46C60BC2CE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Weibull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0.01</c:v>
                </c:pt>
                <c:pt idx="1">
                  <c:v>0.07</c:v>
                </c:pt>
                <c:pt idx="2">
                  <c:v>0.13</c:v>
                </c:pt>
                <c:pt idx="3">
                  <c:v>0.18</c:v>
                </c:pt>
                <c:pt idx="4">
                  <c:v>0.24</c:v>
                </c:pt>
                <c:pt idx="5">
                  <c:v>0.30</c:v>
                </c:pt>
                <c:pt idx="6">
                  <c:v>0.36</c:v>
                </c:pt>
                <c:pt idx="7">
                  <c:v>0.42</c:v>
                </c:pt>
                <c:pt idx="8">
                  <c:v>0.48</c:v>
                </c:pt>
                <c:pt idx="9">
                  <c:v>0.53</c:v>
                </c:pt>
                <c:pt idx="10">
                  <c:v>0.59</c:v>
                </c:pt>
                <c:pt idx="11">
                  <c:v>0.65</c:v>
                </c:pt>
                <c:pt idx="12">
                  <c:v>0.71</c:v>
                </c:pt>
                <c:pt idx="13">
                  <c:v>0.77</c:v>
                </c:pt>
                <c:pt idx="14">
                  <c:v>0.83</c:v>
                </c:pt>
                <c:pt idx="15">
                  <c:v>0.88</c:v>
                </c:pt>
                <c:pt idx="16">
                  <c:v>0.94</c:v>
                </c:pt>
                <c:pt idx="17">
                  <c:v>1.00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0.29091128962149831</c:v>
                </c:pt>
                <c:pt idx="1">
                  <c:v>0.92739929270174215</c:v>
                </c:pt>
                <c:pt idx="2">
                  <c:v>1</c:v>
                </c:pt>
                <c:pt idx="3">
                  <c:v>0.79380656613881939</c:v>
                </c:pt>
                <c:pt idx="4">
                  <c:v>0.51730164408210055</c:v>
                </c:pt>
                <c:pt idx="5">
                  <c:v>0.28856764880839286</c:v>
                </c:pt>
                <c:pt idx="6">
                  <c:v>0.14084964074646786</c:v>
                </c:pt>
                <c:pt idx="7">
                  <c:v>6.0978632774805849E-2</c:v>
                </c:pt>
                <c:pt idx="8">
                  <c:v>2.3636329005759963E-2</c:v>
                </c:pt>
                <c:pt idx="9">
                  <c:v>8.259722668055209E-3</c:v>
                </c:pt>
                <c:pt idx="10">
                  <c:v>2.6161678663095991E-3</c:v>
                </c:pt>
                <c:pt idx="11">
                  <c:v>7.5432747507423869E-4</c:v>
                </c:pt>
                <c:pt idx="12">
                  <c:v>1.9870437447275547E-4</c:v>
                </c:pt>
                <c:pt idx="13">
                  <c:v>4.796568605739919E-5</c:v>
                </c:pt>
                <c:pt idx="14">
                  <c:v>1.0638293015925992E-5</c:v>
                </c:pt>
                <c:pt idx="15">
                  <c:v>2.1728639442159558E-6</c:v>
                </c:pt>
                <c:pt idx="16">
                  <c:v>4.0954415185404174E-7</c:v>
                </c:pt>
                <c:pt idx="17">
                  <c:v>7.1362939570393726E-8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16-E843-ADEA-46C60BC2CE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Pareto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0.01</c:v>
                </c:pt>
                <c:pt idx="1">
                  <c:v>0.07</c:v>
                </c:pt>
                <c:pt idx="2">
                  <c:v>0.13</c:v>
                </c:pt>
                <c:pt idx="3">
                  <c:v>0.18</c:v>
                </c:pt>
                <c:pt idx="4">
                  <c:v>0.24</c:v>
                </c:pt>
                <c:pt idx="5">
                  <c:v>0.30</c:v>
                </c:pt>
                <c:pt idx="6">
                  <c:v>0.36</c:v>
                </c:pt>
                <c:pt idx="7">
                  <c:v>0.42</c:v>
                </c:pt>
                <c:pt idx="8">
                  <c:v>0.48</c:v>
                </c:pt>
                <c:pt idx="9">
                  <c:v>0.53</c:v>
                </c:pt>
                <c:pt idx="10">
                  <c:v>0.59</c:v>
                </c:pt>
                <c:pt idx="11">
                  <c:v>0.65</c:v>
                </c:pt>
                <c:pt idx="12">
                  <c:v>0.71</c:v>
                </c:pt>
                <c:pt idx="13">
                  <c:v>0.77</c:v>
                </c:pt>
                <c:pt idx="14">
                  <c:v>0.83</c:v>
                </c:pt>
                <c:pt idx="15">
                  <c:v>0.88</c:v>
                </c:pt>
                <c:pt idx="16">
                  <c:v>0.94</c:v>
                </c:pt>
                <c:pt idx="17">
                  <c:v>1.00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1</c:v>
                </c:pt>
                <c:pt idx="2">
                  <c:v>9.5868120123954223E-2</c:v>
                </c:pt>
                <c:pt idx="3">
                  <c:v>2.2730432348498454E-2</c:v>
                </c:pt>
                <c:pt idx="4">
                  <c:v>8.0228775311465168E-3</c:v>
                </c:pt>
                <c:pt idx="5">
                  <c:v>3.5458022180902445E-3</c:v>
                </c:pt>
                <c:pt idx="6">
                  <c:v>1.8112723612536588E-3</c:v>
                </c:pt>
                <c:pt idx="7">
                  <c:v>1.0236668368629089E-3</c:v>
                </c:pt>
                <c:pt idx="8">
                  <c:v>6.2335576012670195E-4</c:v>
                </c:pt>
                <c:pt idx="9">
                  <c:v>4.0198896801091561E-4</c:v>
                </c:pt>
                <c:pt idx="10">
                  <c:v>2.7128661769060779E-4</c:v>
                </c:pt>
                <c:pt idx="11">
                  <c:v>1.8996381226473637E-4</c:v>
                </c:pt>
                <c:pt idx="12">
                  <c:v>1.3714803222305373E-4</c:v>
                </c:pt>
                <c:pt idx="13">
                  <c:v>1.015980825797138E-4</c:v>
                </c:pt>
                <c:pt idx="14">
                  <c:v>7.6934513023745792E-5</c:v>
                </c:pt>
                <c:pt idx="15">
                  <c:v>5.9373768514836366E-5</c:v>
                </c:pt>
                <c:pt idx="16">
                  <c:v>4.6585772100530872E-5</c:v>
                </c:pt>
                <c:pt idx="17">
                  <c:v>3.7088089116739007E-5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716-E843-ADEA-46C60BC2C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C01</c:v>
                </c:pt>
                <c:pt idx="1">
                  <c:v>C03</c:v>
                </c:pt>
                <c:pt idx="2">
                  <c:v>C04</c:v>
                </c:pt>
                <c:pt idx="3">
                  <c:v>C06</c:v>
                </c:pt>
                <c:pt idx="4">
                  <c:v>C07</c:v>
                </c:pt>
                <c:pt idx="5">
                  <c:v>C08</c:v>
                </c:pt>
                <c:pt idx="6">
                  <c:v>C10</c:v>
                </c:pt>
                <c:pt idx="7">
                  <c:v>C11</c:v>
                </c:pt>
                <c:pt idx="8">
                  <c:v>C14</c:v>
                </c:pt>
                <c:pt idx="9">
                  <c:v>C15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120</c:v>
                </c:pt>
                <c:pt idx="2">
                  <c:v>95</c:v>
                </c:pt>
                <c:pt idx="3">
                  <c:v>80</c:v>
                </c:pt>
                <c:pt idx="4">
                  <c:v>110</c:v>
                </c:pt>
                <c:pt idx="5">
                  <c:v>90</c:v>
                </c:pt>
                <c:pt idx="6">
                  <c:v>105</c:v>
                </c:pt>
                <c:pt idx="7">
                  <c:v>85</c:v>
                </c:pt>
                <c:pt idx="8">
                  <c:v>60</c:v>
                </c:pt>
                <c:pt idx="9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A-0C44-ADA4-27A7DC18C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1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本スライドの図・説明は当該リポジトリ実装（SynthLab Scaffold）の設計に基づく（外部画像不使用）。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スキーマは当該フレームワークの設計（particles/samplesの2テーブル構造）に基づく。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本スライドの概念図・YAML例は当該リポジトリの param_space / pattern plugin 設計に基づく。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右図は本プロジェクト内で生成したパターン可視化（外部素材不使用）。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数式は標準的な確率分布（Gaussian/Lognormal/Weibull/Pareto）の定義。外部画像不使用。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設定例は本リポジトリで実装した size_models selection / per_sample の設計意図を表現。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composeの説明は本フレームワークの設計（多パターン重畳・多ラベル保持）に基づく。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右の棒グラフは説明用のダミーデータ（pptx内チャート例）。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コマンドは本リポジトリのCLI/Hydra実行形態に基づく例。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画像は本プロジェクト内で生成したサンプル可視化（外部画像不使用）。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chart" Target="../charts/chart1.xml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SynthLab Scaffold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Waferパーティクル付着データ（点群）を、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パターン分布 × 粒径分布で再現性高く大量生成するフレームワーク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6949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4203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このコードでできること（要約）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6400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ルールベース欠陥パターン（C/K/O）で座標分布を生成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粒径サイズ分布：gaussian/lognormal/weibull/pareto/mixture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サンプルごとのパラメータ振り（param_space / per_sample）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パターン重ね合わせ（compose）と多層ラベル（labeling_apply）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QC/カバレッジ集計、CSV/Parquet export + split（8:1:1など）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09560" y="100584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標準ワークフロー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600200"/>
            <a:ext cx="283464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(設定検証)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46920" y="2276856"/>
            <a:ext cx="182880" cy="128016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404872"/>
            <a:ext cx="283464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496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(生成)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46920" y="3081528"/>
            <a:ext cx="182880" cy="128016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209544"/>
            <a:ext cx="2834640" cy="6583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33009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/ viz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(品質/可視化)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46920" y="3886200"/>
            <a:ext cx="182880" cy="128016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4014216"/>
            <a:ext cx="283464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41056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labeling_apply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(多層ラベル)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46920" y="4690872"/>
            <a:ext cx="182880" cy="128016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4818888"/>
            <a:ext cx="2834640" cy="65836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9103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(CSV+split)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" y="6565392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10枚スライド / 内部開発者向け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生成データの形式（点群テーブル）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7150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particles.csv（粒子単位）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2578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主カラム（例）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810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181051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サンプルID（ウェハ）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112264"/>
            <a:ext cx="5166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157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r_mm, theta_rad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215798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極座標（原点中心、半径≤150mm）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459736"/>
            <a:ext cx="5166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5054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size_um / size_nm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25054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粒径（分布モデルから生成、clamp可）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2807208"/>
            <a:ext cx="5166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852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label_fine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88920" y="285292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パターンID（C/K/O 等）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3154680"/>
            <a:ext cx="5166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200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component_*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88920" y="32004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compose時: 合成元追跡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502152"/>
            <a:ext cx="5166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960120"/>
            <a:ext cx="48920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11247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samples.csv（サンプル単位）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1417320"/>
            <a:ext cx="443484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463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主カラム（例）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1810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sample_id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0" y="18105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サンプルID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03720" y="2112264"/>
            <a:ext cx="4343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1579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label_fine / labels_fine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61120" y="2157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単一/複合（compose）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03720" y="2459736"/>
            <a:ext cx="4343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5054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n_particles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61120" y="25054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粒子数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03720" y="2807208"/>
            <a:ext cx="4343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8529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size_model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961120" y="28529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粒径分布モデル名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03720" y="3154680"/>
            <a:ext cx="4343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32004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size_params_json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96112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パラメータ追跡（per_sample対応）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03720" y="3502152"/>
            <a:ext cx="4343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5478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label_macro*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961120" y="35478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labeling_apply後: macro層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03720" y="3849624"/>
            <a:ext cx="4343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989320"/>
            <a:ext cx="10881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68680" y="60167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座標系メモ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0120" y="6236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ウェハ中心を原点とする極座標（r, θ）。可視化や画像化では (x, y) = (r cosθ, r sinθ) に変換。</a:t>
            </a:r>
            <a:endParaRPr lang="en-US" sz="125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6920" y="6332663"/>
            <a:ext cx="1783080" cy="172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手法① ルールベース欠陥パターン生成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7150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基本アイデア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Patternプラグインが “点の出現確率（密度）” を定義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param_spaceで幾何パラメータをサンプルごとに振る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生成点を wafer 内へ clamp / reject（物理制約）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粒径サイズ分布モデルで size を付与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テーブル（particles/samples）として保存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960120"/>
            <a:ext cx="48920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1247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生成フロー（概念図）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1508760"/>
            <a:ext cx="155448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8312" y="155448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(plugin)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32520" y="1508760"/>
            <a:ext cx="246888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155448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param_space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 params)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95160" y="2423160"/>
            <a:ext cx="420624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2468880"/>
            <a:ext cx="4059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sampler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points)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3246120"/>
            <a:ext cx="210312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3291840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Clamp/Reject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(r≤R)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0" y="3246120"/>
            <a:ext cx="2057400" cy="6858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3291840"/>
            <a:ext cx="1911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model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(assign size)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95160" y="4069080"/>
            <a:ext cx="42062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4114800"/>
            <a:ext cx="4059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(particles/samples)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90688" y="2148840"/>
            <a:ext cx="164592" cy="109728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2148840"/>
            <a:ext cx="164592" cy="109728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3127248"/>
            <a:ext cx="164592" cy="109728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3950208"/>
            <a:ext cx="164592" cy="109728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4892040"/>
            <a:ext cx="4892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505663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param_space（YAML例）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5440680"/>
            <a:ext cx="4434840" cy="1143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55321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C07_StraightLine: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width_mm: {dist: uniform, low: 5, high: 10}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length_mm: {dist: uniform, low: 10, high: 100}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手法② パターンカタログ（C/K/O）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98932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主要パターン（抜粋）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53212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417320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1417320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141732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41732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パラメータを振る軸（例）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1892808"/>
            <a:ext cx="5532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1892808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Random/Noise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1892808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89280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 Uniform / C02 EdgeBiased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892808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2544" y="18928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粒子数, エッジバイアス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2368296"/>
            <a:ext cx="5532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2368296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Ring/Arc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2368296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2368296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C03 Ring / K03 Edge_Arc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2368296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52544" y="236829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半径, 幅, 弧長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2843784"/>
            <a:ext cx="5532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2843784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Sector/Crescent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2843784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32304" y="2843784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C04/C05 Sector / C12/C13 Crescent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97680" y="2843784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52544" y="2843784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角度中心, 角度幅, r帯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" y="3319272"/>
            <a:ext cx="5532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3319272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Lines/Scratch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77440" y="3319272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32304" y="3319272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C06 RadialLines / C07 StraightLine / C08 Curved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7680" y="3319272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52544" y="3319272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本数, 長さ, 幅, 曲率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" y="3794760"/>
            <a:ext cx="5532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" y="3794760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77440" y="3794760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32304" y="379476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 Hotspot_Iso / C11 Hotspot_Elliptic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97680" y="3794760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52544" y="379476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中心位置, σx/σy, 方向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8680" y="4270248"/>
            <a:ext cx="5532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3544" y="4270248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Edge-source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77440" y="4270248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32304" y="427024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C14 Spray / C15 Bursty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97680" y="4270248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52544" y="427024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起点角度, 減衰, バースト密度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68680" y="4745736"/>
            <a:ext cx="5532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" y="4745736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(optional)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377440" y="4745736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32304" y="4745736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K04 Scratch_Periodic / O01 ReticleRepeat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97680" y="4745736"/>
            <a:ext cx="0" cy="47548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52544" y="474573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周期, 位相, 格子ピッチ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12280" y="960120"/>
            <a:ext cx="470916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040880" y="112471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生成パターンイメージ</a:t>
            </a:r>
            <a:endParaRPr lang="en-US" sz="1400" dirty="0"/>
          </a:p>
        </p:txBody>
      </p:sp>
      <p:pic>
        <p:nvPicPr>
          <p:cNvPr id="58" name="Image 0" descr="/mnt/data/wafer_patterns_revised_at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452449"/>
            <a:ext cx="4343400" cy="2913221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6995160" y="63550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本リポジトリのパターン群から作成したサンプル可視化（縮小表示）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手法③ 粒径サイズ分布（複数モデル）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Models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80644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代表モデルと数式（PDF）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9321" y="1545336"/>
            <a:ext cx="2842478" cy="5120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" y="2148840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313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7342" y="2258568"/>
            <a:ext cx="3166437" cy="5120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68680" y="2862072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302666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26741" y="2971800"/>
            <a:ext cx="3507638" cy="51206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8680" y="3575304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4400" y="373989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51760" y="3775464"/>
            <a:ext cx="3657600" cy="331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68680" y="4288536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14400" y="4389120"/>
            <a:ext cx="54406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143000" y="457200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実装ポイント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min/max clamp（例: 10–1000nm）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per_sample: サンプル毎に分布パラメータをサンプリング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selection: データセット内で分布タイプを混在（ratios）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samplesに size_model と size_params_json を保存（追跡可能）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629400" y="960120"/>
            <a:ext cx="489204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858000" y="11247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分布形状（概念：正規化PDF）</a:t>
            </a:r>
            <a:endParaRPr lang="en-US" sz="14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903720" y="1417320"/>
          <a:ext cx="44348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5" name="Text 18"/>
          <p:cNvSpPr/>
          <p:nvPr/>
        </p:nvSpPr>
        <p:spPr>
          <a:xfrm>
            <a:off x="6903720" y="548640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値は最大1に正規化した概念図（分布の“形”比較用）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903720" y="573328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xはµm表記（10–1000nm = 0.01–1.0µm）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手法④ 分布タイプの混在（データセット内）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80644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目的と設計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同じ“パターン形状”でも、粒径分布が違うと学習/異常検出の難易度が変わる。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本実装では、サンプルごとに size_model を選択し、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データセット内に複数分布（gaussian/lognormal/weibull/pareto…）を混在できる。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追跡性のため、samplesテーブルに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size_model（モデル名）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size_params_json（パラメータ）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を保存する。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960120"/>
            <a:ext cx="48920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1247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1508760"/>
            <a:ext cx="416052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1664208"/>
            <a:ext cx="365760" cy="27432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size_model by ratios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2331720"/>
            <a:ext cx="123444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0024" y="2377440"/>
            <a:ext cx="1124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66760" y="2331720"/>
            <a:ext cx="123444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377440"/>
            <a:ext cx="1124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2788920"/>
            <a:ext cx="123444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0024" y="2834640"/>
            <a:ext cx="1124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66760" y="2788920"/>
            <a:ext cx="1234440" cy="38404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21624" y="2834640"/>
            <a:ext cx="1124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3246120"/>
            <a:ext cx="228600" cy="228600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3520440"/>
            <a:ext cx="416052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3611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sizes → write size_model + params to samples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4206240"/>
            <a:ext cx="4892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437083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YAML例（mix + per_sample）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754880"/>
            <a:ext cx="4434840" cy="17373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4846320"/>
            <a:ext cx="4160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size_models: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ratios: {gaussian: 0.6, lognormal: 0.2, weibull: 0.15, pareto: 0.05}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gaussian: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per_sample: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mean_um: {dist: uniform, low: 0.02, high: 0.8}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std_um:  {dist: uniform, low: 0.02, high: 0.1}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手法⑤ パターン重ね合わせ（compose）とマルチラベル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80644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composeとは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5303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生成済みのサンプルを複数選び、粒子点群を “重ね合わせ” て新しいサンプルを作る。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狙い: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現実に近い複合欠陥を再現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マルチラベル分類/検出を評価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生成パターンの合成で多様性を増やす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実装上は、粒子テーブルに component_* を付加し、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サンプル側には labels_fine を持たせる。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4800600"/>
            <a:ext cx="530352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9560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合成の概念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1618" y="5010912"/>
            <a:ext cx="1066283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54880" y="513892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（粒子集合PはK個のサンプル粒子集合の和集合）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29400" y="96012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0" y="11247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概念図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995160" y="1508760"/>
            <a:ext cx="196596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16002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(C03 Ring)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98280" y="1508760"/>
            <a:ext cx="1965960" cy="868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8280" y="16002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(C07 Line)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66760" y="2468880"/>
            <a:ext cx="228600" cy="228600"/>
          </a:xfrm>
          <a:prstGeom prst="down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95160" y="2788920"/>
            <a:ext cx="4069080" cy="1234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5160" y="288036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sample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labels_fine=[C03,C07]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particles: union + component_*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29400" y="4434840"/>
            <a:ext cx="4892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58000" y="459943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追加される列（compose時）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858000" y="4937760"/>
            <a:ext cx="443484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31152" y="50109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699248" y="5010912"/>
            <a:ext cx="1856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646920" y="501091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858000" y="5303520"/>
            <a:ext cx="4434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31152" y="5440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699248" y="5440680"/>
            <a:ext cx="1856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component_id / component_label_fine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646920" y="5440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合成元の追跡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858000" y="5806440"/>
            <a:ext cx="4434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31152" y="5943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699248" y="5943600"/>
            <a:ext cx="1856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labels_fine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46920" y="5943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マルチラベル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品質保証: doctor / QC / coverage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80644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品質ゲートの役割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44068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600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何をする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039112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221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doctor（事前）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221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設定の妥当性検証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221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範囲逆転/未定義dist/必須欠損をFAIL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2660904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28437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qc（事後）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8437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生成統計の可視化/保存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8437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size統計, n_particles, 半径分布など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3282696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4655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pattern_coverage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4655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ラベル偏り/欠落検知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4655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出現率・共起・分割ごとの偏り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4160520"/>
            <a:ext cx="54406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297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QCで保存する代表統計（例）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4645152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size_mean / size_std / percentiles (P50/P90/P99)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skewness / kurtosis（重尾の強さ）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n_particles 分布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r分布（エッジ偏り）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coverage / co-occurrence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960120"/>
            <a:ext cx="489204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11247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ラベル出現数（ダミー）</a:t>
            </a:r>
            <a:endParaRPr lang="en-US" sz="14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903720" y="1417320"/>
          <a:ext cx="44348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7"/>
          <p:cNvSpPr/>
          <p:nvPr/>
        </p:nvSpPr>
        <p:spPr>
          <a:xfrm>
            <a:off x="6903720" y="57150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実際は pattern_coverage / export の集計を利用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使い方（ベンチマーク生成の実行例）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80644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設定の重なり（Hydra）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設定は “積み木” のように合成される。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domain → patterns → size_models → benchmarks → overrides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240280"/>
            <a:ext cx="525780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36829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wafer_particles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2834640"/>
            <a:ext cx="52578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96265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patterns: C/K/O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3429000"/>
            <a:ext cx="52578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55701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size_models: (mix/per_sample)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525780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15137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macro10_300mm_1k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4617720"/>
            <a:ext cx="5257800" cy="502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74573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overrides: seed=42 ...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960120"/>
            <a:ext cx="489204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1247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実行コマンド例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417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設定検証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03720" y="1737360"/>
            <a:ext cx="443484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8562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synthlab.cli.main process=doctor seed=1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377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ベンチ生成（例：macro10 + size_models mix）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03720" y="2697480"/>
            <a:ext cx="4434840" cy="96012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770632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synthlab.cli.main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--config-path conf/benchmarks/wafer_particles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--config-name benchmark_macro10_300mm_1k_generate_size_models_mix_param_sweep_v1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seed=42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0" y="3840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export（CSV + split 8:1:1）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03720" y="4160520"/>
            <a:ext cx="4434840" cy="86868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422452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synthlab.cli.main process=export \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wafer_particles.export.format=csv \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wafer_particles.export.split.ratios.train=8 \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wafer_particles.export.split.ratios.val=1 \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wafer_particles.export.split.ratios.test=1 \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wafer_particles.export.input_dir="runs/&lt;RUN&gt;"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949440" y="5166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まず *_smoke 設定（20件など）で動作確認してから1kを回す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9326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生成データのイメージ（パターン可視化）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0" y="155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09728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247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パターン例（縮小ギャラリー）</a:t>
            </a:r>
            <a:endParaRPr lang="en-US" sz="1400" dirty="0"/>
          </a:p>
        </p:txBody>
      </p:sp>
      <p:pic>
        <p:nvPicPr>
          <p:cNvPr id="8" name="Image 0" descr="/mnt/data/wafer_patterns_revised_at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845" y="1481328"/>
            <a:ext cx="5971270" cy="40050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5623560"/>
            <a:ext cx="1042416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57790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(1) パターン形状は param_space でサンプルごとに変動、(2) 粒径分布も per_sample / mix で変動、(3) 出力は点群CSV/Parquetなので学習・解析に直結。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1592</Words>
  <Application>Microsoft Macintosh PowerPoint</Application>
  <PresentationFormat>ワイド画面</PresentationFormat>
  <Paragraphs>254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kawahito</cp:lastModifiedBy>
  <cp:revision>1</cp:revision>
  <dcterms:created xsi:type="dcterms:W3CDTF">2026-01-16T03:44:04Z</dcterms:created>
  <dcterms:modified xsi:type="dcterms:W3CDTF">2026-03-03T23:30:10Z</dcterms:modified>
</cp:coreProperties>
</file>