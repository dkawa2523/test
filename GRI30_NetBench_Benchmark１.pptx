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Species</c:v>
                </c:pt>
                <c:pt idx="1">
                  <c:v>Reactions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4E-AA49-87D2-081B8FC2F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1.1000000000000001</c:v>
                </c:pt>
                <c:pt idx="2">
                  <c:v>1.2</c:v>
                </c:pt>
                <c:pt idx="3">
                  <c:v>2.2000000000000002</c:v>
                </c:pt>
                <c:pt idx="4">
                  <c:v>3</c:v>
                </c:pt>
                <c:pt idx="5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3C-F243-B1F3-0E6BC9E55A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OH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</c:v>
                </c:pt>
                <c:pt idx="1">
                  <c:v>0.03</c:v>
                </c:pt>
                <c:pt idx="2">
                  <c:v>0.06</c:v>
                </c:pt>
                <c:pt idx="3">
                  <c:v>0.25</c:v>
                </c:pt>
                <c:pt idx="4">
                  <c:v>0.12</c:v>
                </c:pt>
                <c:pt idx="5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3C-F243-B1F3-0E6BC9E55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ROP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R12</c:v>
                </c:pt>
                <c:pt idx="1">
                  <c:v>R45</c:v>
                </c:pt>
                <c:pt idx="2">
                  <c:v>R8</c:v>
                </c:pt>
                <c:pt idx="3">
                  <c:v>R101</c:v>
                </c:pt>
                <c:pt idx="4">
                  <c:v>R2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0.72</c:v>
                </c:pt>
                <c:pt idx="2">
                  <c:v>0.55000000000000004</c:v>
                </c:pt>
                <c:pt idx="3">
                  <c:v>0.33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34-2B4E-8AC8-47237E076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R45</c:v>
                </c:pt>
                <c:pt idx="1">
                  <c:v>R12</c:v>
                </c:pt>
                <c:pt idx="2">
                  <c:v>R8</c:v>
                </c:pt>
                <c:pt idx="3">
                  <c:v>R101</c:v>
                </c:pt>
                <c:pt idx="4">
                  <c:v>R2</c:v>
                </c:pt>
                <c:pt idx="5">
                  <c:v>R77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0.85</c:v>
                </c:pt>
                <c:pt idx="2">
                  <c:v>0.62</c:v>
                </c:pt>
                <c:pt idx="3">
                  <c:v>0.44</c:v>
                </c:pt>
                <c:pt idx="4">
                  <c:v>0.3</c:v>
                </c:pt>
                <c:pt idx="5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1F-854A-B82F-530B2E6BD0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1.05</c:v>
                </c:pt>
                <c:pt idx="2">
                  <c:v>1.1000000000000001</c:v>
                </c:pt>
                <c:pt idx="3">
                  <c:v>2.25</c:v>
                </c:pt>
                <c:pt idx="4">
                  <c:v>3</c:v>
                </c:pt>
                <c:pt idx="5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7E-C446-8109-C5718CAA04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Reduced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1.05</c:v>
                </c:pt>
                <c:pt idx="2">
                  <c:v>1.1200000000000001</c:v>
                </c:pt>
                <c:pt idx="3">
                  <c:v>2.15</c:v>
                </c:pt>
                <c:pt idx="4">
                  <c:v>2.92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7E-C446-8109-C5718CAA04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99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https://commons.wikimedia.org/wiki/File:Flames.jpg
- https://commons.wikimedia.org/wiki/File:Methane-3D-balls.png
- https://commons.wikimedia.org/wiki/File:WikiProject_Chemistry-Network.png
- https://commons.wikimedia.org/wiki/File:Clean_room.jpg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https://commons.wikimedia.org/wiki/File:Clean_room.jpg
- https://commons.wikimedia.org/wiki/File:Methane-3D-balls.png
- https://cantera.org/2.5/sphinx/html/matlab/importing.html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https://commons.wikimedia.org/wiki/File:Cstr.png
- https://cantera.org/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https://cantera.org/2.5/sphinx/html/matlab/importing.html
- https://commons.wikimedia.org/wiki/File:Sample-network-diagram.png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https://commons.wikimedia.org/wiki/File:Methane-3D-balls.png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https://commons.wikimedia.org/wiki/File:Sample-network-diagram.png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https://commons.wikimedia.org/wiki/File:Ic-photo-Microchip--PIC16C55-RC_P--(PIC16-MCU).jpg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https://commons.wikimedia.org/wiki/File:ReactionNetwork.png
- https://cantera.org/2.5/sphinx/html/matlab/importing.html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https://www.sciencedirect.com/science/article/abs/pii/S0360319919331830
- https://commons.wikimedia.org/wiki/File:WikiProject_Chemistry-Network.png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（外部ソースなし：本スライドの図/数値例は自作の概念図）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1/30</a:t>
            </a:r>
            <a:endParaRPr lang="en-US" sz="1000" dirty="0"/>
          </a:p>
        </p:txBody>
      </p:sp>
      <p:pic>
        <p:nvPicPr>
          <p:cNvPr id="3" name="Image 0" descr="/mnt/data/assets/flames.jpg"/>
          <p:cNvPicPr>
            <a:picLocks noChangeAspect="1"/>
          </p:cNvPicPr>
          <p:nvPr/>
        </p:nvPicPr>
        <p:blipFill>
          <a:blip r:embed="rId3"/>
          <a:srcRect t="3150" b="315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737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GRI30 NetBench（325反応）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 × 縮退 × データ同化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目的：Cantera自動実行で「解析基盤の有用性」を第三者が追試できる形で評価</a:t>
            </a:r>
            <a:endParaRPr lang="en-US" sz="1600" dirty="0"/>
          </a:p>
        </p:txBody>
      </p:sp>
      <p:pic>
        <p:nvPicPr>
          <p:cNvPr id="7" name="Image 1" descr="/mnt/data/assets/meth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93" y="3977640"/>
            <a:ext cx="1632453" cy="1645920"/>
          </a:xfrm>
          <a:prstGeom prst="rect">
            <a:avLst/>
          </a:prstGeom>
        </p:spPr>
      </p:pic>
      <p:pic>
        <p:nvPicPr>
          <p:cNvPr id="8" name="Image 2" descr="/mnt/data/assets/force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951" y="3977640"/>
            <a:ext cx="2117697" cy="1645920"/>
          </a:xfrm>
          <a:prstGeom prst="rect">
            <a:avLst/>
          </a:prstGeom>
        </p:spPr>
      </p:pic>
      <p:pic>
        <p:nvPicPr>
          <p:cNvPr id="9" name="Image 3" descr="/mnt/data/assets/cleanroom.jpg"/>
          <p:cNvPicPr>
            <a:picLocks noChangeAspect="1"/>
          </p:cNvPicPr>
          <p:nvPr/>
        </p:nvPicPr>
        <p:blipFill>
          <a:blip r:embed="rId6"/>
          <a:srcRect t="31573" b="31573"/>
          <a:stretch/>
        </p:blipFill>
        <p:spPr>
          <a:xfrm>
            <a:off x="5669280" y="3977640"/>
            <a:ext cx="57607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本スライドで説明すること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MLに詳しくないシミュレーションエンジニア向け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問題設定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GRI30（53種/325反応）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0D点火（時間応答）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多条件スイープ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07738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6338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0698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解析対象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特徴量/重要度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縮退（簡略化）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6837" y="1417320"/>
            <a:ext cx="357621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5437" y="1645920"/>
            <a:ext cx="502920" cy="502920"/>
          </a:xfrm>
          <a:prstGeom prst="ellipse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9797" y="1618488"/>
            <a:ext cx="2570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逆問題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377440"/>
            <a:ext cx="307329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同化（観測→係数）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最適化（比較枠）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自動検証・レポート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従来の課題：反応は「独立なつまみ」ではない</a:t>
            </a:r>
            <a:endParaRPr lang="en-US" sz="2800" dirty="0"/>
          </a:p>
        </p:txBody>
      </p:sp>
      <p:pic>
        <p:nvPicPr>
          <p:cNvPr id="4" name="Image 0" descr="/mnt/data/assets/force_network.png"/>
          <p:cNvPicPr>
            <a:picLocks noChangeAspect="1"/>
          </p:cNvPicPr>
          <p:nvPr/>
        </p:nvPicPr>
        <p:blipFill>
          <a:blip r:embed="rId3"/>
          <a:srcRect l="9449" r="9449"/>
          <a:stretch/>
        </p:blipFill>
        <p:spPr>
          <a:xfrm>
            <a:off x="6492240" y="1325880"/>
            <a:ext cx="548640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25880"/>
            <a:ext cx="5486400" cy="52578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課題（半導体/燃焼に共通）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中間体（ラジカル等）を介して階層的に連鎖（分岐・合流）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循環（ループ）も多く、重要経路は条件で入れ替わる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係数を独立に最適化すると、整合性が崩れやすい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縮退も「関係を守る設計」がないと破綻しやすい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669280" cy="20116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ネットワークを使うと…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983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反応↔分子の関係（グラフ/行列）を制約・正則化に利用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縮退→再実行→合否判定を自動ループ化できる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NetBenchは半導体向け課題の「縮小模型」</a:t>
            </a:r>
            <a:endParaRPr lang="en-US" sz="2800" dirty="0"/>
          </a:p>
        </p:txBody>
      </p:sp>
      <p:pic>
        <p:nvPicPr>
          <p:cNvPr id="4" name="Image 0" descr="/mnt/data/assets/cleanroom.jpg"/>
          <p:cNvPicPr>
            <a:picLocks noChangeAspect="1"/>
          </p:cNvPicPr>
          <p:nvPr/>
        </p:nvPicPr>
        <p:blipFill>
          <a:blip r:embed="rId3"/>
          <a:srcRect l="10226" r="10226"/>
          <a:stretch/>
        </p:blipFill>
        <p:spPr>
          <a:xfrm>
            <a:off x="548640" y="1371600"/>
            <a:ext cx="539496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394960" cy="525780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371600"/>
            <a:ext cx="54864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対応づけ（例）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3816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1131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半導体（実課題）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875520" y="1874520"/>
            <a:ext cx="1737360" cy="61264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48672" y="192938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NetBench（例題）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ガス相+表面（巨大）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875520" y="2487168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48672" y="2542032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ガス相（325反応）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3816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膜厚/占有率/組成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75520" y="3099816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48672" y="31546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点火遅れ/温度/生成物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逆問題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3816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1131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係数同化/最適化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875520" y="3712464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48672" y="376732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同じ構造（x→y）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13816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1131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経路削除/集約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875520" y="4325112"/>
            <a:ext cx="1737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48672" y="4379976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縮退→再実行で評価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0" y="5074920"/>
            <a:ext cx="5212080" cy="15544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39" name="Image 1" descr="/mnt/data/assets/metha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4727" y="5257800"/>
            <a:ext cx="816227" cy="82296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537960" y="5166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燃焼ベンチは「機構が公開」「実行が速い」ため、基盤検証に向く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基盤が固まれば、半導体モデルへ置換して同じベンチで検証できる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問題設定：0D点火（時間応答）× 多条件スイープ</a:t>
            </a:r>
            <a:endParaRPr lang="en-US" sz="2800" dirty="0"/>
          </a:p>
        </p:txBody>
      </p:sp>
      <p:pic>
        <p:nvPicPr>
          <p:cNvPr id="4" name="Image 0" descr="/mnt/data/assets/c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191"/>
            <a:ext cx="4754880" cy="37716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4754880" cy="384048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508760"/>
            <a:ext cx="6126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入力（スイープ例）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0" y="19202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T₀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P₀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当量比 φ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希釈率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反応器条件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1540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出力（QoI例）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 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T(t), Y(t)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CO/CO₂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77840" y="3886200"/>
            <a:ext cx="6126480" cy="26974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977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自動実行パイプライン（例）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60720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3872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条件生成(Hydra)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57416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58584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31736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56448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出力保存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53144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54312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27464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解析(グラフ)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351008" y="460674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52176" y="4343400"/>
            <a:ext cx="96926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25328" y="44531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反応機構：GRI-Mech 3.0（53種・325反応）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/mnt/data/assets/sample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83724"/>
            <a:ext cx="5486400" cy="257615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508760"/>
            <a:ext cx="5486400" cy="292608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4617720"/>
            <a:ext cx="1109441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47091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なぜ中規模（325反応）を選ぶか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5074920"/>
            <a:ext cx="5364328" cy="35433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512978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5848" y="5074920"/>
            <a:ext cx="5364328" cy="35433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69000" y="512978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542925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" y="548411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構造が出る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5848" y="542925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9000" y="548411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階層/循環が表れ、ネットワーク手法の差が出る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578358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4672" y="583844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実行が速い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95848" y="578358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69000" y="583844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多条件・多反復（縮退/同化）を回せる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1520" y="613791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4672" y="619277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公開・再現性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95848" y="6137910"/>
            <a:ext cx="536432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69000" y="6192774"/>
            <a:ext cx="5218024" cy="244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第三者が同じ入力で追試できる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想定ガス・分子：CH₄/空気系とラジカル連鎖</a:t>
            </a:r>
            <a:endParaRPr lang="en-US" sz="2800" dirty="0"/>
          </a:p>
        </p:txBody>
      </p:sp>
      <p:pic>
        <p:nvPicPr>
          <p:cNvPr id="4" name="Image 0" descr="/mnt/data/assets/meth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03" y="1508760"/>
            <a:ext cx="3627674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3657600" cy="365760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1508760"/>
            <a:ext cx="7132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600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代表種（例）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1040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355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例（抜粋）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65920" y="1965960"/>
            <a:ext cx="2255520" cy="502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9072" y="202082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役割（概念）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安定分子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1040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355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O₂, N₂, H₂O, CO₂, CO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65920" y="246888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9072" y="252374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熱収支・最終生成物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燃料/中間体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01040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355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CH₄, CH₃, CH₂O, HCO…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265920" y="297180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39072" y="302666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経路の分岐点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1040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8355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H, O, OH, HO₂…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265920" y="3474720"/>
            <a:ext cx="2255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39072" y="3529584"/>
            <a:ext cx="2109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連鎖反応を駆動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4206240"/>
            <a:ext cx="6766560" cy="23774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92040" y="42976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ネットワーク視点で重要になる点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892040" y="46177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小さな反応でも「循環維持」に重要な場合がある（閾値縮退が危険）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ラジカル経路は条件で入れ替わる → 多条件での集約が必要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反応ネットワーク構築：反応式↔分子をグラフ/行列に変換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2部グラフ（概念）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88036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00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65760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67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43484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44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5212080"/>
            <a:ext cx="1463040" cy="50292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321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H₂O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49174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6014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326898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3787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404622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1559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4823460"/>
            <a:ext cx="1188720" cy="502920"/>
          </a:xfrm>
          <a:prstGeom prst="rect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9331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2359152"/>
            <a:ext cx="1280160" cy="3886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136392"/>
            <a:ext cx="1280160" cy="3886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391363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69087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546811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4348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4526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行列表現（例）S/A/L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83680" y="48920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S（化学量論）/ A（隣接）/ L（ラプラシアン）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重要度・制約・正則化に利用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287000" y="4892040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433304" y="4892040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579608" y="4892040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725912" y="4892040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872216" y="4892040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018520" y="4892040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164824" y="4892040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87000" y="5038344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33304" y="5038344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579608" y="5038344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725912" y="5038344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872216" y="5038344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018520" y="5038344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164824" y="5038344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287000" y="5184648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433304" y="5184648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579608" y="5184648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725912" y="5184648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872216" y="5184648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018520" y="5184648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164824" y="5184648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287000" y="5330952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433304" y="5330952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79608" y="5330952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725912" y="5330952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872216" y="5330952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1018520" y="5330952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1164824" y="5330952"/>
            <a:ext cx="146304" cy="146304"/>
          </a:xfrm>
          <a:prstGeom prst="rect">
            <a:avLst/>
          </a:prstGeom>
          <a:solidFill>
            <a:srgbClr val="8989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287000" y="5477256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433304" y="5477256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79608" y="5477256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725912" y="5477256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872216" y="5477256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1018520" y="5477256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164824" y="5477256"/>
            <a:ext cx="146304" cy="146304"/>
          </a:xfrm>
          <a:prstGeom prst="rect">
            <a:avLst/>
          </a:prstGeom>
          <a:solidFill>
            <a:srgbClr val="ADA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287000" y="5623560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433304" y="5623560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579608" y="5623560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725912" y="5623560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872216" y="5623560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1018520" y="5623560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1164824" y="5623560"/>
            <a:ext cx="146304" cy="146304"/>
          </a:xfrm>
          <a:prstGeom prst="rect">
            <a:avLst/>
          </a:prstGeom>
          <a:solidFill>
            <a:srgbClr val="D1D1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287000" y="5769864"/>
            <a:ext cx="146304" cy="146304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433304" y="5769864"/>
            <a:ext cx="146304" cy="146304"/>
          </a:xfrm>
          <a:prstGeom prst="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579608" y="5769864"/>
            <a:ext cx="146304" cy="146304"/>
          </a:xfrm>
          <a:prstGeom prst="rect">
            <a:avLst/>
          </a:prstGeom>
          <a:solidFill>
            <a:srgbClr val="9595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0725912" y="5769864"/>
            <a:ext cx="146304" cy="146304"/>
          </a:xfrm>
          <a:prstGeom prst="rect">
            <a:avLst/>
          </a:prstGeom>
          <a:solidFill>
            <a:srgbClr val="E9E9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0872216" y="5769864"/>
            <a:ext cx="146304" cy="146304"/>
          </a:xfrm>
          <a:prstGeom prst="rect">
            <a:avLst/>
          </a:prstGeom>
          <a:solidFill>
            <a:srgbClr val="C5C5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1018520" y="5769864"/>
            <a:ext cx="146304" cy="146304"/>
          </a:xfrm>
          <a:prstGeom prst="rect">
            <a:avLst/>
          </a:prstGeom>
          <a:solidFill>
            <a:srgbClr val="A1A1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164824" y="5769864"/>
            <a:ext cx="146304" cy="146304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ベンチ出力：時系列＋ROP＋ネットワーク（時間変化）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4173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343400"/>
            <a:ext cx="1109441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4348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保存アーティファクト（例）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1520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07738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0890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主な内容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83957" y="4800600"/>
            <a:ext cx="3576218" cy="43434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57109" y="485546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07738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0890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T/Y(t), ROP(</a:t>
            </a:r>
            <a:r>
              <a:rPr lang="en-US" sz="1100" dirty="0" err="1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</a:t>
            </a: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), rate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83957" y="523494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57109" y="528980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再現/学習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307738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80890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S/A/L, weights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883957" y="566928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57109" y="572414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縮退/制約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31520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04672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307738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80890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条件, seed, version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883957" y="6103620"/>
            <a:ext cx="3576218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957109" y="6158484"/>
            <a:ext cx="3429914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比較/監査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特徴量化：全出力を「目的に効く少数表現」に圧縮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特徴量の例（用途別）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2011680" cy="7467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836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主用途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時系列要約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ピーク/立上り/積分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7556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63042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同化/最適化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ROP要約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Top-K寄与/累積寄与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232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37718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縮退/解釈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ネットワーク指標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中心性/SCC/クラスタ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06908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2394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縮退/制約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∂QoI/∂log 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81584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87070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パラメータ選択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Top-K安定性/順位相関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5562600"/>
            <a:ext cx="2011680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5617464"/>
            <a:ext cx="1865376" cy="637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頑健性評価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315200" y="4434840"/>
            <a:ext cx="4846320" cy="219456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98080" y="4526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使い分けの基本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9808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7123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47420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67537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4852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65149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5266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2581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828782" y="512612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029950" y="4892040"/>
            <a:ext cx="94869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103102" y="5001768"/>
            <a:ext cx="8023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543800" y="5715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最終判定は「再実行でQoIが保てるか」</a:t>
            </a:r>
            <a:endParaRPr lang="en-US" sz="1600" dirty="0"/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18A11DB7-A069-381D-93A1-329B52F5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600200"/>
            <a:ext cx="4836153" cy="2687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感度解析ベンチ：どの反応係数がQoIに効くか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760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評価したいポイント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19202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感度順位は条件で入れ替わる → 複数条件で集約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感度上位だけを動かすとネットワーク整合性が崩れる場合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グラフ制約（例：L正則化）で安定化できるかを比較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0" y="4069080"/>
            <a:ext cx="5486400" cy="251460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084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同化/縮退とつなぐ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20840" y="4480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感度→推定対象の絞り込み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感度→縮退候補の提案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同化後→再実行で妥当性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縮退ベンチのゴール：小さくしてもQoIを守る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縮退レベル（概念）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4389120" cy="777240"/>
          </a:xfrm>
          <a:prstGeom prst="trapezoid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57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325反応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2880360"/>
            <a:ext cx="3566160" cy="777240"/>
          </a:xfrm>
          <a:prstGeom prst="trapezoid">
            <a:avLst/>
          </a:prstGeom>
          <a:solidFill>
            <a:srgbClr val="FFF7E6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閾値/指標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3840480"/>
            <a:ext cx="2743200" cy="777240"/>
          </a:xfrm>
          <a:prstGeom prst="trapezoid">
            <a:avLst/>
          </a:prstGeom>
          <a:solidFill>
            <a:srgbClr val="DCFCE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~100反応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4800600"/>
            <a:ext cx="1920240" cy="777240"/>
          </a:xfrm>
          <a:prstGeom prst="trapezoid">
            <a:avLst/>
          </a:prstGeom>
          <a:solidFill>
            <a:srgbClr val="E5E7EB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~30反応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計算コスト↓ / 解釈性↑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合格基準（例）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0" y="1828800"/>
            <a:ext cx="1828800" cy="512064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14432" y="188366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合格ライン例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QoI誤差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τ_ign, CO₂_final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0" y="234086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14432" y="239572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相対誤差&lt;5%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条件汎化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テスト条件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0" y="2852928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4432" y="2907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破綻率&lt;1%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総walltime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41280" y="336499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341985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Full比で大幅減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整合性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連結性/ループ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41280" y="3877056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14432" y="393192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断裂を避ける</a:t>
            </a:r>
            <a:endParaRPr lang="en-US" sz="1100" dirty="0"/>
          </a:p>
        </p:txBody>
      </p:sp>
      <p:pic>
        <p:nvPicPr>
          <p:cNvPr id="47" name="Image 0" descr="/mnt/data/assets/reacti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253" y="4617720"/>
            <a:ext cx="2459255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縮退手法A（ベースライン）：ROP閾値→再実行で妥当性確認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34641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5809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8961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21810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978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6130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ROP集計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8980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3300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閾値削除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96149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7317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0469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3318" y="1680667"/>
            <a:ext cx="173736" cy="29626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4486" y="1417320"/>
            <a:ext cx="165856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7638" y="1527048"/>
            <a:ext cx="151226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QoI評価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2423160"/>
            <a:ext cx="5669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 / デメリット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2880360"/>
            <a:ext cx="2651760" cy="6400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2" y="29352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0" y="2880360"/>
            <a:ext cx="2651760" cy="6400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00032" y="29352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75120" y="35204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48272" y="357530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実装容易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326880" y="352044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0032" y="357530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最初のベースラインに最適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675120" y="41605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48272" y="421538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条件依存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326880" y="41605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00032" y="421538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重要反応が入れ替わる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75120" y="48006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48272" y="485546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循環に弱い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26880" y="48006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400032" y="485546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小反応でもループ維持に重要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675120" y="54406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48272" y="549554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目的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326880" y="54406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00032" y="549554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グラフ制約縮退が優れるか比較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縮退手法B：グラフ指標で「骨格」を残す（中心性/SCC/クラスタ）</a:t>
            </a:r>
            <a:endParaRPr lang="en-US" sz="2800" dirty="0"/>
          </a:p>
        </p:txBody>
      </p:sp>
      <p:pic>
        <p:nvPicPr>
          <p:cNvPr id="4" name="Image 0" descr="/mnt/data/assets/force_network.png"/>
          <p:cNvPicPr>
            <a:picLocks noChangeAspect="1"/>
          </p:cNvPicPr>
          <p:nvPr/>
        </p:nvPicPr>
        <p:blipFill>
          <a:blip r:embed="rId3"/>
          <a:srcRect t="10571" b="10571"/>
          <a:stretch/>
        </p:blipFill>
        <p:spPr>
          <a:xfrm>
            <a:off x="548640" y="1417320"/>
            <a:ext cx="56692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669280" cy="3474720"/>
          </a:xfrm>
          <a:prstGeom prst="rect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029200"/>
            <a:ext cx="5669280" cy="16459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中心性の高いノード/エッジを保持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SCC（循環）を壊さない制約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多条件集約した重みを使う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手順（例）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29400" y="196596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グラフ構築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32520" y="196596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反応↔分子 / 重み=ROP等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260604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629400" y="283464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指標計算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32520" y="283464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396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中心性・SCC・コミュニティ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347472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629400" y="370332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保持集合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370332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2396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骨格反応/種を選ぶ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434340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629400" y="457200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縮退生成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732520" y="457200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2396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残す/集約/削る（ルール化）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635240" y="5212080"/>
            <a:ext cx="0" cy="22860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629400" y="5440680"/>
            <a:ext cx="2011680" cy="640080"/>
          </a:xfrm>
          <a:prstGeom prst="roundRect">
            <a:avLst/>
          </a:prstGeom>
          <a:solidFill>
            <a:srgbClr val="E8F6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5623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自動検証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732520" y="544068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2396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再実行でQoI誤差判定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既存縮退（DRG/DRGEP+感度）との比較ができる枠組みにする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7607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典型フロー（概念）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09928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1096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関係度グラフ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98064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誤差伝搬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86200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87368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74336" y="2291486"/>
            <a:ext cx="173736" cy="263347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5504" y="2057400"/>
            <a:ext cx="859536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2167128"/>
            <a:ext cx="713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感度仕上げ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1417320"/>
            <a:ext cx="5760720" cy="525780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NetBenchでの位置づけ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568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124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56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241280" y="1874520"/>
            <a:ext cx="1828800" cy="73152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14432" y="192938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5836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568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ROP閾値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4124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856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最速・最小実装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241280" y="26060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314432" y="266090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条件依存/断裂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5836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568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DRG/DRGEP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4124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856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誤差制御の考え方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241280" y="333756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314432" y="339242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実装がやや複雑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5836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568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グラフ制約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4124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856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連結性/循環を維持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241280" y="406908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314432" y="4123944"/>
            <a:ext cx="16824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設計自由度が高い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629400" y="4937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同一の自動検証ループで比較する（手法差し替え）</a:t>
            </a:r>
            <a:endParaRPr lang="en-US" sz="1600" dirty="0"/>
          </a:p>
        </p:txBody>
      </p:sp>
      <p:pic>
        <p:nvPicPr>
          <p:cNvPr id="48" name="Image 0" descr="/mnt/data/assets/force_network.png">
            <a:extLst>
              <a:ext uri="{FF2B5EF4-FFF2-40B4-BE49-F238E27FC236}">
                <a16:creationId xmlns:a16="http://schemas.microsoft.com/office/drawing/2014/main" id="{93531E35-29B9-68CC-C61E-BA5BA4CA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71" b="10571"/>
          <a:stretch/>
        </p:blipFill>
        <p:spPr>
          <a:xfrm>
            <a:off x="548640" y="2971800"/>
            <a:ext cx="56692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18/30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縮退の妥当性評価：縮退→再実行→誤差判定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417320"/>
            <a:ext cx="53949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合否判定（例）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494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25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258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89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302240" y="1874520"/>
            <a:ext cx="1676400" cy="475488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75392" y="1929384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25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点火遅れ 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258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989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±5%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302240" y="2350008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75392" y="2404872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代表QoI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494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225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主要種誤差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258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989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≤1e-3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302240" y="2825496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75392" y="2880360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Y(t)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494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225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温度ピーク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258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989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±10K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302240" y="3300984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75392" y="3355848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熱収支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494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225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失敗率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6258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989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&lt;1%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302240" y="3776472"/>
            <a:ext cx="167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75392" y="3831336"/>
            <a:ext cx="1530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収束/負値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49440" y="4434840"/>
            <a:ext cx="5029200" cy="2240280"/>
          </a:xfrm>
          <a:prstGeom prst="rect">
            <a:avLst/>
          </a:prstGeom>
          <a:solidFill>
            <a:srgbClr val="F3F5F7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縮退の良し悪しは再実行で初めて分かる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だから評価まで自動化するのが核心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1435</Words>
  <Application>Microsoft Macintosh PowerPoint</Application>
  <PresentationFormat>ワイド画面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rxn-netbench</dc:creator>
  <cp:lastModifiedBy>kawahito</cp:lastModifiedBy>
  <cp:revision>4</cp:revision>
  <dcterms:created xsi:type="dcterms:W3CDTF">2026-01-29T01:48:38Z</dcterms:created>
  <dcterms:modified xsi:type="dcterms:W3CDTF">2026-01-29T03:47:49Z</dcterms:modified>
</cp:coreProperties>
</file>