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f_I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0.2</c:v>
                </c:pt>
                <c:pt idx="2">
                  <c:v>0.5</c:v>
                </c:pt>
                <c:pt idx="3">
                  <c:v>1</c:v>
                </c:pt>
                <c:pt idx="4">
                  <c:v>2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0.83333333333333337</c:v>
                </c:pt>
                <c:pt idx="2">
                  <c:v>0.66666666666666663</c:v>
                </c:pt>
                <c:pt idx="3">
                  <c:v>0.5</c:v>
                </c:pt>
                <c:pt idx="4">
                  <c:v>0.33333333333333331</c:v>
                </c:pt>
                <c:pt idx="5">
                  <c:v>0.16666666666666666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36-C640-B14A-CAB8E78EC8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CsB/CrefB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0.01</c:v>
                </c:pt>
                <c:pt idx="1">
                  <c:v>0.1</c:v>
                </c:pt>
                <c:pt idx="2">
                  <c:v>1</c:v>
                </c:pt>
                <c:pt idx="3">
                  <c:v>10</c:v>
                </c:pt>
                <c:pt idx="4">
                  <c:v>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0.99009900990099009</c:v>
                </c:pt>
                <c:pt idx="1">
                  <c:v>0.90909090909090906</c:v>
                </c:pt>
                <c:pt idx="2">
                  <c:v>0.5</c:v>
                </c:pt>
                <c:pt idx="3">
                  <c:v>9.0909090909090912E-2</c:v>
                </c:pt>
                <c:pt idx="4">
                  <c:v>9.9009900990099011E-3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C3-3C44-8248-2C49217D6B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h(r)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  <c:pt idx="4">
                  <c:v>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102</c:v>
                </c:pt>
                <c:pt idx="2">
                  <c:v>105</c:v>
                </c:pt>
                <c:pt idx="3">
                  <c:v>103</c:v>
                </c:pt>
                <c:pt idx="4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30-FA44-8754-61737FDA7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explicit (clip前)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</c:v>
                </c:pt>
                <c:pt idx="1">
                  <c:v>0.6</c:v>
                </c:pt>
                <c:pt idx="2">
                  <c:v>1.2</c:v>
                </c:pt>
                <c:pt idx="3">
                  <c:v>1.5</c:v>
                </c:pt>
                <c:pt idx="4">
                  <c:v>1.4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82-AD42-A044-4EB195D281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implicit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</c:v>
                </c:pt>
                <c:pt idx="1">
                  <c:v>0.45</c:v>
                </c:pt>
                <c:pt idx="2">
                  <c:v>0.72</c:v>
                </c:pt>
                <c:pt idx="3">
                  <c:v>0.85</c:v>
                </c:pt>
                <c:pt idx="4">
                  <c:v>0.92</c:v>
                </c:pt>
                <c:pt idx="5">
                  <c:v>0.95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82-AD42-A044-4EB195D281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AI</c:v>
                </c:pt>
                <c:pt idx="2">
                  <c:v>AB</c:v>
                </c:pt>
                <c:pt idx="3">
                  <c:v>AIB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90</c:v>
                </c:pt>
                <c:pt idx="2">
                  <c:v>90</c:v>
                </c:pt>
                <c:pt idx="3">
                  <c:v>720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55-7341-BCA9-A4AD825423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602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https://commons.wikimedia.org/wiki/File:A_semiconductor_wafer_on_a_dicing_(blue)_tape._Few_chips_(dies)_from_the_wafer_have_already_been_picked_up_(removed)_for_further_manufacturing.png (CC BY-SA 4.0, wafer photo)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https://www.mks.com/n/lpcvd-systems (page source)
- https://www.mks.com/mam/celum/celum_assets/Figure_143-Semiconductor_Handbook_800w.jpg (CVD chamber schematic image)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https://commons.wikimedia.org/wiki/File:Wafermap_showing_fully_and_partially_patterned_dies.svg (CC BY-SA 3.0; PNG preview used)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https://doi.org/10.1063/1.1940727 (Puurunen 2005 ALD review; for ALD surface-coverage concepts and terminology)
- https://public.websites.umich.edu/~elements/5e/14chap/Fogler_Web_Ch14.pdf (reaction + mass transfer background)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https://public.websites.umich.edu/~elements/5e/14chap/Fogler_Web_Ch14.pdf (mass-transfer limitations and flux formulation background)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https://commons.wikimedia.org/wiki/File:Wafermap_showing_fully_and_partially_patterned_dies.svg (CC BY-SA 3.0; wafer grid image)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https://commons.wikimedia.org/wiki/File:Schematic_illustration_of_changes_with_time_during_three_ALD_reaction_cycles.png (CC BY 4.0; ALD cycle schematic)
- https://doi.org/10.1063/1.1940727 (Puurunen 2005; ALD cycle concepts referenced by the image author)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https://optuna.org/ (Optuna official documentation)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https://commons.wikimedia.org/wiki/File:Wafermap_showing_fully_and_partially_patterned_dies.svg (CC BY-SA 3.0; wafer grid)
- https://commons.wikimedia.org/wiki/File:Schematic_illustration_of_ALD_growth_modes.png (CC BY 4.0; ALD growth modes schematic)
- https://doi.org/10.1063/1.1940727 (Puurunen 2005; referenced by the growth-mode image author)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https://public.websites.umich.edu/~elements/5e/14chap/Fogler_Web_Ch14.pdf
- https://doi.org/10.1063/1.1940727
- https://commons.wikimedia.org/wiki/File:Schematic_illustration_of_changes_with_time_during_three_ALD_reaction_cycles.png
- https://commons.wikimedia.org/wiki/File:Schematic_illustration_of_ALD_growth_modes.png
- https://www.mks.com/mam/celum/celum_assets/Figure_143-Semiconductor_Handbook_800w.jpg
- https://commons.wikimedia.org/wiki/File:Wafermap_showing_fully_and_partially_patterned_dies.svg
- https://commons.wikimedia.org/wiki/File:A_semiconductor_wafer_on_a_dicing_(blue)_tape._Few_chips_(dies)_from_the_wafer_have_already_been_picked_up_(removed)_for_further_manufacturing.png
- https://optuna.org/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Reduced Surface Kinetics (AIB-ODE) によるウェハー膜厚分布予測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CFDで得られる z=z_ref の濃度・流速を入力に、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CVD(連続) / ALD(非定常) の膜厚2Dマップを推定する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「縮約表面反応運動論 + ロバストODE」基盤</a:t>
            </a:r>
            <a:endParaRPr lang="en-US" sz="1600" dirty="0"/>
          </a:p>
        </p:txBody>
      </p:sp>
      <p:pic>
        <p:nvPicPr>
          <p:cNvPr id="5" name="Image 0" descr="/mnt/data/img_wafer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625820"/>
            <a:ext cx="4297680" cy="424644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3063240"/>
            <a:ext cx="6583680" cy="32461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" y="3172968"/>
            <a:ext cx="6254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本スライドの焦点（理論・実装の核）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67512" y="3502152"/>
            <a:ext cx="6254496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" y="3566160"/>
            <a:ext cx="625449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反応種を A/I/B へ縮約（多species爆発を抑制）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AIB-ODE に統一：A/AI/AB/AIB は role の有無だけ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速度式は ODE 状態(θ_A)と代数閉包(C_s)で記述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反応次数は「整数・最大3次」制約で列挙（同定性を担保）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暗黙Euler + 二分法で θ∈[0,1] を保証（stiffに強い）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背景：CFDが与える情報の限界と、表面モデル化の必要性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943600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52728"/>
            <a:ext cx="5614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現場の制約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" y="1581912"/>
            <a:ext cx="5614416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45920"/>
            <a:ext cx="5614416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CFD/装置シミュレーション：ウェハ直上 z=z_ref の C_ref(x,y,t), |u|(x,y,t), T(x,y,t) まで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厳密な気相組成・表面素反応（活性種/被毒/脱離/表面再構成）は未知・非現実的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しかし実務では膜厚2Dマップに整合し、DOE/最適化に回せる“軽い前向きモデル”が必要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目的：入力(C_ref, u, T) から膜厚 h(x,y) を再現・外挿する縮約理論を作る</a:t>
            </a:r>
            <a:endParaRPr lang="en-US" sz="1600" dirty="0"/>
          </a:p>
        </p:txBody>
      </p:sp>
      <p:pic>
        <p:nvPicPr>
          <p:cNvPr id="8" name="Image 0" descr="/mnt/data/img_cvd_chamb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114" y="1234440"/>
            <a:ext cx="4287773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0" y="4389120"/>
            <a:ext cx="5120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448056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縮約の基本発想：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(1) 参照面 z_ref の濃度を“表面入力”として扱う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(2) 表面近傍濃度 C_s は、輸送抵抗(k_m)と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表面反応(吸着/脱離/反応)のバランスで決める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(3) 未知の化学詳細は “役割（A/I/B）” と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少数パラメータへ集約する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要求整理：現場導入で落ちる点 → 設計で潰す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11185855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325880"/>
            <a:ext cx="2314584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課題/難しさ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36960" y="1325880"/>
            <a:ext cx="2985735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63808" y="1280160"/>
            <a:ext cx="0" cy="498348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69000" y="1325880"/>
            <a:ext cx="5446624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設計上の工夫（本基盤）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48" y="1280160"/>
            <a:ext cx="0" cy="498348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1074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183892"/>
            <a:ext cx="2314584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化学が未知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36960" y="2183892"/>
            <a:ext cx="2985735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素反応・活性種が不明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69000" y="2183892"/>
            <a:ext cx="5446624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species→役割(A/I/B)へ縮約。unused species 許容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94132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014472"/>
            <a:ext cx="2314584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パラメータ爆発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36960" y="3014472"/>
            <a:ext cx="2985735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種×反応で自由度が増える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69000" y="3014472"/>
            <a:ext cx="5446624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I/Bは≤1・B次数0/1固定・次数は整数/最大3次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77190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845052"/>
            <a:ext cx="2314584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stiff/収束不安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36960" y="3845052"/>
            <a:ext cx="2985735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吸着/脱離で時間スケールが分離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69000" y="3845052"/>
            <a:ext cx="5446624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暗黙Euler + 二分法で θ∈[0,1]保証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60248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4675632"/>
            <a:ext cx="2314584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誤用リスク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36960" y="4675632"/>
            <a:ext cx="2985735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理論の混在（重複計上）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69000" y="4675632"/>
            <a:ext cx="5446624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Validatorで排他・制約（role disjoint, order制約）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543306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5506212"/>
            <a:ext cx="2314584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DOE/同化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36960" y="5506212"/>
            <a:ext cx="2985735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多数条件を自動探索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69000" y="5506212"/>
            <a:ext cx="5446624" cy="684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Optuna(TPE) + 条件付きパラメータ + class比較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635508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※「物理的妥当性 × 同定可能性 × 計算安定性」を同時に満たすため、選択肢を意図的に絞る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独自の工夫①：多species入力を「役割」へ縮約（A/I/B）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6126480" cy="5486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52728"/>
            <a:ext cx="579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role割当（方式A：本プロジェクト中核）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" y="1581912"/>
            <a:ext cx="5797296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45920"/>
            <a:ext cx="579729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入力：Fluent species ≤ 10（C_ref,i）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縮約：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 = 成膜/活性に寄与する代表種（必須・単一）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I = 阻害/被毒/サイト減少（None or 単一）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 = 共反応物/補助反応（None or 単一, 次数は0/1固定）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制約：A/I/Bは disjoint（同じ種を二重に解釈しない）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unused species は許容（役割不明のまま残せる）</a:t>
            </a:r>
            <a:endParaRPr lang="en-US" sz="1600" dirty="0"/>
          </a:p>
        </p:txBody>
      </p:sp>
      <p:pic>
        <p:nvPicPr>
          <p:cNvPr id="8" name="Image 0" descr="/mnt/data/img_wafermap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1600200"/>
            <a:ext cx="4206240" cy="4206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86600" y="1051560"/>
            <a:ext cx="45720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0" y="11155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C_ref(x,y,t,species) → [C_A, C_I, C_B]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03720" y="5989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3B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各点で同じODEを解く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AIB-ODE：支配方程式（ODE + 代数閉包）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731520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694944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状態変数：θ_A(x,y,t) ∈ [0,1]  （A種の被覆率）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補助：θ* = (1 − θ_A) / (1 + K_I C_I)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表面近傍濃度（代数閉包）：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C_{s,A} = (k_m,A C_A + Γ_s k_des θ_A) / (k_m,A + Γ_s k_ads θ*^{m_ads})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（Bあり：m_B=1 のとき）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C_{s,B} = (k_m,B C_B) / (k_m,B + Γ_s k_rxn θ_A^{p_A} θ*^{p*} / C_{B,scale})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イベント反応速度：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r_event = k_rxn θ_A^{p_A} θ*^{p*} (C_{s,B}/C_{B,scale})^{m_B}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ODE：dθ_A/dt = k_ads C_{s,A} θ*^{m_ads} − k_des θ_A − ν_A r_event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膜厚：dh/dt = α_h Γ_s r_event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143000"/>
            <a:ext cx="3639312" cy="5486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0" y="1234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依存関係（1点）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83880" y="1600200"/>
            <a:ext cx="3273552" cy="5029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164592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入力: C_A, C_I, C_B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(k_m, 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20656" y="2103120"/>
            <a:ext cx="0" cy="228600"/>
          </a:xfrm>
          <a:prstGeom prst="line">
            <a:avLst/>
          </a:prstGeom>
          <a:noFill/>
          <a:ln w="1905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83880" y="2331720"/>
            <a:ext cx="3273552" cy="5029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37744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θ* = (1−θ_A)/(1+K_I C_I)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20656" y="2834640"/>
            <a:ext cx="0" cy="228600"/>
          </a:xfrm>
          <a:prstGeom prst="line">
            <a:avLst/>
          </a:prstGeom>
          <a:noFill/>
          <a:ln w="1905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83880" y="3063240"/>
            <a:ext cx="3273552" cy="5029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310896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代数閉包: C_{s,A}, C_{s,B}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20656" y="3566160"/>
            <a:ext cx="0" cy="228600"/>
          </a:xfrm>
          <a:prstGeom prst="line">
            <a:avLst/>
          </a:prstGeom>
          <a:noFill/>
          <a:ln w="1905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83880" y="3794760"/>
            <a:ext cx="3273552" cy="5029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384048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r_event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20656" y="4297680"/>
            <a:ext cx="0" cy="228600"/>
          </a:xfrm>
          <a:prstGeom prst="line">
            <a:avLst/>
          </a:prstGeom>
          <a:noFill/>
          <a:ln w="1905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83880" y="4526280"/>
            <a:ext cx="3273552" cy="5029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457200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dθ_A/dt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820656" y="5029200"/>
            <a:ext cx="0" cy="228600"/>
          </a:xfrm>
          <a:prstGeom prst="line">
            <a:avLst/>
          </a:prstGeom>
          <a:noFill/>
          <a:ln w="1905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83880" y="5257800"/>
            <a:ext cx="3273552" cy="5029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5303520"/>
            <a:ext cx="3090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dh/dt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近似の要点：輸送−反応の整合を「代数閉包」で維持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6035040" cy="5486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52728"/>
            <a:ext cx="5705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 root 解法（TC結合）を捨てて良いのか？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" y="1581912"/>
            <a:ext cx="5705856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45920"/>
            <a:ext cx="570585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従来のTC結合は R を未知にして F(R)=0 を各点で解く（収束・多根の課題）。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AIB-ODEでは：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“表面サイトの収支” と “境界層物質移動” を同時に満たすように、C_s を代数的に解く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その結果、未知は θ_A だけ（ODEの状態）になり、解くべきrootが消える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利点：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多根/単調性破れの回避（運用事故を減らす）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DOE/同化で1ケース当たりが軽い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物理診断（φ_B, f_I, C_s/C_ref）が明確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66560" y="1325880"/>
            <a:ext cx="491947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417320"/>
            <a:ext cx="4645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模式図：z_ref → 表面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95160" y="2286000"/>
            <a:ext cx="4462272" cy="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1984248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B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 = z_ref  (CFD入力: C_ref)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5486400"/>
            <a:ext cx="4462272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5577840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(未知: θ_A, C_s)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0" y="2423160"/>
            <a:ext cx="0" cy="2926080"/>
          </a:xfrm>
          <a:prstGeom prst="line">
            <a:avLst/>
          </a:prstGeom>
          <a:noFill/>
          <a:ln w="38100">
            <a:solidFill>
              <a:srgbClr val="00B0F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406640" y="3657600"/>
            <a:ext cx="3639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J_A = k_m (C_ref − C_s)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0" y="4069080"/>
            <a:ext cx="38221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表面収支：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吸着 ⇄ 脱離  と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反応消費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86600" y="5852160"/>
            <a:ext cx="4279392" cy="64008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5943600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B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C_s を代数的に解いて ODEへ（未知のrootを消去）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阻害(I)の扱い：θ* と f_I = 1/(1+K_I C_I)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9436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52728"/>
            <a:ext cx="5614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近似の意味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" y="1581912"/>
            <a:ext cx="5614416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45920"/>
            <a:ext cx="56144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I種の役割が未知でも、サイト有効率を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f_I = 1/(1+K_I C_I) として吸収。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C_I が増えると空サイト(θ*)が減り、吸着・反応が抑制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“負の見かけ次数” をパラメータ K_I で表現（物理一貫）</a:t>
            </a:r>
            <a:endParaRPr lang="en-US" sz="16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583680" y="1188720"/>
          <a:ext cx="507492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3429000"/>
            <a:ext cx="11185855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520440"/>
            <a:ext cx="1072865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式への入り方：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θ* = (1−θ_A)/(1+K_I C_I)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C_{s,A} = (k_m,A C_A + Γ_s k_des θ_A) / (k_m,A + Γ_s k_ads θ*^{m_ads})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診断：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map(f_I) を出力 → “阻害が支配的な領域” を可視化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フィット結果の K_I が極端に大きい/小さい場合は role誤割当を疑う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B種（共反応物）の必要性評価：φ_B でレジーム判定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612648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52728"/>
            <a:ext cx="579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Bは常に必要か？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" y="1581912"/>
            <a:ext cx="5797296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45920"/>
            <a:ext cx="579729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Bは「可能性がある」ので常に候補に入れるが、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必要性はデータ同化で判定したい。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鍵：Bの表面近傍枯渇が効くかどうかを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φ_B = (Γ_s k_rxn θ_A^{p_A} θ*^{p*} / C_{B,scale}) / k_{m,B}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で可視化。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φ_B ≪ 1：Bは輸送十分 → Bの効果は小さい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φ_B ≫ 1：Bが枯渇 → Bありモデルが必要</a:t>
            </a:r>
            <a:endParaRPr lang="en-US" sz="16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720840" y="1188720"/>
          <a:ext cx="4919472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3794760"/>
            <a:ext cx="11185855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3840480"/>
            <a:ext cx="2314584" cy="605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036960" y="3840480"/>
            <a:ext cx="3433170" cy="605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目安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963808" y="3794760"/>
            <a:ext cx="0" cy="278892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16434" y="3840480"/>
            <a:ext cx="4999189" cy="6057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43282" y="3794760"/>
            <a:ext cx="0" cy="278892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49199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" y="4565142"/>
            <a:ext cx="2314584" cy="5509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Bなし(A/AI)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036960" y="4565142"/>
            <a:ext cx="3433170" cy="5509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fitでAB/AIBが改善しない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16434" y="4565142"/>
            <a:ext cx="4999189" cy="5509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m_B=0, 役割単純化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2920" y="518922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5262372"/>
            <a:ext cx="2314584" cy="5509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Bあり(AB/AIB)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036960" y="5262372"/>
            <a:ext cx="3433170" cy="5509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φ_B が局所的に≫1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16434" y="5262372"/>
            <a:ext cx="4999189" cy="5509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m_B=1固定、C_{B,scale}で正規化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2920" y="588645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5959602"/>
            <a:ext cx="2314584" cy="5509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過学習注意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036960" y="5959602"/>
            <a:ext cx="3433170" cy="5509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BありでK_I等が暴れる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616434" y="5959602"/>
            <a:ext cx="4999189" cy="5509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複雑さ罰則 + 物理診断で抑制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反応次数の扱い：整数次数・最大3次（同定性のための制約）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603504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52728"/>
            <a:ext cx="5705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なぜ離散列挙か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" y="1581912"/>
            <a:ext cx="5705856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45920"/>
            <a:ext cx="570585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連続次数(power-law)は「当たるが物理解釈が崩れる」ことが多い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本基盤は“役割が未知”という不確かさが大きい → さらに自由度を増やすべきでない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係数は連続（Optunaで最適化）、次数は離散（候補列挙）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合計次数 ≤ 3 を課して、物理解釈と同定性を担保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20840" y="1234440"/>
            <a:ext cx="491947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1280160"/>
            <a:ext cx="542422" cy="280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m_ads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82718" y="1280160"/>
            <a:ext cx="542422" cy="280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p_A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9566" y="1234440"/>
            <a:ext cx="0" cy="260604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71444" y="1280160"/>
            <a:ext cx="542422" cy="280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p*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98292" y="1234440"/>
            <a:ext cx="0" cy="260604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0170" y="1280160"/>
            <a:ext cx="1231148" cy="280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総次数 (Bなし)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787018" y="1234440"/>
            <a:ext cx="0" cy="260604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37622" y="1280160"/>
            <a:ext cx="1329538" cy="2808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総次数 (Bあり: +1)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164470" y="1234440"/>
            <a:ext cx="0" cy="260604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1606731"/>
            <a:ext cx="4919472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679883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82718" y="1679883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71444" y="1679883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0170" y="1679883"/>
            <a:ext cx="1231148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37622" y="1679883"/>
            <a:ext cx="1329538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1979023"/>
            <a:ext cx="4919472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2052175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82718" y="2052175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71444" y="2052175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60170" y="2052175"/>
            <a:ext cx="1231148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37622" y="2052175"/>
            <a:ext cx="1329538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20840" y="2351314"/>
            <a:ext cx="4919472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3992" y="2424466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82718" y="2424466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71444" y="2424466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60170" y="2424466"/>
            <a:ext cx="1231148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237622" y="2424466"/>
            <a:ext cx="1329538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(除外)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720840" y="2723606"/>
            <a:ext cx="4919472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93992" y="2796758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82718" y="2796758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71444" y="2796758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860170" y="2796758"/>
            <a:ext cx="1231148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237622" y="2796758"/>
            <a:ext cx="1329538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(除外)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720840" y="3095897"/>
            <a:ext cx="4919472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93992" y="3169049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482718" y="3169049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171444" y="3169049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860170" y="3169049"/>
            <a:ext cx="1231148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237622" y="3169049"/>
            <a:ext cx="1329538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(除外)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720840" y="3468189"/>
            <a:ext cx="4919472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93992" y="3541341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482718" y="3541341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171444" y="3541341"/>
            <a:ext cx="542422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860170" y="3541341"/>
            <a:ext cx="1231148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0237622" y="3541341"/>
            <a:ext cx="1329538" cy="225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(除外)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02920" y="3977640"/>
            <a:ext cx="11185855" cy="26060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4069080"/>
            <a:ext cx="10728655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運用上の意味：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CVD(steady)でもALD(transient)でも同じ次数セットを使える（モデル統一）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どの次数が選ばれたか = “仮説（機構）” として第三者レビューが可能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Bが必要ない条件では、Bなしクラス(A/AI)が勝つはず（class比較で判断）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CVD（連続）: steady 入力 → 時間積算で膜厚を得る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11185855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steady: C_ref(x,y) を一定として t_proc まで積分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645920"/>
            <a:ext cx="2377440" cy="64008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190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C_A,C_I,C_B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965960"/>
            <a:ext cx="914400" cy="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51960" y="1645920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7190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AIB-ODE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(θ_A, h)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965960"/>
            <a:ext cx="914400" cy="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0" y="1645920"/>
            <a:ext cx="3291840" cy="64008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7190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h(x,y)</a:t>
            </a:r>
            <a:endParaRPr lang="en-US" sz="13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502920" y="2880360"/>
          <a:ext cx="585216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5" name="Image 0" descr="/mnt/data/img_wafermap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246120"/>
            <a:ext cx="3246120" cy="32461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720840" y="2788920"/>
            <a:ext cx="4892040" cy="41148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12280" y="285292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出力マップの形（例）: h(x,y) / θ_A(x,y)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ALD（phase）: Fluentの非定常濃度時系列をそのまま積分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pic>
        <p:nvPicPr>
          <p:cNvPr id="4" name="Image 0" descr="/mnt/data/img_ald_cy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48" y="1143000"/>
            <a:ext cx="6097024" cy="5440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03720" y="1143000"/>
            <a:ext cx="4782312" cy="2651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68312" y="1252728"/>
            <a:ext cx="4453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運用方針（今回）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068312" y="1581912"/>
            <a:ext cx="4453128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68312" y="1645920"/>
            <a:ext cx="445312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phase driverを別実装せず、CFDの C_ref(t) を入力としてそのまま解く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ALDのA/Bパルス・パージは濃度時系列に含まれている前提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同じ AIB-ODE を使う：時間モードが変わるだけ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利点：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回転・パージ等を「濃度波形」で表現でき、モデル分岐を減らす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03720" y="3931920"/>
            <a:ext cx="478231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4069080"/>
            <a:ext cx="4434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同じODEを解く（t依存入力）：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θ* = (1−θ_A)/(1+K_I C_I(t))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C_{s,A}(t), C_{s,B}(t) を毎ステップ更新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dθ_A/dt = k_ads C_{s,A} θ*^{m_ads} − k_des θ_A − ν_A r_event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dh/dt = α_h Γ_s r_event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露光・パージ条件の差は C_ref(t) の波形とパラメータで吸収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数値計算：暗黙Euler + 二分法で θ∈[0,1] を保証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594360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52728"/>
            <a:ext cx="5614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更新式（1ステップ）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" y="1581912"/>
            <a:ext cx="5614416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45920"/>
            <a:ext cx="561441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暗黙Euler：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θ_{n+1} = θ_n + Δt · f(θ_{n+1}; C_ref(t_{n+1}))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制約：0 ≤ θ ≤ 1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g(θ)=θ−θ_n−Δt f(θ) の根を [0,1] で二分法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フォールバック：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bracket失敗時は clamped explicit (診断カウンタ加算)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20840" y="1143000"/>
            <a:ext cx="49651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2344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1ステップ解法フロー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49440" y="1645920"/>
            <a:ext cx="2057400" cy="5029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22592" y="1719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入力更新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C_ref(t_{n+1})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0" y="1645920"/>
            <a:ext cx="2057400" cy="5029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00032" y="1719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g(0), g(1)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符号確認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1901952"/>
            <a:ext cx="274320" cy="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49440" y="2468880"/>
            <a:ext cx="2057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2592" y="25420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二分法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θ_{n+1}∈[0,1]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26880" y="2468880"/>
            <a:ext cx="2057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0032" y="25420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clamped explicit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32720" y="2148840"/>
            <a:ext cx="0" cy="457200"/>
          </a:xfrm>
          <a:prstGeom prst="line">
            <a:avLst/>
          </a:prstGeom>
          <a:noFill/>
          <a:ln w="1905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332720" y="2148840"/>
            <a:ext cx="0" cy="320040"/>
          </a:xfrm>
          <a:prstGeom prst="line">
            <a:avLst/>
          </a:prstGeom>
          <a:noFill/>
          <a:ln w="19050">
            <a:solidFill>
              <a:srgbClr val="0B3B52"/>
            </a:solidFill>
            <a:prstDash val="solid"/>
            <a:tailEnd type="triangle"/>
          </a:ln>
        </p:spPr>
      </p:sp>
      <p:graphicFrame>
        <p:nvGraphicFramePr>
          <p:cNvPr id="21" name="Chart 0"/>
          <p:cNvGraphicFramePr/>
          <p:nvPr/>
        </p:nvGraphicFramePr>
        <p:xfrm>
          <a:off x="502920" y="4069080"/>
          <a:ext cx="11185855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データ契約：NPZ I/O と YAML（sim / opt）分離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65836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280160"/>
            <a:ext cx="1960474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82850" y="1280160"/>
            <a:ext cx="2092147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steady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9698" y="1234440"/>
            <a:ext cx="0" cy="260604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21301" y="1280160"/>
            <a:ext cx="2092147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transient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8149" y="1234440"/>
            <a:ext cx="0" cy="260604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55648"/>
            <a:ext cx="6583680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828800"/>
            <a:ext cx="196047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Fluent濃度 C_ref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82850" y="1828800"/>
            <a:ext cx="2092147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[n_pts, n_species]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21301" y="1828800"/>
            <a:ext cx="2092147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[n_t, n_pts, n_species]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276856"/>
            <a:ext cx="6583680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350008"/>
            <a:ext cx="196047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座標 xy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82850" y="2350008"/>
            <a:ext cx="2092147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[n_pts, 2]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21301" y="2350008"/>
            <a:ext cx="2092147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[n_pts, 2]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2798064"/>
            <a:ext cx="6583680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2871216"/>
            <a:ext cx="196047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 time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82850" y="2871216"/>
            <a:ext cx="2092147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21301" y="2871216"/>
            <a:ext cx="2092147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[n_t] (s)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319272"/>
            <a:ext cx="6583680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92424"/>
            <a:ext cx="1960474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測定膜厚 h_meas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82850" y="3392424"/>
            <a:ext cx="2092147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[n_pts]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21301" y="3392424"/>
            <a:ext cx="2092147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[n_pts] または複数条件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60920" y="1234440"/>
            <a:ext cx="43434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1298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YAML運用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98080" y="1627632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configs/sim/: forward実行用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configs/opt/: 列挙・同化用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simは1条件を確実に再現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optは DOE/複数条件/ランキングを管理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“どこを見ればいいか” を固定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" y="4114800"/>
            <a:ext cx="10820095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process: cvd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time_mode: steady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fluent_npz: data/fluent_case01.npz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species: [s0,s1,s2,s3]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fixed: {A: s0, I: s2, B: null}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aib_ode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orders: {m_ads: 1, pA: 1, pStar: 0}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time: {t_proc_s: 30.0, dt_s: 0.01}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38862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最小simテンプレ（例）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ガードレール：不適切な仮定・組合せを“動かない”ようにする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Validator（例）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51560" y="1783080"/>
            <a:ext cx="2743200" cy="59436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856232"/>
            <a:ext cx="2560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is required?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(A ∈ species)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2743200" cy="59436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1856232"/>
            <a:ext cx="2560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I,B ∈ {null, species}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35240" y="1783080"/>
            <a:ext cx="3566160" cy="59436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856232"/>
            <a:ext cx="3383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disjoint(A,I,B)?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94760" y="2075688"/>
            <a:ext cx="548640" cy="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086600" y="2075688"/>
            <a:ext cx="548640" cy="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51560" y="2971800"/>
            <a:ext cx="2743200" cy="59436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044952"/>
            <a:ext cx="2560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 order fixed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(m_B = 0/1)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2971800"/>
            <a:ext cx="2743200" cy="59436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3044952"/>
            <a:ext cx="2560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total order ≤ 3?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35240" y="2971800"/>
            <a:ext cx="3566160" cy="59436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3044952"/>
            <a:ext cx="33832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θ in [0,1]?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(implicit solve)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23160" y="2377440"/>
            <a:ext cx="0" cy="59436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715000" y="2377440"/>
            <a:ext cx="0" cy="59436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418320" y="2377440"/>
            <a:ext cx="0" cy="59436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51560" y="4160520"/>
            <a:ext cx="5120640" cy="68580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233672"/>
            <a:ext cx="49377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C_ref &lt; 0 → clip to 0 + warning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(数値ノイズ対策)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4160520"/>
            <a:ext cx="4754880" cy="68580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233672"/>
            <a:ext cx="45720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bracket失敗 → explicit+clip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(診断カウンタで検知)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423160" y="3566160"/>
            <a:ext cx="1188720" cy="59436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715000" y="3566160"/>
            <a:ext cx="2377440" cy="59436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51560" y="4983480"/>
            <a:ext cx="10088575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712" y="5029200"/>
            <a:ext cx="2073183" cy="35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ガード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44199" y="5029200"/>
            <a:ext cx="4292669" cy="35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71047" y="4983480"/>
            <a:ext cx="0" cy="178308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83172" y="5029200"/>
            <a:ext cx="3283812" cy="35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10020" y="4983480"/>
            <a:ext cx="0" cy="178308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" y="5429250"/>
            <a:ext cx="1008857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4712" y="5502402"/>
            <a:ext cx="2073183" cy="2994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role disjoint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44199" y="5502402"/>
            <a:ext cx="4292669" cy="2994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二重計上防止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83172" y="5502402"/>
            <a:ext cx="3283812" cy="2994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明示エラーで停止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51560" y="5875020"/>
            <a:ext cx="1008857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24712" y="5948172"/>
            <a:ext cx="2073183" cy="2994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order制約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344199" y="5948172"/>
            <a:ext cx="4292669" cy="2994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同定性/物理解釈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83172" y="5948172"/>
            <a:ext cx="3283812" cy="2994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候補から除外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51560" y="6320790"/>
            <a:ext cx="1008857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24712" y="6393942"/>
            <a:ext cx="2073183" cy="2994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θ∈[0,1]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344199" y="6393942"/>
            <a:ext cx="4292669" cy="2994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物理拘束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83172" y="6393942"/>
            <a:ext cx="3283812" cy="2994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フォールバック＋診断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role列挙とクラス比較：A/AI/AB/AIB を自動で評価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6035040" cy="2423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52728"/>
            <a:ext cx="5705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候補数（species≤10 の現実的スケール）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" y="1581912"/>
            <a:ext cx="5705856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45920"/>
            <a:ext cx="570585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N=10 の場合：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A: 10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AI: 10×9 = 90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AB: 10×9 = 90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AIB: 10×9×8 = 720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 910（DOE/同化で回せる範囲）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“各speciesごとに反応式を増やす” のを避け、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反応主(A/I/B)単位で組合せを探索する</a:t>
            </a:r>
            <a:endParaRPr lang="en-US" sz="16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720840" y="1188720"/>
          <a:ext cx="4919472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3794760"/>
            <a:ext cx="11185855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3840480"/>
            <a:ext cx="1643433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クラス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365809" y="3840480"/>
            <a:ext cx="2538301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I/B有無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292657" y="3794760"/>
            <a:ext cx="0" cy="278892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50414" y="3840480"/>
            <a:ext cx="6565209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977262" y="3794760"/>
            <a:ext cx="0" cy="278892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4352544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" y="4425696"/>
            <a:ext cx="1643433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365809" y="4425696"/>
            <a:ext cx="2538301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Iなし / Bなし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50414" y="4425696"/>
            <a:ext cx="656520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最小モデル（基準）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02920" y="491032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4983480"/>
            <a:ext cx="1643433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365809" y="4983480"/>
            <a:ext cx="2538301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Iあり / Bなし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50414" y="4983480"/>
            <a:ext cx="656520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阻害が効く条件を説明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2920" y="5468112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5541264"/>
            <a:ext cx="1643433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365809" y="5541264"/>
            <a:ext cx="2538301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Iなし / Bあり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50414" y="5541264"/>
            <a:ext cx="656520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2前駆体/共反応を説明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02920" y="6025896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6072" y="6099048"/>
            <a:ext cx="1643433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AIB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365809" y="6099048"/>
            <a:ext cx="2538301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Iあり / Bあり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50414" y="6099048"/>
            <a:ext cx="656520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最も複雑：必要性を検証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データ同化：Optuna(TPE) + 条件付きパラメータ + 物理診断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621792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52728"/>
            <a:ext cx="5888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最適化問題（1候補あたり）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" y="1581912"/>
            <a:ext cx="5888736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45920"/>
            <a:ext cx="588873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観測膜厚 h_meas(x,y) に対し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minimize  L = Σ ρ(h_sim − h_meas) + λ_complex · (#roles)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ρ: Huber等のロバスト損失（外れ値・測定ノイズに強い）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#roles: (Iあり,Bあり) の複雑さ罰則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条件付き：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Iなし → K_I を探索しない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Bなし → k_m,B, C_B_scale 等を探索しない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12280" y="1143000"/>
            <a:ext cx="482803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Optunaループ（模式）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40880" y="1645920"/>
            <a:ext cx="2011680" cy="5486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7099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(params)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418320" y="1645920"/>
            <a:ext cx="20116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0" y="17099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forward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(simulate)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1920240"/>
            <a:ext cx="365760" cy="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0" y="2560320"/>
            <a:ext cx="2011680" cy="54864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624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diagnostics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424160" y="2194560"/>
            <a:ext cx="0" cy="36576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35440" y="2560320"/>
            <a:ext cx="0" cy="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" y="3977640"/>
            <a:ext cx="11185855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4023360"/>
            <a:ext cx="2762018" cy="35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パラメータ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84394" y="4023360"/>
            <a:ext cx="2314584" cy="35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推奨スコープ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11242" y="3977640"/>
            <a:ext cx="0" cy="265176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5282" y="4023360"/>
            <a:ext cx="5670341" cy="35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72130" y="3977640"/>
            <a:ext cx="0" cy="265176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41960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4492752"/>
            <a:ext cx="2762018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k_ads, k_des, k_rxn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84394" y="4492752"/>
            <a:ext cx="2314584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global (装置/温度帯)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5282" y="4492752"/>
            <a:ext cx="5670341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反応機構の代表値。条件で暴れると物理崩壊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486156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4934712"/>
            <a:ext cx="2762018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K_I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84394" y="4934712"/>
            <a:ext cx="2314584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global or per-condition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5282" y="4934712"/>
            <a:ext cx="5670341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阻害種が変わる/汚染条件差が大きいならper-condition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530352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5376672"/>
            <a:ext cx="2762018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Γ_s, α_h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84394" y="5376672"/>
            <a:ext cx="2314584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global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45282" y="5376672"/>
            <a:ext cx="5670341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サイト密度・換算係数はプロセス固有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02920" y="574548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" y="5818632"/>
            <a:ext cx="2762018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k_m,A/B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84394" y="5818632"/>
            <a:ext cx="2314584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per-condition または入力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945282" y="5818632"/>
            <a:ext cx="5670341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流量/圧力/回転で変化。CFD由来なら固定入力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02920" y="618744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" y="6260592"/>
            <a:ext cx="2762018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C_{B,scale}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484394" y="6260592"/>
            <a:ext cx="2314584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global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945282" y="6260592"/>
            <a:ext cx="5670341" cy="295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B濃度の正規化で同定性を改善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出力と診断：フィット “だけ” でなく物理妥当性を可視化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6126480" cy="5486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252728"/>
            <a:ext cx="5797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必須の診断マップ（例）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" y="1581912"/>
            <a:ext cx="5797296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45920"/>
            <a:ext cx="5797296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h(x,y): 膜厚2D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θ_A(x,y), θ*(x,y): サイト状態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C_{s,A}/C_A, C_{s,B}/C_B: 表面枯渇の強さ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φ_B(x,y): Bが必要な領域の特定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f_I(x,y): 阻害が効いている領域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residual(x,y)=h_sim−h_meas: 測定との差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“当たった理由/外挿の危険” を専門家がレビューできる形で出力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03720" y="96012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map表示のベース（grid/xy）</a:t>
            </a:r>
            <a:endParaRPr lang="en-US" sz="1400" dirty="0"/>
          </a:p>
        </p:txBody>
      </p:sp>
      <p:pic>
        <p:nvPicPr>
          <p:cNvPr id="9" name="Image 0" descr="/mnt/data/img_wafermap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234440"/>
            <a:ext cx="2514600" cy="2514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03720" y="384048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参考：成長モード（ALDレビュー図）</a:t>
            </a:r>
            <a:endParaRPr lang="en-US" sz="1400" dirty="0"/>
          </a:p>
        </p:txBody>
      </p:sp>
      <p:pic>
        <p:nvPicPr>
          <p:cNvPr id="11" name="Image 1" descr="/mnt/data/img_ald_growth_mod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317858"/>
            <a:ext cx="4800600" cy="19256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全体機能・処理フロー（sim → opt → report）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2377440" cy="7315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5331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Hydra YAML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(sim / opt)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280160"/>
            <a:ext cx="2560320" cy="7315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353312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Load NPZ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(C_ref,xy,time)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280160"/>
            <a:ext cx="2011680" cy="7315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353312"/>
            <a:ext cx="1828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Role map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A/I/B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0" y="1280160"/>
            <a:ext cx="2377440" cy="7315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35331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AIB-ODE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simulate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69680" y="2560320"/>
            <a:ext cx="2377440" cy="7315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263347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Outputs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fields + plots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2560320"/>
            <a:ext cx="2926080" cy="7315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633472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Measurement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align + loss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77440" y="2560320"/>
            <a:ext cx="2926080" cy="7315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633472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Enumerate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roles × orders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377440" y="3840480"/>
            <a:ext cx="2926080" cy="7315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913632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Optuna(TPE)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fit params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3840480"/>
            <a:ext cx="2926080" cy="7315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913632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Ranking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class compare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869680" y="3840480"/>
            <a:ext cx="2377440" cy="73152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3913632"/>
            <a:ext cx="2194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Report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08960" y="1645920"/>
            <a:ext cx="365760" cy="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35040" y="1645920"/>
            <a:ext cx="457200" cy="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503920" y="1645920"/>
            <a:ext cx="365760" cy="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058400" y="2011680"/>
            <a:ext cx="0" cy="54864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1247120" y="2926080"/>
            <a:ext cx="0" cy="91440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869680" y="2011680"/>
            <a:ext cx="0" cy="54864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32320" y="3291840"/>
            <a:ext cx="0" cy="54864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840480" y="3291840"/>
            <a:ext cx="0" cy="54864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03520" y="4206240"/>
            <a:ext cx="365760" cy="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920240" y="2011680"/>
            <a:ext cx="1737360" cy="548640"/>
          </a:xfrm>
          <a:prstGeom prst="line">
            <a:avLst/>
          </a:prstGeom>
          <a:noFill/>
          <a:ln w="25400">
            <a:solidFill>
              <a:srgbClr val="0B3B5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02920" y="5074920"/>
            <a:ext cx="1118585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212080"/>
            <a:ext cx="10728655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設計上のポイント：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forward(sim) と opt(列挙/同化) をパッケージ分離 → 依存方向を固定（opt → sim）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YAMLは sim/opt で分離 → “入口が2つ” に集約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report は index.html を固定入口にしてファイル迷子を防止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実装アーキテクチャ：シンプル化（AIB-ODE一本化）とリファクタ方針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61872"/>
            <a:ext cx="5715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deposim_sim/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run_sim.py  (Hydra entry)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io_fluent.py / roles.py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aib_ode.py / solver_theta.py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simulate.py / diagnostics.py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output.py / report.py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deposim_opt/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run_fit.py (Hydra entry)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enumerate_roles.py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enumerate_orders.py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fit_optuna.py / ranking.py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sim/ (3 templates)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opt/ (3 templates)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B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最小のツリー（迷わない）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20840" y="1143000"/>
            <a:ext cx="4965192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93992" y="1188720"/>
            <a:ext cx="1541861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82157" y="1188720"/>
            <a:ext cx="747431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09005" y="1143000"/>
            <a:ext cx="0" cy="397764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75892" y="1188720"/>
            <a:ext cx="2236988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02740" y="1143000"/>
            <a:ext cx="0" cy="397764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1805940"/>
            <a:ext cx="4965192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3992" y="1879092"/>
            <a:ext cx="1541861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MS-01..15（旧モデルセット）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82157" y="1879092"/>
            <a:ext cx="747431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除外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75892" y="1879092"/>
            <a:ext cx="2236988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誤用リスクと同定性低下。AIB-ODEへ統一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2468880"/>
            <a:ext cx="4965192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3992" y="2542032"/>
            <a:ext cx="1541861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power-law / sat_inh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82157" y="2542032"/>
            <a:ext cx="747431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除外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75892" y="2542032"/>
            <a:ext cx="2236988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自由度過大・物理解釈が壊れやすい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3131820"/>
            <a:ext cx="4965192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3204972"/>
            <a:ext cx="1541861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TC root(R) 解法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82157" y="3204972"/>
            <a:ext cx="747431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除外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75892" y="3204972"/>
            <a:ext cx="2236988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多根/単調性破れ。代数閉包で回避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3794760"/>
            <a:ext cx="4965192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3867912"/>
            <a:ext cx="1541861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回転km/Stefan/PDE等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82157" y="3867912"/>
            <a:ext cx="747431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P2以降必要なら追加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75892" y="3867912"/>
            <a:ext cx="2236988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濃度時系列で吸収できるケースが多い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4457700"/>
            <a:ext cx="4965192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4530852"/>
            <a:ext cx="1541861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動的被覆率ODE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82157" y="4530852"/>
            <a:ext cx="747431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維持（主役）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75892" y="4530852"/>
            <a:ext cx="2236988" cy="5166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ALD/非定常に必須。stiffに耐える設計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720840" y="5257800"/>
            <a:ext cx="4965192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85432" y="5367528"/>
            <a:ext cx="4636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リファクタ方針（安全な削除）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885432" y="5696712"/>
            <a:ext cx="4636008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5432" y="5760720"/>
            <a:ext cx="46360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P0: 新導線を正にして旧機能を到達不能化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P1: legacyを物理削除 or src/deposim_legacyへ隔離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第三者が迷う要素を除去し、レビュー容易化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参考文献（理論・図の出典）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43000"/>
            <a:ext cx="1118585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188720"/>
            <a:ext cx="1643433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65809" y="1188720"/>
            <a:ext cx="4104321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文献/リソース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92657" y="1143000"/>
            <a:ext cx="0" cy="507492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6434" y="1188720"/>
            <a:ext cx="4999189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43282" y="1143000"/>
            <a:ext cx="0" cy="507492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77365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850517"/>
            <a:ext cx="1643433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輸送+反応（基礎）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65809" y="1850517"/>
            <a:ext cx="4104321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Fogler: mass transfer limitations in reacting systems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16434" y="1850517"/>
            <a:ext cx="4999189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https://public.websites.umich.edu/~elements/5e/14chap/Fogler_Web_Ch14.pdf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1173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484882"/>
            <a:ext cx="1643433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ALDレビュー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65809" y="2484882"/>
            <a:ext cx="4104321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Puurunen, J. Appl. Phys. 97, 121301 (2005)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16434" y="2484882"/>
            <a:ext cx="4999189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https://doi.org/10.1063/1.1940727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046095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119247"/>
            <a:ext cx="1643433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ALD cycle図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65809" y="3119247"/>
            <a:ext cx="4104321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Puurunen et al. (CC BY 4.0, Wikimedia)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16434" y="3119247"/>
            <a:ext cx="4999189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https://commons.wikimedia.org/wiki/File:Schematic_illustration_of_changes_with_time_during_three_ALD_reaction_cycles.png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68046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753612"/>
            <a:ext cx="1643433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ALD growth mode図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65809" y="3753612"/>
            <a:ext cx="4104321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Puurunen (CC BY 4.0, Wikimedia)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16434" y="3753612"/>
            <a:ext cx="4999189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https://commons.wikimedia.org/wiki/File:Schematic_illustration_of_ALD_growth_modes.png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314825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4387977"/>
            <a:ext cx="1643433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CVD装置図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65809" y="4387977"/>
            <a:ext cx="4104321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MKS: LPCVD Systems (handbook figure)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16434" y="4387977"/>
            <a:ext cx="4999189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https://www.mks.com/mam/celum/celum_assets/Figure_143-Semiconductor_Handbook_800w.jpg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4949190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" y="5022342"/>
            <a:ext cx="1643433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 grid図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365809" y="5022342"/>
            <a:ext cx="4104321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Wafermap SVG (CC BY-SA 3.0, Wikimedia)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16434" y="5022342"/>
            <a:ext cx="4999189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https://commons.wikimedia.org/wiki/File:Wafermap_showing_fully_and_partially_patterned_dies.svg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" y="5583555"/>
            <a:ext cx="11185855" cy="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5656707"/>
            <a:ext cx="1643433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Optuna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365809" y="5656707"/>
            <a:ext cx="4104321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Optuna documentation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16434" y="5656707"/>
            <a:ext cx="4999189" cy="488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https://optuna.org/</a:t>
            </a:r>
            <a:endParaRPr lang="en-US" sz="1300" dirty="0"/>
          </a:p>
        </p:txBody>
      </p:sp>
      <p:pic>
        <p:nvPicPr>
          <p:cNvPr id="38" name="Image 0" descr="/mnt/data/img_wafer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82" y="6355080"/>
            <a:ext cx="462717" cy="45720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645920" y="6382512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※本スライドの図はライセンス表記に従い出典を明記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3964</Words>
  <Application>Microsoft Macintosh PowerPoint</Application>
  <PresentationFormat>ワイド画面</PresentationFormat>
  <Paragraphs>484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Meiryo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surface-kinetics handoff</dc:creator>
  <cp:lastModifiedBy>kawahito</cp:lastModifiedBy>
  <cp:revision>2</cp:revision>
  <dcterms:created xsi:type="dcterms:W3CDTF">2026-02-22T19:00:41Z</dcterms:created>
  <dcterms:modified xsi:type="dcterms:W3CDTF">2026-02-23T21:35:30Z</dcterms:modified>
</cp:coreProperties>
</file>