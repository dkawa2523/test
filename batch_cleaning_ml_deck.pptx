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Virtual metrology（目的変数を装置データから推定する考え方）: https://en.wikipedia.org/wiki/Virtual_metrology (accessed via web search)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Virtual metrology（装置データから品質を推定する考え方）: https://en.wikipedia.org/wiki/Virtual_metrology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Multi-fidelity modelling（co-kriging）: https://pmc.ncbi.nlm.nih.gov/articles/PMC4528652/
- Multi-Fidelity Kriging (MFK) 概要: https://smt.readthedocs.io/en/latest/_src_docs/applications/mfk.html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Particle image velocimetry (PIV) 概要: https://en.wikipedia.org/wiki/Particle_image_velocimetry
- Optical flow 概要: https://en.wikipedia.org/wiki/Optical_flow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Particle image velocimetry (PIV) 概要: https://en.wikipedia.org/wiki/Particle_image_velocimetry
- Optical flow 概要: https://en.wikipedia.org/wiki/Optical_flow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Multi-fidelity modelling via co-kriging: https://pmc.ncbi.nlm.nih.gov/articles/PMC4528652/
- Multi-Fidelity Kriging (MFK) 概要: https://smt.readthedocs.io/en/latest/_src_docs/applications/mfk.html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80160"/>
            <a:ext cx="10728655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101800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バッチ洗浄装置 × 機械学習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（Step1〜3：実測→シミュレーション→統合）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3246120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目的変数：①ウェハーエッチレート2D分布 ②動画（流速・密度）③置換率曲線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装置ログ：異常検知と入力変数化に限定して活用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全体サマリー（非エンジニア向け）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Step1＝実測データで価値創出 / Step2＝物理モデルで理解・外挿 / Step3＝統合で探索と設計へ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270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88720"/>
            <a:ext cx="5303520" cy="329184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252728"/>
            <a:ext cx="4974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Step1：実測データのみ（すぐ効く）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ウェハーエッチレート2D分布を予測（測定4–5枚でも、未測定ウェハーのリスク推定）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動画から流速・密度を定量化（偏流・滞留・泡の兆候を数値化）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置換率曲線をパラメータ化＆異常検知（t95遅れ等）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装置ログ：①異常検知 ②上記3つの入力（フェーズ別特徴）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5303520" cy="329184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538728"/>
            <a:ext cx="4974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Step2：シミュレーション（理解・外挿の土台）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50292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配管内流体（ノズル分配・圧損）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1pitch近傍流体（流速場・物質移動）⇔ 動画で検証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表面反応（反応/移動律速）⇔ エッチ2D分布で較正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連成（配管→近傍→反応）：エッチ2D分布を物理ベースで再現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188720"/>
            <a:ext cx="5212080" cy="329184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252728"/>
            <a:ext cx="4882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Step3：実測×シミュレーション統合（探索・設計へ）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60020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多忠実度統合（実測の正しさ + シミュレーションの外挿力）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代理モデル化で高速what-if（設計/条件探索が秒〜分で回る）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制約付き最適化：均一性×置換×スループット×安全のトレードオフ提示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3840480"/>
            <a:ext cx="4754880" cy="2331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977640"/>
            <a:ext cx="1417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4087368"/>
            <a:ext cx="1271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実測（2D/動画/置換）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3977640"/>
            <a:ext cx="1417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4087368"/>
            <a:ext cx="1271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29800" y="3977640"/>
            <a:ext cx="1508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2952" y="4087368"/>
            <a:ext cx="1362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統合モデル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（不確かさ）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10728" y="4315968"/>
            <a:ext cx="228600" cy="32004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65208" y="4315968"/>
            <a:ext cx="228600" cy="32004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5120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探索/設計/運用へ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バッチ洗浄装置ML適用（概要）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Step1で扱うデータと目的変数（整理）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装置ログは「異常検知」または「入力変数化」のみに使う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0574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70432"/>
            <a:ext cx="191109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データ/信号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097280"/>
            <a:ext cx="18288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1170432"/>
            <a:ext cx="168249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何を得るか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38404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170432"/>
            <a:ext cx="369417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Step1での使い方（目的変数/入力/検知）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58200" y="1097280"/>
            <a:ext cx="30632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1352" y="1170432"/>
            <a:ext cx="29169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主なアウトプット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1600200"/>
            <a:ext cx="2057400" cy="960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673352"/>
            <a:ext cx="191109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ウェハー計測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（エッチレート2D分布）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※100枚中4–5枚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1600200"/>
            <a:ext cx="1828800" cy="960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62072" y="1673352"/>
            <a:ext cx="168249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面内のムラ形状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600200"/>
            <a:ext cx="3840480" cy="960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673352"/>
            <a:ext cx="369417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目的変数：2D分布を予測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（未測定ウェハーのリスク推定）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58200" y="1600200"/>
            <a:ext cx="3063240" cy="960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673352"/>
            <a:ext cx="291693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予測2Dマップ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ムラタイプ分類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633472"/>
            <a:ext cx="191109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液流れ動画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（取得コスト高）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25603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2633472"/>
            <a:ext cx="168249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流速場・密度（泡/白濁等）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5603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2633472"/>
            <a:ext cx="36941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目的変数：流速・密度を定量化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（偏流/滞留/泡の兆候）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58200" y="2560320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1352" y="2633472"/>
            <a:ext cx="291693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流速場（統計）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密度時系列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異常フラグ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474720"/>
            <a:ext cx="205740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547872"/>
            <a:ext cx="191109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置換率（排液部）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88920" y="3474720"/>
            <a:ext cx="182880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3547872"/>
            <a:ext cx="168249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置換率の時間変化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474720"/>
            <a:ext cx="384048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3547872"/>
            <a:ext cx="369417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目的変数：曲線をパラメータ化/予測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（t95遅れ等を監視）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58200" y="3474720"/>
            <a:ext cx="306324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1352" y="3547872"/>
            <a:ext cx="291693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t95/t90、AUC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曲線異常検知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434340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4416552"/>
            <a:ext cx="191109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（圧力/流量など）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88920" y="43434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62072" y="4416552"/>
            <a:ext cx="168249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工程状態の時系列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434340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4416552"/>
            <a:ext cx="36941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①異常検知（フェーズ別）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②入力変数化（特徴量）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58200" y="4343400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31352" y="4416552"/>
            <a:ext cx="291693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異常スコア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フェーズ別特徴量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" y="5257800"/>
            <a:ext cx="205740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5330952"/>
            <a:ext cx="191109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装置設計情報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88920" y="5257800"/>
            <a:ext cx="182880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62072" y="5330952"/>
            <a:ext cx="168249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形状・配置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5257800"/>
            <a:ext cx="384048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5330952"/>
            <a:ext cx="369417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Step2以降のシミュレーション入力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＋設計探索の変数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58200" y="5257800"/>
            <a:ext cx="306324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31352" y="5330952"/>
            <a:ext cx="291693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設計変数辞書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制約条件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Step1：データと目的変数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Step1：システム像（毎Runで出したいもの）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3つの目的変数を中心に、運用に使える形で統合表示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5661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装置ログ（圧力/流量…）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レシピ/運転条件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ウェハー2D分布（少数）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置換率曲線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動画（代表条件）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840480"/>
            <a:ext cx="3154680" cy="2331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97764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・Run統合（ID/時刻）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・フェーズ分割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・特徴量化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005840"/>
            <a:ext cx="35661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モデル（目的変数）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0600" y="1600200"/>
            <a:ext cx="30175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099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①ウェハー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エッチレート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2D分布予測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971800"/>
            <a:ext cx="30175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0815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②動画：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流速・密度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定量化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4343400"/>
            <a:ext cx="30175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4453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③置換率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時間変化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（曲線）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55961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装置ログ異常検知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（安全弁）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1005840"/>
            <a:ext cx="31546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4964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運用アウトプット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49640" y="1600200"/>
            <a:ext cx="27432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Runレポート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（1画面）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21488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予測2Dマップ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置換曲線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動画指標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ログ異常Top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推奨アクション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49640" y="3566160"/>
            <a:ext cx="2743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406908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危険Runの早期抽出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原因候補の絞り込み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追加測定の提案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次の条件/対策提案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3429000"/>
            <a:ext cx="228600" cy="32004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3429000"/>
            <a:ext cx="228600" cy="32004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Step1：システム像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手法①：ウェハーエッチレート 2次元分布（2Dマップ）予測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少数測定（4–5枚/バッチ）でも「ムラ形状」を推定して安定運用へ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9436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何ができる？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測っていないウェハーの面内ムラ（2D形状）を予測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ムラタイプ（エッジ悪化、偏心、非対称など）を自動分類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予測の不確かさも出して「追加測定すべきRun/位置」を提案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063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入力（装置ログ等） → 2Dマップ予測 → 運用判断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429000"/>
            <a:ext cx="1207008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52044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（フェーズ別）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3703320"/>
            <a:ext cx="164592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3429000"/>
            <a:ext cx="1207008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52044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動画指標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3703320"/>
            <a:ext cx="164592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3429000"/>
            <a:ext cx="1207008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352044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2Dマップ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3703320"/>
            <a:ext cx="164592" cy="27432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3429000"/>
            <a:ext cx="1207008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520440"/>
            <a:ext cx="1207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1005840"/>
            <a:ext cx="45720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2Dマップの例</a:t>
            </a:r>
            <a:endParaRPr lang="en-US" sz="1600" dirty="0"/>
          </a:p>
        </p:txBody>
      </p:sp>
      <p:pic>
        <p:nvPicPr>
          <p:cNvPr id="22" name="Image 0" descr="/mnt/data/figs/wafe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421" y="1554480"/>
            <a:ext cx="3432597" cy="3657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78040" y="5257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※例（概念図）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手法①：2D分布予測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手法①（詳細1/3）：少数測定でも成立させるコツ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2D分布を「少数の形状係数」に圧縮して学習 → 係数から2D分布を復元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6492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430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考え方：2D分布を“形状の部品”で表す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2D分布（画像）をそのまま学習するとデータ量が不足しやすい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そこで「代表的なムラ形状（モード）」の係数に分解して回帰する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係数の意味が分かるので、原因仮説・対策にも繋げやすい</a:t>
            </a:r>
            <a:endParaRPr lang="en-US" sz="1300" dirty="0"/>
          </a:p>
        </p:txBody>
      </p:sp>
      <p:pic>
        <p:nvPicPr>
          <p:cNvPr id="8" name="Image 0" descr="/mnt/data/figs/wafer_basis_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588207"/>
            <a:ext cx="6172200" cy="21047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005840"/>
            <a:ext cx="40690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実装の選択肢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35240" y="1554480"/>
            <a:ext cx="12344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08392" y="1627632"/>
            <a:ext cx="10881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方式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69680" y="1554480"/>
            <a:ext cx="12344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42832" y="1627632"/>
            <a:ext cx="10881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良い点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104120" y="1554480"/>
            <a:ext cx="11887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177272" y="1627632"/>
            <a:ext cx="104241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注意点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635240" y="1965960"/>
            <a:ext cx="123444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08392" y="2039112"/>
            <a:ext cx="108813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形状係数化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（PCA/Zernike等）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＋回帰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69680" y="1965960"/>
            <a:ext cx="123444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42832" y="2039112"/>
            <a:ext cx="108813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少数データでも強い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説明しやすい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0104120" y="1965960"/>
            <a:ext cx="118872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177272" y="2039112"/>
            <a:ext cx="104241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係数数の調整が必要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635240" y="2834640"/>
            <a:ext cx="1234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08392" y="2907792"/>
            <a:ext cx="108813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2D直接生成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（深層モデル）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69680" y="2834640"/>
            <a:ext cx="1234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42832" y="2907792"/>
            <a:ext cx="108813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局所パターンに強い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0104120" y="283464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77272" y="2907792"/>
            <a:ext cx="10424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データ量/GPU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運用が重い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635240" y="3840480"/>
            <a:ext cx="3657600" cy="2560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1812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入力に使う主なデータ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818120" y="429768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装置ログ（フェーズ別特徴）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レシピ条件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置換率曲線の指標（t95等）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動画の流速/密度指標（代表条件）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手法①：2D分布予測（係数化）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手法①（詳細2/3）：運用に効かせる出し方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不確かさ・追加測定提案・ムラタイプ分類まで含めて「使える」形に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運用での出力（例）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14173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673352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2423160" y="1600200"/>
            <a:ext cx="2514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673352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現場での使い方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26517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673352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1005840" y="2057400"/>
            <a:ext cx="141732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130552"/>
            <a:ext cx="127101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予測2Dマップ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＋ムラタイプ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423160" y="2057400"/>
            <a:ext cx="251460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2130552"/>
            <a:ext cx="236829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危険Runの早期抽出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（再測定/停止判断）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937760" y="2057400"/>
            <a:ext cx="265176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130552"/>
            <a:ext cx="250545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KPI（NU等）だけでなく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“形状”も見せる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1005840" y="297180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044952"/>
            <a:ext cx="127101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（予測区間）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2423160" y="2971800"/>
            <a:ext cx="2514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96312" y="3044952"/>
            <a:ext cx="236829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信頼できるRun/怪しいRunを分ける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3044952"/>
            <a:ext cx="250545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不確かさが大きいRunは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追加測定を推奨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1005840" y="3886200"/>
            <a:ext cx="141732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3959352"/>
            <a:ext cx="127101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追加測定の提案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（どの段/位置）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2423160" y="3886200"/>
            <a:ext cx="251460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96312" y="3959352"/>
            <a:ext cx="236829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4–5枚の測定で情報量最大化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4937760" y="3886200"/>
            <a:ext cx="265176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959352"/>
            <a:ext cx="250545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偏り（同じ位置ばかり）を防ぐ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1005840" y="4800600"/>
            <a:ext cx="6583680" cy="1508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498348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推奨：まずは「係数化＋回帰」→ 精度/運用が回った後に、必要なら深層モデルへ拡張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18120" y="1600200"/>
            <a:ext cx="4160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17373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不確かさを“意思決定”に使う</a:t>
            </a:r>
            <a:endParaRPr lang="en-US" sz="1200" dirty="0"/>
          </a:p>
        </p:txBody>
      </p:sp>
      <p:pic>
        <p:nvPicPr>
          <p:cNvPr id="35" name="Image 0" descr="/mnt/data/figs/multifide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887" y="2057400"/>
            <a:ext cx="3538987" cy="20574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001000" y="4206240"/>
            <a:ext cx="3794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不確かさが小：通常運転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不確かさが大：追加測定（どの位置か提示）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不確かさ＋悪化兆候：停止/保全を優先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手法①：運用（不確かさ/追加測定）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手法②：液流れ動画 → 流速・密度の定量化（概要）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高コスト計測は「代表条件」で価値を出し、シミュレーション検証にも使う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60350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430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何ができる？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動画から「速度場（どこが速い/遅い）」を出す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泡/白濁などの“密度”を指標化して時間変化を見る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偏流・滞留・泡増加を、置換率曲線やエッチ2D分布の悪化と結びつける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926080"/>
            <a:ext cx="5577840" cy="3474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063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最小の計測仕様を固定（重要）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3429000"/>
            <a:ext cx="20116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502152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固定するもの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29000"/>
            <a:ext cx="3200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3502152"/>
            <a:ext cx="3054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88720" y="3840480"/>
            <a:ext cx="201168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3913632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撮影位置/視野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840480"/>
            <a:ext cx="320040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3913632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ウェハー近傍のROIを固定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88720" y="4407408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4480560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fps/露光/照明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4407408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4480560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同一条件（SOP）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88720" y="4974336"/>
            <a:ext cx="201168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872" y="50474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スケール校正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4974336"/>
            <a:ext cx="320040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5047488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mm/pixelを付与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5541264"/>
            <a:ext cx="201168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5614416"/>
            <a:ext cx="186537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撮影フェーズ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5541264"/>
            <a:ext cx="320040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5614416"/>
            <a:ext cx="305409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充填/循環/排液のどこを撮るか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1005840"/>
            <a:ext cx="51663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出力イメージ（例）</a:t>
            </a:r>
            <a:endParaRPr lang="en-US" sz="1600" dirty="0"/>
          </a:p>
        </p:txBody>
      </p:sp>
      <p:pic>
        <p:nvPicPr>
          <p:cNvPr id="32" name="Image 0" descr="/mnt/data/figs/velocity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790" y="1508760"/>
            <a:ext cx="4044820" cy="2331720"/>
          </a:xfrm>
          <a:prstGeom prst="rect">
            <a:avLst/>
          </a:prstGeom>
        </p:spPr>
      </p:pic>
      <p:pic>
        <p:nvPicPr>
          <p:cNvPr id="33" name="Image 1" descr="/mnt/data/figs/density_timese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837" y="3977640"/>
            <a:ext cx="3870727" cy="23317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223760" y="6428232"/>
            <a:ext cx="4754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上：速度場 / 下：密度指標の時間変化（例）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手法②：動画解析（概要）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手法②（詳細1/3）：流速推定（PIV / Optical Flow）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「速度場」を出して、偏流・滞留・乱れを数値化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20116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307592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方式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017520" y="1234440"/>
            <a:ext cx="28346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307592"/>
            <a:ext cx="26883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向いている状況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852160" y="1234440"/>
            <a:ext cx="27432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5312" y="1307592"/>
            <a:ext cx="25968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得られるもの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595360" y="1234440"/>
            <a:ext cx="33375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8512" y="1307592"/>
            <a:ext cx="319125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主な注意点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1005840" y="1645920"/>
            <a:ext cx="201168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1719072"/>
            <a:ext cx="186537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PIV（粒子追跡）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017520" y="1645920"/>
            <a:ext cx="283464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1719072"/>
            <a:ext cx="268833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粒子/泡が画面で追える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照明が安定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852160" y="1645920"/>
            <a:ext cx="27432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1719072"/>
            <a:ext cx="25968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速度ベクトル場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（2Dの流れ場）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595360" y="1645920"/>
            <a:ext cx="333756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68512" y="1719072"/>
            <a:ext cx="31912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撮影条件固定が重要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粒子密度が不足すると不安定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005840" y="233172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2404872"/>
            <a:ext cx="186537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Optical Flow（輝度パターン追跡）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017520" y="2331720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2404872"/>
            <a:ext cx="268833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粒子が少ない/画質が厳しい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動き量でも良い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852160" y="23317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2404872"/>
            <a:ext cx="25968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動き量/速度近似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滞留・偏り指標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595360" y="2331720"/>
            <a:ext cx="3337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68512" y="2404872"/>
            <a:ext cx="31912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見かけの動き＝流速でない場合あり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前処理が重要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1005840" y="3154680"/>
            <a:ext cx="5303520" cy="3246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291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流速推定の流れ（共通）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88720" y="3703320"/>
            <a:ext cx="4937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37673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動画（同一条件で撮影）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66160" y="4169664"/>
            <a:ext cx="320040" cy="18288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4343400"/>
            <a:ext cx="4937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25880" y="44074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前処理（背景差分・コントラスト）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66160" y="4809744"/>
            <a:ext cx="320040" cy="18288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88720" y="4983480"/>
            <a:ext cx="4937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5880" y="50474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流速推定（PIV/OF）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66160" y="5449824"/>
            <a:ext cx="320040" cy="18288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88720" y="5623560"/>
            <a:ext cx="4937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25880" y="56875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指標化（偏流・滞留・乱れ）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37960" y="3154680"/>
            <a:ext cx="53949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速度場の例（概念）</a:t>
            </a:r>
            <a:endParaRPr lang="en-US" sz="1200" dirty="0"/>
          </a:p>
        </p:txBody>
      </p:sp>
      <p:pic>
        <p:nvPicPr>
          <p:cNvPr id="45" name="Image 0" descr="/mnt/data/figs/velocity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5789" y="3611880"/>
            <a:ext cx="4679302" cy="269748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手法②：流速推定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手法②（詳細2/3）：密度指標（泡/白濁など）と品質への接続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“密度の定義”を決め、時間変化で監視 → 置換率・2Dムラとの因果仮説へ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密度指標の例（低コストで開始）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14630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1856232"/>
            <a:ext cx="13167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651760" y="1783080"/>
            <a:ext cx="18288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856232"/>
            <a:ext cx="16824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1737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856232"/>
            <a:ext cx="159105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実装例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1188720" y="2194560"/>
            <a:ext cx="146304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226771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泡面積率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651760" y="2194560"/>
            <a:ext cx="18288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2267712"/>
            <a:ext cx="16824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泡が増える/滞留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480560" y="2194560"/>
            <a:ext cx="173736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26771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二値化＋面積比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（OpenCV）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1188720" y="278892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286207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白濁度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651760" y="278892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2862072"/>
            <a:ext cx="16824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濃度/泡の増加のproxy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80560" y="278892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86207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輝度平均・分散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ヒストグラム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1188720" y="3383280"/>
            <a:ext cx="146304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345643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局所コントラスト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2651760" y="3383280"/>
            <a:ext cx="18288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3456432"/>
            <a:ext cx="16824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泡/乱れの増加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480560" y="3383280"/>
            <a:ext cx="173736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345643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局所分散・エッジ量</a:t>
            </a:r>
            <a:endParaRPr lang="en-US" sz="1080" dirty="0"/>
          </a:p>
        </p:txBody>
      </p:sp>
      <p:pic>
        <p:nvPicPr>
          <p:cNvPr id="32" name="Image 0" descr="/mnt/data/figs/density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646" y="4160520"/>
            <a:ext cx="3415347" cy="20574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6629400" y="1234440"/>
            <a:ext cx="5303520" cy="2514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1228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“密度”をどう使う？（運用例）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12280" y="16916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密度が増える → 置換率曲線が遅れる（t95増加）の前兆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密度の偏り → ウェハーエッチ2D分布の非対称ムラに繋がる仮説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代表条件で動画を取り、近傍流体シミュレーションの検証にも使う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29400" y="3977640"/>
            <a:ext cx="5303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12280" y="41148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高精度にしたい場合（追加）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812280" y="4434840"/>
            <a:ext cx="19202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85432" y="4507992"/>
            <a:ext cx="17739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方式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8732520" y="4434840"/>
            <a:ext cx="18288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805672" y="4507992"/>
            <a:ext cx="16824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良い点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10561320" y="4434840"/>
            <a:ext cx="1143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634472" y="4507992"/>
            <a:ext cx="9966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</a:t>
            </a:r>
            <a:endParaRPr lang="en-US" sz="1080" dirty="0"/>
          </a:p>
        </p:txBody>
      </p:sp>
      <p:sp>
        <p:nvSpPr>
          <p:cNvPr id="44" name="Shape 41"/>
          <p:cNvSpPr/>
          <p:nvPr/>
        </p:nvSpPr>
        <p:spPr>
          <a:xfrm>
            <a:off x="6812280" y="4846320"/>
            <a:ext cx="192024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85432" y="4919472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セグメンテーション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（U-Net等）</a:t>
            </a:r>
            <a:endParaRPr lang="en-US" sz="1080" dirty="0"/>
          </a:p>
        </p:txBody>
      </p:sp>
      <p:sp>
        <p:nvSpPr>
          <p:cNvPr id="46" name="Shape 43"/>
          <p:cNvSpPr/>
          <p:nvPr/>
        </p:nvSpPr>
        <p:spPr>
          <a:xfrm>
            <a:off x="8732520" y="4846320"/>
            <a:ext cx="18288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805672" y="4919472"/>
            <a:ext cx="16824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泡領域が安定抽出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照明変動に強い</a:t>
            </a:r>
            <a:endParaRPr lang="en-US" sz="1080" dirty="0"/>
          </a:p>
        </p:txBody>
      </p:sp>
      <p:sp>
        <p:nvSpPr>
          <p:cNvPr id="48" name="Shape 45"/>
          <p:cNvSpPr/>
          <p:nvPr/>
        </p:nvSpPr>
        <p:spPr>
          <a:xfrm>
            <a:off x="10561320" y="4846320"/>
            <a:ext cx="11430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634472" y="4919472"/>
            <a:ext cx="9966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ラベル付け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学習/GPU</a:t>
            </a:r>
            <a:endParaRPr lang="en-US" sz="1080" dirty="0"/>
          </a:p>
        </p:txBody>
      </p:sp>
      <p:sp>
        <p:nvSpPr>
          <p:cNvPr id="50" name="Shape 47"/>
          <p:cNvSpPr/>
          <p:nvPr/>
        </p:nvSpPr>
        <p:spPr>
          <a:xfrm>
            <a:off x="6812280" y="553212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85432" y="5605272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特徴量＋しきい値</a:t>
            </a:r>
            <a:endParaRPr lang="en-US" sz="1080" dirty="0"/>
          </a:p>
        </p:txBody>
      </p:sp>
      <p:sp>
        <p:nvSpPr>
          <p:cNvPr id="52" name="Shape 49"/>
          <p:cNvSpPr/>
          <p:nvPr/>
        </p:nvSpPr>
        <p:spPr>
          <a:xfrm>
            <a:off x="8732520" y="5532120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805672" y="5605272"/>
            <a:ext cx="16824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最短で導入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説明しやすい</a:t>
            </a:r>
            <a:endParaRPr lang="en-US" sz="1080" dirty="0"/>
          </a:p>
        </p:txBody>
      </p:sp>
      <p:sp>
        <p:nvSpPr>
          <p:cNvPr id="54" name="Shape 51"/>
          <p:cNvSpPr/>
          <p:nvPr/>
        </p:nvSpPr>
        <p:spPr>
          <a:xfrm>
            <a:off x="10561320" y="553212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634472" y="5605272"/>
            <a:ext cx="9966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精度は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条件依存</a:t>
            </a:r>
            <a:endParaRPr lang="en-US" sz="1080" dirty="0"/>
          </a:p>
        </p:txBody>
      </p:sp>
      <p:sp>
        <p:nvSpPr>
          <p:cNvPr id="56" name="Shape 5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手法②：密度指標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手法③：置換率の時間変化（置換率曲線）を扱う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曲線をパラメータ化して、比較・監視・予測に使う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65836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430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なぜ“曲線”をそのまま扱うのが大事？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6309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置換が遅れる/形が変わると、品質（エッチ2D分布）が崩れることが多い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曲線をパラメータ（t95など）にすると、Run間比較と監視が簡単になる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パラメータは、装置ログからの推定や、シミュレーション較正にも使える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971800"/>
            <a:ext cx="6309360" cy="3429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mnt/data/figs/replacement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52" y="3063240"/>
            <a:ext cx="5456136" cy="3246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98080" y="1005840"/>
            <a:ext cx="45720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26680" y="1143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標準パラメータ（例）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26680" y="1554480"/>
            <a:ext cx="12344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99832" y="1627632"/>
            <a:ext cx="10881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パラメータ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61120" y="1554480"/>
            <a:ext cx="1417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34272" y="1627632"/>
            <a:ext cx="127101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378440" y="1554480"/>
            <a:ext cx="16459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51592" y="1627632"/>
            <a:ext cx="149961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26680" y="1965960"/>
            <a:ext cx="123444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9832" y="2039112"/>
            <a:ext cx="1088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t90 / t95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961120" y="1965960"/>
            <a:ext cx="141732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34272" y="2039112"/>
            <a:ext cx="12710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90/95%到達時間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378440" y="1965960"/>
            <a:ext cx="164592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451592" y="2039112"/>
            <a:ext cx="14996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遅れ検知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条件探索の制約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26680" y="246888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99832" y="2542032"/>
            <a:ext cx="1088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勾配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961120" y="246888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34272" y="2542032"/>
            <a:ext cx="12710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立上りの速さ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378440" y="246888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451592" y="2542032"/>
            <a:ext cx="14996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混合/流れの変化検知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26680" y="2971800"/>
            <a:ext cx="123444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99832" y="3044952"/>
            <a:ext cx="108813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AUC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961120" y="2971800"/>
            <a:ext cx="141732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34272" y="3044952"/>
            <a:ext cx="12710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全体の置換量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378440" y="2971800"/>
            <a:ext cx="164592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451592" y="3044952"/>
            <a:ext cx="14996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総合評価（例）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726680" y="3474720"/>
            <a:ext cx="1234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99832" y="3547872"/>
            <a:ext cx="108813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形状距離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961120" y="3474720"/>
            <a:ext cx="1417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034272" y="3547872"/>
            <a:ext cx="12710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曲線形の違い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378440" y="34747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451592" y="354787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異常分類（形が違う）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726680" y="4206240"/>
            <a:ext cx="4297680" cy="2194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09560" y="4343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実装の第一歩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909560" y="46634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フェーズ揃え（切り出し）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再サンプル/平滑化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パラメータ算出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しきい値/管理図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手法③：置換率曲線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手法③（詳細1/3）：装置ログから置換率曲線を推定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置換率センサが無い/取れないRunでも、挙動を推定して監視範囲を広げる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5394960" cy="5074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推定パターン（2つ）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18288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1856232"/>
            <a:ext cx="16824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783080"/>
            <a:ext cx="14630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856232"/>
            <a:ext cx="13167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1737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856232"/>
            <a:ext cx="159105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88720" y="2194560"/>
            <a:ext cx="182880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2267712"/>
            <a:ext cx="16824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曲線パラメータを回帰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2194560"/>
            <a:ext cx="146304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2267712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t95等→曲線復元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194560"/>
            <a:ext cx="173736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267712"/>
            <a:ext cx="159105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実装が軽い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運用しやすい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283464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2907792"/>
            <a:ext cx="16824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曲線を直接予測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283464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0672" y="2907792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置換率(t)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2834640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907792"/>
            <a:ext cx="159105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表現力が高い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ただし学習が重い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365760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794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入力（装置ログ）の作り方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411480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フェーズ分割（充填/循環/排液…）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フェーズ別：平均/分散/立上り/積分/振動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レシピ変数と組み合わせ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123444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フェーズ分割の例（装置ログ）</a:t>
            </a:r>
            <a:endParaRPr lang="en-US" sz="1200" dirty="0"/>
          </a:p>
        </p:txBody>
      </p:sp>
      <p:pic>
        <p:nvPicPr>
          <p:cNvPr id="31" name="Image 0" descr="/mnt/data/figs/log_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265" y="1691640"/>
            <a:ext cx="4415790" cy="24231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812280" y="4251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このフェーズ別特徴を入力として、置換率曲線のパラメータ（t95等）を推定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812280" y="4892040"/>
            <a:ext cx="4937760" cy="1325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9516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運用上の重要ポイント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995160" y="5349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不確かさが大きいRunは「再計測」へ回す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装置状態のドリフト（保全/薬液）で再学習が必要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手法③：ログ→置換率推定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手法③（詳細2/3）：置換率曲線の異常検知と使い分け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t95遅れ・形状変化を早期検知 → 2Dムラ悪化の前兆として活用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60350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異常の例（概念）</a:t>
            </a:r>
            <a:endParaRPr lang="en-US" sz="1200" dirty="0"/>
          </a:p>
        </p:txBody>
      </p:sp>
      <p:pic>
        <p:nvPicPr>
          <p:cNvPr id="8" name="Image 0" descr="/mnt/data/figs/replacement_anom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4798" y="1691640"/>
            <a:ext cx="4457125" cy="2651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88720" y="4480560"/>
            <a:ext cx="56692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4617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検知ロジック（例）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493776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パラメータ逸脱：t95が閾値超え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形状距離：DTW等で“形が違う”を検知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異常のタイプ別に原因候補を絞る（偏流/泡/詰まり 等）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69480" y="1234440"/>
            <a:ext cx="4663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現場での使い分け（例）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1783080"/>
            <a:ext cx="1737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25512" y="1856232"/>
            <a:ext cx="159105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89720" y="1783080"/>
            <a:ext cx="2560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62872" y="1856232"/>
            <a:ext cx="241401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推奨アクション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52360" y="2194560"/>
            <a:ext cx="173736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226771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置換が遅い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（t95↑）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89720" y="2194560"/>
            <a:ext cx="25603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62872" y="2267712"/>
            <a:ext cx="24140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流量/圧力のフェーズ別確認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代表条件で動画確認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52360" y="278892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25512" y="286207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形が違う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（DTW↑）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189720" y="278892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62872" y="2862072"/>
            <a:ext cx="24140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泡/白濁指標を確認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近傍流れの偏り仮説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52360" y="3383280"/>
            <a:ext cx="173736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25512" y="345643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推定の不確かさ大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189720" y="3383280"/>
            <a:ext cx="25603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62872" y="3456432"/>
            <a:ext cx="24140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追加計測（置換率/2D分布）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測定位置の提案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452360" y="4160520"/>
            <a:ext cx="4297680" cy="2148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35240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2Dムラとの接続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635240" y="46177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置換遅れ→境界層/濃度の立上り遅れ→エッチ不均一のリスク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動画指標（偏流/泡）を合わせると原因が絞れる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手法③：曲線異常検知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装置ログ：フェーズ分割と特徴量化（入力変数化）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2D分布予測・置換率推定・異常検知の“共通の土台”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65836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430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フェーズ分割の例</a:t>
            </a:r>
            <a:endParaRPr lang="en-US" sz="1600" dirty="0"/>
          </a:p>
        </p:txBody>
      </p:sp>
      <p:pic>
        <p:nvPicPr>
          <p:cNvPr id="7" name="Image 0" descr="/mnt/data/figs/log_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991" y="1508760"/>
            <a:ext cx="4749057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5840" y="4251960"/>
            <a:ext cx="6309360" cy="2148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4389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フェーズ別特徴量（例）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4709160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平均/分散（安定性）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立上り時間（応答遅れ）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積分値（総量）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相互関係（圧力↔流量の相関）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振動/脈動（周波数成分）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1005840"/>
            <a:ext cx="461772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26680" y="1143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異常検知の役割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26680" y="1554480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ログ異常は「安全弁」：品質推定が信用できないRunを弾く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異常が出たフェーズ/信号をTop表示 → 点検箇所の当たりを付ける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Step2の配管シミュレーションにも、境界条件の妥当性として効く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26680" y="3749040"/>
            <a:ext cx="4343400" cy="2651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9560" y="38862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実装例（軽量）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9560" y="420624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PCA監視 / IsolationForest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フェーズ別にモデルと閾値を分ける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説明：寄与信号Top3（SHAPなど）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ログ：入力変数化・異常検知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運用画面のイメージ：1Runで“判断できる”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2D分布予測・置換曲線・動画指標・ログ異常を1画面に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10927080" cy="5074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46304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572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エッチ2D分布（予測）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72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置換率曲線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572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動画指標（流速/密度）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416052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27024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装置ログ異常（Top）＋推奨アクション</a:t>
            </a:r>
            <a:endParaRPr lang="en-US" sz="1100" dirty="0"/>
          </a:p>
        </p:txBody>
      </p:sp>
      <p:pic>
        <p:nvPicPr>
          <p:cNvPr id="15" name="Image 0" descr="/mnt/data/figs/wafe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662" y="1783080"/>
            <a:ext cx="1930836" cy="2057400"/>
          </a:xfrm>
          <a:prstGeom prst="rect">
            <a:avLst/>
          </a:prstGeom>
        </p:spPr>
      </p:pic>
      <p:pic>
        <p:nvPicPr>
          <p:cNvPr id="16" name="Image 1" descr="/mnt/data/figs/replacement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59743"/>
            <a:ext cx="3200400" cy="1904073"/>
          </a:xfrm>
          <a:prstGeom prst="rect">
            <a:avLst/>
          </a:prstGeom>
        </p:spPr>
      </p:pic>
      <p:pic>
        <p:nvPicPr>
          <p:cNvPr id="17" name="Image 2" descr="/mnt/data/figs/density_timeser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977" y="1783080"/>
            <a:ext cx="1669725" cy="1005840"/>
          </a:xfrm>
          <a:prstGeom prst="rect">
            <a:avLst/>
          </a:prstGeom>
        </p:spPr>
      </p:pic>
      <p:pic>
        <p:nvPicPr>
          <p:cNvPr id="18" name="Image 3" descr="/mnt/data/figs/velocity_f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083" y="2834640"/>
            <a:ext cx="1665514" cy="9601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325880" y="4480560"/>
            <a:ext cx="10972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399032" y="4553712"/>
            <a:ext cx="9509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2423160" y="4480560"/>
            <a:ext cx="48463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496312" y="4553712"/>
            <a:ext cx="47000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状況（例）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269480" y="4480560"/>
            <a:ext cx="44805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342632" y="4553712"/>
            <a:ext cx="43342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325880" y="4846320"/>
            <a:ext cx="109728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399032" y="4919472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ログ異常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423160" y="4846320"/>
            <a:ext cx="484632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496312" y="4919472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循環フェーズで流量の振動が増加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269480" y="4846320"/>
            <a:ext cx="44805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42632" y="4919472"/>
            <a:ext cx="43342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配管/ポンプ系の点検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（詰まり・脈動）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1325880" y="5230368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399032" y="5303520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2423160" y="5230368"/>
            <a:ext cx="4846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496312" y="5303520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t95が閾値超え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7269480" y="5230368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342632" y="5303520"/>
            <a:ext cx="43342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代表条件で動画確認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（偏流/泡の兆候）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1325880" y="5614416"/>
            <a:ext cx="1097280" cy="37490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399032" y="5687568"/>
            <a:ext cx="95097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2423160" y="5614416"/>
            <a:ext cx="4846320" cy="37490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2496312" y="5687568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エッジ悪化タイプ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269480" y="5614416"/>
            <a:ext cx="4480560" cy="37490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342632" y="5687568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レシピ微調整候補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（安全範囲で）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1325880" y="6428232"/>
            <a:ext cx="10424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※最初は「レポート自動生成」でも十分（UIは後から改善可能）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運用画面（イメージ）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Step2：想定シミュレーション（4種）と接続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配管→近傍流体→反応→連成（まずは逐次でMVP）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10927080" cy="1965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463040"/>
            <a:ext cx="2377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627632"/>
            <a:ext cx="23774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配管内流体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（ノズル分配・圧損）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9312" y="2011680"/>
            <a:ext cx="228600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463040"/>
            <a:ext cx="2377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627632"/>
            <a:ext cx="23774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1pitch近傍流体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（流速場・kL）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6792" y="2011680"/>
            <a:ext cx="228600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463040"/>
            <a:ext cx="2377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627632"/>
            <a:ext cx="23774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表面反応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（エッチ速度）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34272" y="2011680"/>
            <a:ext cx="228600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0" y="1463040"/>
            <a:ext cx="2377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627632"/>
            <a:ext cx="23774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（逐次→反復）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926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境界条件：装置ログ/レシピ → 配管シミュレーションへ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246120"/>
            <a:ext cx="1737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319272"/>
            <a:ext cx="159105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0" y="3246120"/>
            <a:ext cx="27432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319272"/>
            <a:ext cx="25968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主な入力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0" y="3246120"/>
            <a:ext cx="27432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3319272"/>
            <a:ext cx="25968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主な出力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246120"/>
            <a:ext cx="3703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319272"/>
            <a:ext cx="355701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検証データ（Step1）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5840" y="3657600"/>
            <a:ext cx="173736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373075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配管内流体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0" y="3657600"/>
            <a:ext cx="27432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3730752"/>
            <a:ext cx="25968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形状/境界条件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（圧力・流量）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0" y="3657600"/>
            <a:ext cx="27432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3730752"/>
            <a:ext cx="25968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ノズル別流量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圧損/脈動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3657600"/>
            <a:ext cx="37033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3730752"/>
            <a:ext cx="35570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5840" y="425196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432511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1pitch近傍流体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0" y="4251960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16352" y="4325112"/>
            <a:ext cx="25968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ノズル条件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形状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0" y="4251960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9552" y="4325112"/>
            <a:ext cx="25968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速度場/滞留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kL分布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29600" y="4251960"/>
            <a:ext cx="3703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02752" y="4325112"/>
            <a:ext cx="35570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動画（流速・密度）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05840" y="4846320"/>
            <a:ext cx="173736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8992" y="4919472"/>
            <a:ext cx="15910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表面反応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0" y="4846320"/>
            <a:ext cx="27432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16352" y="4919472"/>
            <a:ext cx="25968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反応式/温度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kL分布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0" y="4846320"/>
            <a:ext cx="27432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59552" y="4919472"/>
            <a:ext cx="25968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エッチ2D分布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229600" y="4846320"/>
            <a:ext cx="37033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2752" y="4919472"/>
            <a:ext cx="35570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ウェハー2D分布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05840" y="5440680"/>
            <a:ext cx="1737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513832"/>
            <a:ext cx="159105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連成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0" y="544068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16352" y="5513832"/>
            <a:ext cx="259689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上記統合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0" y="544068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59552" y="5513832"/>
            <a:ext cx="259689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エッチ2D分布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（＋置換挙動）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229600" y="5440680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02752" y="5513832"/>
            <a:ext cx="355701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2D＋動画＋置換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Step2：シミュレーション構成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Step2：検証（Validation）計画 — 何を合わせれば良いか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“合うシミュレーション”を作るには、比較指標を先に固定する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検証の順番（推奨）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5029200" cy="594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8836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近傍流体 ⇔ 動画の流速/密度（まず合わせる）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88720" y="2560320"/>
            <a:ext cx="5029200" cy="594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6609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反応 ⇔ エッチ2D分布（代表条件で較正）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3337560"/>
            <a:ext cx="5029200" cy="594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43814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連成で2D分布（＋置換）を再現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88720" y="4114800"/>
            <a:ext cx="5029200" cy="594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21538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未踏条件へ外挿（不確かさ付き）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1234440"/>
            <a:ext cx="5303520" cy="5074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検証マトリクス（例）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737360"/>
            <a:ext cx="1554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1810512"/>
            <a:ext cx="140817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比較対象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66760" y="1737360"/>
            <a:ext cx="19202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1810512"/>
            <a:ext cx="17739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指標（例）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287000" y="1737360"/>
            <a:ext cx="14630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0152" y="1810512"/>
            <a:ext cx="13167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必要な実測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2148840"/>
            <a:ext cx="155448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2221992"/>
            <a:ext cx="140817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近傍流体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66760" y="2148840"/>
            <a:ext cx="192024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222199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平均流速/偏流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滞留指標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87000" y="2148840"/>
            <a:ext cx="146304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60152" y="2221992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動画（代表条件）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12280" y="2788920"/>
            <a:ext cx="1554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2862072"/>
            <a:ext cx="140817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密度（泡/白濁）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66760" y="27889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9912" y="286207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泡面積率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白濁度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287000" y="278892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60152" y="2862072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動画（同上）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12280" y="3429000"/>
            <a:ext cx="155448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85432" y="3502152"/>
            <a:ext cx="140817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置換挙動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66760" y="3429000"/>
            <a:ext cx="192024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9912" y="350215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t95/t90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形状距離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287000" y="3429000"/>
            <a:ext cx="146304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60152" y="3502152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置換率センサ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12280" y="4069080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4142232"/>
            <a:ext cx="140817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エッチ2D分布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66760" y="406908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9912" y="4142232"/>
            <a:ext cx="177393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NU、中心-エッジ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モード係数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287000" y="4069080"/>
            <a:ext cx="1463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60152" y="4142232"/>
            <a:ext cx="131673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ウェハー2D計測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12280" y="4892040"/>
            <a:ext cx="4937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5074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ポイント：比較指標を固定すると、必要な追加計測（動画/置換/2D）が最小化できる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Step2：検証計画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Step3：統合（実測×シミュレーション）と高速化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外挿力と信頼性を両立し、条件探索・設計探索へ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58521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統合の狙い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実測：正しいが少ない（外挿が弱い）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シミュレーション：広く打てるがズレる（信用が弱い）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多忠実度統合で「広く」かつ「当たる」を目指す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3108960"/>
            <a:ext cx="5486400" cy="3154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高速化の考え方（代理モデル）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56616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重い連成シミュレーションをDOEで回す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入出力から代理モデルを学習（数秒で予測）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代理モデルでwhat-if/最適化→有望案だけ本シミュレーション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234440"/>
            <a:ext cx="48463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371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多忠実度統合のイメージ</a:t>
            </a:r>
            <a:endParaRPr lang="en-US" sz="1200" dirty="0"/>
          </a:p>
        </p:txBody>
      </p:sp>
      <p:pic>
        <p:nvPicPr>
          <p:cNvPr id="14" name="Image 0" descr="/mnt/data/figs/multifide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1622" y="1691640"/>
            <a:ext cx="3696275" cy="21488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269480" y="3977640"/>
            <a:ext cx="18288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42632" y="4050792"/>
            <a:ext cx="16824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98280" y="3977640"/>
            <a:ext cx="26517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71432" y="4050792"/>
            <a:ext cx="250545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出力（例）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69480" y="4389120"/>
            <a:ext cx="18288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42632" y="4462272"/>
            <a:ext cx="16824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不確かさ提示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98280" y="4389120"/>
            <a:ext cx="265176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1432" y="4462272"/>
            <a:ext cx="25054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外挿の危険度を可視化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269480" y="498348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42632" y="5056632"/>
            <a:ext cx="16824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制約付き最適化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098280" y="4983480"/>
            <a:ext cx="2651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71432" y="5056632"/>
            <a:ext cx="25054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均一性×置換×時間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のトレードオフ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269480" y="5577840"/>
            <a:ext cx="18288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42632" y="5650992"/>
            <a:ext cx="16824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対策提案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098280" y="5577840"/>
            <a:ext cx="265176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71432" y="5650992"/>
            <a:ext cx="25054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安全範囲での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次条件/点検候補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Step3：統合・高速化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開発ロードマップ（粒度高め）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Step1→Step2→Step3の依存関係を明確にして、投資判断しやすく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1430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フェーズ別の成果物（例）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10927080" cy="30175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1821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965960"/>
            <a:ext cx="0" cy="25146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7020" y="1691640"/>
            <a:ext cx="1821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27020" y="1965960"/>
            <a:ext cx="0" cy="25146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8200" y="1691640"/>
            <a:ext cx="1821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8200" y="1965960"/>
            <a:ext cx="0" cy="25146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9380" y="1691640"/>
            <a:ext cx="1821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69380" y="1965960"/>
            <a:ext cx="0" cy="25146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0560" y="1691640"/>
            <a:ext cx="1821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90560" y="1965960"/>
            <a:ext cx="0" cy="25146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11740" y="1691640"/>
            <a:ext cx="1821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111740" y="1965960"/>
            <a:ext cx="0" cy="25146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2103120"/>
            <a:ext cx="528066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7008" y="2212848"/>
            <a:ext cx="5061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Step1：実測モデル（2D/動画/置換）＋運用レポート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9640" y="2743200"/>
            <a:ext cx="5280660" cy="502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9368" y="2852928"/>
            <a:ext cx="50612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Step2：SIM1/2/3 検証・較正 → 逐次連成MVP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82000" y="3383280"/>
            <a:ext cx="3459480" cy="5029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91728" y="3493008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Step3：統合（多忠実度）＋代理モデル＋最適化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7548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ゲート（投資判断ポイント）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05840" y="5074920"/>
            <a:ext cx="1920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5148072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0" y="5074920"/>
            <a:ext cx="44805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2" y="5148072"/>
            <a:ext cx="43342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判断材料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06640" y="5074920"/>
            <a:ext cx="45262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5148072"/>
            <a:ext cx="43799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次フェーズへの条件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5840" y="5440680"/>
            <a:ext cx="192024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513832"/>
            <a:ext cx="177393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G1（Step1終了）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26080" y="5440680"/>
            <a:ext cx="448056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5513832"/>
            <a:ext cx="433425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2D分布/置換/ログ異常がRun単位で出る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06640" y="5440680"/>
            <a:ext cx="452628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5513832"/>
            <a:ext cx="43799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代表条件で動画が再現性良く取れる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05840" y="5733288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992" y="5806440"/>
            <a:ext cx="177393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G2（Step2中間）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926080" y="5733288"/>
            <a:ext cx="4480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99232" y="5806440"/>
            <a:ext cx="433425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近傍流体⇔動画、反応⇔2Dが整合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06640" y="5733288"/>
            <a:ext cx="4526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9792" y="5806440"/>
            <a:ext cx="43799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連成で代表条件の2Dが再現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05840" y="6025896"/>
            <a:ext cx="1920240" cy="2834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" y="6099048"/>
            <a:ext cx="1773936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G3（Step3）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926080" y="6025896"/>
            <a:ext cx="4480560" cy="2834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99232" y="6099048"/>
            <a:ext cx="4334256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外挿の不確かさが可視化できる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06640" y="6025896"/>
            <a:ext cx="4526280" cy="28346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79792" y="6099048"/>
            <a:ext cx="4379976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探索/設計の意思決定に使える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工数見積もり（目安）と担当（粒度高め）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役割：データ取り / 装置運用 / 開発（データ基盤・解析・UI）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18288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307592"/>
            <a:ext cx="16824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ワークストリーム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2834640" y="1234440"/>
            <a:ext cx="32918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307592"/>
            <a:ext cx="31455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主な作業内容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1945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307592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321040" y="1234440"/>
            <a:ext cx="13258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307592"/>
            <a:ext cx="117957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工数目安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9646920" y="1234440"/>
            <a:ext cx="2286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0072" y="1307592"/>
            <a:ext cx="21396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主担当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1005840" y="1645920"/>
            <a:ext cx="18288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1719072"/>
            <a:ext cx="16824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Step1-基盤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2834640" y="1645920"/>
            <a:ext cx="329184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1719072"/>
            <a:ext cx="314553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Run統合（ID/時刻）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フェーズ分割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特徴量化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126480" y="1645920"/>
            <a:ext cx="219456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719072"/>
            <a:ext cx="20482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統合データセット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品質テスト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8321040" y="1645920"/>
            <a:ext cx="132588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1719072"/>
            <a:ext cx="117957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2〜4人月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9646920" y="1645920"/>
            <a:ext cx="2286000" cy="685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0072" y="1719072"/>
            <a:ext cx="21396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開発＋運用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1005840" y="2331720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2404872"/>
            <a:ext cx="16824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Step1-2D分布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2834640" y="233172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2404872"/>
            <a:ext cx="314553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2Dマップ正規化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係数化＋回帰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126480" y="2331720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404872"/>
            <a:ext cx="20482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予測2Dマップ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ムラタイプ/リスク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8321040" y="233172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4192" y="2404872"/>
            <a:ext cx="117957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2〜5人月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9646920" y="233172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20072" y="2404872"/>
            <a:ext cx="21396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1005840" y="3017520"/>
            <a:ext cx="182880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3090672"/>
            <a:ext cx="16824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Step1-置換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2834640" y="3017520"/>
            <a:ext cx="329184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7792" y="3090672"/>
            <a:ext cx="31455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曲線正規化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パラメータ化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異常検知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6126480" y="3017520"/>
            <a:ext cx="219456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3090672"/>
            <a:ext cx="204825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t95等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異常フラグ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8321040" y="3017520"/>
            <a:ext cx="132588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94192" y="3090672"/>
            <a:ext cx="117957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1〜3人月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9646920" y="3017520"/>
            <a:ext cx="228600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20072" y="3090672"/>
            <a:ext cx="21396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開発＋運用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1005840" y="3657600"/>
            <a:ext cx="1828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8992" y="3730752"/>
            <a:ext cx="16824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Step1-動画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2834640" y="365760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07792" y="3730752"/>
            <a:ext cx="314553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撮影仕様SOP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流速（PIV/OF）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密度指標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6126480" y="3657600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9632" y="3730752"/>
            <a:ext cx="20482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速度/密度指標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代表条件検証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8321040" y="365760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94192" y="3730752"/>
            <a:ext cx="117957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2〜6人月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＋計測工数</a:t>
            </a:r>
            <a:endParaRPr lang="en-US" sz="1040" dirty="0"/>
          </a:p>
        </p:txBody>
      </p:sp>
      <p:sp>
        <p:nvSpPr>
          <p:cNvPr id="54" name="Shape 52"/>
          <p:cNvSpPr/>
          <p:nvPr/>
        </p:nvSpPr>
        <p:spPr>
          <a:xfrm>
            <a:off x="9646920" y="365760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20072" y="3730752"/>
            <a:ext cx="213969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データ取り＋開発</a:t>
            </a:r>
            <a:endParaRPr lang="en-US" sz="1040" dirty="0"/>
          </a:p>
        </p:txBody>
      </p:sp>
      <p:sp>
        <p:nvSpPr>
          <p:cNvPr id="56" name="Shape 54"/>
          <p:cNvSpPr/>
          <p:nvPr/>
        </p:nvSpPr>
        <p:spPr>
          <a:xfrm>
            <a:off x="1005840" y="4343400"/>
            <a:ext cx="182880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78992" y="4416552"/>
            <a:ext cx="16824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Step1-運用</a:t>
            </a:r>
            <a:endParaRPr lang="en-US" sz="1040" dirty="0"/>
          </a:p>
        </p:txBody>
      </p:sp>
      <p:sp>
        <p:nvSpPr>
          <p:cNvPr id="58" name="Shape 56"/>
          <p:cNvSpPr/>
          <p:nvPr/>
        </p:nvSpPr>
        <p:spPr>
          <a:xfrm>
            <a:off x="2834640" y="4343400"/>
            <a:ext cx="329184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07792" y="4416552"/>
            <a:ext cx="314553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Runレポート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アラート運用設計</a:t>
            </a:r>
            <a:endParaRPr lang="en-US" sz="1040" dirty="0"/>
          </a:p>
        </p:txBody>
      </p:sp>
      <p:sp>
        <p:nvSpPr>
          <p:cNvPr id="60" name="Shape 58"/>
          <p:cNvSpPr/>
          <p:nvPr/>
        </p:nvSpPr>
        <p:spPr>
          <a:xfrm>
            <a:off x="6126480" y="4343400"/>
            <a:ext cx="219456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9632" y="4416552"/>
            <a:ext cx="204825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1画面/自動レポート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アクション定義</a:t>
            </a:r>
            <a:endParaRPr lang="en-US" sz="1040" dirty="0"/>
          </a:p>
        </p:txBody>
      </p:sp>
      <p:sp>
        <p:nvSpPr>
          <p:cNvPr id="62" name="Shape 60"/>
          <p:cNvSpPr/>
          <p:nvPr/>
        </p:nvSpPr>
        <p:spPr>
          <a:xfrm>
            <a:off x="8321040" y="4343400"/>
            <a:ext cx="132588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94192" y="4416552"/>
            <a:ext cx="117957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1〜3人月</a:t>
            </a:r>
            <a:endParaRPr lang="en-US" sz="1040" dirty="0"/>
          </a:p>
        </p:txBody>
      </p:sp>
      <p:sp>
        <p:nvSpPr>
          <p:cNvPr id="64" name="Shape 62"/>
          <p:cNvSpPr/>
          <p:nvPr/>
        </p:nvSpPr>
        <p:spPr>
          <a:xfrm>
            <a:off x="9646920" y="4343400"/>
            <a:ext cx="2286000" cy="640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20072" y="4416552"/>
            <a:ext cx="213969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運用＋開発</a:t>
            </a:r>
            <a:endParaRPr lang="en-US" sz="1040" dirty="0"/>
          </a:p>
        </p:txBody>
      </p:sp>
      <p:sp>
        <p:nvSpPr>
          <p:cNvPr id="66" name="Shape 64"/>
          <p:cNvSpPr/>
          <p:nvPr/>
        </p:nvSpPr>
        <p:spPr>
          <a:xfrm>
            <a:off x="1005840" y="49834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8992" y="5056632"/>
            <a:ext cx="16824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Step2-SIM</a:t>
            </a:r>
            <a:endParaRPr lang="en-US" sz="1040" dirty="0"/>
          </a:p>
        </p:txBody>
      </p:sp>
      <p:sp>
        <p:nvSpPr>
          <p:cNvPr id="68" name="Shape 66"/>
          <p:cNvSpPr/>
          <p:nvPr/>
        </p:nvSpPr>
        <p:spPr>
          <a:xfrm>
            <a:off x="2834640" y="4983480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07792" y="5056632"/>
            <a:ext cx="314553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SIM1/2/3構築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検証/較正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逐次連成</a:t>
            </a:r>
            <a:endParaRPr lang="en-US" sz="1040" dirty="0"/>
          </a:p>
        </p:txBody>
      </p:sp>
      <p:sp>
        <p:nvSpPr>
          <p:cNvPr id="70" name="Shape 68"/>
          <p:cNvSpPr/>
          <p:nvPr/>
        </p:nvSpPr>
        <p:spPr>
          <a:xfrm>
            <a:off x="6126480" y="498348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99632" y="5056632"/>
            <a:ext cx="204825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代表条件で整合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連成MVP</a:t>
            </a:r>
            <a:endParaRPr lang="en-US" sz="1040" dirty="0"/>
          </a:p>
        </p:txBody>
      </p:sp>
      <p:sp>
        <p:nvSpPr>
          <p:cNvPr id="72" name="Shape 70"/>
          <p:cNvSpPr/>
          <p:nvPr/>
        </p:nvSpPr>
        <p:spPr>
          <a:xfrm>
            <a:off x="8321040" y="4983480"/>
            <a:ext cx="1325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94192" y="5056632"/>
            <a:ext cx="117957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6〜12人月</a:t>
            </a:r>
            <a:endParaRPr lang="en-US" sz="1040" dirty="0"/>
          </a:p>
        </p:txBody>
      </p:sp>
      <p:sp>
        <p:nvSpPr>
          <p:cNvPr id="74" name="Shape 72"/>
          <p:cNvSpPr/>
          <p:nvPr/>
        </p:nvSpPr>
        <p:spPr>
          <a:xfrm>
            <a:off x="9646920" y="4983480"/>
            <a:ext cx="2286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20072" y="5056632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開発（設計協力）</a:t>
            </a:r>
            <a:endParaRPr lang="en-US" sz="1040" dirty="0"/>
          </a:p>
        </p:txBody>
      </p:sp>
      <p:sp>
        <p:nvSpPr>
          <p:cNvPr id="76" name="Shape 74"/>
          <p:cNvSpPr/>
          <p:nvPr/>
        </p:nvSpPr>
        <p:spPr>
          <a:xfrm>
            <a:off x="1005840" y="5715000"/>
            <a:ext cx="18288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8992" y="5788152"/>
            <a:ext cx="16824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Step3-統合</a:t>
            </a:r>
            <a:endParaRPr lang="en-US" sz="1040" dirty="0"/>
          </a:p>
        </p:txBody>
      </p:sp>
      <p:sp>
        <p:nvSpPr>
          <p:cNvPr id="78" name="Shape 76"/>
          <p:cNvSpPr/>
          <p:nvPr/>
        </p:nvSpPr>
        <p:spPr>
          <a:xfrm>
            <a:off x="2834640" y="5715000"/>
            <a:ext cx="329184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07792" y="5788152"/>
            <a:ext cx="314553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代理モデル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多忠実度統合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制約付き最適化</a:t>
            </a:r>
            <a:endParaRPr lang="en-US" sz="1040" dirty="0"/>
          </a:p>
        </p:txBody>
      </p:sp>
      <p:sp>
        <p:nvSpPr>
          <p:cNvPr id="80" name="Shape 78"/>
          <p:cNvSpPr/>
          <p:nvPr/>
        </p:nvSpPr>
        <p:spPr>
          <a:xfrm>
            <a:off x="6126480" y="5715000"/>
            <a:ext cx="219456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99632" y="5788152"/>
            <a:ext cx="204825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外挿予測＋不確かさ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探索/設計提案</a:t>
            </a:r>
            <a:endParaRPr lang="en-US" sz="1040" dirty="0"/>
          </a:p>
        </p:txBody>
      </p:sp>
      <p:sp>
        <p:nvSpPr>
          <p:cNvPr id="82" name="Shape 80"/>
          <p:cNvSpPr/>
          <p:nvPr/>
        </p:nvSpPr>
        <p:spPr>
          <a:xfrm>
            <a:off x="8321040" y="5715000"/>
            <a:ext cx="13258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94192" y="5788152"/>
            <a:ext cx="117957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8〜16人月</a:t>
            </a:r>
            <a:endParaRPr lang="en-US" sz="1040" dirty="0"/>
          </a:p>
        </p:txBody>
      </p:sp>
      <p:sp>
        <p:nvSpPr>
          <p:cNvPr id="84" name="Shape 82"/>
          <p:cNvSpPr/>
          <p:nvPr/>
        </p:nvSpPr>
        <p:spPr>
          <a:xfrm>
            <a:off x="9646920" y="5715000"/>
            <a:ext cx="22860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720072" y="5788152"/>
            <a:ext cx="21396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開発＋設計</a:t>
            </a:r>
            <a:endParaRPr lang="en-US" sz="1040" dirty="0"/>
          </a:p>
        </p:txBody>
      </p:sp>
      <p:sp>
        <p:nvSpPr>
          <p:cNvPr id="86" name="Text 84"/>
          <p:cNvSpPr/>
          <p:nvPr/>
        </p:nvSpPr>
        <p:spPr>
          <a:xfrm>
            <a:off x="1005840" y="6428232"/>
            <a:ext cx="10927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注：動画は「計測SOP・治具・運用」が別途コストになりやすい／SIMは計算資源の確保が前提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工数見積もり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WBS（詳細）：Step1で何を作るか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MVP（最小で現場が使う）→ 精度改善 → 運用拡張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5029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307592"/>
            <a:ext cx="35661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234440"/>
            <a:ext cx="31546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1307592"/>
            <a:ext cx="300837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23774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307592"/>
            <a:ext cx="22311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234440"/>
            <a:ext cx="12344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4032" y="1307592"/>
            <a:ext cx="108813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1234440"/>
            <a:ext cx="1554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307592"/>
            <a:ext cx="140817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29800" y="1234440"/>
            <a:ext cx="21031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2952" y="1307592"/>
            <a:ext cx="195681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工数目安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1645920"/>
            <a:ext cx="5029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1719072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08760" y="1645920"/>
            <a:ext cx="31546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81912" y="171907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Run統合（ID/時刻）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645920"/>
            <a:ext cx="2377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719072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run_master + 結合ETL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1645920"/>
            <a:ext cx="1234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1719072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75320" y="1645920"/>
            <a:ext cx="15544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8472" y="171907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29800" y="1645920"/>
            <a:ext cx="21031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02952" y="171907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1.0〜2.0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2084832"/>
            <a:ext cx="502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2157984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08760" y="2084832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81912" y="2157984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フェーズ分割（ルール＋補助）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084832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15798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フェーズ定義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切出し処理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40880" y="208483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14032" y="2157984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75320" y="2084832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48472" y="2157984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運用＋開発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829800" y="208483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02952" y="215798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0.8〜1.5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05840" y="2523744"/>
            <a:ext cx="5029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8992" y="2596896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508760" y="2523744"/>
            <a:ext cx="31546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81912" y="2596896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ログ特徴量化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523744"/>
            <a:ext cx="2377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2596896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特徴量テーブル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40880" y="2523744"/>
            <a:ext cx="1234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14032" y="2596896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75320" y="2523744"/>
            <a:ext cx="15544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48472" y="259689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829800" y="2523744"/>
            <a:ext cx="21031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02952" y="259689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0.5〜1.0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05840" y="2962656"/>
            <a:ext cx="502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" y="3035808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508760" y="2962656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81912" y="3035808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置換率曲線：正規化・パラメータ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2962656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303580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t95等＋異常指標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40880" y="2962656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14032" y="3035808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275320" y="296265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303580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開発＋運用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829800" y="2962656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02952" y="303580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0.5〜1.5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05840" y="3401568"/>
            <a:ext cx="5029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8992" y="3474720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508760" y="3401568"/>
            <a:ext cx="31546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581912" y="3474720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2D分布：正規化・係数化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63440" y="3401568"/>
            <a:ext cx="2377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36592" y="3474720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係数データセット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040880" y="3401568"/>
            <a:ext cx="1234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14032" y="3474720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275320" y="3401568"/>
            <a:ext cx="15544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48472" y="347472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829800" y="3401568"/>
            <a:ext cx="21031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902952" y="347472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0.8〜1.5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005840" y="3840480"/>
            <a:ext cx="502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78992" y="3913632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508760" y="3840480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581912" y="3913632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2D分布予測モデル（係数回帰）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663440" y="3840480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36592" y="3913632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予測2D＋不確かさ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040880" y="3840480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14032" y="3913632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3,5,4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275320" y="384048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48472" y="391363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9829800" y="3840480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902952" y="391363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1.0〜3.0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005840" y="4279392"/>
            <a:ext cx="5029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78992" y="4352544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508760" y="4279392"/>
            <a:ext cx="31546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81912" y="4352544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動画：計測SOP固定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663440" y="4279392"/>
            <a:ext cx="2377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36592" y="435254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撮影仕様書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メタデータ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040880" y="4279392"/>
            <a:ext cx="1234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14032" y="4352544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8275320" y="4279392"/>
            <a:ext cx="15544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48472" y="4352544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データ取り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9829800" y="4279392"/>
            <a:ext cx="21031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902952" y="4352544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0.5〜1.5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005840" y="4718304"/>
            <a:ext cx="502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78992" y="4791456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508760" y="4718304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581912" y="4791456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動画：流速/密度指標化（代表条件）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663440" y="4718304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36592" y="4791456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速度/密度指標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040880" y="4718304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14032" y="4791456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275320" y="471830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348472" y="479145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開発＋データ取り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829800" y="4718304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902952" y="4791456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1.0〜3.0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1005840" y="5157216"/>
            <a:ext cx="5029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78992" y="5230368"/>
            <a:ext cx="356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1508760" y="5157216"/>
            <a:ext cx="31546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581912" y="5230368"/>
            <a:ext cx="30083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ログ異常検知（フェーズ別）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663440" y="5157216"/>
            <a:ext cx="2377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736592" y="523036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異常スコア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寄与Top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040880" y="5157216"/>
            <a:ext cx="123444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114032" y="5230368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2,3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275320" y="5157216"/>
            <a:ext cx="15544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348472" y="523036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開発＋運用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9829800" y="5157216"/>
            <a:ext cx="21031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902952" y="523036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0.8〜1.5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1005840" y="5596128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78992" y="5669280"/>
            <a:ext cx="3566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1508760" y="5596128"/>
            <a:ext cx="3154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581912" y="5669280"/>
            <a:ext cx="30083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Runレポート/ダッシュボード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4663440" y="5596128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736592" y="5669280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統合画面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運用ルール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7040880" y="5596128"/>
            <a:ext cx="1234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114032" y="5669280"/>
            <a:ext cx="10881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4,6,8,9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59612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48472" y="5669280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運用＋開発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9829800" y="559612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902952" y="5669280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0.8〜2.0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1005840" y="6428232"/>
            <a:ext cx="10927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MVP推奨：1→2→3→4→5→6→10（動画は代表条件で並走）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WBS：Step1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WBS（詳細）：Step2〜3（シミュレーション→統合）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検証点（動画/2D/置換）を固定して、合うモデルへ段階的に寄せる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34440"/>
            <a:ext cx="914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307592"/>
            <a:ext cx="768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1920240" y="1234440"/>
            <a:ext cx="4572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307592"/>
            <a:ext cx="44256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492240" y="1234440"/>
            <a:ext cx="22860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307592"/>
            <a:ext cx="21396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778240" y="1234440"/>
            <a:ext cx="18288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307592"/>
            <a:ext cx="16824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検証データ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10607040" y="1234440"/>
            <a:ext cx="13258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80192" y="1307592"/>
            <a:ext cx="117957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工数目安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1005840" y="1645920"/>
            <a:ext cx="9144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171907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1920240" y="1645920"/>
            <a:ext cx="45720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171907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SIM1：配管内流体（境界条件をログで拘束）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492240" y="1645920"/>
            <a:ext cx="22860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171907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ノズル分配/圧損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8778240" y="1645920"/>
            <a:ext cx="18288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171907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10607040" y="1645920"/>
            <a:ext cx="132588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80192" y="1719072"/>
            <a:ext cx="1179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2〜4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1005840" y="219456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226771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1920240" y="219456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3392" y="226771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SIM2：近傍流体（ROI指標で動画と照合）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492240" y="219456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26771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速度場/kL分布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8778240" y="219456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51392" y="226771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動画（流速/密度）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10607040" y="2194560"/>
            <a:ext cx="1325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80192" y="2267712"/>
            <a:ext cx="1179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2〜5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1005840" y="2743200"/>
            <a:ext cx="9144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281635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1920240" y="2743200"/>
            <a:ext cx="45720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93392" y="281635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SIM3：表面反応（2D分布で較正）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6492240" y="2743200"/>
            <a:ext cx="22860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281635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エッチ2D分布（代表条件）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8778240" y="2743200"/>
            <a:ext cx="18288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51392" y="281635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ウェハー2D分布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10607040" y="2743200"/>
            <a:ext cx="132588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80192" y="2816352"/>
            <a:ext cx="1179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2〜5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1005840" y="329184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8992" y="3364992"/>
            <a:ext cx="7680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1920240" y="329184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93392" y="3364992"/>
            <a:ext cx="44256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SIM4：逐次連成MVP（必要なら反復/時間依存）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6492240" y="329184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3364992"/>
            <a:ext cx="21396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連成2D分布（＋置換）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8778240" y="329184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51392" y="3364992"/>
            <a:ext cx="16824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2D＋置換＋動画</a:t>
            </a:r>
            <a:endParaRPr lang="en-US" sz="1040" dirty="0"/>
          </a:p>
        </p:txBody>
      </p:sp>
      <p:sp>
        <p:nvSpPr>
          <p:cNvPr id="54" name="Shape 52"/>
          <p:cNvSpPr/>
          <p:nvPr/>
        </p:nvSpPr>
        <p:spPr>
          <a:xfrm>
            <a:off x="10607040" y="3291840"/>
            <a:ext cx="1325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80192" y="3364992"/>
            <a:ext cx="117957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3〜8</a:t>
            </a:r>
            <a:endParaRPr lang="en-US" sz="1040" dirty="0"/>
          </a:p>
        </p:txBody>
      </p:sp>
      <p:sp>
        <p:nvSpPr>
          <p:cNvPr id="56" name="Shape 54"/>
          <p:cNvSpPr/>
          <p:nvPr/>
        </p:nvSpPr>
        <p:spPr>
          <a:xfrm>
            <a:off x="1005840" y="3886200"/>
            <a:ext cx="9144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78992" y="395935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</a:t>
            </a:r>
            <a:endParaRPr lang="en-US" sz="1040" dirty="0"/>
          </a:p>
        </p:txBody>
      </p:sp>
      <p:sp>
        <p:nvSpPr>
          <p:cNvPr id="58" name="Shape 56"/>
          <p:cNvSpPr/>
          <p:nvPr/>
        </p:nvSpPr>
        <p:spPr>
          <a:xfrm>
            <a:off x="1920240" y="3886200"/>
            <a:ext cx="45720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93392" y="395935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代理モデル化（SIM入力→出力）</a:t>
            </a:r>
            <a:endParaRPr lang="en-US" sz="1040" dirty="0"/>
          </a:p>
        </p:txBody>
      </p:sp>
      <p:sp>
        <p:nvSpPr>
          <p:cNvPr id="60" name="Shape 58"/>
          <p:cNvSpPr/>
          <p:nvPr/>
        </p:nvSpPr>
        <p:spPr>
          <a:xfrm>
            <a:off x="6492240" y="3886200"/>
            <a:ext cx="22860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65392" y="395935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高速what-if</a:t>
            </a:r>
            <a:endParaRPr lang="en-US" sz="1040" dirty="0"/>
          </a:p>
        </p:txBody>
      </p:sp>
      <p:sp>
        <p:nvSpPr>
          <p:cNvPr id="62" name="Shape 60"/>
          <p:cNvSpPr/>
          <p:nvPr/>
        </p:nvSpPr>
        <p:spPr>
          <a:xfrm>
            <a:off x="8778240" y="3886200"/>
            <a:ext cx="18288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51392" y="395935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SIM結果DB</a:t>
            </a:r>
            <a:endParaRPr lang="en-US" sz="1040" dirty="0"/>
          </a:p>
        </p:txBody>
      </p:sp>
      <p:sp>
        <p:nvSpPr>
          <p:cNvPr id="64" name="Shape 62"/>
          <p:cNvSpPr/>
          <p:nvPr/>
        </p:nvSpPr>
        <p:spPr>
          <a:xfrm>
            <a:off x="10607040" y="3886200"/>
            <a:ext cx="132588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80192" y="3959352"/>
            <a:ext cx="1179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2〜5</a:t>
            </a:r>
            <a:endParaRPr lang="en-US" sz="1040" dirty="0"/>
          </a:p>
        </p:txBody>
      </p:sp>
      <p:sp>
        <p:nvSpPr>
          <p:cNvPr id="66" name="Shape 64"/>
          <p:cNvSpPr/>
          <p:nvPr/>
        </p:nvSpPr>
        <p:spPr>
          <a:xfrm>
            <a:off x="1005840" y="443484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8992" y="450799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</a:t>
            </a:r>
            <a:endParaRPr lang="en-US" sz="1040" dirty="0"/>
          </a:p>
        </p:txBody>
      </p:sp>
      <p:sp>
        <p:nvSpPr>
          <p:cNvPr id="68" name="Shape 66"/>
          <p:cNvSpPr/>
          <p:nvPr/>
        </p:nvSpPr>
        <p:spPr>
          <a:xfrm>
            <a:off x="1920240" y="443484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93392" y="450799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多忠実度統合（実測×SIM）＋不確かさ</a:t>
            </a:r>
            <a:endParaRPr lang="en-US" sz="1040" dirty="0"/>
          </a:p>
        </p:txBody>
      </p:sp>
      <p:sp>
        <p:nvSpPr>
          <p:cNvPr id="70" name="Shape 68"/>
          <p:cNvSpPr/>
          <p:nvPr/>
        </p:nvSpPr>
        <p:spPr>
          <a:xfrm>
            <a:off x="6492240" y="443484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65392" y="450799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外挿予測</a:t>
            </a:r>
            <a:endParaRPr lang="en-US" sz="1040" dirty="0"/>
          </a:p>
        </p:txBody>
      </p:sp>
      <p:sp>
        <p:nvSpPr>
          <p:cNvPr id="72" name="Shape 70"/>
          <p:cNvSpPr/>
          <p:nvPr/>
        </p:nvSpPr>
        <p:spPr>
          <a:xfrm>
            <a:off x="8778240" y="443484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851392" y="45079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実測＋SIM</a:t>
            </a:r>
            <a:endParaRPr lang="en-US" sz="1040" dirty="0"/>
          </a:p>
        </p:txBody>
      </p:sp>
      <p:sp>
        <p:nvSpPr>
          <p:cNvPr id="74" name="Shape 72"/>
          <p:cNvSpPr/>
          <p:nvPr/>
        </p:nvSpPr>
        <p:spPr>
          <a:xfrm>
            <a:off x="10607040" y="4434840"/>
            <a:ext cx="1325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680192" y="4507992"/>
            <a:ext cx="1179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3〜6</a:t>
            </a:r>
            <a:endParaRPr lang="en-US" sz="1040" dirty="0"/>
          </a:p>
        </p:txBody>
      </p:sp>
      <p:sp>
        <p:nvSpPr>
          <p:cNvPr id="76" name="Shape 74"/>
          <p:cNvSpPr/>
          <p:nvPr/>
        </p:nvSpPr>
        <p:spPr>
          <a:xfrm>
            <a:off x="1005840" y="4983480"/>
            <a:ext cx="9144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8992" y="5056632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</a:t>
            </a:r>
            <a:endParaRPr lang="en-US" sz="1040" dirty="0"/>
          </a:p>
        </p:txBody>
      </p:sp>
      <p:sp>
        <p:nvSpPr>
          <p:cNvPr id="78" name="Shape 76"/>
          <p:cNvSpPr/>
          <p:nvPr/>
        </p:nvSpPr>
        <p:spPr>
          <a:xfrm>
            <a:off x="1920240" y="4983480"/>
            <a:ext cx="45720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93392" y="505663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制約付き最適化（条件探索/設計探索）</a:t>
            </a:r>
            <a:endParaRPr lang="en-US" sz="1040" dirty="0"/>
          </a:p>
        </p:txBody>
      </p:sp>
      <p:sp>
        <p:nvSpPr>
          <p:cNvPr id="80" name="Shape 78"/>
          <p:cNvSpPr/>
          <p:nvPr/>
        </p:nvSpPr>
        <p:spPr>
          <a:xfrm>
            <a:off x="6492240" y="4983480"/>
            <a:ext cx="22860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65392" y="505663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パレート解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提案候補</a:t>
            </a:r>
            <a:endParaRPr lang="en-US" sz="1040" dirty="0"/>
          </a:p>
        </p:txBody>
      </p:sp>
      <p:sp>
        <p:nvSpPr>
          <p:cNvPr id="82" name="Shape 80"/>
          <p:cNvSpPr/>
          <p:nvPr/>
        </p:nvSpPr>
        <p:spPr>
          <a:xfrm>
            <a:off x="8778240" y="4983480"/>
            <a:ext cx="182880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851392" y="505663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統合モデル</a:t>
            </a:r>
            <a:endParaRPr lang="en-US" sz="1040" dirty="0"/>
          </a:p>
        </p:txBody>
      </p:sp>
      <p:sp>
        <p:nvSpPr>
          <p:cNvPr id="84" name="Shape 82"/>
          <p:cNvSpPr/>
          <p:nvPr/>
        </p:nvSpPr>
        <p:spPr>
          <a:xfrm>
            <a:off x="10607040" y="4983480"/>
            <a:ext cx="132588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680192" y="5056632"/>
            <a:ext cx="11795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3〜6</a:t>
            </a:r>
            <a:endParaRPr lang="en-US" sz="1040" dirty="0"/>
          </a:p>
        </p:txBody>
      </p:sp>
      <p:sp>
        <p:nvSpPr>
          <p:cNvPr id="86" name="Shape 84"/>
          <p:cNvSpPr/>
          <p:nvPr/>
        </p:nvSpPr>
        <p:spPr>
          <a:xfrm>
            <a:off x="1005840" y="553212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78992" y="5605272"/>
            <a:ext cx="7680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</a:t>
            </a:r>
            <a:endParaRPr lang="en-US" sz="1040" dirty="0"/>
          </a:p>
        </p:txBody>
      </p:sp>
      <p:sp>
        <p:nvSpPr>
          <p:cNvPr id="88" name="Shape 86"/>
          <p:cNvSpPr/>
          <p:nvPr/>
        </p:nvSpPr>
        <p:spPr>
          <a:xfrm>
            <a:off x="1920240" y="553212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993392" y="5605272"/>
            <a:ext cx="44256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運用組込み（評価・再学習・監視）</a:t>
            </a:r>
            <a:endParaRPr lang="en-US" sz="1040" dirty="0"/>
          </a:p>
        </p:txBody>
      </p:sp>
      <p:sp>
        <p:nvSpPr>
          <p:cNvPr id="90" name="Shape 88"/>
          <p:cNvSpPr/>
          <p:nvPr/>
        </p:nvSpPr>
        <p:spPr>
          <a:xfrm>
            <a:off x="6492240" y="5532120"/>
            <a:ext cx="2286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65392" y="5605272"/>
            <a:ext cx="21396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継続運用</a:t>
            </a:r>
            <a:endParaRPr lang="en-US" sz="1040" dirty="0"/>
          </a:p>
        </p:txBody>
      </p:sp>
      <p:sp>
        <p:nvSpPr>
          <p:cNvPr id="92" name="Shape 90"/>
          <p:cNvSpPr/>
          <p:nvPr/>
        </p:nvSpPr>
        <p:spPr>
          <a:xfrm>
            <a:off x="8778240" y="553212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851392" y="5605272"/>
            <a:ext cx="168249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運用データ</a:t>
            </a:r>
            <a:endParaRPr lang="en-US" sz="1040" dirty="0"/>
          </a:p>
        </p:txBody>
      </p:sp>
      <p:sp>
        <p:nvSpPr>
          <p:cNvPr id="94" name="Shape 92"/>
          <p:cNvSpPr/>
          <p:nvPr/>
        </p:nvSpPr>
        <p:spPr>
          <a:xfrm>
            <a:off x="10607040" y="5532120"/>
            <a:ext cx="1325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680192" y="5605272"/>
            <a:ext cx="117957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2〜4</a:t>
            </a:r>
            <a:endParaRPr lang="en-US" sz="1040" dirty="0"/>
          </a:p>
        </p:txBody>
      </p:sp>
      <p:sp>
        <p:nvSpPr>
          <p:cNvPr id="96" name="Text 94"/>
          <p:cNvSpPr/>
          <p:nvPr/>
        </p:nvSpPr>
        <p:spPr>
          <a:xfrm>
            <a:off x="1005840" y="6428232"/>
            <a:ext cx="10927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ポイント：検証指標（動画/2D/置換）を固定しないと、SIMの較正が終わらずコストが膨らむ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WBS：Step2〜3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主なリスクと先回り策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“やる前に決める”ことで、開発コストを読みやすくする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1384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325880"/>
            <a:ext cx="201168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3990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325880"/>
            <a:ext cx="374904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39903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起きるとどうなる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325880"/>
            <a:ext cx="51663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399032"/>
            <a:ext cx="50200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先回り策（推奨）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1783080"/>
            <a:ext cx="201168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856232"/>
            <a:ext cx="186537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測定が偏る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（2D分布4–5枚）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1783080"/>
            <a:ext cx="374904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856232"/>
            <a:ext cx="360273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モデルが歪む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学習が進まない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783080"/>
            <a:ext cx="516636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1856232"/>
            <a:ext cx="502005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測定ローテ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＋不確かさに基づく追加測定提案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265176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2724912"/>
            <a:ext cx="186537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動画仕様が揺れる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65176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2724912"/>
            <a:ext cx="360273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流速/密度が比較不能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651760"/>
            <a:ext cx="5166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2724912"/>
            <a:ext cx="502005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撮影SOP固定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メタデータ必須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3520440"/>
            <a:ext cx="201168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3593592"/>
            <a:ext cx="186537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フェーズ定義が曖昧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520440"/>
            <a:ext cx="374904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3593592"/>
            <a:ext cx="360273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ログ特徴がブレる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誤警報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3520440"/>
            <a:ext cx="516636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3593592"/>
            <a:ext cx="502005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フェーズを先に合意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ルール＋変化点で補助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" y="43891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462272"/>
            <a:ext cx="186537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シミュレーション検証点不足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438912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4462272"/>
            <a:ext cx="360273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合わないSIMが増殖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4389120"/>
            <a:ext cx="5166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4462272"/>
            <a:ext cx="502005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動画/2D/置換の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比較指標を固定してから着手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5840" y="5257800"/>
            <a:ext cx="2011680" cy="1051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5330952"/>
            <a:ext cx="186537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外挿の暴走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5257800"/>
            <a:ext cx="3749040" cy="1051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90672" y="5330952"/>
            <a:ext cx="360273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危険条件を提案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5257800"/>
            <a:ext cx="5166360" cy="1051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9712" y="5330952"/>
            <a:ext cx="502005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不確かさ表示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禁止領域/制約付き最適化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6629400"/>
            <a:ext cx="118259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リスクと先回り策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2026-01-05T04:54:09Z</dcterms:created>
  <dcterms:modified xsi:type="dcterms:W3CDTF">2026-01-05T04:54:09Z</dcterms:modified>
</cp:coreProperties>
</file>