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3716000" cy="9144000"/>
  <p:notesSz cx="9144000" cy="1371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部署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89A8D7"/>
              </a:solidFill>
              <a:effectLst/>
            </c:spPr>
          </c:dPt>
          <c:dPt>
            <c:idx val="1"/>
            <c:bubble3D val="0"/>
            <c:spPr>
              <a:solidFill>
                <a:srgbClr val="6D92CA"/>
              </a:solidFill>
              <a:effectLst/>
            </c:spPr>
          </c:dPt>
          <c:dPt>
            <c:idx val="2"/>
            <c:bubble3D val="0"/>
            <c:spPr>
              <a:solidFill>
                <a:srgbClr val="527EBD"/>
              </a:solidFill>
              <a:effectLst/>
            </c:spPr>
          </c:dPt>
          <c:dPt>
            <c:idx val="3"/>
            <c:bubble3D val="0"/>
            <c:spPr>
              <a:solidFill>
                <a:srgbClr val="3D6AAE"/>
              </a:solidFill>
              <a:effectLst/>
            </c:spPr>
          </c:dPt>
          <c:dPt>
            <c:idx val="4"/>
            <c:bubble3D val="0"/>
            <c:spPr>
              <a:solidFill>
                <a:srgbClr val="2C599C"/>
              </a:solidFill>
              <a:effectLst/>
            </c:spPr>
          </c:dPt>
          <c:dPt>
            <c:idx val="5"/>
            <c:bubble3D val="0"/>
            <c:spPr>
              <a:solidFill>
                <a:srgbClr val="ADC1E3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設計</c:v>
                </c:pt>
                <c:pt idx="1">
                  <c:v>プロセス開発</c:v>
                </c:pt>
                <c:pt idx="2">
                  <c:v>装置開発</c:v>
                </c:pt>
                <c:pt idx="3">
                  <c:v>量産技術</c:v>
                </c:pt>
                <c:pt idx="4">
                  <c:v>データ解析・DX</c:v>
                </c:pt>
                <c:pt idx="5">
                  <c:v>その他共通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5</c:v>
                </c:pt>
                <c:pt idx="1">
                  <c:v>4</c:v>
                </c:pt>
                <c:pt idx="2">
                  <c:v>4</c:v>
                </c:pt>
                <c:pt idx="3">
                  <c:v>3</c:v>
                </c:pt>
                <c:pt idx="4">
                  <c:v>2</c:v>
                </c:pt>
                <c:pt idx="5">
                  <c:v>2</c:v>
                </c:pt>
              </c:numCache>
            </c:numRef>
          </c:val>
        </c:ser>
        <c:firstSliceAng val="0"/>
        <c:holeSize val="54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image" Target="../media/image-1-7.png"/><Relationship Id="rId8" Type="http://schemas.openxmlformats.org/officeDocument/2006/relationships/image" Target="../media/image-1-8.svg"/><Relationship Id="rId9" Type="http://schemas.openxmlformats.org/officeDocument/2006/relationships/image" Target="../media/image-1-9.png"/><Relationship Id="rId10" Type="http://schemas.openxmlformats.org/officeDocument/2006/relationships/image" Target="../media/image-1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2-1.png"/><Relationship Id="rId3" Type="http://schemas.openxmlformats.org/officeDocument/2006/relationships/image" Target="../media/image-2-2.svg"/><Relationship Id="rId4" Type="http://schemas.openxmlformats.org/officeDocument/2006/relationships/image" Target="../media/image-2-3.png"/><Relationship Id="rId5" Type="http://schemas.openxmlformats.org/officeDocument/2006/relationships/image" Target="../media/image-2-4.svg"/><Relationship Id="rId6" Type="http://schemas.openxmlformats.org/officeDocument/2006/relationships/image" Target="../media/image-2-5.png"/><Relationship Id="rId7" Type="http://schemas.openxmlformats.org/officeDocument/2006/relationships/image" Target="../media/image-2-6.svg"/><Relationship Id="rId8" Type="http://schemas.openxmlformats.org/officeDocument/2006/relationships/image" Target="../media/image-2-7.png"/><Relationship Id="rId9" Type="http://schemas.openxmlformats.org/officeDocument/2006/relationships/image" Target="../media/image-2-8.svg"/><Relationship Id="rId10" Type="http://schemas.openxmlformats.org/officeDocument/2006/relationships/image" Target="../media/image-2-9.png"/><Relationship Id="rId11" Type="http://schemas.openxmlformats.org/officeDocument/2006/relationships/image" Target="../media/image-2-10.svg"/><Relationship Id="rId12" Type="http://schemas.openxmlformats.org/officeDocument/2006/relationships/image" Target="../media/image-2-11.png"/><Relationship Id="rId13" Type="http://schemas.openxmlformats.org/officeDocument/2006/relationships/image" Target="../media/image-2-12.svg"/><Relationship Id="rId14" Type="http://schemas.openxmlformats.org/officeDocument/2006/relationships/image" Target="../media/image-2-13.png"/><Relationship Id="rId15" Type="http://schemas.openxmlformats.org/officeDocument/2006/relationships/image" Target="../media/image-2-14.svg"/><Relationship Id="rId16" Type="http://schemas.openxmlformats.org/officeDocument/2006/relationships/image" Target="../media/image-2-15.png"/><Relationship Id="rId17" Type="http://schemas.openxmlformats.org/officeDocument/2006/relationships/image" Target="../media/image-2-16.sv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image" Target="../media/image-4-13.png"/><Relationship Id="rId14" Type="http://schemas.openxmlformats.org/officeDocument/2006/relationships/image" Target="../media/image-4-14.svg"/><Relationship Id="rId15" Type="http://schemas.openxmlformats.org/officeDocument/2006/relationships/image" Target="../media/image-4-15.png"/><Relationship Id="rId16" Type="http://schemas.openxmlformats.org/officeDocument/2006/relationships/image" Target="../media/image-4-16.svg"/><Relationship Id="rId17" Type="http://schemas.openxmlformats.org/officeDocument/2006/relationships/image" Target="../media/image-4-17.png"/><Relationship Id="rId18" Type="http://schemas.openxmlformats.org/officeDocument/2006/relationships/image" Target="../media/image-4-18.sv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image" Target="../media/image-8-11.png"/><Relationship Id="rId12" Type="http://schemas.openxmlformats.org/officeDocument/2006/relationships/image" Target="../media/image-8-12.svg"/><Relationship Id="rId13" Type="http://schemas.openxmlformats.org/officeDocument/2006/relationships/image" Target="../media/image-8-13.png"/><Relationship Id="rId14" Type="http://schemas.openxmlformats.org/officeDocument/2006/relationships/image" Target="../media/image-8-14.svg"/><Relationship Id="rId15" Type="http://schemas.openxmlformats.org/officeDocument/2006/relationships/image" Target="../media/image-8-15.png"/><Relationship Id="rId16" Type="http://schemas.openxmlformats.org/officeDocument/2006/relationships/image" Target="../media/image-8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" y="27432"/>
            <a:ext cx="13661136" cy="9089136"/>
          </a:xfrm>
          <a:prstGeom prst="rect">
            <a:avLst/>
          </a:prstGeom>
          <a:solidFill>
            <a:srgbClr val="FFFFFF"/>
          </a:solidFill>
          <a:ln w="6350">
            <a:solidFill>
              <a:srgbClr val="E4E9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219456"/>
            <a:ext cx="658368" cy="658368"/>
          </a:xfrm>
          <a:prstGeom prst="rect">
            <a:avLst/>
          </a:prstGeom>
          <a:solidFill>
            <a:srgbClr val="0B3B82"/>
          </a:solidFill>
          <a:ln w="12700">
            <a:solidFill>
              <a:srgbClr val="0B3B8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10896" y="219456"/>
            <a:ext cx="658368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82880"/>
            <a:ext cx="1211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なぜ内製なのか / 競合状況と顧客要求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941832"/>
            <a:ext cx="1252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559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装置開発の競争力の源泉は「自社データ × 自社モデル × 自社ノウハウ」のつながり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8912" y="2103120"/>
            <a:ext cx="5074920" cy="512064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13970">
            <a:solidFill>
              <a:srgbClr val="B8C9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267712"/>
            <a:ext cx="448056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顧客・市場からの要求</a:t>
            </a:r>
            <a:endParaRPr lang="en-US" sz="1800" dirty="0"/>
          </a:p>
        </p:txBody>
      </p:sp>
      <p:pic>
        <p:nvPicPr>
          <p:cNvPr id="9" name="Image 0" descr="/mnt/data/spdm_pptx_assets/check_1F559D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381" y="2880360"/>
            <a:ext cx="176022" cy="20116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042416" y="2852928"/>
            <a:ext cx="411480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装置性能の向上・均一化・歩留まり向上</a:t>
            </a:r>
            <a:endParaRPr lang="en-US" sz="1330" dirty="0"/>
          </a:p>
        </p:txBody>
      </p:sp>
      <p:pic>
        <p:nvPicPr>
          <p:cNvPr id="11" name="Image 1" descr="/mnt/data/spdm_pptx_assets/check_1F559D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381" y="3639312"/>
            <a:ext cx="176022" cy="20116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042416" y="3611880"/>
            <a:ext cx="411480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開発期間の短縮・試作／実験コスト削減</a:t>
            </a:r>
            <a:endParaRPr lang="en-US" sz="1330" dirty="0"/>
          </a:p>
        </p:txBody>
      </p:sp>
      <p:pic>
        <p:nvPicPr>
          <p:cNvPr id="13" name="Image 2" descr="/mnt/data/spdm_pptx_assets/check_1F559D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2381" y="4398264"/>
            <a:ext cx="176022" cy="20116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42416" y="4370832"/>
            <a:ext cx="411480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メカニズム解明による証明性の提示</a:t>
            </a:r>
            <a:endParaRPr lang="en-US" sz="1330" dirty="0"/>
          </a:p>
        </p:txBody>
      </p:sp>
      <p:pic>
        <p:nvPicPr>
          <p:cNvPr id="15" name="Image 3" descr="/mnt/data/spdm_pptx_assets/check_1F559D.sv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2381" y="5157216"/>
            <a:ext cx="176022" cy="201168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042416" y="5129784"/>
            <a:ext cx="411480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迅速な課題解決と予測型の提案</a:t>
            </a:r>
            <a:endParaRPr lang="en-US" sz="1330" dirty="0"/>
          </a:p>
        </p:txBody>
      </p:sp>
      <p:pic>
        <p:nvPicPr>
          <p:cNvPr id="17" name="Image 4" descr="/mnt/data/spdm_pptx_assets/check_1F559D.sv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62381" y="5916168"/>
            <a:ext cx="176022" cy="201168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042416" y="5888736"/>
            <a:ext cx="411480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量産安定化・レシピ最適化の高度化</a:t>
            </a:r>
            <a:endParaRPr lang="en-US" sz="1330" dirty="0"/>
          </a:p>
        </p:txBody>
      </p:sp>
      <p:sp>
        <p:nvSpPr>
          <p:cNvPr id="19" name="Shape 12"/>
          <p:cNvSpPr/>
          <p:nvPr/>
        </p:nvSpPr>
        <p:spPr>
          <a:xfrm>
            <a:off x="5760720" y="2103120"/>
            <a:ext cx="7516368" cy="512064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3970">
            <a:solidFill>
              <a:srgbClr val="B8C9E0"/>
            </a:solidFill>
            <a:prstDash val="solid"/>
          </a:ln>
        </p:spPr>
      </p:sp>
      <p:sp>
        <p:nvSpPr>
          <p:cNvPr id="20" name="Text 13"/>
          <p:cNvSpPr txBox="1"/>
          <p:nvPr/>
        </p:nvSpPr>
        <p:spPr>
          <a:xfrm>
            <a:off x="5989320" y="2267712"/>
            <a:ext cx="704088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競合との決定的な違い</a:t>
            </a:r>
            <a:endParaRPr lang="en-US" sz="1800" dirty="0"/>
          </a:p>
        </p:txBody>
      </p:sp>
      <p:sp>
        <p:nvSpPr>
          <p:cNvPr id="21" name="Shape 14"/>
          <p:cNvSpPr/>
          <p:nvPr/>
        </p:nvSpPr>
        <p:spPr>
          <a:xfrm>
            <a:off x="7543800" y="2816352"/>
            <a:ext cx="2697480" cy="658368"/>
          </a:xfrm>
          <a:prstGeom prst="rect">
            <a:avLst/>
          </a:prstGeom>
          <a:solidFill>
            <a:srgbClr val="555B63"/>
          </a:solidFill>
          <a:ln w="8890">
            <a:solidFill>
              <a:srgbClr val="B8C9E0"/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10241280" y="2816352"/>
            <a:ext cx="2697480" cy="658368"/>
          </a:xfrm>
          <a:prstGeom prst="rect">
            <a:avLst/>
          </a:prstGeom>
          <a:solidFill>
            <a:srgbClr val="0B3B82"/>
          </a:solidFill>
          <a:ln w="8890">
            <a:solidFill>
              <a:srgbClr val="B8C9E0"/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7543800" y="2816352"/>
            <a:ext cx="269748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3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競合（ソフトウェア提供）</a:t>
            </a:r>
            <a:endParaRPr lang="en-US" sz="1330" dirty="0"/>
          </a:p>
        </p:txBody>
      </p:sp>
      <p:sp>
        <p:nvSpPr>
          <p:cNvPr id="24" name="Text 17"/>
          <p:cNvSpPr txBox="1"/>
          <p:nvPr/>
        </p:nvSpPr>
        <p:spPr>
          <a:xfrm>
            <a:off x="10241280" y="2816352"/>
            <a:ext cx="269748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3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当社（内製SPDM活用）</a:t>
            </a:r>
            <a:endParaRPr lang="en-US" sz="1330" dirty="0"/>
          </a:p>
        </p:txBody>
      </p:sp>
      <p:sp>
        <p:nvSpPr>
          <p:cNvPr id="25" name="Shape 18"/>
          <p:cNvSpPr/>
          <p:nvPr/>
        </p:nvSpPr>
        <p:spPr>
          <a:xfrm>
            <a:off x="6126480" y="3474720"/>
            <a:ext cx="1417320" cy="841248"/>
          </a:xfrm>
          <a:prstGeom prst="rect">
            <a:avLst/>
          </a:prstGeom>
          <a:solidFill>
            <a:srgbClr val="F8F9FB"/>
          </a:solidFill>
          <a:ln w="7620">
            <a:solidFill>
              <a:srgbClr val="D8DDE3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7543800" y="3474720"/>
            <a:ext cx="2697480" cy="841248"/>
          </a:xfrm>
          <a:prstGeom prst="rect">
            <a:avLst/>
          </a:prstGeom>
          <a:solidFill>
            <a:srgbClr val="FFFFFF"/>
          </a:solidFill>
          <a:ln w="7620">
            <a:solidFill>
              <a:srgbClr val="D8DDE3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10241280" y="3474720"/>
            <a:ext cx="2697480" cy="841248"/>
          </a:xfrm>
          <a:prstGeom prst="rect">
            <a:avLst/>
          </a:prstGeom>
          <a:solidFill>
            <a:srgbClr val="F2F7FD"/>
          </a:solidFill>
          <a:ln w="7620">
            <a:solidFill>
              <a:srgbClr val="D8DDE3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6126480" y="3474720"/>
            <a:ext cx="1417320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</a:t>
            </a:r>
            <a:endParaRPr lang="en-US" sz="1300" dirty="0"/>
          </a:p>
        </p:txBody>
      </p:sp>
      <p:sp>
        <p:nvSpPr>
          <p:cNvPr id="29" name="Text 22"/>
          <p:cNvSpPr txBox="1"/>
          <p:nvPr/>
        </p:nvSpPr>
        <p:spPr>
          <a:xfrm>
            <a:off x="7543800" y="3474720"/>
            <a:ext cx="2697480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取得支援のみ</a:t>
            </a:r>
            <a:endParaRPr lang="en-US" sz="1250" dirty="0"/>
          </a:p>
        </p:txBody>
      </p:sp>
      <p:sp>
        <p:nvSpPr>
          <p:cNvPr id="30" name="Text 23"/>
          <p:cNvSpPr txBox="1"/>
          <p:nvPr/>
        </p:nvSpPr>
        <p:spPr>
          <a:xfrm>
            <a:off x="10241280" y="3474720"/>
            <a:ext cx="2697480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装置・実験・Sim・モデルを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一元管理・再利用</a:t>
            </a:r>
            <a:endParaRPr lang="en-US" sz="1220" dirty="0"/>
          </a:p>
        </p:txBody>
      </p:sp>
      <p:sp>
        <p:nvSpPr>
          <p:cNvPr id="31" name="Shape 24"/>
          <p:cNvSpPr/>
          <p:nvPr/>
        </p:nvSpPr>
        <p:spPr>
          <a:xfrm>
            <a:off x="6126480" y="4315968"/>
            <a:ext cx="1417320" cy="841248"/>
          </a:xfrm>
          <a:prstGeom prst="rect">
            <a:avLst/>
          </a:prstGeom>
          <a:solidFill>
            <a:srgbClr val="F8F9FB"/>
          </a:solidFill>
          <a:ln w="7620">
            <a:solidFill>
              <a:srgbClr val="D8DDE3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7543800" y="4315968"/>
            <a:ext cx="2697480" cy="841248"/>
          </a:xfrm>
          <a:prstGeom prst="rect">
            <a:avLst/>
          </a:prstGeom>
          <a:solidFill>
            <a:srgbClr val="FFFFFF"/>
          </a:solidFill>
          <a:ln w="7620">
            <a:solidFill>
              <a:srgbClr val="D8DDE3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10241280" y="4315968"/>
            <a:ext cx="2697480" cy="841248"/>
          </a:xfrm>
          <a:prstGeom prst="rect">
            <a:avLst/>
          </a:prstGeom>
          <a:solidFill>
            <a:srgbClr val="F2F7FD"/>
          </a:solidFill>
          <a:ln w="7620">
            <a:solidFill>
              <a:srgbClr val="D8DDE3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126480" y="4315968"/>
            <a:ext cx="1417320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モデル</a:t>
            </a:r>
            <a:endParaRPr lang="en-US" sz="1300" dirty="0"/>
          </a:p>
        </p:txBody>
      </p:sp>
      <p:sp>
        <p:nvSpPr>
          <p:cNvPr id="35" name="Text 28"/>
          <p:cNvSpPr txBox="1"/>
          <p:nvPr/>
        </p:nvSpPr>
        <p:spPr>
          <a:xfrm>
            <a:off x="7543800" y="4315968"/>
            <a:ext cx="2697480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汎用モデルの提供</a:t>
            </a:r>
            <a:endParaRPr lang="en-US" sz="1250" dirty="0"/>
          </a:p>
        </p:txBody>
      </p:sp>
      <p:sp>
        <p:nvSpPr>
          <p:cNvPr id="36" name="Text 29"/>
          <p:cNvSpPr txBox="1"/>
          <p:nvPr/>
        </p:nvSpPr>
        <p:spPr>
          <a:xfrm>
            <a:off x="10241280" y="4315968"/>
            <a:ext cx="2697480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自社モデル＋領域特化モデルを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継続的に進化</a:t>
            </a:r>
            <a:endParaRPr lang="en-US" sz="1220" dirty="0"/>
          </a:p>
        </p:txBody>
      </p:sp>
      <p:sp>
        <p:nvSpPr>
          <p:cNvPr id="37" name="Shape 30"/>
          <p:cNvSpPr/>
          <p:nvPr/>
        </p:nvSpPr>
        <p:spPr>
          <a:xfrm>
            <a:off x="6126480" y="5157216"/>
            <a:ext cx="1417320" cy="841248"/>
          </a:xfrm>
          <a:prstGeom prst="rect">
            <a:avLst/>
          </a:prstGeom>
          <a:solidFill>
            <a:srgbClr val="F8F9FB"/>
          </a:solidFill>
          <a:ln w="7620">
            <a:solidFill>
              <a:srgbClr val="D8DDE3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7543800" y="5157216"/>
            <a:ext cx="2697480" cy="841248"/>
          </a:xfrm>
          <a:prstGeom prst="rect">
            <a:avLst/>
          </a:prstGeom>
          <a:solidFill>
            <a:srgbClr val="FFFFFF"/>
          </a:solidFill>
          <a:ln w="7620">
            <a:solidFill>
              <a:srgbClr val="D8DDE3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10241280" y="5157216"/>
            <a:ext cx="2697480" cy="841248"/>
          </a:xfrm>
          <a:prstGeom prst="rect">
            <a:avLst/>
          </a:prstGeom>
          <a:solidFill>
            <a:srgbClr val="F2F7FD"/>
          </a:solidFill>
          <a:ln w="7620">
            <a:solidFill>
              <a:srgbClr val="D8DDE3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126480" y="5157216"/>
            <a:ext cx="1417320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知識・ノウハウ</a:t>
            </a:r>
            <a:endParaRPr lang="en-US" sz="1300" dirty="0"/>
          </a:p>
        </p:txBody>
      </p:sp>
      <p:sp>
        <p:nvSpPr>
          <p:cNvPr id="41" name="Text 34"/>
          <p:cNvSpPr txBox="1"/>
          <p:nvPr/>
        </p:nvSpPr>
        <p:spPr>
          <a:xfrm>
            <a:off x="7543800" y="5157216"/>
            <a:ext cx="2697480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ブラックボックス</a:t>
            </a:r>
            <a:endParaRPr lang="en-US" sz="1250" dirty="0"/>
          </a:p>
        </p:txBody>
      </p:sp>
      <p:sp>
        <p:nvSpPr>
          <p:cNvPr id="42" name="Text 35"/>
          <p:cNvSpPr txBox="1"/>
          <p:nvPr/>
        </p:nvSpPr>
        <p:spPr>
          <a:xfrm>
            <a:off x="10241280" y="5157216"/>
            <a:ext cx="2697480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開発プロセス・判断根拠まで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蓄積・再現可能</a:t>
            </a:r>
            <a:endParaRPr lang="en-US" sz="1220" dirty="0"/>
          </a:p>
        </p:txBody>
      </p:sp>
      <p:sp>
        <p:nvSpPr>
          <p:cNvPr id="43" name="Shape 36"/>
          <p:cNvSpPr/>
          <p:nvPr/>
        </p:nvSpPr>
        <p:spPr>
          <a:xfrm>
            <a:off x="6126480" y="5998464"/>
            <a:ext cx="1417320" cy="841248"/>
          </a:xfrm>
          <a:prstGeom prst="rect">
            <a:avLst/>
          </a:prstGeom>
          <a:solidFill>
            <a:srgbClr val="F8F9FB"/>
          </a:solidFill>
          <a:ln w="7620">
            <a:solidFill>
              <a:srgbClr val="D8DDE3"/>
            </a:solidFill>
            <a:prstDash val="solid"/>
          </a:ln>
        </p:spPr>
      </p:sp>
      <p:sp>
        <p:nvSpPr>
          <p:cNvPr id="44" name="Shape 37"/>
          <p:cNvSpPr/>
          <p:nvPr/>
        </p:nvSpPr>
        <p:spPr>
          <a:xfrm>
            <a:off x="7543800" y="5998464"/>
            <a:ext cx="2697480" cy="841248"/>
          </a:xfrm>
          <a:prstGeom prst="rect">
            <a:avLst/>
          </a:prstGeom>
          <a:solidFill>
            <a:srgbClr val="FFFFFF"/>
          </a:solidFill>
          <a:ln w="7620">
            <a:solidFill>
              <a:srgbClr val="D8DDE3"/>
            </a:solidFill>
            <a:prstDash val="solid"/>
          </a:ln>
        </p:spPr>
      </p:sp>
      <p:sp>
        <p:nvSpPr>
          <p:cNvPr id="45" name="Shape 38"/>
          <p:cNvSpPr/>
          <p:nvPr/>
        </p:nvSpPr>
        <p:spPr>
          <a:xfrm>
            <a:off x="10241280" y="5998464"/>
            <a:ext cx="2697480" cy="841248"/>
          </a:xfrm>
          <a:prstGeom prst="rect">
            <a:avLst/>
          </a:prstGeom>
          <a:solidFill>
            <a:srgbClr val="F2F7FD"/>
          </a:solidFill>
          <a:ln w="7620">
            <a:solidFill>
              <a:srgbClr val="D8DDE3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126480" y="5998464"/>
            <a:ext cx="1417320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価値提供</a:t>
            </a:r>
            <a:endParaRPr lang="en-US" sz="1300" dirty="0"/>
          </a:p>
        </p:txBody>
      </p:sp>
      <p:sp>
        <p:nvSpPr>
          <p:cNvPr id="47" name="Text 40"/>
          <p:cNvSpPr txBox="1"/>
          <p:nvPr/>
        </p:nvSpPr>
        <p:spPr>
          <a:xfrm>
            <a:off x="7543800" y="5998464"/>
            <a:ext cx="2697480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ツールの提供</a:t>
            </a:r>
            <a:endParaRPr lang="en-US" sz="1250" dirty="0"/>
          </a:p>
        </p:txBody>
      </p:sp>
      <p:sp>
        <p:nvSpPr>
          <p:cNvPr id="48" name="Text 41"/>
          <p:cNvSpPr txBox="1"/>
          <p:nvPr/>
        </p:nvSpPr>
        <p:spPr>
          <a:xfrm>
            <a:off x="10241280" y="5998464"/>
            <a:ext cx="2697480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予測・メカニズム・解決提案を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セットで提供</a:t>
            </a:r>
            <a:endParaRPr lang="en-US" sz="1220" dirty="0"/>
          </a:p>
        </p:txBody>
      </p:sp>
      <p:sp>
        <p:nvSpPr>
          <p:cNvPr id="49" name="Shape 42"/>
          <p:cNvSpPr/>
          <p:nvPr/>
        </p:nvSpPr>
        <p:spPr>
          <a:xfrm>
            <a:off x="411480" y="7589520"/>
            <a:ext cx="12893040" cy="960120"/>
          </a:xfrm>
          <a:prstGeom prst="roundRect">
            <a:avLst>
              <a:gd name="adj" fmla="val 7619"/>
            </a:avLst>
          </a:prstGeom>
          <a:solidFill>
            <a:srgbClr val="0B3B82"/>
          </a:solidFill>
          <a:ln w="13970">
            <a:solidFill>
              <a:srgbClr val="0B3B82"/>
            </a:solidFill>
            <a:prstDash val="solid"/>
          </a:ln>
        </p:spPr>
      </p:sp>
      <p:sp>
        <p:nvSpPr>
          <p:cNvPr id="50" name="Text 43"/>
          <p:cNvSpPr txBox="1"/>
          <p:nvPr/>
        </p:nvSpPr>
        <p:spPr>
          <a:xfrm>
            <a:off x="667512" y="7644384"/>
            <a:ext cx="12380976" cy="8503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当社はソフトだけではなく、開発で使い込み、価値につなげる唯一の会社へ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" y="27432"/>
            <a:ext cx="13661136" cy="9089136"/>
          </a:xfrm>
          <a:prstGeom prst="rect">
            <a:avLst/>
          </a:prstGeom>
          <a:solidFill>
            <a:srgbClr val="FFFFFF"/>
          </a:solidFill>
          <a:ln w="6350">
            <a:solidFill>
              <a:srgbClr val="E4E9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219456"/>
            <a:ext cx="658368" cy="658368"/>
          </a:xfrm>
          <a:prstGeom prst="rect">
            <a:avLst/>
          </a:prstGeom>
          <a:solidFill>
            <a:srgbClr val="0B3B82"/>
          </a:solidFill>
          <a:ln w="12700">
            <a:solidFill>
              <a:srgbClr val="0B3B8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10896" y="219456"/>
            <a:ext cx="658368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82880"/>
            <a:ext cx="1211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全社20部署と協業し、開発のやり方をシフト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941832"/>
            <a:ext cx="1252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559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設計・プロセス・開発のあらゆる場面で活用が拡大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481328"/>
            <a:ext cx="630936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3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活用部署（現在：20部署）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7406640" y="1481328"/>
            <a:ext cx="566928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3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業務シーンの広がり</a:t>
            </a:r>
            <a:endParaRPr lang="en-US" sz="19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1783080" y="2423160"/>
          <a:ext cx="397764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2962656" y="3602736"/>
            <a:ext cx="1609344" cy="16093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017520" y="3694176"/>
            <a:ext cx="1499616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B3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</a:t>
            </a:r>
            <a:endParaRPr lang="en-US" sz="3200" dirty="0"/>
          </a:p>
        </p:txBody>
      </p:sp>
      <p:sp>
        <p:nvSpPr>
          <p:cNvPr id="12" name="Text 9"/>
          <p:cNvSpPr txBox="1"/>
          <p:nvPr/>
        </p:nvSpPr>
        <p:spPr>
          <a:xfrm>
            <a:off x="3017520" y="4270248"/>
            <a:ext cx="1499616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部署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2468880"/>
            <a:ext cx="123444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設計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B3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5部署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0" y="2423160"/>
            <a:ext cx="150876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プロセス開発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B3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4部署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5623560" y="4846320"/>
            <a:ext cx="137160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装置開発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B3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4部署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2926080" y="6446520"/>
            <a:ext cx="150876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量産技術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B3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3部署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411480" y="4800600"/>
            <a:ext cx="1691640" cy="749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3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データ解析・DX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0B3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2部署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7424928" y="2103120"/>
            <a:ext cx="56692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B8C9E0"/>
            </a:solidFill>
            <a:prstDash val="solid"/>
          </a:ln>
        </p:spPr>
      </p:sp>
      <p:pic>
        <p:nvPicPr>
          <p:cNvPr id="19" name="Image 0" descr="/mnt/data/spdm_pptx_assets/gear_1F559D.sv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99248" y="2249424"/>
            <a:ext cx="384048" cy="384048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8293608" y="2167128"/>
            <a:ext cx="452628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コンセプト検討・原理検証</a:t>
            </a:r>
            <a:endParaRPr lang="en-US" sz="1450" dirty="0"/>
          </a:p>
        </p:txBody>
      </p:sp>
      <p:sp>
        <p:nvSpPr>
          <p:cNvPr id="21" name="Shape 17"/>
          <p:cNvSpPr/>
          <p:nvPr/>
        </p:nvSpPr>
        <p:spPr>
          <a:xfrm>
            <a:off x="7424928" y="2990088"/>
            <a:ext cx="56692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B8C9E0"/>
            </a:solidFill>
            <a:prstDash val="solid"/>
          </a:ln>
        </p:spPr>
      </p:sp>
      <p:pic>
        <p:nvPicPr>
          <p:cNvPr id="22" name="Image 1" descr="/mnt/data/spdm_pptx_assets/microchip_0B3B82.sv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99248" y="3136392"/>
            <a:ext cx="384048" cy="384048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8293608" y="3054096"/>
            <a:ext cx="452628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設計・形状／構造検討</a:t>
            </a:r>
            <a:endParaRPr lang="en-US" sz="1450" dirty="0"/>
          </a:p>
        </p:txBody>
      </p:sp>
      <p:sp>
        <p:nvSpPr>
          <p:cNvPr id="24" name="Shape 19"/>
          <p:cNvSpPr/>
          <p:nvPr/>
        </p:nvSpPr>
        <p:spPr>
          <a:xfrm>
            <a:off x="7424928" y="3877056"/>
            <a:ext cx="56692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B8C9E0"/>
            </a:solidFill>
            <a:prstDash val="solid"/>
          </a:ln>
        </p:spPr>
      </p:sp>
      <p:pic>
        <p:nvPicPr>
          <p:cNvPr id="25" name="Image 2" descr="/mnt/data/spdm_pptx_assets/flask_1F559D.sv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23251" y="4023360"/>
            <a:ext cx="336042" cy="384048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8293608" y="3941064"/>
            <a:ext cx="452628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プロセス開発・条件最適化</a:t>
            </a:r>
            <a:endParaRPr lang="en-US" sz="1450" dirty="0"/>
          </a:p>
        </p:txBody>
      </p:sp>
      <p:sp>
        <p:nvSpPr>
          <p:cNvPr id="27" name="Shape 21"/>
          <p:cNvSpPr/>
          <p:nvPr/>
        </p:nvSpPr>
        <p:spPr>
          <a:xfrm>
            <a:off x="7424928" y="4764024"/>
            <a:ext cx="56692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B8C9E0"/>
            </a:solidFill>
            <a:prstDash val="solid"/>
          </a:ln>
        </p:spPr>
      </p:sp>
      <p:pic>
        <p:nvPicPr>
          <p:cNvPr id="28" name="Image 3" descr="/mnt/data/spdm_pptx_assets/chart_1F559D.sv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699248" y="4910328"/>
            <a:ext cx="384048" cy="384048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8293608" y="4828032"/>
            <a:ext cx="452628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試作・実験計画・評価</a:t>
            </a:r>
            <a:endParaRPr lang="en-US" sz="1450" dirty="0"/>
          </a:p>
        </p:txBody>
      </p:sp>
      <p:sp>
        <p:nvSpPr>
          <p:cNvPr id="30" name="Shape 23"/>
          <p:cNvSpPr/>
          <p:nvPr/>
        </p:nvSpPr>
        <p:spPr>
          <a:xfrm>
            <a:off x="7424928" y="5650992"/>
            <a:ext cx="56692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B8C9E0"/>
            </a:solidFill>
            <a:prstDash val="solid"/>
          </a:ln>
        </p:spPr>
      </p:sp>
      <p:pic>
        <p:nvPicPr>
          <p:cNvPr id="31" name="Image 4" descr="/mnt/data/spdm_pptx_assets/user_0B3B82.sv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723251" y="5797296"/>
            <a:ext cx="336042" cy="384048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293608" y="5715000"/>
            <a:ext cx="452628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量産立上げ・品質安定化</a:t>
            </a:r>
            <a:endParaRPr lang="en-US" sz="1450" dirty="0"/>
          </a:p>
        </p:txBody>
      </p:sp>
      <p:sp>
        <p:nvSpPr>
          <p:cNvPr id="33" name="Shape 25"/>
          <p:cNvSpPr/>
          <p:nvPr/>
        </p:nvSpPr>
        <p:spPr>
          <a:xfrm>
            <a:off x="566928" y="7370064"/>
            <a:ext cx="12582144" cy="1115568"/>
          </a:xfrm>
          <a:prstGeom prst="roundRect">
            <a:avLst>
              <a:gd name="adj" fmla="val 6557"/>
            </a:avLst>
          </a:prstGeom>
          <a:solidFill>
            <a:srgbClr val="F4F8FC"/>
          </a:solidFill>
          <a:ln w="13970">
            <a:solidFill>
              <a:srgbClr val="B8C9E0"/>
            </a:solidFill>
            <a:prstDash val="solid"/>
          </a:ln>
        </p:spPr>
      </p:sp>
      <p:sp>
        <p:nvSpPr>
          <p:cNvPr id="34" name="Text 26"/>
          <p:cNvSpPr txBox="1"/>
          <p:nvPr/>
        </p:nvSpPr>
        <p:spPr>
          <a:xfrm>
            <a:off x="4526280" y="7269480"/>
            <a:ext cx="466344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3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BU側も変革に向けて動き出している</a:t>
            </a:r>
            <a:endParaRPr lang="en-US" sz="1700" dirty="0"/>
          </a:p>
        </p:txBody>
      </p:sp>
      <p:pic>
        <p:nvPicPr>
          <p:cNvPr id="35" name="Image 5" descr="/mnt/data/spdm_pptx_assets/users_1F559D.sv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32688" y="7731252"/>
            <a:ext cx="502920" cy="402336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1508760" y="7626096"/>
            <a:ext cx="210312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属人・手作業中心</a:t>
            </a:r>
            <a:endParaRPr lang="en-US" sz="1400" dirty="0"/>
          </a:p>
        </p:txBody>
      </p:sp>
      <p:sp>
        <p:nvSpPr>
          <p:cNvPr id="37" name="Shape 28"/>
          <p:cNvSpPr/>
          <p:nvPr/>
        </p:nvSpPr>
        <p:spPr>
          <a:xfrm>
            <a:off x="3611880" y="7699248"/>
            <a:ext cx="420624" cy="320040"/>
          </a:xfrm>
          <a:prstGeom prst="rightArrow">
            <a:avLst/>
          </a:prstGeom>
          <a:solidFill>
            <a:srgbClr val="9EB4D2"/>
          </a:solidFill>
          <a:ln w="12700">
            <a:solidFill>
              <a:srgbClr val="9EB4D2"/>
            </a:solidFill>
            <a:prstDash val="solid"/>
          </a:ln>
        </p:spPr>
      </p:sp>
      <p:pic>
        <p:nvPicPr>
          <p:cNvPr id="38" name="Image 6" descr="/mnt/data/spdm_pptx_assets/database_0B3B82.sv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189095" y="7671816"/>
            <a:ext cx="400050" cy="457200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4663440" y="7498080"/>
            <a:ext cx="233172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データとモデルを</a:t>
            </a:r>
            <a:endParaRPr lang="en-US" sz="1360" dirty="0"/>
          </a:p>
          <a:p>
            <a:pPr algn="ctr" indent="0" marL="0">
              <a:buNone/>
            </a:pPr>
            <a:r>
              <a:rPr lang="en-US" sz="136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使った意思決定へ</a:t>
            </a:r>
            <a:endParaRPr lang="en-US" sz="1360" dirty="0"/>
          </a:p>
        </p:txBody>
      </p:sp>
      <p:sp>
        <p:nvSpPr>
          <p:cNvPr id="40" name="Shape 30"/>
          <p:cNvSpPr/>
          <p:nvPr/>
        </p:nvSpPr>
        <p:spPr>
          <a:xfrm>
            <a:off x="7022592" y="7699248"/>
            <a:ext cx="420624" cy="320040"/>
          </a:xfrm>
          <a:prstGeom prst="rightArrow">
            <a:avLst/>
          </a:prstGeom>
          <a:solidFill>
            <a:srgbClr val="9EB4D2"/>
          </a:solidFill>
          <a:ln w="12700">
            <a:solidFill>
              <a:srgbClr val="9EB4D2"/>
            </a:solidFill>
            <a:prstDash val="solid"/>
          </a:ln>
        </p:spPr>
      </p:sp>
      <p:pic>
        <p:nvPicPr>
          <p:cNvPr id="41" name="Image 7" descr="/mnt/data/spdm_pptx_assets/rocket_078A58.sv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607808" y="7653528"/>
            <a:ext cx="493776" cy="493776"/>
          </a:xfrm>
          <a:prstGeom prst="rect">
            <a:avLst/>
          </a:prstGeom>
        </p:spPr>
      </p:pic>
      <p:sp>
        <p:nvSpPr>
          <p:cNvPr id="42" name="Text 31"/>
          <p:cNvSpPr txBox="1"/>
          <p:nvPr/>
        </p:nvSpPr>
        <p:spPr>
          <a:xfrm>
            <a:off x="8138160" y="7498080"/>
            <a:ext cx="242316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再利用・標準化による</a:t>
            </a:r>
            <a:endParaRPr lang="en-US" sz="1360" dirty="0"/>
          </a:p>
          <a:p>
            <a:pPr algn="ctr" indent="0" marL="0">
              <a:buNone/>
            </a:pPr>
            <a:r>
              <a:rPr lang="en-US" sz="136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開発の加速</a:t>
            </a:r>
            <a:endParaRPr lang="en-US" sz="1360" dirty="0"/>
          </a:p>
        </p:txBody>
      </p:sp>
      <p:sp>
        <p:nvSpPr>
          <p:cNvPr id="43" name="Text 32"/>
          <p:cNvSpPr txBox="1"/>
          <p:nvPr/>
        </p:nvSpPr>
        <p:spPr>
          <a:xfrm>
            <a:off x="10378440" y="7571232"/>
            <a:ext cx="242316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0B3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「個の優秀さ」から「組織の再現性」へ</a:t>
            </a:r>
            <a:endParaRPr lang="en-US" sz="14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" y="27432"/>
            <a:ext cx="13661136" cy="9089136"/>
          </a:xfrm>
          <a:prstGeom prst="rect">
            <a:avLst/>
          </a:prstGeom>
          <a:solidFill>
            <a:srgbClr val="FFFFFF"/>
          </a:solidFill>
          <a:ln w="6350">
            <a:solidFill>
              <a:srgbClr val="E4E9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219456"/>
            <a:ext cx="658368" cy="658368"/>
          </a:xfrm>
          <a:prstGeom prst="rect">
            <a:avLst/>
          </a:prstGeom>
          <a:solidFill>
            <a:srgbClr val="0B3B82"/>
          </a:solidFill>
          <a:ln w="12700">
            <a:solidFill>
              <a:srgbClr val="0B3B8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10896" y="219456"/>
            <a:ext cx="658368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82880"/>
            <a:ext cx="1211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自動最適化 × データ同化（キャッチコピー）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941832"/>
            <a:ext cx="1252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559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少ない試行で最適解へ。リアルな挙動をモデルに取り込み、予測精度を継続的に向上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527048"/>
            <a:ext cx="617220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自動最適化：最短で“最適条件”を発見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040880" y="1527048"/>
            <a:ext cx="617220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データ同化：リアルをモデルに取り込む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38912" y="2084832"/>
            <a:ext cx="6080760" cy="4800600"/>
          </a:xfrm>
          <a:prstGeom prst="roundRect">
            <a:avLst>
              <a:gd name="adj" fmla="val 1524"/>
            </a:avLst>
          </a:prstGeom>
          <a:solidFill>
            <a:srgbClr val="FFFFFF"/>
          </a:solidFill>
          <a:ln w="13970">
            <a:solidFill>
              <a:srgbClr val="B8C9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414016"/>
            <a:ext cx="868680" cy="512064"/>
          </a:xfrm>
          <a:prstGeom prst="chevron">
            <a:avLst/>
          </a:prstGeom>
          <a:solidFill>
            <a:srgbClr val="555B63"/>
          </a:solidFill>
          <a:ln w="12700">
            <a:solidFill>
              <a:srgbClr val="555B6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2414016"/>
            <a:ext cx="813816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従来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1645920" y="2359152"/>
            <a:ext cx="4389120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勘と経験で条件を変えて試行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1124712" y="3136392"/>
            <a:ext cx="219456" cy="219456"/>
          </a:xfrm>
          <a:prstGeom prst="ellipse">
            <a:avLst/>
          </a:prstGeom>
          <a:solidFill>
            <a:srgbClr val="6B7280"/>
          </a:solidFill>
          <a:ln w="6350">
            <a:solidFill>
              <a:srgbClr val="6B72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44168" y="3246120"/>
            <a:ext cx="393192" cy="0"/>
          </a:xfrm>
          <a:prstGeom prst="line">
            <a:avLst/>
          </a:prstGeom>
          <a:noFill/>
          <a:ln w="13970">
            <a:solidFill>
              <a:srgbClr val="8E99A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737360" y="3136392"/>
            <a:ext cx="219456" cy="219456"/>
          </a:xfrm>
          <a:prstGeom prst="ellipse">
            <a:avLst/>
          </a:prstGeom>
          <a:solidFill>
            <a:srgbClr val="6B7280"/>
          </a:solidFill>
          <a:ln w="6350">
            <a:solidFill>
              <a:srgbClr val="6B72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56816" y="3246120"/>
            <a:ext cx="393192" cy="0"/>
          </a:xfrm>
          <a:prstGeom prst="line">
            <a:avLst/>
          </a:prstGeom>
          <a:noFill/>
          <a:ln w="13970">
            <a:solidFill>
              <a:srgbClr val="8E99A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50008" y="3136392"/>
            <a:ext cx="219456" cy="219456"/>
          </a:xfrm>
          <a:prstGeom prst="ellipse">
            <a:avLst/>
          </a:prstGeom>
          <a:solidFill>
            <a:srgbClr val="0B3B82"/>
          </a:solidFill>
          <a:ln w="6350">
            <a:solidFill>
              <a:srgbClr val="0B3B8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69464" y="3246120"/>
            <a:ext cx="393192" cy="0"/>
          </a:xfrm>
          <a:prstGeom prst="line">
            <a:avLst/>
          </a:prstGeom>
          <a:noFill/>
          <a:ln w="13970">
            <a:solidFill>
              <a:srgbClr val="8E99A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62656" y="3136392"/>
            <a:ext cx="219456" cy="219456"/>
          </a:xfrm>
          <a:prstGeom prst="ellipse">
            <a:avLst/>
          </a:prstGeom>
          <a:solidFill>
            <a:srgbClr val="1F559D"/>
          </a:solidFill>
          <a:ln w="6350">
            <a:solidFill>
              <a:srgbClr val="1F559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82112" y="3246120"/>
            <a:ext cx="393192" cy="0"/>
          </a:xfrm>
          <a:prstGeom prst="line">
            <a:avLst/>
          </a:prstGeom>
          <a:noFill/>
          <a:ln w="13970">
            <a:solidFill>
              <a:srgbClr val="8E99A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75304" y="3136392"/>
            <a:ext cx="219456" cy="219456"/>
          </a:xfrm>
          <a:prstGeom prst="ellipse">
            <a:avLst/>
          </a:prstGeom>
          <a:solidFill>
            <a:srgbClr val="6B7280"/>
          </a:solidFill>
          <a:ln w="6350">
            <a:solidFill>
              <a:srgbClr val="6B72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94760" y="3246120"/>
            <a:ext cx="393192" cy="0"/>
          </a:xfrm>
          <a:prstGeom prst="line">
            <a:avLst/>
          </a:prstGeom>
          <a:noFill/>
          <a:ln w="13970">
            <a:solidFill>
              <a:srgbClr val="8E99A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87952" y="3136392"/>
            <a:ext cx="219456" cy="219456"/>
          </a:xfrm>
          <a:prstGeom prst="ellipse">
            <a:avLst/>
          </a:prstGeom>
          <a:solidFill>
            <a:srgbClr val="0B3B82"/>
          </a:solidFill>
          <a:ln w="6350">
            <a:solidFill>
              <a:srgbClr val="0B3B8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07408" y="3246120"/>
            <a:ext cx="393192" cy="0"/>
          </a:xfrm>
          <a:prstGeom prst="line">
            <a:avLst/>
          </a:prstGeom>
          <a:noFill/>
          <a:ln w="13970">
            <a:solidFill>
              <a:srgbClr val="8E99A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00600" y="3136392"/>
            <a:ext cx="219456" cy="219456"/>
          </a:xfrm>
          <a:prstGeom prst="ellipse">
            <a:avLst/>
          </a:prstGeom>
          <a:solidFill>
            <a:srgbClr val="1F559D"/>
          </a:solidFill>
          <a:ln w="6350">
            <a:solidFill>
              <a:srgbClr val="1F559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0056" y="3246120"/>
            <a:ext cx="393192" cy="0"/>
          </a:xfrm>
          <a:prstGeom prst="line">
            <a:avLst/>
          </a:prstGeom>
          <a:noFill/>
          <a:ln w="13970">
            <a:solidFill>
              <a:srgbClr val="8E99A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13248" y="3136392"/>
            <a:ext cx="219456" cy="219456"/>
          </a:xfrm>
          <a:prstGeom prst="ellipse">
            <a:avLst/>
          </a:prstGeom>
          <a:solidFill>
            <a:srgbClr val="0B3B82"/>
          </a:solidFill>
          <a:ln w="6350">
            <a:solidFill>
              <a:srgbClr val="0B3B8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705856" y="3099816"/>
            <a:ext cx="301752" cy="292608"/>
          </a:xfrm>
          <a:prstGeom prst="hexagon">
            <a:avLst/>
          </a:prstGeom>
          <a:solidFill>
            <a:srgbClr val="0B3B82"/>
          </a:solidFill>
          <a:ln w="12700">
            <a:solidFill>
              <a:srgbClr val="0B3B8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572768" y="3730752"/>
            <a:ext cx="196596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試行回数：多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3886200" y="3730752"/>
            <a:ext cx="137160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時間：長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40080" y="4608576"/>
            <a:ext cx="868680" cy="512064"/>
          </a:xfrm>
          <a:prstGeom prst="chevron">
            <a:avLst/>
          </a:prstGeom>
          <a:solidFill>
            <a:srgbClr val="078A58"/>
          </a:solidFill>
          <a:ln w="12700">
            <a:solidFill>
              <a:srgbClr val="078A5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0080" y="4608576"/>
            <a:ext cx="813816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当社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1645920" y="4553712"/>
            <a:ext cx="4389120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モデルが良い条件を提案 → 試す → 学習</a:t>
            </a:r>
            <a:endParaRPr lang="en-US" sz="1420" dirty="0"/>
          </a:p>
        </p:txBody>
      </p:sp>
      <p:sp>
        <p:nvSpPr>
          <p:cNvPr id="34" name="Shape 32"/>
          <p:cNvSpPr/>
          <p:nvPr/>
        </p:nvSpPr>
        <p:spPr>
          <a:xfrm>
            <a:off x="1243584" y="5696712"/>
            <a:ext cx="630936" cy="-182880"/>
          </a:xfrm>
          <a:prstGeom prst="line">
            <a:avLst/>
          </a:prstGeom>
          <a:noFill/>
          <a:ln w="25400">
            <a:solidFill>
              <a:srgbClr val="078A58"/>
            </a:solidFill>
            <a:prstDash val="solid"/>
            <a:headEnd type="none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1874520" y="5513832"/>
            <a:ext cx="594360" cy="155448"/>
          </a:xfrm>
          <a:prstGeom prst="line">
            <a:avLst/>
          </a:prstGeom>
          <a:noFill/>
          <a:ln w="25400">
            <a:solidFill>
              <a:srgbClr val="078A58"/>
            </a:solidFill>
            <a:prstDash val="solid"/>
            <a:headEnd type="none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2468880" y="5669280"/>
            <a:ext cx="658368" cy="-201168"/>
          </a:xfrm>
          <a:prstGeom prst="line">
            <a:avLst/>
          </a:prstGeom>
          <a:noFill/>
          <a:ln w="25400">
            <a:solidFill>
              <a:srgbClr val="078A58"/>
            </a:solidFill>
            <a:prstDash val="solid"/>
            <a:headEnd type="none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3127248" y="5468112"/>
            <a:ext cx="621792" cy="274320"/>
          </a:xfrm>
          <a:prstGeom prst="line">
            <a:avLst/>
          </a:prstGeom>
          <a:noFill/>
          <a:ln w="25400">
            <a:solidFill>
              <a:srgbClr val="078A58"/>
            </a:solidFill>
            <a:prstDash val="solid"/>
            <a:headEnd type="none"/>
            <a:tailEnd type="none"/>
          </a:ln>
        </p:spPr>
      </p:sp>
      <p:sp>
        <p:nvSpPr>
          <p:cNvPr id="38" name="Shape 36"/>
          <p:cNvSpPr/>
          <p:nvPr/>
        </p:nvSpPr>
        <p:spPr>
          <a:xfrm>
            <a:off x="3749040" y="5742432"/>
            <a:ext cx="658368" cy="-301752"/>
          </a:xfrm>
          <a:prstGeom prst="line">
            <a:avLst/>
          </a:prstGeom>
          <a:noFill/>
          <a:ln w="25400">
            <a:solidFill>
              <a:srgbClr val="078A58"/>
            </a:solidFill>
            <a:prstDash val="solid"/>
            <a:headEnd type="none"/>
            <a:tailEnd type="none"/>
          </a:ln>
        </p:spPr>
      </p:sp>
      <p:sp>
        <p:nvSpPr>
          <p:cNvPr id="39" name="Shape 37"/>
          <p:cNvSpPr/>
          <p:nvPr/>
        </p:nvSpPr>
        <p:spPr>
          <a:xfrm>
            <a:off x="4407408" y="5440680"/>
            <a:ext cx="603504" cy="-118872"/>
          </a:xfrm>
          <a:prstGeom prst="line">
            <a:avLst/>
          </a:prstGeom>
          <a:noFill/>
          <a:ln w="25400">
            <a:solidFill>
              <a:srgbClr val="078A58"/>
            </a:solidFill>
            <a:prstDash val="solid"/>
            <a:headEnd type="none"/>
            <a:tailEnd type="none"/>
          </a:ln>
        </p:spPr>
      </p:sp>
      <p:sp>
        <p:nvSpPr>
          <p:cNvPr id="40" name="Shape 38"/>
          <p:cNvSpPr/>
          <p:nvPr/>
        </p:nvSpPr>
        <p:spPr>
          <a:xfrm>
            <a:off x="1133856" y="5586984"/>
            <a:ext cx="219456" cy="219456"/>
          </a:xfrm>
          <a:prstGeom prst="ellipse">
            <a:avLst/>
          </a:prstGeom>
          <a:solidFill>
            <a:srgbClr val="22A06B"/>
          </a:solidFill>
          <a:ln w="6350">
            <a:solidFill>
              <a:srgbClr val="22A06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764792" y="5404104"/>
            <a:ext cx="219456" cy="219456"/>
          </a:xfrm>
          <a:prstGeom prst="ellipse">
            <a:avLst/>
          </a:prstGeom>
          <a:solidFill>
            <a:srgbClr val="22A06B"/>
          </a:solidFill>
          <a:ln w="6350">
            <a:solidFill>
              <a:srgbClr val="22A06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359152" y="5559552"/>
            <a:ext cx="219456" cy="219456"/>
          </a:xfrm>
          <a:prstGeom prst="ellipse">
            <a:avLst/>
          </a:prstGeom>
          <a:solidFill>
            <a:srgbClr val="22A06B"/>
          </a:solidFill>
          <a:ln w="6350">
            <a:solidFill>
              <a:srgbClr val="22A06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017520" y="5358384"/>
            <a:ext cx="219456" cy="219456"/>
          </a:xfrm>
          <a:prstGeom prst="ellipse">
            <a:avLst/>
          </a:prstGeom>
          <a:solidFill>
            <a:srgbClr val="22A06B"/>
          </a:solidFill>
          <a:ln w="6350">
            <a:solidFill>
              <a:srgbClr val="22A06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39312" y="5632704"/>
            <a:ext cx="219456" cy="219456"/>
          </a:xfrm>
          <a:prstGeom prst="ellipse">
            <a:avLst/>
          </a:prstGeom>
          <a:solidFill>
            <a:srgbClr val="22A06B"/>
          </a:solidFill>
          <a:ln w="6350">
            <a:solidFill>
              <a:srgbClr val="22A06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297680" y="5330952"/>
            <a:ext cx="219456" cy="219456"/>
          </a:xfrm>
          <a:prstGeom prst="ellipse">
            <a:avLst/>
          </a:prstGeom>
          <a:solidFill>
            <a:srgbClr val="22A06B"/>
          </a:solidFill>
          <a:ln w="6350">
            <a:solidFill>
              <a:srgbClr val="22A06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rot="-780000">
            <a:off x="4928616" y="5138928"/>
            <a:ext cx="411480" cy="310896"/>
          </a:xfrm>
          <a:prstGeom prst="rightArrow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pic>
        <p:nvPicPr>
          <p:cNvPr id="47" name="Image 0" descr="/mnt/data/spdm_pptx_assets/target_D93025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94960" y="5276088"/>
            <a:ext cx="685800" cy="685800"/>
          </a:xfrm>
          <a:prstGeom prst="rect">
            <a:avLst/>
          </a:prstGeom>
        </p:spPr>
      </p:pic>
      <p:sp>
        <p:nvSpPr>
          <p:cNvPr id="48" name="Text 45"/>
          <p:cNvSpPr txBox="1"/>
          <p:nvPr/>
        </p:nvSpPr>
        <p:spPr>
          <a:xfrm>
            <a:off x="1572768" y="6126480"/>
            <a:ext cx="201168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試行回数：少</a:t>
            </a:r>
            <a:endParaRPr lang="en-US" sz="1500" dirty="0"/>
          </a:p>
        </p:txBody>
      </p:sp>
      <p:sp>
        <p:nvSpPr>
          <p:cNvPr id="49" name="Text 46"/>
          <p:cNvSpPr txBox="1"/>
          <p:nvPr/>
        </p:nvSpPr>
        <p:spPr>
          <a:xfrm>
            <a:off x="3877056" y="6126480"/>
            <a:ext cx="137160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時間：短</a:t>
            </a:r>
            <a:endParaRPr lang="en-US" sz="1500" dirty="0"/>
          </a:p>
        </p:txBody>
      </p:sp>
      <p:sp>
        <p:nvSpPr>
          <p:cNvPr id="50" name="Shape 47"/>
          <p:cNvSpPr/>
          <p:nvPr/>
        </p:nvSpPr>
        <p:spPr>
          <a:xfrm>
            <a:off x="6903720" y="2084832"/>
            <a:ext cx="6355080" cy="4800600"/>
          </a:xfrm>
          <a:prstGeom prst="roundRect">
            <a:avLst>
              <a:gd name="adj" fmla="val 1524"/>
            </a:avLst>
          </a:prstGeom>
          <a:solidFill>
            <a:srgbClr val="FFFFFF"/>
          </a:solidFill>
          <a:ln w="13970">
            <a:solidFill>
              <a:srgbClr val="B8C9E0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7114032" y="2414016"/>
            <a:ext cx="868680" cy="512064"/>
          </a:xfrm>
          <a:prstGeom prst="chevron">
            <a:avLst/>
          </a:prstGeom>
          <a:solidFill>
            <a:srgbClr val="555B63"/>
          </a:solidFill>
          <a:ln w="12700">
            <a:solidFill>
              <a:srgbClr val="555B63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7114032" y="2414016"/>
            <a:ext cx="813816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従来</a:t>
            </a:r>
            <a:endParaRPr lang="en-US" sz="1350" dirty="0"/>
          </a:p>
        </p:txBody>
      </p:sp>
      <p:sp>
        <p:nvSpPr>
          <p:cNvPr id="53" name="Text 50"/>
          <p:cNvSpPr txBox="1"/>
          <p:nvPr/>
        </p:nvSpPr>
        <p:spPr>
          <a:xfrm>
            <a:off x="8119872" y="2359152"/>
            <a:ext cx="4526280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初期モデルのまま予測（ズレが蓄積）</a:t>
            </a:r>
            <a:endParaRPr lang="en-US" sz="1420" dirty="0"/>
          </a:p>
        </p:txBody>
      </p:sp>
      <p:sp>
        <p:nvSpPr>
          <p:cNvPr id="54" name="Shape 51"/>
          <p:cNvSpPr/>
          <p:nvPr/>
        </p:nvSpPr>
        <p:spPr>
          <a:xfrm>
            <a:off x="7726680" y="3553271"/>
            <a:ext cx="140313" cy="5505"/>
          </a:xfrm>
          <a:prstGeom prst="line">
            <a:avLst/>
          </a:prstGeom>
          <a:noFill/>
          <a:ln w="17780">
            <a:solidFill>
              <a:srgbClr val="D93025"/>
            </a:solidFill>
            <a:prstDash val="solid"/>
            <a:headEnd type="none"/>
            <a:tailEnd type="none"/>
          </a:ln>
        </p:spPr>
      </p:sp>
      <p:sp>
        <p:nvSpPr>
          <p:cNvPr id="55" name="Shape 52"/>
          <p:cNvSpPr/>
          <p:nvPr/>
        </p:nvSpPr>
        <p:spPr>
          <a:xfrm>
            <a:off x="7866993" y="3558775"/>
            <a:ext cx="140313" cy="-41301"/>
          </a:xfrm>
          <a:prstGeom prst="line">
            <a:avLst/>
          </a:prstGeom>
          <a:noFill/>
          <a:ln w="17780">
            <a:solidFill>
              <a:srgbClr val="D93025"/>
            </a:solidFill>
            <a:prstDash val="solid"/>
            <a:headEnd type="none"/>
            <a:tailEnd type="none"/>
          </a:ln>
        </p:spPr>
      </p:sp>
      <p:sp>
        <p:nvSpPr>
          <p:cNvPr id="56" name="Shape 53"/>
          <p:cNvSpPr/>
          <p:nvPr/>
        </p:nvSpPr>
        <p:spPr>
          <a:xfrm>
            <a:off x="8007306" y="3517474"/>
            <a:ext cx="140313" cy="-39772"/>
          </a:xfrm>
          <a:prstGeom prst="line">
            <a:avLst/>
          </a:prstGeom>
          <a:noFill/>
          <a:ln w="17780">
            <a:solidFill>
              <a:srgbClr val="D93025"/>
            </a:solidFill>
            <a:prstDash val="solid"/>
            <a:headEnd type="none"/>
            <a:tailEnd type="none"/>
          </a:ln>
        </p:spPr>
      </p:sp>
      <p:sp>
        <p:nvSpPr>
          <p:cNvPr id="57" name="Shape 54"/>
          <p:cNvSpPr/>
          <p:nvPr/>
        </p:nvSpPr>
        <p:spPr>
          <a:xfrm>
            <a:off x="8147619" y="3477702"/>
            <a:ext cx="140313" cy="-43696"/>
          </a:xfrm>
          <a:prstGeom prst="line">
            <a:avLst/>
          </a:prstGeom>
          <a:noFill/>
          <a:ln w="17780">
            <a:solidFill>
              <a:srgbClr val="D93025"/>
            </a:solidFill>
            <a:prstDash val="solid"/>
            <a:headEnd type="none"/>
            <a:tailEnd type="none"/>
          </a:ln>
        </p:spPr>
      </p:sp>
      <p:sp>
        <p:nvSpPr>
          <p:cNvPr id="58" name="Shape 55"/>
          <p:cNvSpPr/>
          <p:nvPr/>
        </p:nvSpPr>
        <p:spPr>
          <a:xfrm>
            <a:off x="8287932" y="3434006"/>
            <a:ext cx="140313" cy="122252"/>
          </a:xfrm>
          <a:prstGeom prst="line">
            <a:avLst/>
          </a:prstGeom>
          <a:noFill/>
          <a:ln w="17780">
            <a:solidFill>
              <a:srgbClr val="D93025"/>
            </a:solidFill>
            <a:prstDash val="solid"/>
            <a:headEnd type="none"/>
            <a:tailEnd type="none"/>
          </a:ln>
        </p:spPr>
      </p:sp>
      <p:sp>
        <p:nvSpPr>
          <p:cNvPr id="59" name="Shape 56"/>
          <p:cNvSpPr/>
          <p:nvPr/>
        </p:nvSpPr>
        <p:spPr>
          <a:xfrm>
            <a:off x="8428246" y="3556258"/>
            <a:ext cx="140313" cy="186757"/>
          </a:xfrm>
          <a:prstGeom prst="line">
            <a:avLst/>
          </a:prstGeom>
          <a:noFill/>
          <a:ln w="17780">
            <a:solidFill>
              <a:srgbClr val="D93025"/>
            </a:solidFill>
            <a:prstDash val="solid"/>
            <a:headEnd type="none"/>
            <a:tailEnd type="none"/>
          </a:ln>
        </p:spPr>
      </p:sp>
      <p:sp>
        <p:nvSpPr>
          <p:cNvPr id="60" name="Shape 57"/>
          <p:cNvSpPr/>
          <p:nvPr/>
        </p:nvSpPr>
        <p:spPr>
          <a:xfrm>
            <a:off x="8568559" y="3743015"/>
            <a:ext cx="140313" cy="107311"/>
          </a:xfrm>
          <a:prstGeom prst="line">
            <a:avLst/>
          </a:prstGeom>
          <a:noFill/>
          <a:ln w="17780">
            <a:solidFill>
              <a:srgbClr val="D93025"/>
            </a:solidFill>
            <a:prstDash val="solid"/>
            <a:headEnd type="none"/>
            <a:tailEnd type="none"/>
          </a:ln>
        </p:spPr>
      </p:sp>
      <p:sp>
        <p:nvSpPr>
          <p:cNvPr id="61" name="Shape 58"/>
          <p:cNvSpPr/>
          <p:nvPr/>
        </p:nvSpPr>
        <p:spPr>
          <a:xfrm>
            <a:off x="8708872" y="3850326"/>
            <a:ext cx="140313" cy="-60820"/>
          </a:xfrm>
          <a:prstGeom prst="line">
            <a:avLst/>
          </a:prstGeom>
          <a:noFill/>
          <a:ln w="17780">
            <a:solidFill>
              <a:srgbClr val="D93025"/>
            </a:solidFill>
            <a:prstDash val="solid"/>
            <a:headEnd type="none"/>
            <a:tailEnd type="none"/>
          </a:ln>
        </p:spPr>
      </p:sp>
      <p:sp>
        <p:nvSpPr>
          <p:cNvPr id="62" name="Shape 59"/>
          <p:cNvSpPr/>
          <p:nvPr/>
        </p:nvSpPr>
        <p:spPr>
          <a:xfrm>
            <a:off x="8849185" y="3789506"/>
            <a:ext cx="140313" cy="-107182"/>
          </a:xfrm>
          <a:prstGeom prst="line">
            <a:avLst/>
          </a:prstGeom>
          <a:noFill/>
          <a:ln w="17780">
            <a:solidFill>
              <a:srgbClr val="D93025"/>
            </a:solidFill>
            <a:prstDash val="solid"/>
            <a:headEnd type="none"/>
            <a:tailEnd type="none"/>
          </a:ln>
        </p:spPr>
      </p:sp>
      <p:sp>
        <p:nvSpPr>
          <p:cNvPr id="63" name="Shape 60"/>
          <p:cNvSpPr/>
          <p:nvPr/>
        </p:nvSpPr>
        <p:spPr>
          <a:xfrm>
            <a:off x="8989498" y="3682323"/>
            <a:ext cx="140313" cy="-64464"/>
          </a:xfrm>
          <a:prstGeom prst="line">
            <a:avLst/>
          </a:prstGeom>
          <a:noFill/>
          <a:ln w="17780">
            <a:solidFill>
              <a:srgbClr val="D93025"/>
            </a:solidFill>
            <a:prstDash val="solid"/>
            <a:headEnd type="none"/>
            <a:tailEnd type="none"/>
          </a:ln>
        </p:spPr>
      </p:sp>
      <p:sp>
        <p:nvSpPr>
          <p:cNvPr id="64" name="Shape 61"/>
          <p:cNvSpPr/>
          <p:nvPr/>
        </p:nvSpPr>
        <p:spPr>
          <a:xfrm>
            <a:off x="9129811" y="3617859"/>
            <a:ext cx="140313" cy="-16545"/>
          </a:xfrm>
          <a:prstGeom prst="line">
            <a:avLst/>
          </a:prstGeom>
          <a:noFill/>
          <a:ln w="17780">
            <a:solidFill>
              <a:srgbClr val="D93025"/>
            </a:solidFill>
            <a:prstDash val="solid"/>
            <a:headEnd type="none"/>
            <a:tailEnd type="none"/>
          </a:ln>
        </p:spPr>
      </p:sp>
      <p:sp>
        <p:nvSpPr>
          <p:cNvPr id="65" name="Shape 62"/>
          <p:cNvSpPr/>
          <p:nvPr/>
        </p:nvSpPr>
        <p:spPr>
          <a:xfrm>
            <a:off x="9270124" y="3601314"/>
            <a:ext cx="140313" cy="-58075"/>
          </a:xfrm>
          <a:prstGeom prst="line">
            <a:avLst/>
          </a:prstGeom>
          <a:noFill/>
          <a:ln w="17780">
            <a:solidFill>
              <a:srgbClr val="D93025"/>
            </a:solidFill>
            <a:prstDash val="solid"/>
            <a:headEnd type="none"/>
            <a:tailEnd type="none"/>
          </a:ln>
        </p:spPr>
      </p:sp>
      <p:sp>
        <p:nvSpPr>
          <p:cNvPr id="66" name="Shape 63"/>
          <p:cNvSpPr/>
          <p:nvPr/>
        </p:nvSpPr>
        <p:spPr>
          <a:xfrm>
            <a:off x="9410437" y="3543239"/>
            <a:ext cx="140313" cy="-137022"/>
          </a:xfrm>
          <a:prstGeom prst="line">
            <a:avLst/>
          </a:prstGeom>
          <a:noFill/>
          <a:ln w="17780">
            <a:solidFill>
              <a:srgbClr val="D93025"/>
            </a:solidFill>
            <a:prstDash val="solid"/>
            <a:headEnd type="none"/>
            <a:tailEnd type="none"/>
          </a:ln>
        </p:spPr>
      </p:sp>
      <p:sp>
        <p:nvSpPr>
          <p:cNvPr id="67" name="Shape 64"/>
          <p:cNvSpPr/>
          <p:nvPr/>
        </p:nvSpPr>
        <p:spPr>
          <a:xfrm>
            <a:off x="9550750" y="3406217"/>
            <a:ext cx="140313" cy="-26195"/>
          </a:xfrm>
          <a:prstGeom prst="line">
            <a:avLst/>
          </a:prstGeom>
          <a:noFill/>
          <a:ln w="17780">
            <a:solidFill>
              <a:srgbClr val="D93025"/>
            </a:solidFill>
            <a:prstDash val="solid"/>
            <a:headEnd type="none"/>
            <a:tailEnd type="none"/>
          </a:ln>
        </p:spPr>
      </p:sp>
      <p:sp>
        <p:nvSpPr>
          <p:cNvPr id="68" name="Shape 65"/>
          <p:cNvSpPr/>
          <p:nvPr/>
        </p:nvSpPr>
        <p:spPr>
          <a:xfrm>
            <a:off x="9691063" y="3380022"/>
            <a:ext cx="140313" cy="166516"/>
          </a:xfrm>
          <a:prstGeom prst="line">
            <a:avLst/>
          </a:prstGeom>
          <a:noFill/>
          <a:ln w="17780">
            <a:solidFill>
              <a:srgbClr val="D93025"/>
            </a:solidFill>
            <a:prstDash val="solid"/>
            <a:headEnd type="none"/>
            <a:tailEnd type="none"/>
          </a:ln>
        </p:spPr>
      </p:sp>
      <p:sp>
        <p:nvSpPr>
          <p:cNvPr id="69" name="Shape 66"/>
          <p:cNvSpPr/>
          <p:nvPr/>
        </p:nvSpPr>
        <p:spPr>
          <a:xfrm>
            <a:off x="9831377" y="3546538"/>
            <a:ext cx="140313" cy="215770"/>
          </a:xfrm>
          <a:prstGeom prst="line">
            <a:avLst/>
          </a:prstGeom>
          <a:noFill/>
          <a:ln w="17780">
            <a:solidFill>
              <a:srgbClr val="D93025"/>
            </a:solidFill>
            <a:prstDash val="solid"/>
            <a:headEnd type="none"/>
            <a:tailEnd type="none"/>
          </a:ln>
        </p:spPr>
      </p:sp>
      <p:sp>
        <p:nvSpPr>
          <p:cNvPr id="70" name="Shape 67"/>
          <p:cNvSpPr/>
          <p:nvPr/>
        </p:nvSpPr>
        <p:spPr>
          <a:xfrm>
            <a:off x="9971690" y="3762308"/>
            <a:ext cx="140313" cy="68846"/>
          </a:xfrm>
          <a:prstGeom prst="line">
            <a:avLst/>
          </a:prstGeom>
          <a:noFill/>
          <a:ln w="17780">
            <a:solidFill>
              <a:srgbClr val="D93025"/>
            </a:solidFill>
            <a:prstDash val="solid"/>
            <a:headEnd type="none"/>
            <a:tailEnd type="none"/>
          </a:ln>
        </p:spPr>
      </p:sp>
      <p:sp>
        <p:nvSpPr>
          <p:cNvPr id="71" name="Shape 68"/>
          <p:cNvSpPr/>
          <p:nvPr/>
        </p:nvSpPr>
        <p:spPr>
          <a:xfrm>
            <a:off x="10112003" y="3831154"/>
            <a:ext cx="140313" cy="-64238"/>
          </a:xfrm>
          <a:prstGeom prst="line">
            <a:avLst/>
          </a:prstGeom>
          <a:noFill/>
          <a:ln w="17780">
            <a:solidFill>
              <a:srgbClr val="D93025"/>
            </a:solidFill>
            <a:prstDash val="solid"/>
            <a:headEnd type="none"/>
            <a:tailEnd type="none"/>
          </a:ln>
        </p:spPr>
      </p:sp>
      <p:sp>
        <p:nvSpPr>
          <p:cNvPr id="72" name="Shape 69"/>
          <p:cNvSpPr/>
          <p:nvPr/>
        </p:nvSpPr>
        <p:spPr>
          <a:xfrm>
            <a:off x="10252316" y="3766916"/>
            <a:ext cx="140313" cy="-85575"/>
          </a:xfrm>
          <a:prstGeom prst="line">
            <a:avLst/>
          </a:prstGeom>
          <a:noFill/>
          <a:ln w="17780">
            <a:solidFill>
              <a:srgbClr val="D93025"/>
            </a:solidFill>
            <a:prstDash val="solid"/>
            <a:headEnd type="none"/>
            <a:tailEnd type="none"/>
          </a:ln>
        </p:spPr>
      </p:sp>
      <p:sp>
        <p:nvSpPr>
          <p:cNvPr id="73" name="Shape 70"/>
          <p:cNvSpPr/>
          <p:nvPr/>
        </p:nvSpPr>
        <p:spPr>
          <a:xfrm>
            <a:off x="10392629" y="3681341"/>
            <a:ext cx="140313" cy="7196"/>
          </a:xfrm>
          <a:prstGeom prst="line">
            <a:avLst/>
          </a:prstGeom>
          <a:noFill/>
          <a:ln w="17780">
            <a:solidFill>
              <a:srgbClr val="D93025"/>
            </a:solidFill>
            <a:prstDash val="solid"/>
            <a:headEnd type="none"/>
            <a:tailEnd type="none"/>
          </a:ln>
        </p:spPr>
      </p:sp>
      <p:sp>
        <p:nvSpPr>
          <p:cNvPr id="74" name="Shape 71"/>
          <p:cNvSpPr/>
          <p:nvPr/>
        </p:nvSpPr>
        <p:spPr>
          <a:xfrm>
            <a:off x="10532942" y="3688537"/>
            <a:ext cx="140313" cy="2347"/>
          </a:xfrm>
          <a:prstGeom prst="line">
            <a:avLst/>
          </a:prstGeom>
          <a:noFill/>
          <a:ln w="17780">
            <a:solidFill>
              <a:srgbClr val="D93025"/>
            </a:solidFill>
            <a:prstDash val="solid"/>
            <a:headEnd type="none"/>
            <a:tailEnd type="none"/>
          </a:ln>
        </p:spPr>
      </p:sp>
      <p:sp>
        <p:nvSpPr>
          <p:cNvPr id="75" name="Shape 72"/>
          <p:cNvSpPr/>
          <p:nvPr/>
        </p:nvSpPr>
        <p:spPr>
          <a:xfrm>
            <a:off x="10673255" y="3690884"/>
            <a:ext cx="140313" cy="-129924"/>
          </a:xfrm>
          <a:prstGeom prst="line">
            <a:avLst/>
          </a:prstGeom>
          <a:noFill/>
          <a:ln w="17780">
            <a:solidFill>
              <a:srgbClr val="D93025"/>
            </a:solidFill>
            <a:prstDash val="solid"/>
            <a:headEnd type="none"/>
            <a:tailEnd type="none"/>
          </a:ln>
        </p:spPr>
      </p:sp>
      <p:sp>
        <p:nvSpPr>
          <p:cNvPr id="76" name="Shape 73"/>
          <p:cNvSpPr/>
          <p:nvPr/>
        </p:nvSpPr>
        <p:spPr>
          <a:xfrm>
            <a:off x="10813568" y="3560960"/>
            <a:ext cx="140313" cy="-226539"/>
          </a:xfrm>
          <a:prstGeom prst="line">
            <a:avLst/>
          </a:prstGeom>
          <a:noFill/>
          <a:ln w="17780">
            <a:solidFill>
              <a:srgbClr val="D93025"/>
            </a:solidFill>
            <a:prstDash val="solid"/>
            <a:headEnd type="none"/>
            <a:tailEnd type="none"/>
          </a:ln>
        </p:spPr>
      </p:sp>
      <p:sp>
        <p:nvSpPr>
          <p:cNvPr id="77" name="Shape 74"/>
          <p:cNvSpPr/>
          <p:nvPr/>
        </p:nvSpPr>
        <p:spPr>
          <a:xfrm>
            <a:off x="10953881" y="3334421"/>
            <a:ext cx="140313" cy="39902"/>
          </a:xfrm>
          <a:prstGeom prst="line">
            <a:avLst/>
          </a:prstGeom>
          <a:noFill/>
          <a:ln w="17780">
            <a:solidFill>
              <a:srgbClr val="D93025"/>
            </a:solidFill>
            <a:prstDash val="solid"/>
            <a:headEnd type="none"/>
            <a:tailEnd type="none"/>
          </a:ln>
        </p:spPr>
      </p:sp>
      <p:sp>
        <p:nvSpPr>
          <p:cNvPr id="78" name="Shape 75"/>
          <p:cNvSpPr/>
          <p:nvPr/>
        </p:nvSpPr>
        <p:spPr>
          <a:xfrm>
            <a:off x="11094194" y="3374323"/>
            <a:ext cx="140313" cy="140717"/>
          </a:xfrm>
          <a:prstGeom prst="line">
            <a:avLst/>
          </a:prstGeom>
          <a:noFill/>
          <a:ln w="17780">
            <a:solidFill>
              <a:srgbClr val="D93025"/>
            </a:solidFill>
            <a:prstDash val="solid"/>
            <a:headEnd type="none"/>
            <a:tailEnd type="none"/>
          </a:ln>
        </p:spPr>
      </p:sp>
      <p:sp>
        <p:nvSpPr>
          <p:cNvPr id="79" name="Shape 76"/>
          <p:cNvSpPr/>
          <p:nvPr/>
        </p:nvSpPr>
        <p:spPr>
          <a:xfrm>
            <a:off x="11234508" y="3515040"/>
            <a:ext cx="140313" cy="170085"/>
          </a:xfrm>
          <a:prstGeom prst="line">
            <a:avLst/>
          </a:prstGeom>
          <a:noFill/>
          <a:ln w="17780">
            <a:solidFill>
              <a:srgbClr val="D93025"/>
            </a:solidFill>
            <a:prstDash val="solid"/>
            <a:headEnd type="none"/>
            <a:tailEnd type="none"/>
          </a:ln>
        </p:spPr>
      </p:sp>
      <p:sp>
        <p:nvSpPr>
          <p:cNvPr id="80" name="Shape 77"/>
          <p:cNvSpPr/>
          <p:nvPr/>
        </p:nvSpPr>
        <p:spPr>
          <a:xfrm>
            <a:off x="11374821" y="3685125"/>
            <a:ext cx="140313" cy="96239"/>
          </a:xfrm>
          <a:prstGeom prst="line">
            <a:avLst/>
          </a:prstGeom>
          <a:noFill/>
          <a:ln w="17780">
            <a:solidFill>
              <a:srgbClr val="D93025"/>
            </a:solidFill>
            <a:prstDash val="solid"/>
            <a:headEnd type="none"/>
            <a:tailEnd type="none"/>
          </a:ln>
        </p:spPr>
      </p:sp>
      <p:sp>
        <p:nvSpPr>
          <p:cNvPr id="81" name="Shape 78"/>
          <p:cNvSpPr/>
          <p:nvPr/>
        </p:nvSpPr>
        <p:spPr>
          <a:xfrm>
            <a:off x="11515134" y="3781365"/>
            <a:ext cx="140313" cy="-65981"/>
          </a:xfrm>
          <a:prstGeom prst="line">
            <a:avLst/>
          </a:prstGeom>
          <a:noFill/>
          <a:ln w="17780">
            <a:solidFill>
              <a:srgbClr val="D93025"/>
            </a:solidFill>
            <a:prstDash val="solid"/>
            <a:headEnd type="none"/>
            <a:tailEnd type="none"/>
          </a:ln>
        </p:spPr>
      </p:sp>
      <p:sp>
        <p:nvSpPr>
          <p:cNvPr id="82" name="Shape 79"/>
          <p:cNvSpPr/>
          <p:nvPr/>
        </p:nvSpPr>
        <p:spPr>
          <a:xfrm>
            <a:off x="11655447" y="3715384"/>
            <a:ext cx="140313" cy="13138"/>
          </a:xfrm>
          <a:prstGeom prst="line">
            <a:avLst/>
          </a:prstGeom>
          <a:noFill/>
          <a:ln w="17780">
            <a:solidFill>
              <a:srgbClr val="D93025"/>
            </a:solidFill>
            <a:prstDash val="solid"/>
            <a:headEnd type="none"/>
            <a:tailEnd type="none"/>
          </a:ln>
        </p:spPr>
      </p:sp>
      <p:sp>
        <p:nvSpPr>
          <p:cNvPr id="83" name="Shape 80"/>
          <p:cNvSpPr/>
          <p:nvPr/>
        </p:nvSpPr>
        <p:spPr>
          <a:xfrm>
            <a:off x="7726680" y="3491607"/>
            <a:ext cx="140313" cy="26212"/>
          </a:xfrm>
          <a:prstGeom prst="line">
            <a:avLst/>
          </a:prstGeom>
          <a:noFill/>
          <a:ln w="17780">
            <a:solidFill>
              <a:srgbClr val="0B3B82"/>
            </a:solidFill>
            <a:prstDash val="solid"/>
            <a:headEnd type="none"/>
            <a:tailEnd type="none"/>
          </a:ln>
        </p:spPr>
      </p:sp>
      <p:sp>
        <p:nvSpPr>
          <p:cNvPr id="84" name="Shape 81"/>
          <p:cNvSpPr/>
          <p:nvPr/>
        </p:nvSpPr>
        <p:spPr>
          <a:xfrm>
            <a:off x="7866993" y="3517819"/>
            <a:ext cx="140313" cy="-10434"/>
          </a:xfrm>
          <a:prstGeom prst="line">
            <a:avLst/>
          </a:prstGeom>
          <a:noFill/>
          <a:ln w="17780">
            <a:solidFill>
              <a:srgbClr val="0B3B82"/>
            </a:solidFill>
            <a:prstDash val="solid"/>
            <a:headEnd type="none"/>
            <a:tailEnd type="none"/>
          </a:ln>
        </p:spPr>
      </p:sp>
      <p:sp>
        <p:nvSpPr>
          <p:cNvPr id="85" name="Shape 82"/>
          <p:cNvSpPr/>
          <p:nvPr/>
        </p:nvSpPr>
        <p:spPr>
          <a:xfrm>
            <a:off x="8007306" y="3507385"/>
            <a:ext cx="140313" cy="-66848"/>
          </a:xfrm>
          <a:prstGeom prst="line">
            <a:avLst/>
          </a:prstGeom>
          <a:noFill/>
          <a:ln w="17780">
            <a:solidFill>
              <a:srgbClr val="0B3B82"/>
            </a:solidFill>
            <a:prstDash val="solid"/>
            <a:headEnd type="none"/>
            <a:tailEnd type="none"/>
          </a:ln>
        </p:spPr>
      </p:sp>
      <p:sp>
        <p:nvSpPr>
          <p:cNvPr id="86" name="Shape 83"/>
          <p:cNvSpPr/>
          <p:nvPr/>
        </p:nvSpPr>
        <p:spPr>
          <a:xfrm>
            <a:off x="8147619" y="3440537"/>
            <a:ext cx="140313" cy="14378"/>
          </a:xfrm>
          <a:prstGeom prst="line">
            <a:avLst/>
          </a:prstGeom>
          <a:noFill/>
          <a:ln w="17780">
            <a:solidFill>
              <a:srgbClr val="0B3B82"/>
            </a:solidFill>
            <a:prstDash val="solid"/>
            <a:headEnd type="none"/>
            <a:tailEnd type="none"/>
          </a:ln>
        </p:spPr>
      </p:sp>
      <p:sp>
        <p:nvSpPr>
          <p:cNvPr id="87" name="Shape 84"/>
          <p:cNvSpPr/>
          <p:nvPr/>
        </p:nvSpPr>
        <p:spPr>
          <a:xfrm>
            <a:off x="8287932" y="3454915"/>
            <a:ext cx="140313" cy="174843"/>
          </a:xfrm>
          <a:prstGeom prst="line">
            <a:avLst/>
          </a:prstGeom>
          <a:noFill/>
          <a:ln w="17780">
            <a:solidFill>
              <a:srgbClr val="0B3B82"/>
            </a:solidFill>
            <a:prstDash val="solid"/>
            <a:headEnd type="none"/>
            <a:tailEnd type="none"/>
          </a:ln>
        </p:spPr>
      </p:sp>
      <p:sp>
        <p:nvSpPr>
          <p:cNvPr id="88" name="Shape 85"/>
          <p:cNvSpPr/>
          <p:nvPr/>
        </p:nvSpPr>
        <p:spPr>
          <a:xfrm>
            <a:off x="8428246" y="3629758"/>
            <a:ext cx="140313" cy="204271"/>
          </a:xfrm>
          <a:prstGeom prst="line">
            <a:avLst/>
          </a:prstGeom>
          <a:noFill/>
          <a:ln w="17780">
            <a:solidFill>
              <a:srgbClr val="0B3B82"/>
            </a:solidFill>
            <a:prstDash val="solid"/>
            <a:headEnd type="none"/>
            <a:tailEnd type="none"/>
          </a:ln>
        </p:spPr>
      </p:sp>
      <p:sp>
        <p:nvSpPr>
          <p:cNvPr id="89" name="Shape 86"/>
          <p:cNvSpPr/>
          <p:nvPr/>
        </p:nvSpPr>
        <p:spPr>
          <a:xfrm>
            <a:off x="8568559" y="3834029"/>
            <a:ext cx="140313" cy="39703"/>
          </a:xfrm>
          <a:prstGeom prst="line">
            <a:avLst/>
          </a:prstGeom>
          <a:noFill/>
          <a:ln w="17780">
            <a:solidFill>
              <a:srgbClr val="0B3B82"/>
            </a:solidFill>
            <a:prstDash val="solid"/>
            <a:headEnd type="none"/>
            <a:tailEnd type="none"/>
          </a:ln>
        </p:spPr>
      </p:sp>
      <p:sp>
        <p:nvSpPr>
          <p:cNvPr id="90" name="Shape 87"/>
          <p:cNvSpPr/>
          <p:nvPr/>
        </p:nvSpPr>
        <p:spPr>
          <a:xfrm>
            <a:off x="8708872" y="3873732"/>
            <a:ext cx="140313" cy="-135189"/>
          </a:xfrm>
          <a:prstGeom prst="line">
            <a:avLst/>
          </a:prstGeom>
          <a:noFill/>
          <a:ln w="17780">
            <a:solidFill>
              <a:srgbClr val="0B3B82"/>
            </a:solidFill>
            <a:prstDash val="solid"/>
            <a:headEnd type="none"/>
            <a:tailEnd type="none"/>
          </a:ln>
        </p:spPr>
      </p:sp>
      <p:sp>
        <p:nvSpPr>
          <p:cNvPr id="91" name="Shape 88"/>
          <p:cNvSpPr/>
          <p:nvPr/>
        </p:nvSpPr>
        <p:spPr>
          <a:xfrm>
            <a:off x="8849185" y="3738543"/>
            <a:ext cx="140313" cy="-138680"/>
          </a:xfrm>
          <a:prstGeom prst="line">
            <a:avLst/>
          </a:prstGeom>
          <a:noFill/>
          <a:ln w="17780">
            <a:solidFill>
              <a:srgbClr val="0B3B82"/>
            </a:solidFill>
            <a:prstDash val="solid"/>
            <a:headEnd type="none"/>
            <a:tailEnd type="none"/>
          </a:ln>
        </p:spPr>
      </p:sp>
      <p:sp>
        <p:nvSpPr>
          <p:cNvPr id="92" name="Shape 89"/>
          <p:cNvSpPr/>
          <p:nvPr/>
        </p:nvSpPr>
        <p:spPr>
          <a:xfrm>
            <a:off x="8989498" y="3599863"/>
            <a:ext cx="140313" cy="-30631"/>
          </a:xfrm>
          <a:prstGeom prst="line">
            <a:avLst/>
          </a:prstGeom>
          <a:noFill/>
          <a:ln w="17780">
            <a:solidFill>
              <a:srgbClr val="0B3B82"/>
            </a:solidFill>
            <a:prstDash val="solid"/>
            <a:headEnd type="none"/>
            <a:tailEnd type="none"/>
          </a:ln>
        </p:spPr>
      </p:sp>
      <p:sp>
        <p:nvSpPr>
          <p:cNvPr id="93" name="Shape 90"/>
          <p:cNvSpPr/>
          <p:nvPr/>
        </p:nvSpPr>
        <p:spPr>
          <a:xfrm>
            <a:off x="9129811" y="3569232"/>
            <a:ext cx="140313" cy="-1605"/>
          </a:xfrm>
          <a:prstGeom prst="line">
            <a:avLst/>
          </a:prstGeom>
          <a:noFill/>
          <a:ln w="17780">
            <a:solidFill>
              <a:srgbClr val="0B3B82"/>
            </a:solidFill>
            <a:prstDash val="solid"/>
            <a:headEnd type="none"/>
            <a:tailEnd type="none"/>
          </a:ln>
        </p:spPr>
      </p:sp>
      <p:sp>
        <p:nvSpPr>
          <p:cNvPr id="94" name="Shape 91"/>
          <p:cNvSpPr/>
          <p:nvPr/>
        </p:nvSpPr>
        <p:spPr>
          <a:xfrm>
            <a:off x="9270124" y="3567627"/>
            <a:ext cx="140313" cy="-82186"/>
          </a:xfrm>
          <a:prstGeom prst="line">
            <a:avLst/>
          </a:prstGeom>
          <a:noFill/>
          <a:ln w="17780">
            <a:solidFill>
              <a:srgbClr val="0B3B82"/>
            </a:solidFill>
            <a:prstDash val="solid"/>
            <a:headEnd type="none"/>
            <a:tailEnd type="none"/>
          </a:ln>
        </p:spPr>
      </p:sp>
      <p:sp>
        <p:nvSpPr>
          <p:cNvPr id="95" name="Shape 92"/>
          <p:cNvSpPr/>
          <p:nvPr/>
        </p:nvSpPr>
        <p:spPr>
          <a:xfrm>
            <a:off x="9410437" y="3485442"/>
            <a:ext cx="140313" cy="-102434"/>
          </a:xfrm>
          <a:prstGeom prst="line">
            <a:avLst/>
          </a:prstGeom>
          <a:noFill/>
          <a:ln w="17780">
            <a:solidFill>
              <a:srgbClr val="0B3B82"/>
            </a:solidFill>
            <a:prstDash val="solid"/>
            <a:headEnd type="none"/>
            <a:tailEnd type="none"/>
          </a:ln>
        </p:spPr>
      </p:sp>
      <p:sp>
        <p:nvSpPr>
          <p:cNvPr id="96" name="Shape 93"/>
          <p:cNvSpPr/>
          <p:nvPr/>
        </p:nvSpPr>
        <p:spPr>
          <a:xfrm>
            <a:off x="9550750" y="3383007"/>
            <a:ext cx="140313" cy="40642"/>
          </a:xfrm>
          <a:prstGeom prst="line">
            <a:avLst/>
          </a:prstGeom>
          <a:noFill/>
          <a:ln w="17780">
            <a:solidFill>
              <a:srgbClr val="0B3B82"/>
            </a:solidFill>
            <a:prstDash val="solid"/>
            <a:headEnd type="none"/>
            <a:tailEnd type="none"/>
          </a:ln>
        </p:spPr>
      </p:sp>
      <p:sp>
        <p:nvSpPr>
          <p:cNvPr id="97" name="Shape 94"/>
          <p:cNvSpPr/>
          <p:nvPr/>
        </p:nvSpPr>
        <p:spPr>
          <a:xfrm>
            <a:off x="9691063" y="3423649"/>
            <a:ext cx="140313" cy="206039"/>
          </a:xfrm>
          <a:prstGeom prst="line">
            <a:avLst/>
          </a:prstGeom>
          <a:noFill/>
          <a:ln w="17780">
            <a:solidFill>
              <a:srgbClr val="0B3B82"/>
            </a:solidFill>
            <a:prstDash val="solid"/>
            <a:headEnd type="none"/>
            <a:tailEnd type="none"/>
          </a:ln>
        </p:spPr>
      </p:sp>
      <p:sp>
        <p:nvSpPr>
          <p:cNvPr id="98" name="Shape 95"/>
          <p:cNvSpPr/>
          <p:nvPr/>
        </p:nvSpPr>
        <p:spPr>
          <a:xfrm>
            <a:off x="9831377" y="3629688"/>
            <a:ext cx="140313" cy="190842"/>
          </a:xfrm>
          <a:prstGeom prst="line">
            <a:avLst/>
          </a:prstGeom>
          <a:noFill/>
          <a:ln w="17780">
            <a:solidFill>
              <a:srgbClr val="0B3B82"/>
            </a:solidFill>
            <a:prstDash val="solid"/>
            <a:headEnd type="none"/>
            <a:tailEnd type="none"/>
          </a:ln>
        </p:spPr>
      </p:sp>
      <p:sp>
        <p:nvSpPr>
          <p:cNvPr id="99" name="Shape 96"/>
          <p:cNvSpPr/>
          <p:nvPr/>
        </p:nvSpPr>
        <p:spPr>
          <a:xfrm>
            <a:off x="9971690" y="3820530"/>
            <a:ext cx="140313" cy="13426"/>
          </a:xfrm>
          <a:prstGeom prst="line">
            <a:avLst/>
          </a:prstGeom>
          <a:noFill/>
          <a:ln w="17780">
            <a:solidFill>
              <a:srgbClr val="0B3B82"/>
            </a:solidFill>
            <a:prstDash val="solid"/>
            <a:headEnd type="none"/>
            <a:tailEnd type="none"/>
          </a:ln>
        </p:spPr>
      </p:sp>
      <p:sp>
        <p:nvSpPr>
          <p:cNvPr id="100" name="Shape 97"/>
          <p:cNvSpPr/>
          <p:nvPr/>
        </p:nvSpPr>
        <p:spPr>
          <a:xfrm>
            <a:off x="10112003" y="3833956"/>
            <a:ext cx="140313" cy="-112071"/>
          </a:xfrm>
          <a:prstGeom prst="line">
            <a:avLst/>
          </a:prstGeom>
          <a:noFill/>
          <a:ln w="17780">
            <a:solidFill>
              <a:srgbClr val="0B3B82"/>
            </a:solidFill>
            <a:prstDash val="solid"/>
            <a:headEnd type="none"/>
            <a:tailEnd type="none"/>
          </a:ln>
        </p:spPr>
      </p:sp>
      <p:sp>
        <p:nvSpPr>
          <p:cNvPr id="101" name="Shape 98"/>
          <p:cNvSpPr/>
          <p:nvPr/>
        </p:nvSpPr>
        <p:spPr>
          <a:xfrm>
            <a:off x="10252316" y="3721885"/>
            <a:ext cx="140313" cy="-73120"/>
          </a:xfrm>
          <a:prstGeom prst="line">
            <a:avLst/>
          </a:prstGeom>
          <a:noFill/>
          <a:ln w="17780">
            <a:solidFill>
              <a:srgbClr val="0B3B82"/>
            </a:solidFill>
            <a:prstDash val="solid"/>
            <a:headEnd type="none"/>
            <a:tailEnd type="none"/>
          </a:ln>
        </p:spPr>
      </p:sp>
      <p:sp>
        <p:nvSpPr>
          <p:cNvPr id="102" name="Shape 99"/>
          <p:cNvSpPr/>
          <p:nvPr/>
        </p:nvSpPr>
        <p:spPr>
          <a:xfrm>
            <a:off x="10392629" y="3648765"/>
            <a:ext cx="140313" cy="1807"/>
          </a:xfrm>
          <a:prstGeom prst="line">
            <a:avLst/>
          </a:prstGeom>
          <a:noFill/>
          <a:ln w="17780">
            <a:solidFill>
              <a:srgbClr val="0B3B82"/>
            </a:solidFill>
            <a:prstDash val="solid"/>
            <a:headEnd type="none"/>
            <a:tailEnd type="none"/>
          </a:ln>
        </p:spPr>
      </p:sp>
      <p:sp>
        <p:nvSpPr>
          <p:cNvPr id="103" name="Shape 100"/>
          <p:cNvSpPr/>
          <p:nvPr/>
        </p:nvSpPr>
        <p:spPr>
          <a:xfrm>
            <a:off x="10532942" y="3650572"/>
            <a:ext cx="140313" cy="-43078"/>
          </a:xfrm>
          <a:prstGeom prst="line">
            <a:avLst/>
          </a:prstGeom>
          <a:noFill/>
          <a:ln w="17780">
            <a:solidFill>
              <a:srgbClr val="0B3B82"/>
            </a:solidFill>
            <a:prstDash val="solid"/>
            <a:headEnd type="none"/>
            <a:tailEnd type="none"/>
          </a:ln>
        </p:spPr>
      </p:sp>
      <p:sp>
        <p:nvSpPr>
          <p:cNvPr id="104" name="Shape 101"/>
          <p:cNvSpPr/>
          <p:nvPr/>
        </p:nvSpPr>
        <p:spPr>
          <a:xfrm>
            <a:off x="10673255" y="3607495"/>
            <a:ext cx="140313" cy="-146231"/>
          </a:xfrm>
          <a:prstGeom prst="line">
            <a:avLst/>
          </a:prstGeom>
          <a:noFill/>
          <a:ln w="17780">
            <a:solidFill>
              <a:srgbClr val="0B3B82"/>
            </a:solidFill>
            <a:prstDash val="solid"/>
            <a:headEnd type="none"/>
            <a:tailEnd type="none"/>
          </a:ln>
        </p:spPr>
      </p:sp>
      <p:sp>
        <p:nvSpPr>
          <p:cNvPr id="105" name="Shape 102"/>
          <p:cNvSpPr/>
          <p:nvPr/>
        </p:nvSpPr>
        <p:spPr>
          <a:xfrm>
            <a:off x="10813568" y="3461264"/>
            <a:ext cx="140313" cy="-117433"/>
          </a:xfrm>
          <a:prstGeom prst="line">
            <a:avLst/>
          </a:prstGeom>
          <a:noFill/>
          <a:ln w="17780">
            <a:solidFill>
              <a:srgbClr val="0B3B82"/>
            </a:solidFill>
            <a:prstDash val="solid"/>
            <a:headEnd type="none"/>
            <a:tailEnd type="none"/>
          </a:ln>
        </p:spPr>
      </p:sp>
      <p:sp>
        <p:nvSpPr>
          <p:cNvPr id="106" name="Shape 103"/>
          <p:cNvSpPr/>
          <p:nvPr/>
        </p:nvSpPr>
        <p:spPr>
          <a:xfrm>
            <a:off x="10953881" y="3343831"/>
            <a:ext cx="140313" cy="69594"/>
          </a:xfrm>
          <a:prstGeom prst="line">
            <a:avLst/>
          </a:prstGeom>
          <a:noFill/>
          <a:ln w="17780">
            <a:solidFill>
              <a:srgbClr val="0B3B82"/>
            </a:solidFill>
            <a:prstDash val="solid"/>
            <a:headEnd type="none"/>
            <a:tailEnd type="none"/>
          </a:ln>
        </p:spPr>
      </p:sp>
      <p:sp>
        <p:nvSpPr>
          <p:cNvPr id="107" name="Shape 104"/>
          <p:cNvSpPr/>
          <p:nvPr/>
        </p:nvSpPr>
        <p:spPr>
          <a:xfrm>
            <a:off x="11094194" y="3413425"/>
            <a:ext cx="140313" cy="214258"/>
          </a:xfrm>
          <a:prstGeom prst="line">
            <a:avLst/>
          </a:prstGeom>
          <a:noFill/>
          <a:ln w="17780">
            <a:solidFill>
              <a:srgbClr val="0B3B82"/>
            </a:solidFill>
            <a:prstDash val="solid"/>
            <a:headEnd type="none"/>
            <a:tailEnd type="none"/>
          </a:ln>
        </p:spPr>
      </p:sp>
      <p:sp>
        <p:nvSpPr>
          <p:cNvPr id="108" name="Shape 105"/>
          <p:cNvSpPr/>
          <p:nvPr/>
        </p:nvSpPr>
        <p:spPr>
          <a:xfrm>
            <a:off x="11234508" y="3627684"/>
            <a:ext cx="140313" cy="156760"/>
          </a:xfrm>
          <a:prstGeom prst="line">
            <a:avLst/>
          </a:prstGeom>
          <a:noFill/>
          <a:ln w="17780">
            <a:solidFill>
              <a:srgbClr val="0B3B82"/>
            </a:solidFill>
            <a:prstDash val="solid"/>
            <a:headEnd type="none"/>
            <a:tailEnd type="none"/>
          </a:ln>
        </p:spPr>
      </p:sp>
      <p:sp>
        <p:nvSpPr>
          <p:cNvPr id="109" name="Shape 106"/>
          <p:cNvSpPr/>
          <p:nvPr/>
        </p:nvSpPr>
        <p:spPr>
          <a:xfrm>
            <a:off x="11374821" y="3784444"/>
            <a:ext cx="140313" cy="-6411"/>
          </a:xfrm>
          <a:prstGeom prst="line">
            <a:avLst/>
          </a:prstGeom>
          <a:noFill/>
          <a:ln w="17780">
            <a:solidFill>
              <a:srgbClr val="0B3B82"/>
            </a:solidFill>
            <a:prstDash val="solid"/>
            <a:headEnd type="none"/>
            <a:tailEnd type="none"/>
          </a:ln>
        </p:spPr>
      </p:sp>
      <p:sp>
        <p:nvSpPr>
          <p:cNvPr id="110" name="Shape 107"/>
          <p:cNvSpPr/>
          <p:nvPr/>
        </p:nvSpPr>
        <p:spPr>
          <a:xfrm>
            <a:off x="11515134" y="3778033"/>
            <a:ext cx="140313" cy="-68204"/>
          </a:xfrm>
          <a:prstGeom prst="line">
            <a:avLst/>
          </a:prstGeom>
          <a:noFill/>
          <a:ln w="17780">
            <a:solidFill>
              <a:srgbClr val="0B3B82"/>
            </a:solidFill>
            <a:prstDash val="solid"/>
            <a:headEnd type="none"/>
            <a:tailEnd type="none"/>
          </a:ln>
        </p:spPr>
      </p:sp>
      <p:sp>
        <p:nvSpPr>
          <p:cNvPr id="111" name="Shape 108"/>
          <p:cNvSpPr/>
          <p:nvPr/>
        </p:nvSpPr>
        <p:spPr>
          <a:xfrm>
            <a:off x="11655447" y="3709829"/>
            <a:ext cx="140313" cy="-2909"/>
          </a:xfrm>
          <a:prstGeom prst="line">
            <a:avLst/>
          </a:prstGeom>
          <a:noFill/>
          <a:ln w="17780">
            <a:solidFill>
              <a:srgbClr val="0B3B82"/>
            </a:solidFill>
            <a:prstDash val="solid"/>
            <a:headEnd type="none"/>
            <a:tailEnd type="none"/>
          </a:ln>
        </p:spPr>
      </p:sp>
      <p:sp>
        <p:nvSpPr>
          <p:cNvPr id="112" name="Text 109"/>
          <p:cNvSpPr txBox="1"/>
          <p:nvPr/>
        </p:nvSpPr>
        <p:spPr>
          <a:xfrm>
            <a:off x="11996928" y="3310128"/>
            <a:ext cx="658368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実測</a:t>
            </a:r>
            <a:endParaRPr lang="en-US" sz="1200" dirty="0"/>
          </a:p>
        </p:txBody>
      </p:sp>
      <p:sp>
        <p:nvSpPr>
          <p:cNvPr id="113" name="Shape 110"/>
          <p:cNvSpPr/>
          <p:nvPr/>
        </p:nvSpPr>
        <p:spPr>
          <a:xfrm>
            <a:off x="11722608" y="3419856"/>
            <a:ext cx="228600" cy="0"/>
          </a:xfrm>
          <a:prstGeom prst="line">
            <a:avLst/>
          </a:prstGeom>
          <a:noFill/>
          <a:ln w="20320">
            <a:solidFill>
              <a:srgbClr val="D93025"/>
            </a:solidFill>
            <a:prstDash val="solid"/>
          </a:ln>
        </p:spPr>
      </p:sp>
      <p:sp>
        <p:nvSpPr>
          <p:cNvPr id="114" name="Text 111"/>
          <p:cNvSpPr txBox="1"/>
          <p:nvPr/>
        </p:nvSpPr>
        <p:spPr>
          <a:xfrm>
            <a:off x="11996928" y="3675888"/>
            <a:ext cx="658368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予測</a:t>
            </a:r>
            <a:endParaRPr lang="en-US" sz="1200" dirty="0"/>
          </a:p>
        </p:txBody>
      </p:sp>
      <p:sp>
        <p:nvSpPr>
          <p:cNvPr id="115" name="Shape 112"/>
          <p:cNvSpPr/>
          <p:nvPr/>
        </p:nvSpPr>
        <p:spPr>
          <a:xfrm>
            <a:off x="11722608" y="3785616"/>
            <a:ext cx="228600" cy="0"/>
          </a:xfrm>
          <a:prstGeom prst="line">
            <a:avLst/>
          </a:prstGeom>
          <a:noFill/>
          <a:ln w="20320">
            <a:solidFill>
              <a:srgbClr val="0B3B82"/>
            </a:solidFill>
            <a:prstDash val="solid"/>
          </a:ln>
        </p:spPr>
      </p:sp>
      <p:sp>
        <p:nvSpPr>
          <p:cNvPr id="116" name="Shape 113"/>
          <p:cNvSpPr/>
          <p:nvPr/>
        </p:nvSpPr>
        <p:spPr>
          <a:xfrm>
            <a:off x="7114032" y="4608576"/>
            <a:ext cx="868680" cy="512064"/>
          </a:xfrm>
          <a:prstGeom prst="chevron">
            <a:avLst/>
          </a:prstGeom>
          <a:solidFill>
            <a:srgbClr val="078A58"/>
          </a:solidFill>
          <a:ln w="12700">
            <a:solidFill>
              <a:srgbClr val="078A58"/>
            </a:solidFill>
            <a:prstDash val="solid"/>
          </a:ln>
        </p:spPr>
      </p:sp>
      <p:sp>
        <p:nvSpPr>
          <p:cNvPr id="117" name="Text 114"/>
          <p:cNvSpPr txBox="1"/>
          <p:nvPr/>
        </p:nvSpPr>
        <p:spPr>
          <a:xfrm>
            <a:off x="7114032" y="4608576"/>
            <a:ext cx="813816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当社</a:t>
            </a:r>
            <a:endParaRPr lang="en-US" sz="1350" dirty="0"/>
          </a:p>
        </p:txBody>
      </p:sp>
      <p:sp>
        <p:nvSpPr>
          <p:cNvPr id="118" name="Text 115"/>
          <p:cNvSpPr txBox="1"/>
          <p:nvPr/>
        </p:nvSpPr>
        <p:spPr>
          <a:xfrm>
            <a:off x="8119872" y="4553712"/>
            <a:ext cx="4526280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新しい実測データを取り込み、モデルを更新</a:t>
            </a:r>
            <a:endParaRPr lang="en-US" sz="1420" dirty="0"/>
          </a:p>
        </p:txBody>
      </p:sp>
      <p:sp>
        <p:nvSpPr>
          <p:cNvPr id="119" name="Shape 116"/>
          <p:cNvSpPr/>
          <p:nvPr/>
        </p:nvSpPr>
        <p:spPr>
          <a:xfrm>
            <a:off x="7726680" y="5704549"/>
            <a:ext cx="140313" cy="4104"/>
          </a:xfrm>
          <a:prstGeom prst="line">
            <a:avLst/>
          </a:prstGeom>
          <a:noFill/>
          <a:ln w="17780">
            <a:solidFill>
              <a:srgbClr val="D93025"/>
            </a:solidFill>
            <a:prstDash val="solid"/>
            <a:headEnd type="none"/>
            <a:tailEnd type="none"/>
          </a:ln>
        </p:spPr>
      </p:sp>
      <p:sp>
        <p:nvSpPr>
          <p:cNvPr id="120" name="Shape 117"/>
          <p:cNvSpPr/>
          <p:nvPr/>
        </p:nvSpPr>
        <p:spPr>
          <a:xfrm>
            <a:off x="7866993" y="5708652"/>
            <a:ext cx="140313" cy="-28897"/>
          </a:xfrm>
          <a:prstGeom prst="line">
            <a:avLst/>
          </a:prstGeom>
          <a:noFill/>
          <a:ln w="17780">
            <a:solidFill>
              <a:srgbClr val="D93025"/>
            </a:solidFill>
            <a:prstDash val="solid"/>
            <a:headEnd type="none"/>
            <a:tailEnd type="none"/>
          </a:ln>
        </p:spPr>
      </p:sp>
      <p:sp>
        <p:nvSpPr>
          <p:cNvPr id="121" name="Shape 118"/>
          <p:cNvSpPr/>
          <p:nvPr/>
        </p:nvSpPr>
        <p:spPr>
          <a:xfrm>
            <a:off x="8007306" y="5679755"/>
            <a:ext cx="140313" cy="-55981"/>
          </a:xfrm>
          <a:prstGeom prst="line">
            <a:avLst/>
          </a:prstGeom>
          <a:noFill/>
          <a:ln w="17780">
            <a:solidFill>
              <a:srgbClr val="D93025"/>
            </a:solidFill>
            <a:prstDash val="solid"/>
            <a:headEnd type="none"/>
            <a:tailEnd type="none"/>
          </a:ln>
        </p:spPr>
      </p:sp>
      <p:sp>
        <p:nvSpPr>
          <p:cNvPr id="122" name="Shape 119"/>
          <p:cNvSpPr/>
          <p:nvPr/>
        </p:nvSpPr>
        <p:spPr>
          <a:xfrm>
            <a:off x="8147619" y="5623774"/>
            <a:ext cx="140313" cy="-43419"/>
          </a:xfrm>
          <a:prstGeom prst="line">
            <a:avLst/>
          </a:prstGeom>
          <a:noFill/>
          <a:ln w="17780">
            <a:solidFill>
              <a:srgbClr val="D93025"/>
            </a:solidFill>
            <a:prstDash val="solid"/>
            <a:headEnd type="none"/>
            <a:tailEnd type="none"/>
          </a:ln>
        </p:spPr>
      </p:sp>
      <p:sp>
        <p:nvSpPr>
          <p:cNvPr id="123" name="Shape 120"/>
          <p:cNvSpPr/>
          <p:nvPr/>
        </p:nvSpPr>
        <p:spPr>
          <a:xfrm>
            <a:off x="8287932" y="5580354"/>
            <a:ext cx="140313" cy="123546"/>
          </a:xfrm>
          <a:prstGeom prst="line">
            <a:avLst/>
          </a:prstGeom>
          <a:noFill/>
          <a:ln w="17780">
            <a:solidFill>
              <a:srgbClr val="D93025"/>
            </a:solidFill>
            <a:prstDash val="solid"/>
            <a:headEnd type="none"/>
            <a:tailEnd type="none"/>
          </a:ln>
        </p:spPr>
      </p:sp>
      <p:sp>
        <p:nvSpPr>
          <p:cNvPr id="124" name="Shape 121"/>
          <p:cNvSpPr/>
          <p:nvPr/>
        </p:nvSpPr>
        <p:spPr>
          <a:xfrm>
            <a:off x="8428246" y="5703900"/>
            <a:ext cx="140313" cy="201073"/>
          </a:xfrm>
          <a:prstGeom prst="line">
            <a:avLst/>
          </a:prstGeom>
          <a:noFill/>
          <a:ln w="17780">
            <a:solidFill>
              <a:srgbClr val="D93025"/>
            </a:solidFill>
            <a:prstDash val="solid"/>
            <a:headEnd type="none"/>
            <a:tailEnd type="none"/>
          </a:ln>
        </p:spPr>
      </p:sp>
      <p:sp>
        <p:nvSpPr>
          <p:cNvPr id="125" name="Shape 122"/>
          <p:cNvSpPr/>
          <p:nvPr/>
        </p:nvSpPr>
        <p:spPr>
          <a:xfrm>
            <a:off x="8568559" y="5904973"/>
            <a:ext cx="140313" cy="111113"/>
          </a:xfrm>
          <a:prstGeom prst="line">
            <a:avLst/>
          </a:prstGeom>
          <a:noFill/>
          <a:ln w="17780">
            <a:solidFill>
              <a:srgbClr val="D93025"/>
            </a:solidFill>
            <a:prstDash val="solid"/>
            <a:headEnd type="none"/>
            <a:tailEnd type="none"/>
          </a:ln>
        </p:spPr>
      </p:sp>
      <p:sp>
        <p:nvSpPr>
          <p:cNvPr id="126" name="Shape 123"/>
          <p:cNvSpPr/>
          <p:nvPr/>
        </p:nvSpPr>
        <p:spPr>
          <a:xfrm>
            <a:off x="8708872" y="6016086"/>
            <a:ext cx="140313" cy="-66149"/>
          </a:xfrm>
          <a:prstGeom prst="line">
            <a:avLst/>
          </a:prstGeom>
          <a:noFill/>
          <a:ln w="17780">
            <a:solidFill>
              <a:srgbClr val="D93025"/>
            </a:solidFill>
            <a:prstDash val="solid"/>
            <a:headEnd type="none"/>
            <a:tailEnd type="none"/>
          </a:ln>
        </p:spPr>
      </p:sp>
      <p:sp>
        <p:nvSpPr>
          <p:cNvPr id="127" name="Shape 124"/>
          <p:cNvSpPr/>
          <p:nvPr/>
        </p:nvSpPr>
        <p:spPr>
          <a:xfrm>
            <a:off x="8849185" y="5949938"/>
            <a:ext cx="140313" cy="-118493"/>
          </a:xfrm>
          <a:prstGeom prst="line">
            <a:avLst/>
          </a:prstGeom>
          <a:noFill/>
          <a:ln w="17780">
            <a:solidFill>
              <a:srgbClr val="D93025"/>
            </a:solidFill>
            <a:prstDash val="solid"/>
            <a:headEnd type="none"/>
            <a:tailEnd type="none"/>
          </a:ln>
        </p:spPr>
      </p:sp>
      <p:sp>
        <p:nvSpPr>
          <p:cNvPr id="128" name="Shape 125"/>
          <p:cNvSpPr/>
          <p:nvPr/>
        </p:nvSpPr>
        <p:spPr>
          <a:xfrm>
            <a:off x="8989498" y="5831444"/>
            <a:ext cx="140313" cy="-59882"/>
          </a:xfrm>
          <a:prstGeom prst="line">
            <a:avLst/>
          </a:prstGeom>
          <a:noFill/>
          <a:ln w="17780">
            <a:solidFill>
              <a:srgbClr val="D93025"/>
            </a:solidFill>
            <a:prstDash val="solid"/>
            <a:headEnd type="none"/>
            <a:tailEnd type="none"/>
          </a:ln>
        </p:spPr>
      </p:sp>
      <p:sp>
        <p:nvSpPr>
          <p:cNvPr id="129" name="Shape 126"/>
          <p:cNvSpPr/>
          <p:nvPr/>
        </p:nvSpPr>
        <p:spPr>
          <a:xfrm>
            <a:off x="9129811" y="5771563"/>
            <a:ext cx="140313" cy="-10055"/>
          </a:xfrm>
          <a:prstGeom prst="line">
            <a:avLst/>
          </a:prstGeom>
          <a:noFill/>
          <a:ln w="17780">
            <a:solidFill>
              <a:srgbClr val="D93025"/>
            </a:solidFill>
            <a:prstDash val="solid"/>
            <a:headEnd type="none"/>
            <a:tailEnd type="none"/>
          </a:ln>
        </p:spPr>
      </p:sp>
      <p:sp>
        <p:nvSpPr>
          <p:cNvPr id="130" name="Shape 127"/>
          <p:cNvSpPr/>
          <p:nvPr/>
        </p:nvSpPr>
        <p:spPr>
          <a:xfrm>
            <a:off x="9270124" y="5761508"/>
            <a:ext cx="140313" cy="-63316"/>
          </a:xfrm>
          <a:prstGeom prst="line">
            <a:avLst/>
          </a:prstGeom>
          <a:noFill/>
          <a:ln w="17780">
            <a:solidFill>
              <a:srgbClr val="D93025"/>
            </a:solidFill>
            <a:prstDash val="solid"/>
            <a:headEnd type="none"/>
            <a:tailEnd type="none"/>
          </a:ln>
        </p:spPr>
      </p:sp>
      <p:sp>
        <p:nvSpPr>
          <p:cNvPr id="131" name="Shape 128"/>
          <p:cNvSpPr/>
          <p:nvPr/>
        </p:nvSpPr>
        <p:spPr>
          <a:xfrm>
            <a:off x="9410437" y="5698192"/>
            <a:ext cx="140313" cy="-136484"/>
          </a:xfrm>
          <a:prstGeom prst="line">
            <a:avLst/>
          </a:prstGeom>
          <a:noFill/>
          <a:ln w="17780">
            <a:solidFill>
              <a:srgbClr val="D93025"/>
            </a:solidFill>
            <a:prstDash val="solid"/>
            <a:headEnd type="none"/>
            <a:tailEnd type="none"/>
          </a:ln>
        </p:spPr>
      </p:sp>
      <p:sp>
        <p:nvSpPr>
          <p:cNvPr id="132" name="Shape 129"/>
          <p:cNvSpPr/>
          <p:nvPr/>
        </p:nvSpPr>
        <p:spPr>
          <a:xfrm>
            <a:off x="9550750" y="5561707"/>
            <a:ext cx="140313" cy="-29116"/>
          </a:xfrm>
          <a:prstGeom prst="line">
            <a:avLst/>
          </a:prstGeom>
          <a:noFill/>
          <a:ln w="17780">
            <a:solidFill>
              <a:srgbClr val="D93025"/>
            </a:solidFill>
            <a:prstDash val="solid"/>
            <a:headEnd type="none"/>
            <a:tailEnd type="none"/>
          </a:ln>
        </p:spPr>
      </p:sp>
      <p:sp>
        <p:nvSpPr>
          <p:cNvPr id="133" name="Shape 130"/>
          <p:cNvSpPr/>
          <p:nvPr/>
        </p:nvSpPr>
        <p:spPr>
          <a:xfrm>
            <a:off x="9691063" y="5532591"/>
            <a:ext cx="140313" cy="163568"/>
          </a:xfrm>
          <a:prstGeom prst="line">
            <a:avLst/>
          </a:prstGeom>
          <a:noFill/>
          <a:ln w="17780">
            <a:solidFill>
              <a:srgbClr val="D93025"/>
            </a:solidFill>
            <a:prstDash val="solid"/>
            <a:headEnd type="none"/>
            <a:tailEnd type="none"/>
          </a:ln>
        </p:spPr>
      </p:sp>
      <p:sp>
        <p:nvSpPr>
          <p:cNvPr id="134" name="Shape 131"/>
          <p:cNvSpPr/>
          <p:nvPr/>
        </p:nvSpPr>
        <p:spPr>
          <a:xfrm>
            <a:off x="9831377" y="5696160"/>
            <a:ext cx="140313" cy="217409"/>
          </a:xfrm>
          <a:prstGeom prst="line">
            <a:avLst/>
          </a:prstGeom>
          <a:noFill/>
          <a:ln w="17780">
            <a:solidFill>
              <a:srgbClr val="D93025"/>
            </a:solidFill>
            <a:prstDash val="solid"/>
            <a:headEnd type="none"/>
            <a:tailEnd type="none"/>
          </a:ln>
        </p:spPr>
      </p:sp>
      <p:sp>
        <p:nvSpPr>
          <p:cNvPr id="135" name="Shape 132"/>
          <p:cNvSpPr/>
          <p:nvPr/>
        </p:nvSpPr>
        <p:spPr>
          <a:xfrm>
            <a:off x="9971690" y="5913569"/>
            <a:ext cx="140313" cy="74632"/>
          </a:xfrm>
          <a:prstGeom prst="line">
            <a:avLst/>
          </a:prstGeom>
          <a:noFill/>
          <a:ln w="17780">
            <a:solidFill>
              <a:srgbClr val="D93025"/>
            </a:solidFill>
            <a:prstDash val="solid"/>
            <a:headEnd type="none"/>
            <a:tailEnd type="none"/>
          </a:ln>
        </p:spPr>
      </p:sp>
      <p:sp>
        <p:nvSpPr>
          <p:cNvPr id="136" name="Shape 133"/>
          <p:cNvSpPr/>
          <p:nvPr/>
        </p:nvSpPr>
        <p:spPr>
          <a:xfrm>
            <a:off x="10112003" y="5988201"/>
            <a:ext cx="140313" cy="-66657"/>
          </a:xfrm>
          <a:prstGeom prst="line">
            <a:avLst/>
          </a:prstGeom>
          <a:noFill/>
          <a:ln w="17780">
            <a:solidFill>
              <a:srgbClr val="D93025"/>
            </a:solidFill>
            <a:prstDash val="solid"/>
            <a:headEnd type="none"/>
            <a:tailEnd type="none"/>
          </a:ln>
        </p:spPr>
      </p:sp>
      <p:sp>
        <p:nvSpPr>
          <p:cNvPr id="137" name="Shape 134"/>
          <p:cNvSpPr/>
          <p:nvPr/>
        </p:nvSpPr>
        <p:spPr>
          <a:xfrm>
            <a:off x="10252316" y="5921544"/>
            <a:ext cx="140313" cy="-81897"/>
          </a:xfrm>
          <a:prstGeom prst="line">
            <a:avLst/>
          </a:prstGeom>
          <a:noFill/>
          <a:ln w="17780">
            <a:solidFill>
              <a:srgbClr val="D93025"/>
            </a:solidFill>
            <a:prstDash val="solid"/>
            <a:headEnd type="none"/>
            <a:tailEnd type="none"/>
          </a:ln>
        </p:spPr>
      </p:sp>
      <p:sp>
        <p:nvSpPr>
          <p:cNvPr id="138" name="Shape 135"/>
          <p:cNvSpPr/>
          <p:nvPr/>
        </p:nvSpPr>
        <p:spPr>
          <a:xfrm>
            <a:off x="10392629" y="5839647"/>
            <a:ext cx="140313" cy="5217"/>
          </a:xfrm>
          <a:prstGeom prst="line">
            <a:avLst/>
          </a:prstGeom>
          <a:noFill/>
          <a:ln w="17780">
            <a:solidFill>
              <a:srgbClr val="D93025"/>
            </a:solidFill>
            <a:prstDash val="solid"/>
            <a:headEnd type="none"/>
            <a:tailEnd type="none"/>
          </a:ln>
        </p:spPr>
      </p:sp>
      <p:sp>
        <p:nvSpPr>
          <p:cNvPr id="139" name="Shape 136"/>
          <p:cNvSpPr/>
          <p:nvPr/>
        </p:nvSpPr>
        <p:spPr>
          <a:xfrm>
            <a:off x="10532942" y="5844864"/>
            <a:ext cx="140313" cy="-4505"/>
          </a:xfrm>
          <a:prstGeom prst="line">
            <a:avLst/>
          </a:prstGeom>
          <a:noFill/>
          <a:ln w="17780">
            <a:solidFill>
              <a:srgbClr val="D93025"/>
            </a:solidFill>
            <a:prstDash val="solid"/>
            <a:headEnd type="none"/>
            <a:tailEnd type="none"/>
          </a:ln>
        </p:spPr>
      </p:sp>
      <p:sp>
        <p:nvSpPr>
          <p:cNvPr id="140" name="Shape 137"/>
          <p:cNvSpPr/>
          <p:nvPr/>
        </p:nvSpPr>
        <p:spPr>
          <a:xfrm>
            <a:off x="10673255" y="5840359"/>
            <a:ext cx="140313" cy="-131661"/>
          </a:xfrm>
          <a:prstGeom prst="line">
            <a:avLst/>
          </a:prstGeom>
          <a:noFill/>
          <a:ln w="17780">
            <a:solidFill>
              <a:srgbClr val="D93025"/>
            </a:solidFill>
            <a:prstDash val="solid"/>
            <a:headEnd type="none"/>
            <a:tailEnd type="none"/>
          </a:ln>
        </p:spPr>
      </p:sp>
      <p:sp>
        <p:nvSpPr>
          <p:cNvPr id="141" name="Shape 138"/>
          <p:cNvSpPr/>
          <p:nvPr/>
        </p:nvSpPr>
        <p:spPr>
          <a:xfrm>
            <a:off x="10813568" y="5708698"/>
            <a:ext cx="140313" cy="-204321"/>
          </a:xfrm>
          <a:prstGeom prst="line">
            <a:avLst/>
          </a:prstGeom>
          <a:noFill/>
          <a:ln w="17780">
            <a:solidFill>
              <a:srgbClr val="D93025"/>
            </a:solidFill>
            <a:prstDash val="solid"/>
            <a:headEnd type="none"/>
            <a:tailEnd type="none"/>
          </a:ln>
        </p:spPr>
      </p:sp>
      <p:sp>
        <p:nvSpPr>
          <p:cNvPr id="142" name="Shape 139"/>
          <p:cNvSpPr/>
          <p:nvPr/>
        </p:nvSpPr>
        <p:spPr>
          <a:xfrm>
            <a:off x="10953881" y="5504377"/>
            <a:ext cx="140313" cy="19844"/>
          </a:xfrm>
          <a:prstGeom prst="line">
            <a:avLst/>
          </a:prstGeom>
          <a:noFill/>
          <a:ln w="17780">
            <a:solidFill>
              <a:srgbClr val="D93025"/>
            </a:solidFill>
            <a:prstDash val="solid"/>
            <a:headEnd type="none"/>
            <a:tailEnd type="none"/>
          </a:ln>
        </p:spPr>
      </p:sp>
      <p:sp>
        <p:nvSpPr>
          <p:cNvPr id="143" name="Shape 140"/>
          <p:cNvSpPr/>
          <p:nvPr/>
        </p:nvSpPr>
        <p:spPr>
          <a:xfrm>
            <a:off x="11094194" y="5524221"/>
            <a:ext cx="140313" cy="153536"/>
          </a:xfrm>
          <a:prstGeom prst="line">
            <a:avLst/>
          </a:prstGeom>
          <a:noFill/>
          <a:ln w="17780">
            <a:solidFill>
              <a:srgbClr val="D93025"/>
            </a:solidFill>
            <a:prstDash val="solid"/>
            <a:headEnd type="none"/>
            <a:tailEnd type="none"/>
          </a:ln>
        </p:spPr>
      </p:sp>
      <p:sp>
        <p:nvSpPr>
          <p:cNvPr id="144" name="Shape 141"/>
          <p:cNvSpPr/>
          <p:nvPr/>
        </p:nvSpPr>
        <p:spPr>
          <a:xfrm>
            <a:off x="11234508" y="5677757"/>
            <a:ext cx="140313" cy="177648"/>
          </a:xfrm>
          <a:prstGeom prst="line">
            <a:avLst/>
          </a:prstGeom>
          <a:noFill/>
          <a:ln w="17780">
            <a:solidFill>
              <a:srgbClr val="D93025"/>
            </a:solidFill>
            <a:prstDash val="solid"/>
            <a:headEnd type="none"/>
            <a:tailEnd type="none"/>
          </a:ln>
        </p:spPr>
      </p:sp>
      <p:sp>
        <p:nvSpPr>
          <p:cNvPr id="145" name="Shape 142"/>
          <p:cNvSpPr/>
          <p:nvPr/>
        </p:nvSpPr>
        <p:spPr>
          <a:xfrm>
            <a:off x="11374821" y="5855405"/>
            <a:ext cx="140313" cy="78348"/>
          </a:xfrm>
          <a:prstGeom prst="line">
            <a:avLst/>
          </a:prstGeom>
          <a:noFill/>
          <a:ln w="17780">
            <a:solidFill>
              <a:srgbClr val="D93025"/>
            </a:solidFill>
            <a:prstDash val="solid"/>
            <a:headEnd type="none"/>
            <a:tailEnd type="none"/>
          </a:ln>
        </p:spPr>
      </p:sp>
      <p:sp>
        <p:nvSpPr>
          <p:cNvPr id="146" name="Shape 143"/>
          <p:cNvSpPr/>
          <p:nvPr/>
        </p:nvSpPr>
        <p:spPr>
          <a:xfrm>
            <a:off x="11515134" y="5933753"/>
            <a:ext cx="140313" cy="-59054"/>
          </a:xfrm>
          <a:prstGeom prst="line">
            <a:avLst/>
          </a:prstGeom>
          <a:noFill/>
          <a:ln w="17780">
            <a:solidFill>
              <a:srgbClr val="D93025"/>
            </a:solidFill>
            <a:prstDash val="solid"/>
            <a:headEnd type="none"/>
            <a:tailEnd type="none"/>
          </a:ln>
        </p:spPr>
      </p:sp>
      <p:sp>
        <p:nvSpPr>
          <p:cNvPr id="147" name="Shape 144"/>
          <p:cNvSpPr/>
          <p:nvPr/>
        </p:nvSpPr>
        <p:spPr>
          <a:xfrm>
            <a:off x="11655447" y="5874699"/>
            <a:ext cx="140313" cy="6823"/>
          </a:xfrm>
          <a:prstGeom prst="line">
            <a:avLst/>
          </a:prstGeom>
          <a:noFill/>
          <a:ln w="17780">
            <a:solidFill>
              <a:srgbClr val="D93025"/>
            </a:solidFill>
            <a:prstDash val="solid"/>
            <a:headEnd type="none"/>
            <a:tailEnd type="none"/>
          </a:ln>
        </p:spPr>
      </p:sp>
      <p:sp>
        <p:nvSpPr>
          <p:cNvPr id="148" name="Shape 145"/>
          <p:cNvSpPr/>
          <p:nvPr/>
        </p:nvSpPr>
        <p:spPr>
          <a:xfrm>
            <a:off x="7726680" y="5685139"/>
            <a:ext cx="140313" cy="5955"/>
          </a:xfrm>
          <a:prstGeom prst="line">
            <a:avLst/>
          </a:prstGeom>
          <a:noFill/>
          <a:ln w="17780">
            <a:solidFill>
              <a:srgbClr val="078A58"/>
            </a:solidFill>
            <a:prstDash val="dash"/>
            <a:headEnd type="none"/>
            <a:tailEnd type="none"/>
          </a:ln>
        </p:spPr>
      </p:sp>
      <p:sp>
        <p:nvSpPr>
          <p:cNvPr id="149" name="Shape 146"/>
          <p:cNvSpPr/>
          <p:nvPr/>
        </p:nvSpPr>
        <p:spPr>
          <a:xfrm>
            <a:off x="7866993" y="5691095"/>
            <a:ext cx="140313" cy="-8684"/>
          </a:xfrm>
          <a:prstGeom prst="line">
            <a:avLst/>
          </a:prstGeom>
          <a:noFill/>
          <a:ln w="17780">
            <a:solidFill>
              <a:srgbClr val="078A58"/>
            </a:solidFill>
            <a:prstDash val="dash"/>
            <a:headEnd type="none"/>
            <a:tailEnd type="none"/>
          </a:ln>
        </p:spPr>
      </p:sp>
      <p:sp>
        <p:nvSpPr>
          <p:cNvPr id="150" name="Shape 147"/>
          <p:cNvSpPr/>
          <p:nvPr/>
        </p:nvSpPr>
        <p:spPr>
          <a:xfrm>
            <a:off x="8007306" y="5682410"/>
            <a:ext cx="140313" cy="-81072"/>
          </a:xfrm>
          <a:prstGeom prst="line">
            <a:avLst/>
          </a:prstGeom>
          <a:noFill/>
          <a:ln w="17780">
            <a:solidFill>
              <a:srgbClr val="078A58"/>
            </a:solidFill>
            <a:prstDash val="dash"/>
            <a:headEnd type="none"/>
            <a:tailEnd type="none"/>
          </a:ln>
        </p:spPr>
      </p:sp>
      <p:sp>
        <p:nvSpPr>
          <p:cNvPr id="151" name="Shape 148"/>
          <p:cNvSpPr/>
          <p:nvPr/>
        </p:nvSpPr>
        <p:spPr>
          <a:xfrm>
            <a:off x="8147619" y="5601339"/>
            <a:ext cx="140313" cy="-33609"/>
          </a:xfrm>
          <a:prstGeom prst="line">
            <a:avLst/>
          </a:prstGeom>
          <a:noFill/>
          <a:ln w="17780">
            <a:solidFill>
              <a:srgbClr val="078A58"/>
            </a:solidFill>
            <a:prstDash val="dash"/>
            <a:headEnd type="none"/>
            <a:tailEnd type="none"/>
          </a:ln>
        </p:spPr>
      </p:sp>
      <p:sp>
        <p:nvSpPr>
          <p:cNvPr id="152" name="Shape 149"/>
          <p:cNvSpPr/>
          <p:nvPr/>
        </p:nvSpPr>
        <p:spPr>
          <a:xfrm>
            <a:off x="8287932" y="5567729"/>
            <a:ext cx="140313" cy="135342"/>
          </a:xfrm>
          <a:prstGeom prst="line">
            <a:avLst/>
          </a:prstGeom>
          <a:noFill/>
          <a:ln w="17780">
            <a:solidFill>
              <a:srgbClr val="078A58"/>
            </a:solidFill>
            <a:prstDash val="dash"/>
            <a:headEnd type="none"/>
            <a:tailEnd type="none"/>
          </a:ln>
        </p:spPr>
      </p:sp>
      <p:sp>
        <p:nvSpPr>
          <p:cNvPr id="153" name="Shape 150"/>
          <p:cNvSpPr/>
          <p:nvPr/>
        </p:nvSpPr>
        <p:spPr>
          <a:xfrm>
            <a:off x="8428246" y="5703071"/>
            <a:ext cx="140313" cy="223659"/>
          </a:xfrm>
          <a:prstGeom prst="line">
            <a:avLst/>
          </a:prstGeom>
          <a:noFill/>
          <a:ln w="17780">
            <a:solidFill>
              <a:srgbClr val="078A58"/>
            </a:solidFill>
            <a:prstDash val="dash"/>
            <a:headEnd type="none"/>
            <a:tailEnd type="none"/>
          </a:ln>
        </p:spPr>
      </p:sp>
      <p:sp>
        <p:nvSpPr>
          <p:cNvPr id="154" name="Shape 151"/>
          <p:cNvSpPr/>
          <p:nvPr/>
        </p:nvSpPr>
        <p:spPr>
          <a:xfrm>
            <a:off x="8568559" y="5926730"/>
            <a:ext cx="140313" cy="105365"/>
          </a:xfrm>
          <a:prstGeom prst="line">
            <a:avLst/>
          </a:prstGeom>
          <a:noFill/>
          <a:ln w="17780">
            <a:solidFill>
              <a:srgbClr val="078A58"/>
            </a:solidFill>
            <a:prstDash val="dash"/>
            <a:headEnd type="none"/>
            <a:tailEnd type="none"/>
          </a:ln>
        </p:spPr>
      </p:sp>
      <p:sp>
        <p:nvSpPr>
          <p:cNvPr id="155" name="Shape 152"/>
          <p:cNvSpPr/>
          <p:nvPr/>
        </p:nvSpPr>
        <p:spPr>
          <a:xfrm>
            <a:off x="8708872" y="6032095"/>
            <a:ext cx="140313" cy="-86041"/>
          </a:xfrm>
          <a:prstGeom prst="line">
            <a:avLst/>
          </a:prstGeom>
          <a:noFill/>
          <a:ln w="17780">
            <a:solidFill>
              <a:srgbClr val="078A58"/>
            </a:solidFill>
            <a:prstDash val="dash"/>
            <a:headEnd type="none"/>
            <a:tailEnd type="none"/>
          </a:ln>
        </p:spPr>
      </p:sp>
      <p:sp>
        <p:nvSpPr>
          <p:cNvPr id="156" name="Shape 153"/>
          <p:cNvSpPr/>
          <p:nvPr/>
        </p:nvSpPr>
        <p:spPr>
          <a:xfrm>
            <a:off x="8849185" y="5946054"/>
            <a:ext cx="140313" cy="-138947"/>
          </a:xfrm>
          <a:prstGeom prst="line">
            <a:avLst/>
          </a:prstGeom>
          <a:noFill/>
          <a:ln w="17780">
            <a:solidFill>
              <a:srgbClr val="078A58"/>
            </a:solidFill>
            <a:prstDash val="dash"/>
            <a:headEnd type="none"/>
            <a:tailEnd type="none"/>
          </a:ln>
        </p:spPr>
      </p:sp>
      <p:sp>
        <p:nvSpPr>
          <p:cNvPr id="157" name="Shape 154"/>
          <p:cNvSpPr/>
          <p:nvPr/>
        </p:nvSpPr>
        <p:spPr>
          <a:xfrm>
            <a:off x="8989498" y="5807107"/>
            <a:ext cx="140313" cy="-49081"/>
          </a:xfrm>
          <a:prstGeom prst="line">
            <a:avLst/>
          </a:prstGeom>
          <a:noFill/>
          <a:ln w="17780">
            <a:solidFill>
              <a:srgbClr val="078A58"/>
            </a:solidFill>
            <a:prstDash val="dash"/>
            <a:headEnd type="none"/>
            <a:tailEnd type="none"/>
          </a:ln>
        </p:spPr>
      </p:sp>
      <p:sp>
        <p:nvSpPr>
          <p:cNvPr id="158" name="Shape 155"/>
          <p:cNvSpPr/>
          <p:nvPr/>
        </p:nvSpPr>
        <p:spPr>
          <a:xfrm>
            <a:off x="9129811" y="5758026"/>
            <a:ext cx="140313" cy="366"/>
          </a:xfrm>
          <a:prstGeom prst="line">
            <a:avLst/>
          </a:prstGeom>
          <a:noFill/>
          <a:ln w="17780">
            <a:solidFill>
              <a:srgbClr val="078A58"/>
            </a:solidFill>
            <a:prstDash val="dash"/>
            <a:headEnd type="none"/>
            <a:tailEnd type="none"/>
          </a:ln>
        </p:spPr>
      </p:sp>
      <p:sp>
        <p:nvSpPr>
          <p:cNvPr id="159" name="Shape 156"/>
          <p:cNvSpPr/>
          <p:nvPr/>
        </p:nvSpPr>
        <p:spPr>
          <a:xfrm>
            <a:off x="9270124" y="5758392"/>
            <a:ext cx="140313" cy="-74500"/>
          </a:xfrm>
          <a:prstGeom prst="line">
            <a:avLst/>
          </a:prstGeom>
          <a:noFill/>
          <a:ln w="17780">
            <a:solidFill>
              <a:srgbClr val="078A58"/>
            </a:solidFill>
            <a:prstDash val="dash"/>
            <a:headEnd type="none"/>
            <a:tailEnd type="none"/>
          </a:ln>
        </p:spPr>
      </p:sp>
      <p:sp>
        <p:nvSpPr>
          <p:cNvPr id="160" name="Shape 157"/>
          <p:cNvSpPr/>
          <p:nvPr/>
        </p:nvSpPr>
        <p:spPr>
          <a:xfrm>
            <a:off x="9410437" y="5683892"/>
            <a:ext cx="140313" cy="-131290"/>
          </a:xfrm>
          <a:prstGeom prst="line">
            <a:avLst/>
          </a:prstGeom>
          <a:noFill/>
          <a:ln w="17780">
            <a:solidFill>
              <a:srgbClr val="078A58"/>
            </a:solidFill>
            <a:prstDash val="dash"/>
            <a:headEnd type="none"/>
            <a:tailEnd type="none"/>
          </a:ln>
        </p:spPr>
      </p:sp>
      <p:sp>
        <p:nvSpPr>
          <p:cNvPr id="161" name="Shape 158"/>
          <p:cNvSpPr/>
          <p:nvPr/>
        </p:nvSpPr>
        <p:spPr>
          <a:xfrm>
            <a:off x="9550750" y="5552602"/>
            <a:ext cx="140313" cy="-21595"/>
          </a:xfrm>
          <a:prstGeom prst="line">
            <a:avLst/>
          </a:prstGeom>
          <a:noFill/>
          <a:ln w="17780">
            <a:solidFill>
              <a:srgbClr val="078A58"/>
            </a:solidFill>
            <a:prstDash val="dash"/>
            <a:headEnd type="none"/>
            <a:tailEnd type="none"/>
          </a:ln>
        </p:spPr>
      </p:sp>
      <p:sp>
        <p:nvSpPr>
          <p:cNvPr id="162" name="Shape 159"/>
          <p:cNvSpPr/>
          <p:nvPr/>
        </p:nvSpPr>
        <p:spPr>
          <a:xfrm>
            <a:off x="9691063" y="5531007"/>
            <a:ext cx="140313" cy="168325"/>
          </a:xfrm>
          <a:prstGeom prst="line">
            <a:avLst/>
          </a:prstGeom>
          <a:noFill/>
          <a:ln w="17780">
            <a:solidFill>
              <a:srgbClr val="078A58"/>
            </a:solidFill>
            <a:prstDash val="dash"/>
            <a:headEnd type="none"/>
            <a:tailEnd type="none"/>
          </a:ln>
        </p:spPr>
      </p:sp>
      <p:sp>
        <p:nvSpPr>
          <p:cNvPr id="163" name="Shape 160"/>
          <p:cNvSpPr/>
          <p:nvPr/>
        </p:nvSpPr>
        <p:spPr>
          <a:xfrm>
            <a:off x="9831377" y="5699332"/>
            <a:ext cx="140313" cy="217346"/>
          </a:xfrm>
          <a:prstGeom prst="line">
            <a:avLst/>
          </a:prstGeom>
          <a:noFill/>
          <a:ln w="17780">
            <a:solidFill>
              <a:srgbClr val="078A58"/>
            </a:solidFill>
            <a:prstDash val="dash"/>
            <a:headEnd type="none"/>
            <a:tailEnd type="none"/>
          </a:ln>
        </p:spPr>
      </p:sp>
      <p:sp>
        <p:nvSpPr>
          <p:cNvPr id="164" name="Shape 161"/>
          <p:cNvSpPr/>
          <p:nvPr/>
        </p:nvSpPr>
        <p:spPr>
          <a:xfrm>
            <a:off x="9971690" y="5916678"/>
            <a:ext cx="140313" cy="73035"/>
          </a:xfrm>
          <a:prstGeom prst="line">
            <a:avLst/>
          </a:prstGeom>
          <a:noFill/>
          <a:ln w="17780">
            <a:solidFill>
              <a:srgbClr val="078A58"/>
            </a:solidFill>
            <a:prstDash val="dash"/>
            <a:headEnd type="none"/>
            <a:tailEnd type="none"/>
          </a:ln>
        </p:spPr>
      </p:sp>
      <p:sp>
        <p:nvSpPr>
          <p:cNvPr id="165" name="Shape 162"/>
          <p:cNvSpPr/>
          <p:nvPr/>
        </p:nvSpPr>
        <p:spPr>
          <a:xfrm>
            <a:off x="10112003" y="5989713"/>
            <a:ext cx="140313" cy="-78455"/>
          </a:xfrm>
          <a:prstGeom prst="line">
            <a:avLst/>
          </a:prstGeom>
          <a:noFill/>
          <a:ln w="17780">
            <a:solidFill>
              <a:srgbClr val="078A58"/>
            </a:solidFill>
            <a:prstDash val="dash"/>
            <a:headEnd type="none"/>
            <a:tailEnd type="none"/>
          </a:ln>
        </p:spPr>
      </p:sp>
      <p:sp>
        <p:nvSpPr>
          <p:cNvPr id="166" name="Shape 163"/>
          <p:cNvSpPr/>
          <p:nvPr/>
        </p:nvSpPr>
        <p:spPr>
          <a:xfrm>
            <a:off x="10252316" y="5911258"/>
            <a:ext cx="140313" cy="-76074"/>
          </a:xfrm>
          <a:prstGeom prst="line">
            <a:avLst/>
          </a:prstGeom>
          <a:noFill/>
          <a:ln w="17780">
            <a:solidFill>
              <a:srgbClr val="078A58"/>
            </a:solidFill>
            <a:prstDash val="dash"/>
            <a:headEnd type="none"/>
            <a:tailEnd type="none"/>
          </a:ln>
        </p:spPr>
      </p:sp>
      <p:sp>
        <p:nvSpPr>
          <p:cNvPr id="167" name="Shape 164"/>
          <p:cNvSpPr/>
          <p:nvPr/>
        </p:nvSpPr>
        <p:spPr>
          <a:xfrm>
            <a:off x="10392629" y="5835184"/>
            <a:ext cx="140313" cy="1918"/>
          </a:xfrm>
          <a:prstGeom prst="line">
            <a:avLst/>
          </a:prstGeom>
          <a:noFill/>
          <a:ln w="17780">
            <a:solidFill>
              <a:srgbClr val="078A58"/>
            </a:solidFill>
            <a:prstDash val="dash"/>
            <a:headEnd type="none"/>
            <a:tailEnd type="none"/>
          </a:ln>
        </p:spPr>
      </p:sp>
      <p:sp>
        <p:nvSpPr>
          <p:cNvPr id="168" name="Shape 165"/>
          <p:cNvSpPr/>
          <p:nvPr/>
        </p:nvSpPr>
        <p:spPr>
          <a:xfrm>
            <a:off x="10532942" y="5837102"/>
            <a:ext cx="140313" cy="-20716"/>
          </a:xfrm>
          <a:prstGeom prst="line">
            <a:avLst/>
          </a:prstGeom>
          <a:noFill/>
          <a:ln w="17780">
            <a:solidFill>
              <a:srgbClr val="078A58"/>
            </a:solidFill>
            <a:prstDash val="dash"/>
            <a:headEnd type="none"/>
            <a:tailEnd type="none"/>
          </a:ln>
        </p:spPr>
      </p:sp>
      <p:sp>
        <p:nvSpPr>
          <p:cNvPr id="169" name="Shape 166"/>
          <p:cNvSpPr/>
          <p:nvPr/>
        </p:nvSpPr>
        <p:spPr>
          <a:xfrm>
            <a:off x="10673255" y="5816387"/>
            <a:ext cx="140313" cy="-137893"/>
          </a:xfrm>
          <a:prstGeom prst="line">
            <a:avLst/>
          </a:prstGeom>
          <a:noFill/>
          <a:ln w="17780">
            <a:solidFill>
              <a:srgbClr val="078A58"/>
            </a:solidFill>
            <a:prstDash val="dash"/>
            <a:headEnd type="none"/>
            <a:tailEnd type="none"/>
          </a:ln>
        </p:spPr>
      </p:sp>
      <p:sp>
        <p:nvSpPr>
          <p:cNvPr id="170" name="Shape 167"/>
          <p:cNvSpPr/>
          <p:nvPr/>
        </p:nvSpPr>
        <p:spPr>
          <a:xfrm>
            <a:off x="10813568" y="5678493"/>
            <a:ext cx="140313" cy="-160460"/>
          </a:xfrm>
          <a:prstGeom prst="line">
            <a:avLst/>
          </a:prstGeom>
          <a:noFill/>
          <a:ln w="17780">
            <a:solidFill>
              <a:srgbClr val="078A58"/>
            </a:solidFill>
            <a:prstDash val="dash"/>
            <a:headEnd type="none"/>
            <a:tailEnd type="none"/>
          </a:ln>
        </p:spPr>
      </p:sp>
      <p:sp>
        <p:nvSpPr>
          <p:cNvPr id="171" name="Shape 168"/>
          <p:cNvSpPr/>
          <p:nvPr/>
        </p:nvSpPr>
        <p:spPr>
          <a:xfrm>
            <a:off x="10953881" y="5518033"/>
            <a:ext cx="140313" cy="466"/>
          </a:xfrm>
          <a:prstGeom prst="line">
            <a:avLst/>
          </a:prstGeom>
          <a:noFill/>
          <a:ln w="17780">
            <a:solidFill>
              <a:srgbClr val="078A58"/>
            </a:solidFill>
            <a:prstDash val="dash"/>
            <a:headEnd type="none"/>
            <a:tailEnd type="none"/>
          </a:ln>
        </p:spPr>
      </p:sp>
      <p:sp>
        <p:nvSpPr>
          <p:cNvPr id="172" name="Shape 169"/>
          <p:cNvSpPr/>
          <p:nvPr/>
        </p:nvSpPr>
        <p:spPr>
          <a:xfrm>
            <a:off x="11094194" y="5518498"/>
            <a:ext cx="140313" cy="183365"/>
          </a:xfrm>
          <a:prstGeom prst="line">
            <a:avLst/>
          </a:prstGeom>
          <a:noFill/>
          <a:ln w="17780">
            <a:solidFill>
              <a:srgbClr val="078A58"/>
            </a:solidFill>
            <a:prstDash val="dash"/>
            <a:headEnd type="none"/>
            <a:tailEnd type="none"/>
          </a:ln>
        </p:spPr>
      </p:sp>
      <p:sp>
        <p:nvSpPr>
          <p:cNvPr id="173" name="Shape 170"/>
          <p:cNvSpPr/>
          <p:nvPr/>
        </p:nvSpPr>
        <p:spPr>
          <a:xfrm>
            <a:off x="11234508" y="5701863"/>
            <a:ext cx="140313" cy="186443"/>
          </a:xfrm>
          <a:prstGeom prst="line">
            <a:avLst/>
          </a:prstGeom>
          <a:noFill/>
          <a:ln w="17780">
            <a:solidFill>
              <a:srgbClr val="078A58"/>
            </a:solidFill>
            <a:prstDash val="dash"/>
            <a:headEnd type="none"/>
            <a:tailEnd type="none"/>
          </a:ln>
        </p:spPr>
      </p:sp>
      <p:sp>
        <p:nvSpPr>
          <p:cNvPr id="174" name="Shape 171"/>
          <p:cNvSpPr/>
          <p:nvPr/>
        </p:nvSpPr>
        <p:spPr>
          <a:xfrm>
            <a:off x="11374821" y="5888306"/>
            <a:ext cx="140313" cy="39643"/>
          </a:xfrm>
          <a:prstGeom prst="line">
            <a:avLst/>
          </a:prstGeom>
          <a:noFill/>
          <a:ln w="17780">
            <a:solidFill>
              <a:srgbClr val="078A58"/>
            </a:solidFill>
            <a:prstDash val="dash"/>
            <a:headEnd type="none"/>
            <a:tailEnd type="none"/>
          </a:ln>
        </p:spPr>
      </p:sp>
      <p:sp>
        <p:nvSpPr>
          <p:cNvPr id="175" name="Shape 172"/>
          <p:cNvSpPr/>
          <p:nvPr/>
        </p:nvSpPr>
        <p:spPr>
          <a:xfrm>
            <a:off x="11515134" y="5927950"/>
            <a:ext cx="140313" cy="-51514"/>
          </a:xfrm>
          <a:prstGeom prst="line">
            <a:avLst/>
          </a:prstGeom>
          <a:noFill/>
          <a:ln w="17780">
            <a:solidFill>
              <a:srgbClr val="078A58"/>
            </a:solidFill>
            <a:prstDash val="dash"/>
            <a:headEnd type="none"/>
            <a:tailEnd type="none"/>
          </a:ln>
        </p:spPr>
      </p:sp>
      <p:sp>
        <p:nvSpPr>
          <p:cNvPr id="176" name="Shape 173"/>
          <p:cNvSpPr/>
          <p:nvPr/>
        </p:nvSpPr>
        <p:spPr>
          <a:xfrm>
            <a:off x="11655447" y="5876436"/>
            <a:ext cx="140313" cy="-3605"/>
          </a:xfrm>
          <a:prstGeom prst="line">
            <a:avLst/>
          </a:prstGeom>
          <a:noFill/>
          <a:ln w="17780">
            <a:solidFill>
              <a:srgbClr val="078A58"/>
            </a:solidFill>
            <a:prstDash val="dash"/>
            <a:headEnd type="none"/>
            <a:tailEnd type="none"/>
          </a:ln>
        </p:spPr>
      </p:sp>
      <p:sp>
        <p:nvSpPr>
          <p:cNvPr id="177" name="Text 174"/>
          <p:cNvSpPr txBox="1"/>
          <p:nvPr/>
        </p:nvSpPr>
        <p:spPr>
          <a:xfrm>
            <a:off x="11996928" y="5449824"/>
            <a:ext cx="658368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実測</a:t>
            </a:r>
            <a:endParaRPr lang="en-US" sz="1200" dirty="0"/>
          </a:p>
        </p:txBody>
      </p:sp>
      <p:sp>
        <p:nvSpPr>
          <p:cNvPr id="178" name="Shape 175"/>
          <p:cNvSpPr/>
          <p:nvPr/>
        </p:nvSpPr>
        <p:spPr>
          <a:xfrm>
            <a:off x="11722608" y="5559552"/>
            <a:ext cx="228600" cy="0"/>
          </a:xfrm>
          <a:prstGeom prst="line">
            <a:avLst/>
          </a:prstGeom>
          <a:noFill/>
          <a:ln w="20320">
            <a:solidFill>
              <a:srgbClr val="D93025"/>
            </a:solidFill>
            <a:prstDash val="solid"/>
          </a:ln>
        </p:spPr>
      </p:sp>
      <p:sp>
        <p:nvSpPr>
          <p:cNvPr id="179" name="Text 176"/>
          <p:cNvSpPr txBox="1"/>
          <p:nvPr/>
        </p:nvSpPr>
        <p:spPr>
          <a:xfrm>
            <a:off x="11996928" y="5815584"/>
            <a:ext cx="82296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更新版予測</a:t>
            </a:r>
            <a:endParaRPr lang="en-US" sz="1140" dirty="0"/>
          </a:p>
        </p:txBody>
      </p:sp>
      <p:sp>
        <p:nvSpPr>
          <p:cNvPr id="180" name="Shape 177"/>
          <p:cNvSpPr/>
          <p:nvPr/>
        </p:nvSpPr>
        <p:spPr>
          <a:xfrm>
            <a:off x="11722608" y="5925312"/>
            <a:ext cx="228600" cy="0"/>
          </a:xfrm>
          <a:prstGeom prst="line">
            <a:avLst/>
          </a:prstGeom>
          <a:noFill/>
          <a:ln w="20320">
            <a:solidFill>
              <a:srgbClr val="078A58"/>
            </a:solidFill>
            <a:prstDash val="dash"/>
          </a:ln>
        </p:spPr>
      </p:sp>
      <p:sp>
        <p:nvSpPr>
          <p:cNvPr id="181" name="Shape 178"/>
          <p:cNvSpPr/>
          <p:nvPr/>
        </p:nvSpPr>
        <p:spPr>
          <a:xfrm>
            <a:off x="438912" y="7132320"/>
            <a:ext cx="1281988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3970">
            <a:solidFill>
              <a:srgbClr val="B8C9E0"/>
            </a:solidFill>
            <a:prstDash val="solid"/>
          </a:ln>
        </p:spPr>
      </p:sp>
      <p:sp>
        <p:nvSpPr>
          <p:cNvPr id="182" name="Text 179"/>
          <p:cNvSpPr txBox="1"/>
          <p:nvPr/>
        </p:nvSpPr>
        <p:spPr>
          <a:xfrm>
            <a:off x="658368" y="7452360"/>
            <a:ext cx="77724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効果</a:t>
            </a:r>
            <a:endParaRPr lang="en-US" sz="1800" dirty="0"/>
          </a:p>
        </p:txBody>
      </p:sp>
      <p:pic>
        <p:nvPicPr>
          <p:cNvPr id="183" name="Image 1" descr="/mnt/data/spdm_pptx_assets/gauge_078A58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40280" y="7333488"/>
            <a:ext cx="475488" cy="475488"/>
          </a:xfrm>
          <a:prstGeom prst="rect">
            <a:avLst/>
          </a:prstGeom>
        </p:spPr>
      </p:pic>
      <p:sp>
        <p:nvSpPr>
          <p:cNvPr id="184" name="Text 180"/>
          <p:cNvSpPr txBox="1"/>
          <p:nvPr/>
        </p:nvSpPr>
        <p:spPr>
          <a:xfrm>
            <a:off x="1508760" y="7699248"/>
            <a:ext cx="2011680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078A5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試行回数</a:t>
            </a:r>
            <a:endParaRPr lang="en-US" sz="1440" dirty="0"/>
          </a:p>
          <a:p>
            <a:pPr algn="ctr" indent="0" marL="0">
              <a:buNone/>
            </a:pPr>
            <a:r>
              <a:rPr lang="en-US" sz="1440" b="1" dirty="0">
                <a:solidFill>
                  <a:srgbClr val="078A5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1/3〜1/10</a:t>
            </a:r>
            <a:endParaRPr lang="en-US" sz="1440" dirty="0"/>
          </a:p>
        </p:txBody>
      </p:sp>
      <p:pic>
        <p:nvPicPr>
          <p:cNvPr id="185" name="Image 2" descr="/mnt/data/spdm_pptx_assets/shield_0B3B82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41264" y="7333488"/>
            <a:ext cx="475488" cy="475488"/>
          </a:xfrm>
          <a:prstGeom prst="rect">
            <a:avLst/>
          </a:prstGeom>
        </p:spPr>
      </p:pic>
      <p:sp>
        <p:nvSpPr>
          <p:cNvPr id="186" name="Text 181"/>
          <p:cNvSpPr txBox="1"/>
          <p:nvPr/>
        </p:nvSpPr>
        <p:spPr>
          <a:xfrm>
            <a:off x="4800600" y="7699248"/>
            <a:ext cx="2011680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078A5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精度</a:t>
            </a:r>
            <a:endParaRPr lang="en-US" sz="1440" dirty="0"/>
          </a:p>
          <a:p>
            <a:pPr algn="ctr" indent="0" marL="0">
              <a:buNone/>
            </a:pPr>
            <a:r>
              <a:rPr lang="en-US" sz="1440" b="1" dirty="0">
                <a:solidFill>
                  <a:srgbClr val="078A5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20〜50%向上</a:t>
            </a:r>
            <a:endParaRPr lang="en-US" sz="1440" dirty="0"/>
          </a:p>
        </p:txBody>
      </p:sp>
      <p:pic>
        <p:nvPicPr>
          <p:cNvPr id="187" name="Image 3" descr="/mnt/data/spdm_pptx_assets/link_0B3B82.sv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778240" y="7381037"/>
            <a:ext cx="475488" cy="380390"/>
          </a:xfrm>
          <a:prstGeom prst="rect">
            <a:avLst/>
          </a:prstGeom>
        </p:spPr>
      </p:pic>
      <p:sp>
        <p:nvSpPr>
          <p:cNvPr id="188" name="Text 182"/>
          <p:cNvSpPr txBox="1"/>
          <p:nvPr/>
        </p:nvSpPr>
        <p:spPr>
          <a:xfrm>
            <a:off x="7772400" y="7699248"/>
            <a:ext cx="2560320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078A5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開発期間</a:t>
            </a:r>
            <a:endParaRPr lang="en-US" sz="1420" dirty="0"/>
          </a:p>
          <a:p>
            <a:pPr algn="ctr" indent="0" marL="0">
              <a:buNone/>
            </a:pPr>
            <a:r>
              <a:rPr lang="en-US" sz="1420" b="1" dirty="0">
                <a:solidFill>
                  <a:srgbClr val="078A5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数か月 → 数週間</a:t>
            </a:r>
            <a:endParaRPr lang="en-US" sz="1420" dirty="0"/>
          </a:p>
        </p:txBody>
      </p:sp>
      <p:sp>
        <p:nvSpPr>
          <p:cNvPr id="189" name="Text 183"/>
          <p:cNvSpPr txBox="1"/>
          <p:nvPr/>
        </p:nvSpPr>
        <p:spPr>
          <a:xfrm>
            <a:off x="10515600" y="7424928"/>
            <a:ext cx="2304288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0B3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少ない試行で、より確からしい未来を予測</a:t>
            </a:r>
            <a:endParaRPr lang="en-US" sz="15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" y="27432"/>
            <a:ext cx="13661136" cy="9089136"/>
          </a:xfrm>
          <a:prstGeom prst="rect">
            <a:avLst/>
          </a:prstGeom>
          <a:solidFill>
            <a:srgbClr val="FFFFFF"/>
          </a:solidFill>
          <a:ln w="6350">
            <a:solidFill>
              <a:srgbClr val="E4E9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219456"/>
            <a:ext cx="658368" cy="658368"/>
          </a:xfrm>
          <a:prstGeom prst="rect">
            <a:avLst/>
          </a:prstGeom>
          <a:solidFill>
            <a:srgbClr val="0B3B82"/>
          </a:solidFill>
          <a:ln w="12700">
            <a:solidFill>
              <a:srgbClr val="0B3B8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10896" y="219456"/>
            <a:ext cx="658368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82880"/>
            <a:ext cx="1211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活用事例① 形状シミュレーションの力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941832"/>
            <a:ext cx="1252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559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見えない現象を可視化し、設計の自由度を拡張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645920"/>
            <a:ext cx="443484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3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例：電極形状の改良検討（プラズマ装置）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0" y="1645920"/>
            <a:ext cx="187452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プラズマ密度分布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321040" y="1645920"/>
            <a:ext cx="210312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イオンエネルギー分布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247120" y="1645920"/>
            <a:ext cx="201168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熱分布（瞬時温度）</a:t>
            </a:r>
            <a:endParaRPr lang="en-US" sz="1500" dirty="0"/>
          </a:p>
        </p:txBody>
      </p:sp>
      <p:pic>
        <p:nvPicPr>
          <p:cNvPr id="11" name="Image 0" descr="/mnt/data/spdm_pptx_assets/chamber_shape_s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2256104"/>
            <a:ext cx="4206240" cy="302244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754880" y="2944368"/>
            <a:ext cx="502920" cy="438912"/>
          </a:xfrm>
          <a:prstGeom prst="rightArrow">
            <a:avLst/>
          </a:prstGeom>
          <a:solidFill>
            <a:srgbClr val="A8B8CC"/>
          </a:solidFill>
          <a:ln w="12700">
            <a:solidFill>
              <a:srgbClr val="A8B8C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754880" y="3474720"/>
            <a:ext cx="502920" cy="438912"/>
          </a:xfrm>
          <a:prstGeom prst="rightArrow">
            <a:avLst/>
          </a:prstGeom>
          <a:solidFill>
            <a:srgbClr val="6E8DBA"/>
          </a:solidFill>
          <a:ln w="12700">
            <a:solidFill>
              <a:srgbClr val="6E8DB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577840" y="2240280"/>
            <a:ext cx="2304288" cy="269748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3970">
            <a:solidFill>
              <a:srgbClr val="B8C9E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394192" y="2240280"/>
            <a:ext cx="2304288" cy="269748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3970">
            <a:solidFill>
              <a:srgbClr val="B8C9E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1173968" y="2240280"/>
            <a:ext cx="2103120" cy="26974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3970">
            <a:solidFill>
              <a:srgbClr val="B8C9E0"/>
            </a:solidFill>
            <a:prstDash val="solid"/>
          </a:ln>
        </p:spPr>
      </p:sp>
      <p:pic>
        <p:nvPicPr>
          <p:cNvPr id="17" name="Image 1" descr="/mnt/data/spdm_pptx_assets/heatmap_plasma_densit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2475812"/>
            <a:ext cx="2029968" cy="2226417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7982712" y="3236976"/>
            <a:ext cx="320040" cy="310896"/>
          </a:xfrm>
          <a:prstGeom prst="rightArrow">
            <a:avLst/>
          </a:prstGeom>
          <a:solidFill>
            <a:srgbClr val="C7CED8"/>
          </a:solidFill>
          <a:ln w="12700">
            <a:solidFill>
              <a:srgbClr val="C7CED8"/>
            </a:solidFill>
            <a:prstDash val="solid"/>
          </a:ln>
        </p:spPr>
      </p:sp>
      <p:pic>
        <p:nvPicPr>
          <p:cNvPr id="19" name="Image 2" descr="/mnt/data/spdm_pptx_assets/heatmap_ion_energ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1352" y="2382012"/>
            <a:ext cx="2011680" cy="2414016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10753344" y="3236976"/>
            <a:ext cx="320040" cy="310896"/>
          </a:xfrm>
          <a:prstGeom prst="rightArrow">
            <a:avLst/>
          </a:prstGeom>
          <a:solidFill>
            <a:srgbClr val="C7CED8"/>
          </a:solidFill>
          <a:ln w="12700">
            <a:solidFill>
              <a:srgbClr val="C7CED8"/>
            </a:solidFill>
            <a:prstDash val="solid"/>
          </a:ln>
        </p:spPr>
      </p:sp>
      <p:pic>
        <p:nvPicPr>
          <p:cNvPr id="21" name="Image 3" descr="/mnt/data/spdm_pptx_assets/heatmap_heat_distributi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01760" y="2377440"/>
            <a:ext cx="1829248" cy="242316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420624" y="5669280"/>
            <a:ext cx="85496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3970">
            <a:solidFill>
              <a:srgbClr val="B8C9E0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658368" y="5961888"/>
            <a:ext cx="658368" cy="1920240"/>
          </a:xfrm>
          <a:prstGeom prst="roundRect">
            <a:avLst/>
          </a:prstGeom>
          <a:solidFill>
            <a:srgbClr val="0B3B82"/>
          </a:solidFill>
          <a:ln w="12700">
            <a:solidFill>
              <a:srgbClr val="0B3B82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658368" y="5961888"/>
            <a:ext cx="658368" cy="1920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果</a:t>
            </a:r>
            <a:endParaRPr lang="en-US" sz="1700" dirty="0"/>
          </a:p>
        </p:txBody>
      </p:sp>
      <p:pic>
        <p:nvPicPr>
          <p:cNvPr id="25" name="Image 4" descr="/mnt/data/spdm_pptx_assets/check_1F559D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30477" y="6016752"/>
            <a:ext cx="176022" cy="20116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810512" y="5989320"/>
            <a:ext cx="6748272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見えないプラズマ・熱・流れ・イオンの挙動を可視化</a:t>
            </a:r>
            <a:endParaRPr lang="en-US" sz="1320" dirty="0"/>
          </a:p>
        </p:txBody>
      </p:sp>
      <p:pic>
        <p:nvPicPr>
          <p:cNvPr id="27" name="Image 5" descr="/mnt/data/spdm_pptx_assets/check_1F559D.sv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30477" y="6473952"/>
            <a:ext cx="176022" cy="201168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1810512" y="6446520"/>
            <a:ext cx="6748272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電極形状の最適化により、ウェハ面内均一性が 20%向上</a:t>
            </a:r>
            <a:endParaRPr lang="en-US" sz="1320" dirty="0"/>
          </a:p>
        </p:txBody>
      </p:sp>
      <p:pic>
        <p:nvPicPr>
          <p:cNvPr id="29" name="Image 6" descr="/mnt/data/spdm_pptx_assets/check_1F559D.sv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530477" y="6931152"/>
            <a:ext cx="176022" cy="201168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1810512" y="6903720"/>
            <a:ext cx="6748272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設計試行回数を従来比 1/3 に削減</a:t>
            </a:r>
            <a:endParaRPr lang="en-US" sz="1320" dirty="0"/>
          </a:p>
        </p:txBody>
      </p:sp>
      <p:pic>
        <p:nvPicPr>
          <p:cNvPr id="31" name="Image 7" descr="/mnt/data/spdm_pptx_assets/check_1F559D.sv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530477" y="7388352"/>
            <a:ext cx="176022" cy="201168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1810512" y="7360920"/>
            <a:ext cx="6748272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新構造により高スループット化を実現</a:t>
            </a:r>
            <a:endParaRPr lang="en-US" sz="1320" dirty="0"/>
          </a:p>
        </p:txBody>
      </p:sp>
      <p:sp>
        <p:nvSpPr>
          <p:cNvPr id="33" name="Shape 23"/>
          <p:cNvSpPr/>
          <p:nvPr/>
        </p:nvSpPr>
        <p:spPr>
          <a:xfrm>
            <a:off x="9217152" y="5669280"/>
            <a:ext cx="4041648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3970">
            <a:solidFill>
              <a:srgbClr val="B8C9E0"/>
            </a:solidFill>
            <a:prstDash val="solid"/>
          </a:ln>
        </p:spPr>
      </p:sp>
      <p:sp>
        <p:nvSpPr>
          <p:cNvPr id="34" name="Text 24"/>
          <p:cNvSpPr txBox="1"/>
          <p:nvPr/>
        </p:nvSpPr>
        <p:spPr>
          <a:xfrm>
            <a:off x="10241280" y="5532120"/>
            <a:ext cx="205740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インパクト</a:t>
            </a:r>
            <a:endParaRPr lang="en-US" sz="1800" dirty="0"/>
          </a:p>
        </p:txBody>
      </p:sp>
      <p:pic>
        <p:nvPicPr>
          <p:cNvPr id="35" name="Image 8" descr="/mnt/data/spdm_pptx_assets/clipboard_0B3B82.sv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732645" y="6144768"/>
            <a:ext cx="240030" cy="320040"/>
          </a:xfrm>
          <a:prstGeom prst="rect">
            <a:avLst/>
          </a:prstGeom>
        </p:spPr>
      </p:pic>
      <p:sp>
        <p:nvSpPr>
          <p:cNvPr id="36" name="Text 25"/>
          <p:cNvSpPr txBox="1"/>
          <p:nvPr/>
        </p:nvSpPr>
        <p:spPr>
          <a:xfrm>
            <a:off x="10177272" y="6080760"/>
            <a:ext cx="274320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設計の自由度拡大</a:t>
            </a:r>
            <a:endParaRPr lang="en-US" sz="1350" dirty="0"/>
          </a:p>
        </p:txBody>
      </p:sp>
      <p:pic>
        <p:nvPicPr>
          <p:cNvPr id="37" name="Image 9" descr="/mnt/data/spdm_pptx_assets/user_0B3B82.sv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712643" y="6720840"/>
            <a:ext cx="280035" cy="320040"/>
          </a:xfrm>
          <a:prstGeom prst="rect">
            <a:avLst/>
          </a:prstGeom>
        </p:spPr>
      </p:pic>
      <p:sp>
        <p:nvSpPr>
          <p:cNvPr id="38" name="Text 26"/>
          <p:cNvSpPr txBox="1"/>
          <p:nvPr/>
        </p:nvSpPr>
        <p:spPr>
          <a:xfrm>
            <a:off x="10177272" y="6656832"/>
            <a:ext cx="274320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試作・評価コスト削減</a:t>
            </a:r>
            <a:endParaRPr lang="en-US" sz="1350" dirty="0"/>
          </a:p>
        </p:txBody>
      </p:sp>
      <p:pic>
        <p:nvPicPr>
          <p:cNvPr id="39" name="Image 10" descr="/mnt/data/spdm_pptx_assets/shield_0B3B82.sv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692640" y="7296912"/>
            <a:ext cx="320040" cy="320040"/>
          </a:xfrm>
          <a:prstGeom prst="rect">
            <a:avLst/>
          </a:prstGeom>
        </p:spPr>
      </p:pic>
      <p:sp>
        <p:nvSpPr>
          <p:cNvPr id="40" name="Text 27"/>
          <p:cNvSpPr txBox="1"/>
          <p:nvPr/>
        </p:nvSpPr>
        <p:spPr>
          <a:xfrm>
            <a:off x="10177272" y="7232904"/>
            <a:ext cx="274320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短期間での性能最大化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" y="27432"/>
            <a:ext cx="13661136" cy="9089136"/>
          </a:xfrm>
          <a:prstGeom prst="rect">
            <a:avLst/>
          </a:prstGeom>
          <a:solidFill>
            <a:srgbClr val="FFFFFF"/>
          </a:solidFill>
          <a:ln w="6350">
            <a:solidFill>
              <a:srgbClr val="E4E9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219456"/>
            <a:ext cx="658368" cy="658368"/>
          </a:xfrm>
          <a:prstGeom prst="rect">
            <a:avLst/>
          </a:prstGeom>
          <a:solidFill>
            <a:srgbClr val="0B3B82"/>
          </a:solidFill>
          <a:ln w="12700">
            <a:solidFill>
              <a:srgbClr val="0B3B8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10896" y="219456"/>
            <a:ext cx="658368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82880"/>
            <a:ext cx="1211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活用事例② 設計：プラズマサロゲートによる最適化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941832"/>
            <a:ext cx="1252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559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高精度なサロゲートで、シミュレーション直打ちでは不可能な設計探索を実現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4048" y="1975104"/>
            <a:ext cx="2999232" cy="493776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3970">
            <a:solidFill>
              <a:srgbClr val="B8C9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1975104"/>
            <a:ext cx="2999232" cy="566928"/>
          </a:xfrm>
          <a:prstGeom prst="roundRect">
            <a:avLst/>
          </a:prstGeom>
          <a:solidFill>
            <a:srgbClr val="EAF1FA"/>
          </a:solidFill>
          <a:ln w="12700">
            <a:solidFill>
              <a:srgbClr val="B8C9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84048" y="1975104"/>
            <a:ext cx="2999232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課題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2788920"/>
            <a:ext cx="246888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高精度シミュレーションは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3557016"/>
            <a:ext cx="73152" cy="73152"/>
          </a:xfrm>
          <a:prstGeom prst="ellipse">
            <a:avLst/>
          </a:prstGeom>
          <a:solidFill>
            <a:srgbClr val="1F559D"/>
          </a:solidFill>
          <a:ln w="12700">
            <a:solidFill>
              <a:srgbClr val="1F559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401568"/>
            <a:ext cx="219456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計算コストが非常に高い</a:t>
            </a:r>
            <a:endParaRPr lang="en-US" sz="1330" dirty="0"/>
          </a:p>
        </p:txBody>
      </p:sp>
      <p:sp>
        <p:nvSpPr>
          <p:cNvPr id="13" name="Shape 11"/>
          <p:cNvSpPr/>
          <p:nvPr/>
        </p:nvSpPr>
        <p:spPr>
          <a:xfrm>
            <a:off x="640080" y="4288536"/>
            <a:ext cx="73152" cy="73152"/>
          </a:xfrm>
          <a:prstGeom prst="ellipse">
            <a:avLst/>
          </a:prstGeom>
          <a:solidFill>
            <a:srgbClr val="1F559D"/>
          </a:solidFill>
          <a:ln w="12700">
            <a:solidFill>
              <a:srgbClr val="1F559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133088"/>
            <a:ext cx="219456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1ケース数時間〜数日</a:t>
            </a:r>
            <a:endParaRPr lang="en-US" sz="1330" dirty="0"/>
          </a:p>
        </p:txBody>
      </p:sp>
      <p:sp>
        <p:nvSpPr>
          <p:cNvPr id="15" name="Shape 13"/>
          <p:cNvSpPr/>
          <p:nvPr/>
        </p:nvSpPr>
        <p:spPr>
          <a:xfrm>
            <a:off x="640080" y="5020056"/>
            <a:ext cx="73152" cy="73152"/>
          </a:xfrm>
          <a:prstGeom prst="ellipse">
            <a:avLst/>
          </a:prstGeom>
          <a:solidFill>
            <a:srgbClr val="1F559D"/>
          </a:solidFill>
          <a:ln w="12700">
            <a:solidFill>
              <a:srgbClr val="1F559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4864608"/>
            <a:ext cx="219456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最適化探索に不向き</a:t>
            </a:r>
            <a:endParaRPr lang="en-US" sz="1330" dirty="0"/>
          </a:p>
        </p:txBody>
      </p:sp>
      <p:sp>
        <p:nvSpPr>
          <p:cNvPr id="17" name="Shape 15"/>
          <p:cNvSpPr/>
          <p:nvPr/>
        </p:nvSpPr>
        <p:spPr>
          <a:xfrm>
            <a:off x="3611880" y="1975104"/>
            <a:ext cx="722376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3970">
            <a:solidFill>
              <a:srgbClr val="B8C9E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23560" y="1837944"/>
            <a:ext cx="3108960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3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当社のアプローチ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3840480" y="2560320"/>
            <a:ext cx="210312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少数の高精度Simで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学習データ生成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181344" y="2432304"/>
            <a:ext cx="1920240" cy="9326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プラズマ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サロゲートモデル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（AI）を構築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485632" y="2560320"/>
            <a:ext cx="201168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自動最適化で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広い設計空間を探索</a:t>
            </a:r>
            <a:endParaRPr lang="en-US" sz="1400" dirty="0"/>
          </a:p>
        </p:txBody>
      </p:sp>
      <p:pic>
        <p:nvPicPr>
          <p:cNvPr id="22" name="Image 0" descr="/mnt/data/spdm_pptx_assets/database_0B3B82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95916" y="3703320"/>
            <a:ext cx="520065" cy="594360"/>
          </a:xfrm>
          <a:prstGeom prst="rect">
            <a:avLst/>
          </a:prstGeom>
        </p:spPr>
      </p:pic>
      <p:pic>
        <p:nvPicPr>
          <p:cNvPr id="23" name="Image 1" descr="/mnt/data/spdm_pptx_assets/chamber_shape_si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3518715"/>
            <a:ext cx="1417320" cy="1018434"/>
          </a:xfrm>
          <a:prstGeom prst="rect">
            <a:avLst/>
          </a:prstGeom>
        </p:spPr>
      </p:pic>
      <p:pic>
        <p:nvPicPr>
          <p:cNvPr id="24" name="Image 2" descr="/mnt/data/spdm_pptx_assets/users_0B3B82.sv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09110" y="4736592"/>
            <a:ext cx="800100" cy="640080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5897880" y="4142232"/>
            <a:ext cx="438912" cy="365760"/>
          </a:xfrm>
          <a:prstGeom prst="rightArrow">
            <a:avLst/>
          </a:prstGeom>
          <a:solidFill>
            <a:srgbClr val="9EACC0"/>
          </a:solidFill>
          <a:ln w="12700">
            <a:solidFill>
              <a:srgbClr val="9EACC0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583680" y="4080510"/>
            <a:ext cx="428488" cy="-125730"/>
          </a:xfrm>
          <a:prstGeom prst="line">
            <a:avLst/>
          </a:prstGeom>
          <a:noFill/>
          <a:ln w="10160">
            <a:solidFill>
              <a:srgbClr val="7E9CC7">
                <a:alpha val="75000"/>
              </a:srgbClr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6583680" y="4080510"/>
            <a:ext cx="428488" cy="125730"/>
          </a:xfrm>
          <a:prstGeom prst="line">
            <a:avLst/>
          </a:prstGeom>
          <a:noFill/>
          <a:ln w="10160">
            <a:solidFill>
              <a:srgbClr val="7E9CC7">
                <a:alpha val="75000"/>
              </a:srgbClr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6583680" y="4080510"/>
            <a:ext cx="428488" cy="377190"/>
          </a:xfrm>
          <a:prstGeom prst="line">
            <a:avLst/>
          </a:prstGeom>
          <a:noFill/>
          <a:ln w="10160">
            <a:solidFill>
              <a:srgbClr val="7E9CC7">
                <a:alpha val="75000"/>
              </a:srgbClr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6583680" y="4080510"/>
            <a:ext cx="428488" cy="628650"/>
          </a:xfrm>
          <a:prstGeom prst="line">
            <a:avLst/>
          </a:prstGeom>
          <a:noFill/>
          <a:ln w="10160">
            <a:solidFill>
              <a:srgbClr val="7E9CC7">
                <a:alpha val="75000"/>
              </a:srgbClr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6583680" y="4080510"/>
            <a:ext cx="428488" cy="880110"/>
          </a:xfrm>
          <a:prstGeom prst="line">
            <a:avLst/>
          </a:prstGeom>
          <a:noFill/>
          <a:ln w="10160">
            <a:solidFill>
              <a:srgbClr val="7E9CC7">
                <a:alpha val="75000"/>
              </a:srgbClr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6583680" y="4457700"/>
            <a:ext cx="428488" cy="-502920"/>
          </a:xfrm>
          <a:prstGeom prst="line">
            <a:avLst/>
          </a:prstGeom>
          <a:noFill/>
          <a:ln w="10160">
            <a:solidFill>
              <a:srgbClr val="7E9CC7">
                <a:alpha val="75000"/>
              </a:srgbClr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6583680" y="4457700"/>
            <a:ext cx="428488" cy="-251460"/>
          </a:xfrm>
          <a:prstGeom prst="line">
            <a:avLst/>
          </a:prstGeom>
          <a:noFill/>
          <a:ln w="10160">
            <a:solidFill>
              <a:srgbClr val="7E9CC7">
                <a:alpha val="75000"/>
              </a:srgbClr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6583680" y="4457700"/>
            <a:ext cx="428488" cy="0"/>
          </a:xfrm>
          <a:prstGeom prst="line">
            <a:avLst/>
          </a:prstGeom>
          <a:noFill/>
          <a:ln w="10160">
            <a:solidFill>
              <a:srgbClr val="7E9CC7">
                <a:alpha val="75000"/>
              </a:srgbClr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6583680" y="4457700"/>
            <a:ext cx="428488" cy="251460"/>
          </a:xfrm>
          <a:prstGeom prst="line">
            <a:avLst/>
          </a:prstGeom>
          <a:noFill/>
          <a:ln w="10160">
            <a:solidFill>
              <a:srgbClr val="7E9CC7">
                <a:alpha val="75000"/>
              </a:srgbClr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6583680" y="4457700"/>
            <a:ext cx="428488" cy="502920"/>
          </a:xfrm>
          <a:prstGeom prst="line">
            <a:avLst/>
          </a:prstGeom>
          <a:noFill/>
          <a:ln w="10160">
            <a:solidFill>
              <a:srgbClr val="7E9CC7">
                <a:alpha val="75000"/>
              </a:srgbClr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6583680" y="4834890"/>
            <a:ext cx="428488" cy="-880110"/>
          </a:xfrm>
          <a:prstGeom prst="line">
            <a:avLst/>
          </a:prstGeom>
          <a:noFill/>
          <a:ln w="10160">
            <a:solidFill>
              <a:srgbClr val="7E9CC7">
                <a:alpha val="75000"/>
              </a:srgbClr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6583680" y="4834890"/>
            <a:ext cx="428488" cy="-628650"/>
          </a:xfrm>
          <a:prstGeom prst="line">
            <a:avLst/>
          </a:prstGeom>
          <a:noFill/>
          <a:ln w="10160">
            <a:solidFill>
              <a:srgbClr val="7E9CC7">
                <a:alpha val="75000"/>
              </a:srgbClr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6583680" y="4834890"/>
            <a:ext cx="428488" cy="-377190"/>
          </a:xfrm>
          <a:prstGeom prst="line">
            <a:avLst/>
          </a:prstGeom>
          <a:noFill/>
          <a:ln w="10160">
            <a:solidFill>
              <a:srgbClr val="7E9CC7">
                <a:alpha val="75000"/>
              </a:srgbClr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6583680" y="4834890"/>
            <a:ext cx="428488" cy="-125730"/>
          </a:xfrm>
          <a:prstGeom prst="line">
            <a:avLst/>
          </a:prstGeom>
          <a:noFill/>
          <a:ln w="10160">
            <a:solidFill>
              <a:srgbClr val="7E9CC7">
                <a:alpha val="75000"/>
              </a:srgbClr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6583680" y="4834890"/>
            <a:ext cx="428488" cy="125730"/>
          </a:xfrm>
          <a:prstGeom prst="line">
            <a:avLst/>
          </a:prstGeom>
          <a:noFill/>
          <a:ln w="10160">
            <a:solidFill>
              <a:srgbClr val="7E9CC7">
                <a:alpha val="75000"/>
              </a:srgbClr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7012168" y="3954780"/>
            <a:ext cx="428488" cy="50292"/>
          </a:xfrm>
          <a:prstGeom prst="line">
            <a:avLst/>
          </a:prstGeom>
          <a:noFill/>
          <a:ln w="10160">
            <a:solidFill>
              <a:srgbClr val="7E9CC7">
                <a:alpha val="75000"/>
              </a:srgbClr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7012168" y="3954780"/>
            <a:ext cx="428488" cy="352044"/>
          </a:xfrm>
          <a:prstGeom prst="line">
            <a:avLst/>
          </a:prstGeom>
          <a:noFill/>
          <a:ln w="10160">
            <a:solidFill>
              <a:srgbClr val="7E9CC7">
                <a:alpha val="75000"/>
              </a:srgbClr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7012168" y="3954780"/>
            <a:ext cx="428488" cy="653796"/>
          </a:xfrm>
          <a:prstGeom prst="line">
            <a:avLst/>
          </a:prstGeom>
          <a:noFill/>
          <a:ln w="10160">
            <a:solidFill>
              <a:srgbClr val="7E9CC7">
                <a:alpha val="75000"/>
              </a:srgbClr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7012168" y="3954780"/>
            <a:ext cx="428488" cy="955548"/>
          </a:xfrm>
          <a:prstGeom prst="line">
            <a:avLst/>
          </a:prstGeom>
          <a:noFill/>
          <a:ln w="10160">
            <a:solidFill>
              <a:srgbClr val="7E9CC7">
                <a:alpha val="75000"/>
              </a:srgbClr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7012168" y="4206240"/>
            <a:ext cx="428488" cy="-201168"/>
          </a:xfrm>
          <a:prstGeom prst="line">
            <a:avLst/>
          </a:prstGeom>
          <a:noFill/>
          <a:ln w="10160">
            <a:solidFill>
              <a:srgbClr val="7E9CC7">
                <a:alpha val="75000"/>
              </a:srgbClr>
            </a:solidFill>
            <a:prstDash val="solid"/>
          </a:ln>
        </p:spPr>
      </p:sp>
      <p:sp>
        <p:nvSpPr>
          <p:cNvPr id="46" name="Shape 41"/>
          <p:cNvSpPr/>
          <p:nvPr/>
        </p:nvSpPr>
        <p:spPr>
          <a:xfrm>
            <a:off x="7012168" y="4206240"/>
            <a:ext cx="428488" cy="100584"/>
          </a:xfrm>
          <a:prstGeom prst="line">
            <a:avLst/>
          </a:prstGeom>
          <a:noFill/>
          <a:ln w="10160">
            <a:solidFill>
              <a:srgbClr val="7E9CC7">
                <a:alpha val="75000"/>
              </a:srgbClr>
            </a:solidFill>
            <a:prstDash val="solid"/>
          </a:ln>
        </p:spPr>
      </p:sp>
      <p:sp>
        <p:nvSpPr>
          <p:cNvPr id="47" name="Shape 42"/>
          <p:cNvSpPr/>
          <p:nvPr/>
        </p:nvSpPr>
        <p:spPr>
          <a:xfrm>
            <a:off x="7012168" y="4206240"/>
            <a:ext cx="428488" cy="402336"/>
          </a:xfrm>
          <a:prstGeom prst="line">
            <a:avLst/>
          </a:prstGeom>
          <a:noFill/>
          <a:ln w="10160">
            <a:solidFill>
              <a:srgbClr val="7E9CC7">
                <a:alpha val="75000"/>
              </a:srgbClr>
            </a:solidFill>
            <a:prstDash val="solid"/>
          </a:ln>
        </p:spPr>
      </p:sp>
      <p:sp>
        <p:nvSpPr>
          <p:cNvPr id="48" name="Shape 43"/>
          <p:cNvSpPr/>
          <p:nvPr/>
        </p:nvSpPr>
        <p:spPr>
          <a:xfrm>
            <a:off x="7012168" y="4206240"/>
            <a:ext cx="428488" cy="704088"/>
          </a:xfrm>
          <a:prstGeom prst="line">
            <a:avLst/>
          </a:prstGeom>
          <a:noFill/>
          <a:ln w="10160">
            <a:solidFill>
              <a:srgbClr val="7E9CC7">
                <a:alpha val="75000"/>
              </a:srgbClr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7012168" y="4457700"/>
            <a:ext cx="428488" cy="-452628"/>
          </a:xfrm>
          <a:prstGeom prst="line">
            <a:avLst/>
          </a:prstGeom>
          <a:noFill/>
          <a:ln w="10160">
            <a:solidFill>
              <a:srgbClr val="7E9CC7">
                <a:alpha val="75000"/>
              </a:srgbClr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7012168" y="4457700"/>
            <a:ext cx="428488" cy="-150876"/>
          </a:xfrm>
          <a:prstGeom prst="line">
            <a:avLst/>
          </a:prstGeom>
          <a:noFill/>
          <a:ln w="10160">
            <a:solidFill>
              <a:srgbClr val="7E9CC7">
                <a:alpha val="75000"/>
              </a:srgbClr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7012168" y="4457700"/>
            <a:ext cx="428488" cy="150876"/>
          </a:xfrm>
          <a:prstGeom prst="line">
            <a:avLst/>
          </a:prstGeom>
          <a:noFill/>
          <a:ln w="10160">
            <a:solidFill>
              <a:srgbClr val="7E9CC7">
                <a:alpha val="75000"/>
              </a:srgbClr>
            </a:solidFill>
            <a:prstDash val="solid"/>
          </a:ln>
        </p:spPr>
      </p:sp>
      <p:sp>
        <p:nvSpPr>
          <p:cNvPr id="52" name="Shape 47"/>
          <p:cNvSpPr/>
          <p:nvPr/>
        </p:nvSpPr>
        <p:spPr>
          <a:xfrm>
            <a:off x="7012168" y="4457700"/>
            <a:ext cx="428488" cy="452628"/>
          </a:xfrm>
          <a:prstGeom prst="line">
            <a:avLst/>
          </a:prstGeom>
          <a:noFill/>
          <a:ln w="10160">
            <a:solidFill>
              <a:srgbClr val="7E9CC7">
                <a:alpha val="75000"/>
              </a:srgbClr>
            </a:solidFill>
            <a:prstDash val="solid"/>
          </a:ln>
        </p:spPr>
      </p:sp>
      <p:sp>
        <p:nvSpPr>
          <p:cNvPr id="53" name="Shape 48"/>
          <p:cNvSpPr/>
          <p:nvPr/>
        </p:nvSpPr>
        <p:spPr>
          <a:xfrm>
            <a:off x="7012168" y="4709160"/>
            <a:ext cx="428488" cy="-704088"/>
          </a:xfrm>
          <a:prstGeom prst="line">
            <a:avLst/>
          </a:prstGeom>
          <a:noFill/>
          <a:ln w="10160">
            <a:solidFill>
              <a:srgbClr val="7E9CC7">
                <a:alpha val="75000"/>
              </a:srgbClr>
            </a:solidFill>
            <a:prstDash val="solid"/>
          </a:ln>
        </p:spPr>
      </p:sp>
      <p:sp>
        <p:nvSpPr>
          <p:cNvPr id="54" name="Shape 49"/>
          <p:cNvSpPr/>
          <p:nvPr/>
        </p:nvSpPr>
        <p:spPr>
          <a:xfrm>
            <a:off x="7012168" y="4709160"/>
            <a:ext cx="428488" cy="-402336"/>
          </a:xfrm>
          <a:prstGeom prst="line">
            <a:avLst/>
          </a:prstGeom>
          <a:noFill/>
          <a:ln w="10160">
            <a:solidFill>
              <a:srgbClr val="7E9CC7">
                <a:alpha val="75000"/>
              </a:srgbClr>
            </a:solidFill>
            <a:prstDash val="solid"/>
          </a:ln>
        </p:spPr>
      </p:sp>
      <p:sp>
        <p:nvSpPr>
          <p:cNvPr id="55" name="Shape 50"/>
          <p:cNvSpPr/>
          <p:nvPr/>
        </p:nvSpPr>
        <p:spPr>
          <a:xfrm>
            <a:off x="7012168" y="4709160"/>
            <a:ext cx="428488" cy="-100584"/>
          </a:xfrm>
          <a:prstGeom prst="line">
            <a:avLst/>
          </a:prstGeom>
          <a:noFill/>
          <a:ln w="10160">
            <a:solidFill>
              <a:srgbClr val="7E9CC7">
                <a:alpha val="75000"/>
              </a:srgbClr>
            </a:solidFill>
            <a:prstDash val="solid"/>
          </a:ln>
        </p:spPr>
      </p:sp>
      <p:sp>
        <p:nvSpPr>
          <p:cNvPr id="56" name="Shape 51"/>
          <p:cNvSpPr/>
          <p:nvPr/>
        </p:nvSpPr>
        <p:spPr>
          <a:xfrm>
            <a:off x="7012168" y="4709160"/>
            <a:ext cx="428488" cy="201168"/>
          </a:xfrm>
          <a:prstGeom prst="line">
            <a:avLst/>
          </a:prstGeom>
          <a:noFill/>
          <a:ln w="10160">
            <a:solidFill>
              <a:srgbClr val="7E9CC7">
                <a:alpha val="75000"/>
              </a:srgbClr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7012168" y="4960620"/>
            <a:ext cx="428488" cy="-955548"/>
          </a:xfrm>
          <a:prstGeom prst="line">
            <a:avLst/>
          </a:prstGeom>
          <a:noFill/>
          <a:ln w="10160">
            <a:solidFill>
              <a:srgbClr val="7E9CC7">
                <a:alpha val="75000"/>
              </a:srgbClr>
            </a:solidFill>
            <a:prstDash val="solid"/>
          </a:ln>
        </p:spPr>
      </p:sp>
      <p:sp>
        <p:nvSpPr>
          <p:cNvPr id="58" name="Shape 53"/>
          <p:cNvSpPr/>
          <p:nvPr/>
        </p:nvSpPr>
        <p:spPr>
          <a:xfrm>
            <a:off x="7012168" y="4960620"/>
            <a:ext cx="428488" cy="-653796"/>
          </a:xfrm>
          <a:prstGeom prst="line">
            <a:avLst/>
          </a:prstGeom>
          <a:noFill/>
          <a:ln w="10160">
            <a:solidFill>
              <a:srgbClr val="7E9CC7">
                <a:alpha val="75000"/>
              </a:srgbClr>
            </a:solidFill>
            <a:prstDash val="solid"/>
          </a:ln>
        </p:spPr>
      </p:sp>
      <p:sp>
        <p:nvSpPr>
          <p:cNvPr id="59" name="Shape 54"/>
          <p:cNvSpPr/>
          <p:nvPr/>
        </p:nvSpPr>
        <p:spPr>
          <a:xfrm>
            <a:off x="7012168" y="4960620"/>
            <a:ext cx="428488" cy="-352044"/>
          </a:xfrm>
          <a:prstGeom prst="line">
            <a:avLst/>
          </a:prstGeom>
          <a:noFill/>
          <a:ln w="10160">
            <a:solidFill>
              <a:srgbClr val="7E9CC7">
                <a:alpha val="75000"/>
              </a:srgbClr>
            </a:solidFill>
            <a:prstDash val="solid"/>
          </a:ln>
        </p:spPr>
      </p:sp>
      <p:sp>
        <p:nvSpPr>
          <p:cNvPr id="60" name="Shape 55"/>
          <p:cNvSpPr/>
          <p:nvPr/>
        </p:nvSpPr>
        <p:spPr>
          <a:xfrm>
            <a:off x="7012168" y="4960620"/>
            <a:ext cx="428488" cy="-50292"/>
          </a:xfrm>
          <a:prstGeom prst="line">
            <a:avLst/>
          </a:prstGeom>
          <a:noFill/>
          <a:ln w="10160">
            <a:solidFill>
              <a:srgbClr val="7E9CC7">
                <a:alpha val="75000"/>
              </a:srgbClr>
            </a:solidFill>
            <a:prstDash val="solid"/>
          </a:ln>
        </p:spPr>
      </p:sp>
      <p:sp>
        <p:nvSpPr>
          <p:cNvPr id="61" name="Shape 56"/>
          <p:cNvSpPr/>
          <p:nvPr/>
        </p:nvSpPr>
        <p:spPr>
          <a:xfrm>
            <a:off x="7440656" y="4005072"/>
            <a:ext cx="441472" cy="201168"/>
          </a:xfrm>
          <a:prstGeom prst="line">
            <a:avLst/>
          </a:prstGeom>
          <a:noFill/>
          <a:ln w="10160">
            <a:solidFill>
              <a:srgbClr val="7E9CC7">
                <a:alpha val="75000"/>
              </a:srgbClr>
            </a:solidFill>
            <a:prstDash val="solid"/>
          </a:ln>
        </p:spPr>
      </p:sp>
      <p:sp>
        <p:nvSpPr>
          <p:cNvPr id="62" name="Shape 57"/>
          <p:cNvSpPr/>
          <p:nvPr/>
        </p:nvSpPr>
        <p:spPr>
          <a:xfrm>
            <a:off x="7440656" y="4005072"/>
            <a:ext cx="441472" cy="704088"/>
          </a:xfrm>
          <a:prstGeom prst="line">
            <a:avLst/>
          </a:prstGeom>
          <a:noFill/>
          <a:ln w="10160">
            <a:solidFill>
              <a:srgbClr val="7E9CC7">
                <a:alpha val="75000"/>
              </a:srgbClr>
            </a:solidFill>
            <a:prstDash val="solid"/>
          </a:ln>
        </p:spPr>
      </p:sp>
      <p:sp>
        <p:nvSpPr>
          <p:cNvPr id="63" name="Shape 58"/>
          <p:cNvSpPr/>
          <p:nvPr/>
        </p:nvSpPr>
        <p:spPr>
          <a:xfrm>
            <a:off x="7440656" y="4306824"/>
            <a:ext cx="441472" cy="-100584"/>
          </a:xfrm>
          <a:prstGeom prst="line">
            <a:avLst/>
          </a:prstGeom>
          <a:noFill/>
          <a:ln w="10160">
            <a:solidFill>
              <a:srgbClr val="7E9CC7">
                <a:alpha val="75000"/>
              </a:srgbClr>
            </a:solidFill>
            <a:prstDash val="solid"/>
          </a:ln>
        </p:spPr>
      </p:sp>
      <p:sp>
        <p:nvSpPr>
          <p:cNvPr id="64" name="Shape 59"/>
          <p:cNvSpPr/>
          <p:nvPr/>
        </p:nvSpPr>
        <p:spPr>
          <a:xfrm>
            <a:off x="7440656" y="4306824"/>
            <a:ext cx="441472" cy="402336"/>
          </a:xfrm>
          <a:prstGeom prst="line">
            <a:avLst/>
          </a:prstGeom>
          <a:noFill/>
          <a:ln w="10160">
            <a:solidFill>
              <a:srgbClr val="7E9CC7">
                <a:alpha val="75000"/>
              </a:srgbClr>
            </a:solidFill>
            <a:prstDash val="solid"/>
          </a:ln>
        </p:spPr>
      </p:sp>
      <p:sp>
        <p:nvSpPr>
          <p:cNvPr id="65" name="Shape 60"/>
          <p:cNvSpPr/>
          <p:nvPr/>
        </p:nvSpPr>
        <p:spPr>
          <a:xfrm>
            <a:off x="7440656" y="4608576"/>
            <a:ext cx="441472" cy="-402336"/>
          </a:xfrm>
          <a:prstGeom prst="line">
            <a:avLst/>
          </a:prstGeom>
          <a:noFill/>
          <a:ln w="10160">
            <a:solidFill>
              <a:srgbClr val="7E9CC7">
                <a:alpha val="75000"/>
              </a:srgbClr>
            </a:solidFill>
            <a:prstDash val="solid"/>
          </a:ln>
        </p:spPr>
      </p:sp>
      <p:sp>
        <p:nvSpPr>
          <p:cNvPr id="66" name="Shape 61"/>
          <p:cNvSpPr/>
          <p:nvPr/>
        </p:nvSpPr>
        <p:spPr>
          <a:xfrm>
            <a:off x="7440656" y="4608576"/>
            <a:ext cx="441472" cy="100584"/>
          </a:xfrm>
          <a:prstGeom prst="line">
            <a:avLst/>
          </a:prstGeom>
          <a:noFill/>
          <a:ln w="10160">
            <a:solidFill>
              <a:srgbClr val="7E9CC7">
                <a:alpha val="75000"/>
              </a:srgbClr>
            </a:solidFill>
            <a:prstDash val="solid"/>
          </a:ln>
        </p:spPr>
      </p:sp>
      <p:sp>
        <p:nvSpPr>
          <p:cNvPr id="67" name="Shape 62"/>
          <p:cNvSpPr/>
          <p:nvPr/>
        </p:nvSpPr>
        <p:spPr>
          <a:xfrm>
            <a:off x="7440656" y="4910328"/>
            <a:ext cx="441472" cy="-704088"/>
          </a:xfrm>
          <a:prstGeom prst="line">
            <a:avLst/>
          </a:prstGeom>
          <a:noFill/>
          <a:ln w="10160">
            <a:solidFill>
              <a:srgbClr val="7E9CC7">
                <a:alpha val="75000"/>
              </a:srgbClr>
            </a:solidFill>
            <a:prstDash val="solid"/>
          </a:ln>
        </p:spPr>
      </p:sp>
      <p:sp>
        <p:nvSpPr>
          <p:cNvPr id="68" name="Shape 63"/>
          <p:cNvSpPr/>
          <p:nvPr/>
        </p:nvSpPr>
        <p:spPr>
          <a:xfrm>
            <a:off x="7440656" y="4910328"/>
            <a:ext cx="441472" cy="-201168"/>
          </a:xfrm>
          <a:prstGeom prst="line">
            <a:avLst/>
          </a:prstGeom>
          <a:noFill/>
          <a:ln w="10160">
            <a:solidFill>
              <a:srgbClr val="7E9CC7">
                <a:alpha val="75000"/>
              </a:srgbClr>
            </a:solidFill>
            <a:prstDash val="solid"/>
          </a:ln>
        </p:spPr>
      </p:sp>
      <p:sp>
        <p:nvSpPr>
          <p:cNvPr id="69" name="Shape 64"/>
          <p:cNvSpPr/>
          <p:nvPr/>
        </p:nvSpPr>
        <p:spPr>
          <a:xfrm>
            <a:off x="6492240" y="3989070"/>
            <a:ext cx="182880" cy="182880"/>
          </a:xfrm>
          <a:prstGeom prst="ellipse">
            <a:avLst/>
          </a:prstGeom>
          <a:solidFill>
            <a:srgbClr val="0B3B82"/>
          </a:solidFill>
          <a:ln w="6350">
            <a:solidFill>
              <a:srgbClr val="0B3B82"/>
            </a:solidFill>
            <a:prstDash val="solid"/>
          </a:ln>
        </p:spPr>
      </p:sp>
      <p:sp>
        <p:nvSpPr>
          <p:cNvPr id="70" name="Shape 65"/>
          <p:cNvSpPr/>
          <p:nvPr/>
        </p:nvSpPr>
        <p:spPr>
          <a:xfrm>
            <a:off x="6492240" y="4366260"/>
            <a:ext cx="182880" cy="182880"/>
          </a:xfrm>
          <a:prstGeom prst="ellipse">
            <a:avLst/>
          </a:prstGeom>
          <a:solidFill>
            <a:srgbClr val="FFFFFF"/>
          </a:solidFill>
          <a:ln w="6350">
            <a:solidFill>
              <a:srgbClr val="0B3B82"/>
            </a:solidFill>
            <a:prstDash val="solid"/>
          </a:ln>
        </p:spPr>
      </p:sp>
      <p:sp>
        <p:nvSpPr>
          <p:cNvPr id="71" name="Shape 66"/>
          <p:cNvSpPr/>
          <p:nvPr/>
        </p:nvSpPr>
        <p:spPr>
          <a:xfrm>
            <a:off x="6492240" y="4743450"/>
            <a:ext cx="182880" cy="182880"/>
          </a:xfrm>
          <a:prstGeom prst="ellipse">
            <a:avLst/>
          </a:prstGeom>
          <a:solidFill>
            <a:srgbClr val="0B3B82"/>
          </a:solidFill>
          <a:ln w="6350">
            <a:solidFill>
              <a:srgbClr val="0B3B82"/>
            </a:solidFill>
            <a:prstDash val="solid"/>
          </a:ln>
        </p:spPr>
      </p:sp>
      <p:sp>
        <p:nvSpPr>
          <p:cNvPr id="72" name="Shape 67"/>
          <p:cNvSpPr/>
          <p:nvPr/>
        </p:nvSpPr>
        <p:spPr>
          <a:xfrm>
            <a:off x="6920728" y="3863340"/>
            <a:ext cx="182880" cy="182880"/>
          </a:xfrm>
          <a:prstGeom prst="ellipse">
            <a:avLst/>
          </a:prstGeom>
          <a:solidFill>
            <a:srgbClr val="FFFFFF"/>
          </a:solidFill>
          <a:ln w="6350">
            <a:solidFill>
              <a:srgbClr val="0B3B82"/>
            </a:solidFill>
            <a:prstDash val="solid"/>
          </a:ln>
        </p:spPr>
      </p:sp>
      <p:sp>
        <p:nvSpPr>
          <p:cNvPr id="73" name="Shape 68"/>
          <p:cNvSpPr/>
          <p:nvPr/>
        </p:nvSpPr>
        <p:spPr>
          <a:xfrm>
            <a:off x="6920728" y="4114800"/>
            <a:ext cx="182880" cy="182880"/>
          </a:xfrm>
          <a:prstGeom prst="ellipse">
            <a:avLst/>
          </a:prstGeom>
          <a:solidFill>
            <a:srgbClr val="0B3B82"/>
          </a:solidFill>
          <a:ln w="6350">
            <a:solidFill>
              <a:srgbClr val="0B3B82"/>
            </a:solidFill>
            <a:prstDash val="solid"/>
          </a:ln>
        </p:spPr>
      </p:sp>
      <p:sp>
        <p:nvSpPr>
          <p:cNvPr id="74" name="Shape 69"/>
          <p:cNvSpPr/>
          <p:nvPr/>
        </p:nvSpPr>
        <p:spPr>
          <a:xfrm>
            <a:off x="6920728" y="4366260"/>
            <a:ext cx="182880" cy="182880"/>
          </a:xfrm>
          <a:prstGeom prst="ellipse">
            <a:avLst/>
          </a:prstGeom>
          <a:solidFill>
            <a:srgbClr val="FFFFFF"/>
          </a:solidFill>
          <a:ln w="6350">
            <a:solidFill>
              <a:srgbClr val="0B3B82"/>
            </a:solidFill>
            <a:prstDash val="solid"/>
          </a:ln>
        </p:spPr>
      </p:sp>
      <p:sp>
        <p:nvSpPr>
          <p:cNvPr id="75" name="Shape 70"/>
          <p:cNvSpPr/>
          <p:nvPr/>
        </p:nvSpPr>
        <p:spPr>
          <a:xfrm>
            <a:off x="6920728" y="4617720"/>
            <a:ext cx="182880" cy="182880"/>
          </a:xfrm>
          <a:prstGeom prst="ellipse">
            <a:avLst/>
          </a:prstGeom>
          <a:solidFill>
            <a:srgbClr val="0B3B82"/>
          </a:solidFill>
          <a:ln w="6350">
            <a:solidFill>
              <a:srgbClr val="0B3B82"/>
            </a:solidFill>
            <a:prstDash val="solid"/>
          </a:ln>
        </p:spPr>
      </p:sp>
      <p:sp>
        <p:nvSpPr>
          <p:cNvPr id="76" name="Shape 71"/>
          <p:cNvSpPr/>
          <p:nvPr/>
        </p:nvSpPr>
        <p:spPr>
          <a:xfrm>
            <a:off x="6920728" y="4869180"/>
            <a:ext cx="182880" cy="182880"/>
          </a:xfrm>
          <a:prstGeom prst="ellipse">
            <a:avLst/>
          </a:prstGeom>
          <a:solidFill>
            <a:srgbClr val="FFFFFF"/>
          </a:solidFill>
          <a:ln w="6350">
            <a:solidFill>
              <a:srgbClr val="0B3B82"/>
            </a:solidFill>
            <a:prstDash val="solid"/>
          </a:ln>
        </p:spPr>
      </p:sp>
      <p:sp>
        <p:nvSpPr>
          <p:cNvPr id="77" name="Shape 72"/>
          <p:cNvSpPr/>
          <p:nvPr/>
        </p:nvSpPr>
        <p:spPr>
          <a:xfrm>
            <a:off x="7349216" y="3913632"/>
            <a:ext cx="182880" cy="182880"/>
          </a:xfrm>
          <a:prstGeom prst="ellipse">
            <a:avLst/>
          </a:prstGeom>
          <a:solidFill>
            <a:srgbClr val="0B3B82"/>
          </a:solidFill>
          <a:ln w="6350">
            <a:solidFill>
              <a:srgbClr val="0B3B82"/>
            </a:solidFill>
            <a:prstDash val="solid"/>
          </a:ln>
        </p:spPr>
      </p:sp>
      <p:sp>
        <p:nvSpPr>
          <p:cNvPr id="78" name="Shape 73"/>
          <p:cNvSpPr/>
          <p:nvPr/>
        </p:nvSpPr>
        <p:spPr>
          <a:xfrm>
            <a:off x="7349216" y="4215384"/>
            <a:ext cx="182880" cy="182880"/>
          </a:xfrm>
          <a:prstGeom prst="ellipse">
            <a:avLst/>
          </a:prstGeom>
          <a:solidFill>
            <a:srgbClr val="FFFFFF"/>
          </a:solidFill>
          <a:ln w="6350">
            <a:solidFill>
              <a:srgbClr val="0B3B82"/>
            </a:solidFill>
            <a:prstDash val="solid"/>
          </a:ln>
        </p:spPr>
      </p:sp>
      <p:sp>
        <p:nvSpPr>
          <p:cNvPr id="79" name="Shape 74"/>
          <p:cNvSpPr/>
          <p:nvPr/>
        </p:nvSpPr>
        <p:spPr>
          <a:xfrm>
            <a:off x="7349216" y="4517136"/>
            <a:ext cx="182880" cy="182880"/>
          </a:xfrm>
          <a:prstGeom prst="ellipse">
            <a:avLst/>
          </a:prstGeom>
          <a:solidFill>
            <a:srgbClr val="0B3B82"/>
          </a:solidFill>
          <a:ln w="6350">
            <a:solidFill>
              <a:srgbClr val="0B3B82"/>
            </a:solidFill>
            <a:prstDash val="solid"/>
          </a:ln>
        </p:spPr>
      </p:sp>
      <p:sp>
        <p:nvSpPr>
          <p:cNvPr id="80" name="Shape 75"/>
          <p:cNvSpPr/>
          <p:nvPr/>
        </p:nvSpPr>
        <p:spPr>
          <a:xfrm>
            <a:off x="7349216" y="4818888"/>
            <a:ext cx="182880" cy="182880"/>
          </a:xfrm>
          <a:prstGeom prst="ellipse">
            <a:avLst/>
          </a:prstGeom>
          <a:solidFill>
            <a:srgbClr val="FFFFFF"/>
          </a:solidFill>
          <a:ln w="6350">
            <a:solidFill>
              <a:srgbClr val="0B3B82"/>
            </a:solidFill>
            <a:prstDash val="solid"/>
          </a:ln>
        </p:spPr>
      </p:sp>
      <p:sp>
        <p:nvSpPr>
          <p:cNvPr id="81" name="Shape 76"/>
          <p:cNvSpPr/>
          <p:nvPr/>
        </p:nvSpPr>
        <p:spPr>
          <a:xfrm>
            <a:off x="7790688" y="4114800"/>
            <a:ext cx="182880" cy="182880"/>
          </a:xfrm>
          <a:prstGeom prst="ellipse">
            <a:avLst/>
          </a:prstGeom>
          <a:solidFill>
            <a:srgbClr val="0B3B82"/>
          </a:solidFill>
          <a:ln w="6350">
            <a:solidFill>
              <a:srgbClr val="0B3B82"/>
            </a:solidFill>
            <a:prstDash val="solid"/>
          </a:ln>
        </p:spPr>
      </p:sp>
      <p:sp>
        <p:nvSpPr>
          <p:cNvPr id="82" name="Shape 77"/>
          <p:cNvSpPr/>
          <p:nvPr/>
        </p:nvSpPr>
        <p:spPr>
          <a:xfrm>
            <a:off x="7790688" y="4617720"/>
            <a:ext cx="182880" cy="182880"/>
          </a:xfrm>
          <a:prstGeom prst="ellipse">
            <a:avLst/>
          </a:prstGeom>
          <a:solidFill>
            <a:srgbClr val="FFFFFF"/>
          </a:solidFill>
          <a:ln w="6350">
            <a:solidFill>
              <a:srgbClr val="0B3B82"/>
            </a:solidFill>
            <a:prstDash val="solid"/>
          </a:ln>
        </p:spPr>
      </p:sp>
      <p:sp>
        <p:nvSpPr>
          <p:cNvPr id="83" name="Shape 78"/>
          <p:cNvSpPr/>
          <p:nvPr/>
        </p:nvSpPr>
        <p:spPr>
          <a:xfrm>
            <a:off x="8065008" y="4142232"/>
            <a:ext cx="438912" cy="365760"/>
          </a:xfrm>
          <a:prstGeom prst="rightArrow">
            <a:avLst/>
          </a:prstGeom>
          <a:solidFill>
            <a:srgbClr val="9EACC0"/>
          </a:solidFill>
          <a:ln w="12700">
            <a:solidFill>
              <a:srgbClr val="9EACC0"/>
            </a:solidFill>
            <a:prstDash val="solid"/>
          </a:ln>
        </p:spPr>
      </p:sp>
      <p:pic>
        <p:nvPicPr>
          <p:cNvPr id="84" name="Image 3" descr="/mnt/data/spdm_pptx_assets/optimization_surfac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0" y="3543300"/>
            <a:ext cx="1737360" cy="1737360"/>
          </a:xfrm>
          <a:prstGeom prst="rect">
            <a:avLst/>
          </a:prstGeom>
        </p:spPr>
      </p:pic>
      <p:sp>
        <p:nvSpPr>
          <p:cNvPr id="85" name="Shape 79"/>
          <p:cNvSpPr/>
          <p:nvPr/>
        </p:nvSpPr>
        <p:spPr>
          <a:xfrm>
            <a:off x="11000232" y="1975104"/>
            <a:ext cx="2331720" cy="49377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3970">
            <a:solidFill>
              <a:srgbClr val="B8C9E0"/>
            </a:solidFill>
            <a:prstDash val="solid"/>
          </a:ln>
        </p:spPr>
      </p:sp>
      <p:sp>
        <p:nvSpPr>
          <p:cNvPr id="86" name="Text 80"/>
          <p:cNvSpPr txBox="1"/>
          <p:nvPr/>
        </p:nvSpPr>
        <p:spPr>
          <a:xfrm>
            <a:off x="11247120" y="1856232"/>
            <a:ext cx="1828800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成果（例）</a:t>
            </a:r>
            <a:endParaRPr lang="en-US" sz="1800" dirty="0"/>
          </a:p>
        </p:txBody>
      </p:sp>
      <p:sp>
        <p:nvSpPr>
          <p:cNvPr id="87" name="Text 81"/>
          <p:cNvSpPr txBox="1"/>
          <p:nvPr/>
        </p:nvSpPr>
        <p:spPr>
          <a:xfrm>
            <a:off x="11228832" y="2779776"/>
            <a:ext cx="182880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最適解の発見時間</a:t>
            </a:r>
            <a:endParaRPr lang="en-US" sz="1420" dirty="0"/>
          </a:p>
        </p:txBody>
      </p:sp>
      <p:sp>
        <p:nvSpPr>
          <p:cNvPr id="88" name="Text 82"/>
          <p:cNvSpPr txBox="1"/>
          <p:nvPr/>
        </p:nvSpPr>
        <p:spPr>
          <a:xfrm>
            <a:off x="11228832" y="3154680"/>
            <a:ext cx="182880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B3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90%短縮</a:t>
            </a:r>
            <a:endParaRPr lang="en-US" sz="2500" dirty="0"/>
          </a:p>
        </p:txBody>
      </p:sp>
      <p:sp>
        <p:nvSpPr>
          <p:cNvPr id="89" name="Text 83"/>
          <p:cNvSpPr txBox="1"/>
          <p:nvPr/>
        </p:nvSpPr>
        <p:spPr>
          <a:xfrm>
            <a:off x="11228832" y="4114800"/>
            <a:ext cx="182880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設計変数の試行数</a:t>
            </a:r>
            <a:endParaRPr lang="en-US" sz="1420" dirty="0"/>
          </a:p>
        </p:txBody>
      </p:sp>
      <p:sp>
        <p:nvSpPr>
          <p:cNvPr id="90" name="Text 84"/>
          <p:cNvSpPr txBox="1"/>
          <p:nvPr/>
        </p:nvSpPr>
        <p:spPr>
          <a:xfrm>
            <a:off x="11228832" y="4480560"/>
            <a:ext cx="182880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B3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1/10以下</a:t>
            </a:r>
            <a:endParaRPr lang="en-US" sz="2500" dirty="0"/>
          </a:p>
        </p:txBody>
      </p:sp>
      <p:sp>
        <p:nvSpPr>
          <p:cNvPr id="91" name="Text 85"/>
          <p:cNvSpPr txBox="1"/>
          <p:nvPr/>
        </p:nvSpPr>
        <p:spPr>
          <a:xfrm>
            <a:off x="11228832" y="5440680"/>
            <a:ext cx="182880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7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性能指標（均一性等）</a:t>
            </a:r>
            <a:endParaRPr lang="en-US" sz="1370" dirty="0"/>
          </a:p>
        </p:txBody>
      </p:sp>
      <p:sp>
        <p:nvSpPr>
          <p:cNvPr id="92" name="Text 86"/>
          <p:cNvSpPr txBox="1"/>
          <p:nvPr/>
        </p:nvSpPr>
        <p:spPr>
          <a:xfrm>
            <a:off x="11228832" y="5833872"/>
            <a:ext cx="182880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B3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30%向上</a:t>
            </a:r>
            <a:endParaRPr lang="en-US" sz="2500" dirty="0"/>
          </a:p>
        </p:txBody>
      </p:sp>
      <p:sp>
        <p:nvSpPr>
          <p:cNvPr id="93" name="Shape 87"/>
          <p:cNvSpPr/>
          <p:nvPr/>
        </p:nvSpPr>
        <p:spPr>
          <a:xfrm>
            <a:off x="411480" y="7479792"/>
            <a:ext cx="12893040" cy="960120"/>
          </a:xfrm>
          <a:prstGeom prst="roundRect">
            <a:avLst>
              <a:gd name="adj" fmla="val 7619"/>
            </a:avLst>
          </a:prstGeom>
          <a:solidFill>
            <a:srgbClr val="F4F8FC"/>
          </a:solidFill>
          <a:ln w="13970">
            <a:solidFill>
              <a:srgbClr val="B8C9E0"/>
            </a:solidFill>
            <a:prstDash val="solid"/>
          </a:ln>
        </p:spPr>
      </p:sp>
      <p:sp>
        <p:nvSpPr>
          <p:cNvPr id="94" name="Text 88"/>
          <p:cNvSpPr txBox="1"/>
          <p:nvPr/>
        </p:nvSpPr>
        <p:spPr>
          <a:xfrm>
            <a:off x="667512" y="7534656"/>
            <a:ext cx="12380976" cy="8503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シミュレーション直打ちでは“点の検討”、サロゲート＋最適化では“面の探索”が可能に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" y="27432"/>
            <a:ext cx="13661136" cy="9089136"/>
          </a:xfrm>
          <a:prstGeom prst="rect">
            <a:avLst/>
          </a:prstGeom>
          <a:solidFill>
            <a:srgbClr val="FFFFFF"/>
          </a:solidFill>
          <a:ln w="6350">
            <a:solidFill>
              <a:srgbClr val="E4E9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219456"/>
            <a:ext cx="658368" cy="658368"/>
          </a:xfrm>
          <a:prstGeom prst="rect">
            <a:avLst/>
          </a:prstGeom>
          <a:solidFill>
            <a:srgbClr val="0B3B82"/>
          </a:solidFill>
          <a:ln w="12700">
            <a:solidFill>
              <a:srgbClr val="0B3B8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10896" y="219456"/>
            <a:ext cx="658368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82880"/>
            <a:ext cx="1211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ドメイン知識を特徴量・指標に組み込み、成果は大きく変わる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941832"/>
            <a:ext cx="1252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559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物理・装置の知見を入れたモデルは、少ないデータでも高精度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2029968"/>
            <a:ext cx="4754880" cy="52120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3970">
            <a:solidFill>
              <a:srgbClr val="B8C9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" y="1938528"/>
            <a:ext cx="4069080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ドメイン知識なし（汎用的な手法のみ）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5605272"/>
            <a:ext cx="3611880" cy="0"/>
          </a:xfrm>
          <a:prstGeom prst="line">
            <a:avLst/>
          </a:prstGeom>
          <a:noFill/>
          <a:ln w="13970">
            <a:solidFill>
              <a:srgbClr val="7F879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816352"/>
            <a:ext cx="0" cy="2788920"/>
          </a:xfrm>
          <a:prstGeom prst="line">
            <a:avLst/>
          </a:prstGeom>
          <a:noFill/>
          <a:ln w="13970">
            <a:solidFill>
              <a:srgbClr val="7F879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36776" y="2816352"/>
            <a:ext cx="0" cy="2788920"/>
          </a:xfrm>
          <a:prstGeom prst="line">
            <a:avLst/>
          </a:prstGeom>
          <a:noFill/>
          <a:ln w="6350">
            <a:solidFill>
              <a:srgbClr val="E1E5EA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914400" y="3374136"/>
            <a:ext cx="3611880" cy="0"/>
          </a:xfrm>
          <a:prstGeom prst="line">
            <a:avLst/>
          </a:prstGeom>
          <a:noFill/>
          <a:ln w="6350">
            <a:solidFill>
              <a:srgbClr val="E1E5EA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2359152" y="2816352"/>
            <a:ext cx="0" cy="2788920"/>
          </a:xfrm>
          <a:prstGeom prst="line">
            <a:avLst/>
          </a:prstGeom>
          <a:noFill/>
          <a:ln w="6350">
            <a:solidFill>
              <a:srgbClr val="E1E5EA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914400" y="3931920"/>
            <a:ext cx="3611880" cy="0"/>
          </a:xfrm>
          <a:prstGeom prst="line">
            <a:avLst/>
          </a:prstGeom>
          <a:noFill/>
          <a:ln w="6350">
            <a:solidFill>
              <a:srgbClr val="E1E5EA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3081528" y="2816352"/>
            <a:ext cx="0" cy="2788920"/>
          </a:xfrm>
          <a:prstGeom prst="line">
            <a:avLst/>
          </a:prstGeom>
          <a:noFill/>
          <a:ln w="6350">
            <a:solidFill>
              <a:srgbClr val="E1E5EA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914400" y="4489704"/>
            <a:ext cx="3611880" cy="0"/>
          </a:xfrm>
          <a:prstGeom prst="line">
            <a:avLst/>
          </a:prstGeom>
          <a:noFill/>
          <a:ln w="6350">
            <a:solidFill>
              <a:srgbClr val="E1E5EA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3803904" y="2816352"/>
            <a:ext cx="0" cy="2788920"/>
          </a:xfrm>
          <a:prstGeom prst="line">
            <a:avLst/>
          </a:prstGeom>
          <a:noFill/>
          <a:ln w="6350">
            <a:solidFill>
              <a:srgbClr val="E1E5EA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914400" y="5047488"/>
            <a:ext cx="3611880" cy="0"/>
          </a:xfrm>
          <a:prstGeom prst="line">
            <a:avLst/>
          </a:prstGeom>
          <a:noFill/>
          <a:ln w="6350">
            <a:solidFill>
              <a:srgbClr val="E1E5EA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1022756" y="5382158"/>
            <a:ext cx="3359048" cy="-2286914"/>
          </a:xfrm>
          <a:prstGeom prst="line">
            <a:avLst/>
          </a:prstGeom>
          <a:noFill/>
          <a:ln w="12700">
            <a:solidFill>
              <a:srgbClr val="9B9EA3"/>
            </a:solidFill>
            <a:prstDash val="dash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1860882" y="4774003"/>
            <a:ext cx="73152" cy="73152"/>
          </a:xfrm>
          <a:prstGeom prst="ellipse">
            <a:avLst/>
          </a:prstGeom>
          <a:solidFill>
            <a:srgbClr val="5E6166"/>
          </a:solidFill>
          <a:ln w="6350">
            <a:solidFill>
              <a:srgbClr val="5E61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85380" y="4267228"/>
            <a:ext cx="73152" cy="73152"/>
          </a:xfrm>
          <a:prstGeom prst="ellipse">
            <a:avLst/>
          </a:prstGeom>
          <a:solidFill>
            <a:srgbClr val="5E6166"/>
          </a:solidFill>
          <a:ln w="6350">
            <a:solidFill>
              <a:srgbClr val="5E616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47544" y="5352467"/>
            <a:ext cx="73152" cy="73152"/>
          </a:xfrm>
          <a:prstGeom prst="ellipse">
            <a:avLst/>
          </a:prstGeom>
          <a:solidFill>
            <a:srgbClr val="5E6166"/>
          </a:solidFill>
          <a:ln w="6350">
            <a:solidFill>
              <a:srgbClr val="5E61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05192" y="3174159"/>
            <a:ext cx="73152" cy="73152"/>
          </a:xfrm>
          <a:prstGeom prst="ellipse">
            <a:avLst/>
          </a:prstGeom>
          <a:solidFill>
            <a:srgbClr val="5E6166"/>
          </a:solidFill>
          <a:ln w="6350">
            <a:solidFill>
              <a:srgbClr val="5E61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479368" y="5223065"/>
            <a:ext cx="73152" cy="73152"/>
          </a:xfrm>
          <a:prstGeom prst="ellipse">
            <a:avLst/>
          </a:prstGeom>
          <a:solidFill>
            <a:srgbClr val="5E6166"/>
          </a:solidFill>
          <a:ln w="6350">
            <a:solidFill>
              <a:srgbClr val="5E61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04068" y="3553058"/>
            <a:ext cx="73152" cy="73152"/>
          </a:xfrm>
          <a:prstGeom prst="ellipse">
            <a:avLst/>
          </a:prstGeom>
          <a:solidFill>
            <a:srgbClr val="5E6166"/>
          </a:solidFill>
          <a:ln w="6350">
            <a:solidFill>
              <a:srgbClr val="5E61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089473" y="4936489"/>
            <a:ext cx="73152" cy="73152"/>
          </a:xfrm>
          <a:prstGeom prst="ellipse">
            <a:avLst/>
          </a:prstGeom>
          <a:solidFill>
            <a:srgbClr val="5E6166"/>
          </a:solidFill>
          <a:ln w="6350">
            <a:solidFill>
              <a:srgbClr val="5E61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93517" y="3079443"/>
            <a:ext cx="73152" cy="73152"/>
          </a:xfrm>
          <a:prstGeom prst="ellipse">
            <a:avLst/>
          </a:prstGeom>
          <a:solidFill>
            <a:srgbClr val="5E6166"/>
          </a:solidFill>
          <a:ln w="6350">
            <a:solidFill>
              <a:srgbClr val="5E616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15443" y="3750032"/>
            <a:ext cx="73152" cy="73152"/>
          </a:xfrm>
          <a:prstGeom prst="ellipse">
            <a:avLst/>
          </a:prstGeom>
          <a:solidFill>
            <a:srgbClr val="5E6166"/>
          </a:solidFill>
          <a:ln w="6350">
            <a:solidFill>
              <a:srgbClr val="5E61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38776" y="5168416"/>
            <a:ext cx="73152" cy="73152"/>
          </a:xfrm>
          <a:prstGeom prst="ellipse">
            <a:avLst/>
          </a:prstGeom>
          <a:solidFill>
            <a:srgbClr val="5E6166"/>
          </a:solidFill>
          <a:ln w="6350">
            <a:solidFill>
              <a:srgbClr val="5E616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12325" y="3595838"/>
            <a:ext cx="73152" cy="73152"/>
          </a:xfrm>
          <a:prstGeom prst="ellipse">
            <a:avLst/>
          </a:prstGeom>
          <a:solidFill>
            <a:srgbClr val="5E6166"/>
          </a:solidFill>
          <a:ln w="6350">
            <a:solidFill>
              <a:srgbClr val="5E616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454775" y="5457139"/>
            <a:ext cx="73152" cy="73152"/>
          </a:xfrm>
          <a:prstGeom prst="ellipse">
            <a:avLst/>
          </a:prstGeom>
          <a:solidFill>
            <a:srgbClr val="5E6166"/>
          </a:solidFill>
          <a:ln w="6350">
            <a:solidFill>
              <a:srgbClr val="5E616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806413" y="4861558"/>
            <a:ext cx="73152" cy="73152"/>
          </a:xfrm>
          <a:prstGeom prst="ellipse">
            <a:avLst/>
          </a:prstGeom>
          <a:solidFill>
            <a:srgbClr val="5E6166"/>
          </a:solidFill>
          <a:ln w="6350">
            <a:solidFill>
              <a:srgbClr val="5E616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557238" y="3476168"/>
            <a:ext cx="73152" cy="73152"/>
          </a:xfrm>
          <a:prstGeom prst="ellipse">
            <a:avLst/>
          </a:prstGeom>
          <a:solidFill>
            <a:srgbClr val="5E6166"/>
          </a:solidFill>
          <a:ln w="6350">
            <a:solidFill>
              <a:srgbClr val="5E616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13187" y="3715358"/>
            <a:ext cx="73152" cy="73152"/>
          </a:xfrm>
          <a:prstGeom prst="ellipse">
            <a:avLst/>
          </a:prstGeom>
          <a:solidFill>
            <a:srgbClr val="5E6166"/>
          </a:solidFill>
          <a:ln w="6350">
            <a:solidFill>
              <a:srgbClr val="5E616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215608" y="3901061"/>
            <a:ext cx="73152" cy="73152"/>
          </a:xfrm>
          <a:prstGeom prst="ellipse">
            <a:avLst/>
          </a:prstGeom>
          <a:solidFill>
            <a:srgbClr val="5E6166"/>
          </a:solidFill>
          <a:ln w="6350">
            <a:solidFill>
              <a:srgbClr val="5E616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935757" y="3737091"/>
            <a:ext cx="73152" cy="73152"/>
          </a:xfrm>
          <a:prstGeom prst="ellipse">
            <a:avLst/>
          </a:prstGeom>
          <a:solidFill>
            <a:srgbClr val="5E6166"/>
          </a:solidFill>
          <a:ln w="6350">
            <a:solidFill>
              <a:srgbClr val="5E616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593785" y="4692172"/>
            <a:ext cx="73152" cy="73152"/>
          </a:xfrm>
          <a:prstGeom prst="ellipse">
            <a:avLst/>
          </a:prstGeom>
          <a:solidFill>
            <a:srgbClr val="5E6166"/>
          </a:solidFill>
          <a:ln w="6350">
            <a:solidFill>
              <a:srgbClr val="5E616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462521" y="3109449"/>
            <a:ext cx="73152" cy="73152"/>
          </a:xfrm>
          <a:prstGeom prst="ellipse">
            <a:avLst/>
          </a:prstGeom>
          <a:solidFill>
            <a:srgbClr val="5E6166"/>
          </a:solidFill>
          <a:ln w="6350">
            <a:solidFill>
              <a:srgbClr val="5E616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180901" y="3899243"/>
            <a:ext cx="73152" cy="73152"/>
          </a:xfrm>
          <a:prstGeom prst="ellipse">
            <a:avLst/>
          </a:prstGeom>
          <a:solidFill>
            <a:srgbClr val="5E6166"/>
          </a:solidFill>
          <a:ln w="6350">
            <a:solidFill>
              <a:srgbClr val="5E616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471216" y="3428388"/>
            <a:ext cx="73152" cy="73152"/>
          </a:xfrm>
          <a:prstGeom prst="ellipse">
            <a:avLst/>
          </a:prstGeom>
          <a:solidFill>
            <a:srgbClr val="5E6166"/>
          </a:solidFill>
          <a:ln w="6350">
            <a:solidFill>
              <a:srgbClr val="5E616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859706" y="4112600"/>
            <a:ext cx="73152" cy="73152"/>
          </a:xfrm>
          <a:prstGeom prst="ellipse">
            <a:avLst/>
          </a:prstGeom>
          <a:solidFill>
            <a:srgbClr val="5E6166"/>
          </a:solidFill>
          <a:ln w="6350">
            <a:solidFill>
              <a:srgbClr val="5E616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061144" y="3823035"/>
            <a:ext cx="73152" cy="73152"/>
          </a:xfrm>
          <a:prstGeom prst="ellipse">
            <a:avLst/>
          </a:prstGeom>
          <a:solidFill>
            <a:srgbClr val="5E6166"/>
          </a:solidFill>
          <a:ln w="6350">
            <a:solidFill>
              <a:srgbClr val="5E616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908453" y="5337345"/>
            <a:ext cx="73152" cy="73152"/>
          </a:xfrm>
          <a:prstGeom prst="ellipse">
            <a:avLst/>
          </a:prstGeom>
          <a:solidFill>
            <a:srgbClr val="5E6166"/>
          </a:solidFill>
          <a:ln w="6350">
            <a:solidFill>
              <a:srgbClr val="5E616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623792" y="5453851"/>
            <a:ext cx="73152" cy="73152"/>
          </a:xfrm>
          <a:prstGeom prst="ellipse">
            <a:avLst/>
          </a:prstGeom>
          <a:solidFill>
            <a:srgbClr val="5E6166"/>
          </a:solidFill>
          <a:ln w="6350">
            <a:solidFill>
              <a:srgbClr val="5E616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123922" y="4143159"/>
            <a:ext cx="73152" cy="73152"/>
          </a:xfrm>
          <a:prstGeom prst="ellipse">
            <a:avLst/>
          </a:prstGeom>
          <a:solidFill>
            <a:srgbClr val="5E6166"/>
          </a:solidFill>
          <a:ln w="6350">
            <a:solidFill>
              <a:srgbClr val="5E616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862837" y="3885524"/>
            <a:ext cx="73152" cy="73152"/>
          </a:xfrm>
          <a:prstGeom prst="ellipse">
            <a:avLst/>
          </a:prstGeom>
          <a:solidFill>
            <a:srgbClr val="5E6166"/>
          </a:solidFill>
          <a:ln w="6350">
            <a:solidFill>
              <a:srgbClr val="5E616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189327" y="3777058"/>
            <a:ext cx="73152" cy="73152"/>
          </a:xfrm>
          <a:prstGeom prst="ellipse">
            <a:avLst/>
          </a:prstGeom>
          <a:solidFill>
            <a:srgbClr val="5E6166"/>
          </a:solidFill>
          <a:ln w="6350">
            <a:solidFill>
              <a:srgbClr val="5E616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164650" y="2891333"/>
            <a:ext cx="73152" cy="73152"/>
          </a:xfrm>
          <a:prstGeom prst="ellipse">
            <a:avLst/>
          </a:prstGeom>
          <a:solidFill>
            <a:srgbClr val="5E6166"/>
          </a:solidFill>
          <a:ln w="6350">
            <a:solidFill>
              <a:srgbClr val="5E616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31422" y="4598626"/>
            <a:ext cx="73152" cy="73152"/>
          </a:xfrm>
          <a:prstGeom prst="ellipse">
            <a:avLst/>
          </a:prstGeom>
          <a:solidFill>
            <a:srgbClr val="5E6166"/>
          </a:solidFill>
          <a:ln w="6350">
            <a:solidFill>
              <a:srgbClr val="5E616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917852" y="4628063"/>
            <a:ext cx="73152" cy="73152"/>
          </a:xfrm>
          <a:prstGeom prst="ellipse">
            <a:avLst/>
          </a:prstGeom>
          <a:solidFill>
            <a:srgbClr val="5E6166"/>
          </a:solidFill>
          <a:ln w="6350">
            <a:solidFill>
              <a:srgbClr val="5E616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546060" y="4951087"/>
            <a:ext cx="73152" cy="73152"/>
          </a:xfrm>
          <a:prstGeom prst="ellipse">
            <a:avLst/>
          </a:prstGeom>
          <a:solidFill>
            <a:srgbClr val="5E6166"/>
          </a:solidFill>
          <a:ln w="6350">
            <a:solidFill>
              <a:srgbClr val="5E616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286099" y="3264551"/>
            <a:ext cx="73152" cy="73152"/>
          </a:xfrm>
          <a:prstGeom prst="ellipse">
            <a:avLst/>
          </a:prstGeom>
          <a:solidFill>
            <a:srgbClr val="5E6166"/>
          </a:solidFill>
          <a:ln w="6350">
            <a:solidFill>
              <a:srgbClr val="5E616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419652" y="3255585"/>
            <a:ext cx="73152" cy="73152"/>
          </a:xfrm>
          <a:prstGeom prst="ellipse">
            <a:avLst/>
          </a:prstGeom>
          <a:solidFill>
            <a:srgbClr val="5E6166"/>
          </a:solidFill>
          <a:ln w="6350">
            <a:solidFill>
              <a:srgbClr val="5E616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982055" y="4077393"/>
            <a:ext cx="73152" cy="73152"/>
          </a:xfrm>
          <a:prstGeom prst="ellipse">
            <a:avLst/>
          </a:prstGeom>
          <a:solidFill>
            <a:srgbClr val="5E6166"/>
          </a:solidFill>
          <a:ln w="6350">
            <a:solidFill>
              <a:srgbClr val="5E616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848730" y="3954429"/>
            <a:ext cx="73152" cy="73152"/>
          </a:xfrm>
          <a:prstGeom prst="ellipse">
            <a:avLst/>
          </a:prstGeom>
          <a:solidFill>
            <a:srgbClr val="5E6166"/>
          </a:solidFill>
          <a:ln w="6350">
            <a:solidFill>
              <a:srgbClr val="5E616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954216" y="2891333"/>
            <a:ext cx="73152" cy="73152"/>
          </a:xfrm>
          <a:prstGeom prst="ellipse">
            <a:avLst/>
          </a:prstGeom>
          <a:solidFill>
            <a:srgbClr val="5E6166"/>
          </a:solidFill>
          <a:ln w="6350">
            <a:solidFill>
              <a:srgbClr val="5E616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003576" y="3659690"/>
            <a:ext cx="73152" cy="73152"/>
          </a:xfrm>
          <a:prstGeom prst="ellipse">
            <a:avLst/>
          </a:prstGeom>
          <a:solidFill>
            <a:srgbClr val="5E6166"/>
          </a:solidFill>
          <a:ln w="6350">
            <a:solidFill>
              <a:srgbClr val="5E616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268521" y="3289166"/>
            <a:ext cx="73152" cy="73152"/>
          </a:xfrm>
          <a:prstGeom prst="ellipse">
            <a:avLst/>
          </a:prstGeom>
          <a:solidFill>
            <a:srgbClr val="5E6166"/>
          </a:solidFill>
          <a:ln w="6350">
            <a:solidFill>
              <a:srgbClr val="5E616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264332" y="2891333"/>
            <a:ext cx="73152" cy="73152"/>
          </a:xfrm>
          <a:prstGeom prst="ellipse">
            <a:avLst/>
          </a:prstGeom>
          <a:solidFill>
            <a:srgbClr val="5E6166"/>
          </a:solidFill>
          <a:ln w="6350">
            <a:solidFill>
              <a:srgbClr val="5E616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577903" y="3553520"/>
            <a:ext cx="73152" cy="73152"/>
          </a:xfrm>
          <a:prstGeom prst="ellipse">
            <a:avLst/>
          </a:prstGeom>
          <a:solidFill>
            <a:srgbClr val="5E6166"/>
          </a:solidFill>
          <a:ln w="6350">
            <a:solidFill>
              <a:srgbClr val="5E616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249331" y="4948865"/>
            <a:ext cx="73152" cy="73152"/>
          </a:xfrm>
          <a:prstGeom prst="ellipse">
            <a:avLst/>
          </a:prstGeom>
          <a:solidFill>
            <a:srgbClr val="5E6166"/>
          </a:solidFill>
          <a:ln w="6350">
            <a:solidFill>
              <a:srgbClr val="5E6166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1097280" y="2862072"/>
            <a:ext cx="33375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相関：R² = 0.45</a:t>
            </a:r>
            <a:endParaRPr lang="en-US" sz="1800" dirty="0"/>
          </a:p>
        </p:txBody>
      </p:sp>
      <p:sp>
        <p:nvSpPr>
          <p:cNvPr id="63" name="Text 61"/>
          <p:cNvSpPr txBox="1"/>
          <p:nvPr/>
        </p:nvSpPr>
        <p:spPr>
          <a:xfrm>
            <a:off x="2214677" y="5660136"/>
            <a:ext cx="1011326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実測値</a:t>
            </a:r>
            <a:endParaRPr lang="en-US" sz="1100" dirty="0"/>
          </a:p>
        </p:txBody>
      </p:sp>
      <p:sp>
        <p:nvSpPr>
          <p:cNvPr id="64" name="Text 62"/>
          <p:cNvSpPr txBox="1"/>
          <p:nvPr/>
        </p:nvSpPr>
        <p:spPr>
          <a:xfrm rot="16200000">
            <a:off x="566928" y="3876142"/>
            <a:ext cx="27432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予測値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685800" y="6144768"/>
            <a:ext cx="73152" cy="73152"/>
          </a:xfrm>
          <a:prstGeom prst="ellipse">
            <a:avLst/>
          </a:prstGeom>
          <a:solidFill>
            <a:srgbClr val="1F559D"/>
          </a:solidFill>
          <a:ln w="12700">
            <a:solidFill>
              <a:srgbClr val="1F559D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868680" y="5989320"/>
            <a:ext cx="379476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データ量を増やさないと精度が出ない</a:t>
            </a:r>
            <a:endParaRPr lang="en-US" sz="1250" dirty="0"/>
          </a:p>
        </p:txBody>
      </p:sp>
      <p:sp>
        <p:nvSpPr>
          <p:cNvPr id="67" name="Shape 65"/>
          <p:cNvSpPr/>
          <p:nvPr/>
        </p:nvSpPr>
        <p:spPr>
          <a:xfrm>
            <a:off x="685800" y="6601968"/>
            <a:ext cx="73152" cy="73152"/>
          </a:xfrm>
          <a:prstGeom prst="ellipse">
            <a:avLst/>
          </a:prstGeom>
          <a:solidFill>
            <a:srgbClr val="1F559D"/>
          </a:solidFill>
          <a:ln w="12700">
            <a:solidFill>
              <a:srgbClr val="1F559D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868680" y="6446520"/>
            <a:ext cx="379476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外挿（未知条件）で精度が大きく低下</a:t>
            </a:r>
            <a:endParaRPr lang="en-US" sz="1250" dirty="0"/>
          </a:p>
        </p:txBody>
      </p:sp>
      <p:sp>
        <p:nvSpPr>
          <p:cNvPr id="69" name="Shape 67"/>
          <p:cNvSpPr/>
          <p:nvPr/>
        </p:nvSpPr>
        <p:spPr>
          <a:xfrm>
            <a:off x="5376672" y="2029968"/>
            <a:ext cx="4919472" cy="5212080"/>
          </a:xfrm>
          <a:prstGeom prst="roundRect">
            <a:avLst>
              <a:gd name="adj" fmla="val 1487"/>
            </a:avLst>
          </a:prstGeom>
          <a:solidFill>
            <a:srgbClr val="FFFFFF"/>
          </a:solidFill>
          <a:ln w="13970">
            <a:solidFill>
              <a:srgbClr val="B8C9E0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5715000" y="1938528"/>
            <a:ext cx="4251960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ドメイン知識あり（当社手法）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5925312" y="5605272"/>
            <a:ext cx="3749040" cy="0"/>
          </a:xfrm>
          <a:prstGeom prst="line">
            <a:avLst/>
          </a:prstGeom>
          <a:noFill/>
          <a:ln w="13970">
            <a:solidFill>
              <a:srgbClr val="7F8791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925312" y="2816352"/>
            <a:ext cx="0" cy="2788920"/>
          </a:xfrm>
          <a:prstGeom prst="line">
            <a:avLst/>
          </a:prstGeom>
          <a:noFill/>
          <a:ln w="13970">
            <a:solidFill>
              <a:srgbClr val="7F8791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675120" y="2816352"/>
            <a:ext cx="0" cy="2788920"/>
          </a:xfrm>
          <a:prstGeom prst="line">
            <a:avLst/>
          </a:prstGeom>
          <a:noFill/>
          <a:ln w="6350">
            <a:solidFill>
              <a:srgbClr val="E1E5EA"/>
            </a:solidFill>
            <a:prstDash val="dash"/>
          </a:ln>
        </p:spPr>
      </p:sp>
      <p:sp>
        <p:nvSpPr>
          <p:cNvPr id="74" name="Shape 72"/>
          <p:cNvSpPr/>
          <p:nvPr/>
        </p:nvSpPr>
        <p:spPr>
          <a:xfrm>
            <a:off x="5925312" y="3374136"/>
            <a:ext cx="3749040" cy="0"/>
          </a:xfrm>
          <a:prstGeom prst="line">
            <a:avLst/>
          </a:prstGeom>
          <a:noFill/>
          <a:ln w="6350">
            <a:solidFill>
              <a:srgbClr val="E1E5EA"/>
            </a:solidFill>
            <a:prstDash val="dash"/>
          </a:ln>
        </p:spPr>
      </p:sp>
      <p:sp>
        <p:nvSpPr>
          <p:cNvPr id="75" name="Shape 73"/>
          <p:cNvSpPr/>
          <p:nvPr/>
        </p:nvSpPr>
        <p:spPr>
          <a:xfrm>
            <a:off x="7424928" y="2816352"/>
            <a:ext cx="0" cy="2788920"/>
          </a:xfrm>
          <a:prstGeom prst="line">
            <a:avLst/>
          </a:prstGeom>
          <a:noFill/>
          <a:ln w="6350">
            <a:solidFill>
              <a:srgbClr val="E1E5EA"/>
            </a:solidFill>
            <a:prstDash val="dash"/>
          </a:ln>
        </p:spPr>
      </p:sp>
      <p:sp>
        <p:nvSpPr>
          <p:cNvPr id="76" name="Shape 74"/>
          <p:cNvSpPr/>
          <p:nvPr/>
        </p:nvSpPr>
        <p:spPr>
          <a:xfrm>
            <a:off x="5925312" y="3931920"/>
            <a:ext cx="3749040" cy="0"/>
          </a:xfrm>
          <a:prstGeom prst="line">
            <a:avLst/>
          </a:prstGeom>
          <a:noFill/>
          <a:ln w="6350">
            <a:solidFill>
              <a:srgbClr val="E1E5EA"/>
            </a:solidFill>
            <a:prstDash val="dash"/>
          </a:ln>
        </p:spPr>
      </p:sp>
      <p:sp>
        <p:nvSpPr>
          <p:cNvPr id="77" name="Shape 75"/>
          <p:cNvSpPr/>
          <p:nvPr/>
        </p:nvSpPr>
        <p:spPr>
          <a:xfrm>
            <a:off x="8174736" y="2816352"/>
            <a:ext cx="0" cy="2788920"/>
          </a:xfrm>
          <a:prstGeom prst="line">
            <a:avLst/>
          </a:prstGeom>
          <a:noFill/>
          <a:ln w="6350">
            <a:solidFill>
              <a:srgbClr val="E1E5EA"/>
            </a:solidFill>
            <a:prstDash val="dash"/>
          </a:ln>
        </p:spPr>
      </p:sp>
      <p:sp>
        <p:nvSpPr>
          <p:cNvPr id="78" name="Shape 76"/>
          <p:cNvSpPr/>
          <p:nvPr/>
        </p:nvSpPr>
        <p:spPr>
          <a:xfrm>
            <a:off x="5925312" y="4489704"/>
            <a:ext cx="3749040" cy="0"/>
          </a:xfrm>
          <a:prstGeom prst="line">
            <a:avLst/>
          </a:prstGeom>
          <a:noFill/>
          <a:ln w="6350">
            <a:solidFill>
              <a:srgbClr val="E1E5EA"/>
            </a:solidFill>
            <a:prstDash val="dash"/>
          </a:ln>
        </p:spPr>
      </p:sp>
      <p:sp>
        <p:nvSpPr>
          <p:cNvPr id="79" name="Shape 77"/>
          <p:cNvSpPr/>
          <p:nvPr/>
        </p:nvSpPr>
        <p:spPr>
          <a:xfrm>
            <a:off x="8924544" y="2816352"/>
            <a:ext cx="0" cy="2788920"/>
          </a:xfrm>
          <a:prstGeom prst="line">
            <a:avLst/>
          </a:prstGeom>
          <a:noFill/>
          <a:ln w="6350">
            <a:solidFill>
              <a:srgbClr val="E1E5EA"/>
            </a:solidFill>
            <a:prstDash val="dash"/>
          </a:ln>
        </p:spPr>
      </p:sp>
      <p:sp>
        <p:nvSpPr>
          <p:cNvPr id="80" name="Shape 78"/>
          <p:cNvSpPr/>
          <p:nvPr/>
        </p:nvSpPr>
        <p:spPr>
          <a:xfrm>
            <a:off x="5925312" y="5047488"/>
            <a:ext cx="3749040" cy="0"/>
          </a:xfrm>
          <a:prstGeom prst="line">
            <a:avLst/>
          </a:prstGeom>
          <a:noFill/>
          <a:ln w="6350">
            <a:solidFill>
              <a:srgbClr val="E1E5EA"/>
            </a:solidFill>
            <a:prstDash val="dash"/>
          </a:ln>
        </p:spPr>
      </p:sp>
      <p:sp>
        <p:nvSpPr>
          <p:cNvPr id="81" name="Shape 79"/>
          <p:cNvSpPr/>
          <p:nvPr/>
        </p:nvSpPr>
        <p:spPr>
          <a:xfrm>
            <a:off x="6037783" y="5382158"/>
            <a:ext cx="3486607" cy="-2286914"/>
          </a:xfrm>
          <a:prstGeom prst="line">
            <a:avLst/>
          </a:prstGeom>
          <a:noFill/>
          <a:ln w="12700">
            <a:solidFill>
              <a:srgbClr val="1F559D"/>
            </a:solidFill>
            <a:prstDash val="dash"/>
            <a:headEnd type="none"/>
            <a:tailEnd type="none"/>
          </a:ln>
        </p:spPr>
      </p:sp>
      <p:sp>
        <p:nvSpPr>
          <p:cNvPr id="82" name="Shape 80"/>
          <p:cNvSpPr/>
          <p:nvPr/>
        </p:nvSpPr>
        <p:spPr>
          <a:xfrm>
            <a:off x="6929583" y="4467060"/>
            <a:ext cx="73152" cy="73152"/>
          </a:xfrm>
          <a:prstGeom prst="ellipse">
            <a:avLst/>
          </a:prstGeom>
          <a:solidFill>
            <a:srgbClr val="0B3B82"/>
          </a:solidFill>
          <a:ln w="6350">
            <a:solidFill>
              <a:srgbClr val="0B3B82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344150" y="3676631"/>
            <a:ext cx="73152" cy="73152"/>
          </a:xfrm>
          <a:prstGeom prst="ellipse">
            <a:avLst/>
          </a:prstGeom>
          <a:solidFill>
            <a:srgbClr val="0B3B82"/>
          </a:solidFill>
          <a:ln w="6350">
            <a:solidFill>
              <a:srgbClr val="0B3B82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8461353" y="3846542"/>
            <a:ext cx="73152" cy="73152"/>
          </a:xfrm>
          <a:prstGeom prst="ellipse">
            <a:avLst/>
          </a:prstGeom>
          <a:solidFill>
            <a:srgbClr val="0B3B82"/>
          </a:solidFill>
          <a:ln w="6350">
            <a:solidFill>
              <a:srgbClr val="0B3B82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897505" y="3628079"/>
            <a:ext cx="73152" cy="73152"/>
          </a:xfrm>
          <a:prstGeom prst="ellipse">
            <a:avLst/>
          </a:prstGeom>
          <a:solidFill>
            <a:srgbClr val="0B3B82"/>
          </a:solidFill>
          <a:ln w="6350">
            <a:solidFill>
              <a:srgbClr val="0B3B82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973164" y="4808618"/>
            <a:ext cx="73152" cy="73152"/>
          </a:xfrm>
          <a:prstGeom prst="ellipse">
            <a:avLst/>
          </a:prstGeom>
          <a:solidFill>
            <a:srgbClr val="0B3B82"/>
          </a:solidFill>
          <a:ln w="6350">
            <a:solidFill>
              <a:srgbClr val="0B3B82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9263610" y="3182526"/>
            <a:ext cx="73152" cy="73152"/>
          </a:xfrm>
          <a:prstGeom prst="ellipse">
            <a:avLst/>
          </a:prstGeom>
          <a:solidFill>
            <a:srgbClr val="0B3B82"/>
          </a:solidFill>
          <a:ln w="6350">
            <a:solidFill>
              <a:srgbClr val="0B3B82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9224138" y="3268153"/>
            <a:ext cx="73152" cy="73152"/>
          </a:xfrm>
          <a:prstGeom prst="ellipse">
            <a:avLst/>
          </a:prstGeom>
          <a:solidFill>
            <a:srgbClr val="0B3B82"/>
          </a:solidFill>
          <a:ln w="6350">
            <a:solidFill>
              <a:srgbClr val="0B3B82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8186283" y="4171210"/>
            <a:ext cx="73152" cy="73152"/>
          </a:xfrm>
          <a:prstGeom prst="ellipse">
            <a:avLst/>
          </a:prstGeom>
          <a:solidFill>
            <a:srgbClr val="0B3B82"/>
          </a:solidFill>
          <a:ln w="6350">
            <a:solidFill>
              <a:srgbClr val="0B3B82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605929" y="4756593"/>
            <a:ext cx="73152" cy="73152"/>
          </a:xfrm>
          <a:prstGeom prst="ellipse">
            <a:avLst/>
          </a:prstGeom>
          <a:solidFill>
            <a:srgbClr val="0B3B82"/>
          </a:solidFill>
          <a:ln w="6350">
            <a:solidFill>
              <a:srgbClr val="0B3B82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255412" y="5193808"/>
            <a:ext cx="73152" cy="73152"/>
          </a:xfrm>
          <a:prstGeom prst="ellipse">
            <a:avLst/>
          </a:prstGeom>
          <a:solidFill>
            <a:srgbClr val="0B3B82"/>
          </a:solidFill>
          <a:ln w="6350">
            <a:solidFill>
              <a:srgbClr val="0B3B82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982246" y="3834505"/>
            <a:ext cx="73152" cy="73152"/>
          </a:xfrm>
          <a:prstGeom prst="ellipse">
            <a:avLst/>
          </a:prstGeom>
          <a:solidFill>
            <a:srgbClr val="0B3B82"/>
          </a:solidFill>
          <a:ln w="6350">
            <a:solidFill>
              <a:srgbClr val="0B3B82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8875271" y="3576002"/>
            <a:ext cx="73152" cy="73152"/>
          </a:xfrm>
          <a:prstGeom prst="ellipse">
            <a:avLst/>
          </a:prstGeom>
          <a:solidFill>
            <a:srgbClr val="0B3B82"/>
          </a:solidFill>
          <a:ln w="6350">
            <a:solidFill>
              <a:srgbClr val="0B3B82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7489265" y="4580856"/>
            <a:ext cx="73152" cy="73152"/>
          </a:xfrm>
          <a:prstGeom prst="ellipse">
            <a:avLst/>
          </a:prstGeom>
          <a:solidFill>
            <a:srgbClr val="0B3B82"/>
          </a:solidFill>
          <a:ln w="6350">
            <a:solidFill>
              <a:srgbClr val="0B3B82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7314713" y="4255159"/>
            <a:ext cx="73152" cy="73152"/>
          </a:xfrm>
          <a:prstGeom prst="ellipse">
            <a:avLst/>
          </a:prstGeom>
          <a:solidFill>
            <a:srgbClr val="0B3B82"/>
          </a:solidFill>
          <a:ln w="6350">
            <a:solidFill>
              <a:srgbClr val="0B3B82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9211034" y="3528561"/>
            <a:ext cx="73152" cy="73152"/>
          </a:xfrm>
          <a:prstGeom prst="ellipse">
            <a:avLst/>
          </a:prstGeom>
          <a:solidFill>
            <a:srgbClr val="0B3B82"/>
          </a:solidFill>
          <a:ln w="6350">
            <a:solidFill>
              <a:srgbClr val="0B3B82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7379255" y="4402644"/>
            <a:ext cx="73152" cy="73152"/>
          </a:xfrm>
          <a:prstGeom prst="ellipse">
            <a:avLst/>
          </a:prstGeom>
          <a:solidFill>
            <a:srgbClr val="0B3B82"/>
          </a:solidFill>
          <a:ln w="6350">
            <a:solidFill>
              <a:srgbClr val="0B3B82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126185" y="4314503"/>
            <a:ext cx="73152" cy="73152"/>
          </a:xfrm>
          <a:prstGeom prst="ellipse">
            <a:avLst/>
          </a:prstGeom>
          <a:solidFill>
            <a:srgbClr val="0B3B82"/>
          </a:solidFill>
          <a:ln w="6350">
            <a:solidFill>
              <a:srgbClr val="0B3B82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812929" y="4207330"/>
            <a:ext cx="73152" cy="73152"/>
          </a:xfrm>
          <a:prstGeom prst="ellipse">
            <a:avLst/>
          </a:prstGeom>
          <a:solidFill>
            <a:srgbClr val="0B3B82"/>
          </a:solidFill>
          <a:ln w="6350">
            <a:solidFill>
              <a:srgbClr val="0B3B82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7598941" y="4550015"/>
            <a:ext cx="73152" cy="73152"/>
          </a:xfrm>
          <a:prstGeom prst="ellipse">
            <a:avLst/>
          </a:prstGeom>
          <a:solidFill>
            <a:srgbClr val="0B3B82"/>
          </a:solidFill>
          <a:ln w="6350">
            <a:solidFill>
              <a:srgbClr val="0B3B82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6217790" y="4964879"/>
            <a:ext cx="73152" cy="73152"/>
          </a:xfrm>
          <a:prstGeom prst="ellipse">
            <a:avLst/>
          </a:prstGeom>
          <a:solidFill>
            <a:srgbClr val="0B3B82"/>
          </a:solidFill>
          <a:ln w="6350">
            <a:solidFill>
              <a:srgbClr val="0B3B82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7656922" y="4026167"/>
            <a:ext cx="73152" cy="73152"/>
          </a:xfrm>
          <a:prstGeom prst="ellipse">
            <a:avLst/>
          </a:prstGeom>
          <a:solidFill>
            <a:srgbClr val="0B3B82"/>
          </a:solidFill>
          <a:ln w="6350">
            <a:solidFill>
              <a:srgbClr val="0B3B82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8829961" y="3253214"/>
            <a:ext cx="73152" cy="73152"/>
          </a:xfrm>
          <a:prstGeom prst="ellipse">
            <a:avLst/>
          </a:prstGeom>
          <a:solidFill>
            <a:srgbClr val="0B3B82"/>
          </a:solidFill>
          <a:ln w="6350">
            <a:solidFill>
              <a:srgbClr val="0B3B82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8080839" y="4177375"/>
            <a:ext cx="73152" cy="73152"/>
          </a:xfrm>
          <a:prstGeom prst="ellipse">
            <a:avLst/>
          </a:prstGeom>
          <a:solidFill>
            <a:srgbClr val="0B3B82"/>
          </a:solidFill>
          <a:ln w="6350">
            <a:solidFill>
              <a:srgbClr val="0B3B82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8119245" y="3701671"/>
            <a:ext cx="73152" cy="73152"/>
          </a:xfrm>
          <a:prstGeom prst="ellipse">
            <a:avLst/>
          </a:prstGeom>
          <a:solidFill>
            <a:srgbClr val="0B3B82"/>
          </a:solidFill>
          <a:ln w="6350">
            <a:solidFill>
              <a:srgbClr val="0B3B82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9189740" y="3123177"/>
            <a:ext cx="73152" cy="73152"/>
          </a:xfrm>
          <a:prstGeom prst="ellipse">
            <a:avLst/>
          </a:prstGeom>
          <a:solidFill>
            <a:srgbClr val="0B3B82"/>
          </a:solidFill>
          <a:ln w="6350">
            <a:solidFill>
              <a:srgbClr val="0B3B82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8474573" y="3956031"/>
            <a:ext cx="73152" cy="73152"/>
          </a:xfrm>
          <a:prstGeom prst="ellipse">
            <a:avLst/>
          </a:prstGeom>
          <a:solidFill>
            <a:srgbClr val="0B3B82"/>
          </a:solidFill>
          <a:ln w="6350">
            <a:solidFill>
              <a:srgbClr val="0B3B82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312497" y="4669711"/>
            <a:ext cx="73152" cy="73152"/>
          </a:xfrm>
          <a:prstGeom prst="ellipse">
            <a:avLst/>
          </a:prstGeom>
          <a:solidFill>
            <a:srgbClr val="0B3B82"/>
          </a:solidFill>
          <a:ln w="6350">
            <a:solidFill>
              <a:srgbClr val="0B3B82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6207104" y="5125459"/>
            <a:ext cx="73152" cy="73152"/>
          </a:xfrm>
          <a:prstGeom prst="ellipse">
            <a:avLst/>
          </a:prstGeom>
          <a:solidFill>
            <a:srgbClr val="0B3B82"/>
          </a:solidFill>
          <a:ln w="6350">
            <a:solidFill>
              <a:srgbClr val="0B3B82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7461887" y="4165245"/>
            <a:ext cx="73152" cy="73152"/>
          </a:xfrm>
          <a:prstGeom prst="ellipse">
            <a:avLst/>
          </a:prstGeom>
          <a:solidFill>
            <a:srgbClr val="0B3B82"/>
          </a:solidFill>
          <a:ln w="6350">
            <a:solidFill>
              <a:srgbClr val="0B3B82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9081972" y="3520122"/>
            <a:ext cx="73152" cy="73152"/>
          </a:xfrm>
          <a:prstGeom prst="ellipse">
            <a:avLst/>
          </a:prstGeom>
          <a:solidFill>
            <a:srgbClr val="0B3B82"/>
          </a:solidFill>
          <a:ln w="6350">
            <a:solidFill>
              <a:srgbClr val="0B3B82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9167595" y="3546969"/>
            <a:ext cx="73152" cy="73152"/>
          </a:xfrm>
          <a:prstGeom prst="ellipse">
            <a:avLst/>
          </a:prstGeom>
          <a:solidFill>
            <a:srgbClr val="0B3B82"/>
          </a:solidFill>
          <a:ln w="6350">
            <a:solidFill>
              <a:srgbClr val="0B3B82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6559235" y="4669724"/>
            <a:ext cx="73152" cy="73152"/>
          </a:xfrm>
          <a:prstGeom prst="ellipse">
            <a:avLst/>
          </a:prstGeom>
          <a:solidFill>
            <a:srgbClr val="0B3B82"/>
          </a:solidFill>
          <a:ln w="6350">
            <a:solidFill>
              <a:srgbClr val="0B3B82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9027303" y="3460060"/>
            <a:ext cx="73152" cy="73152"/>
          </a:xfrm>
          <a:prstGeom prst="ellipse">
            <a:avLst/>
          </a:prstGeom>
          <a:solidFill>
            <a:srgbClr val="0B3B82"/>
          </a:solidFill>
          <a:ln w="6350">
            <a:solidFill>
              <a:srgbClr val="0B3B82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7297002" y="4492496"/>
            <a:ext cx="73152" cy="73152"/>
          </a:xfrm>
          <a:prstGeom prst="ellipse">
            <a:avLst/>
          </a:prstGeom>
          <a:solidFill>
            <a:srgbClr val="0B3B82"/>
          </a:solidFill>
          <a:ln w="6350">
            <a:solidFill>
              <a:srgbClr val="0B3B82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8274164" y="3806874"/>
            <a:ext cx="73152" cy="73152"/>
          </a:xfrm>
          <a:prstGeom prst="ellipse">
            <a:avLst/>
          </a:prstGeom>
          <a:solidFill>
            <a:srgbClr val="0B3B82"/>
          </a:solidFill>
          <a:ln w="6350">
            <a:solidFill>
              <a:srgbClr val="0B3B82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7259533" y="4314228"/>
            <a:ext cx="73152" cy="73152"/>
          </a:xfrm>
          <a:prstGeom prst="ellipse">
            <a:avLst/>
          </a:prstGeom>
          <a:solidFill>
            <a:srgbClr val="0B3B82"/>
          </a:solidFill>
          <a:ln w="6350">
            <a:solidFill>
              <a:srgbClr val="0B3B82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7885460" y="4045264"/>
            <a:ext cx="73152" cy="73152"/>
          </a:xfrm>
          <a:prstGeom prst="ellipse">
            <a:avLst/>
          </a:prstGeom>
          <a:solidFill>
            <a:srgbClr val="0B3B82"/>
          </a:solidFill>
          <a:ln w="6350">
            <a:solidFill>
              <a:srgbClr val="0B3B82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6632852" y="4970564"/>
            <a:ext cx="73152" cy="73152"/>
          </a:xfrm>
          <a:prstGeom prst="ellipse">
            <a:avLst/>
          </a:prstGeom>
          <a:solidFill>
            <a:srgbClr val="0B3B82"/>
          </a:solidFill>
          <a:ln w="6350">
            <a:solidFill>
              <a:srgbClr val="0B3B82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7573566" y="4520383"/>
            <a:ext cx="73152" cy="73152"/>
          </a:xfrm>
          <a:prstGeom prst="ellipse">
            <a:avLst/>
          </a:prstGeom>
          <a:solidFill>
            <a:srgbClr val="0B3B82"/>
          </a:solidFill>
          <a:ln w="6350">
            <a:solidFill>
              <a:srgbClr val="0B3B82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6523387" y="4708876"/>
            <a:ext cx="73152" cy="73152"/>
          </a:xfrm>
          <a:prstGeom prst="ellipse">
            <a:avLst/>
          </a:prstGeom>
          <a:solidFill>
            <a:srgbClr val="0B3B82"/>
          </a:solidFill>
          <a:ln w="6350">
            <a:solidFill>
              <a:srgbClr val="0B3B82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9329355" y="3033844"/>
            <a:ext cx="73152" cy="73152"/>
          </a:xfrm>
          <a:prstGeom prst="ellipse">
            <a:avLst/>
          </a:prstGeom>
          <a:solidFill>
            <a:srgbClr val="0B3B82"/>
          </a:solidFill>
          <a:ln w="6350">
            <a:solidFill>
              <a:srgbClr val="0B3B82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6317068" y="4986987"/>
            <a:ext cx="73152" cy="73152"/>
          </a:xfrm>
          <a:prstGeom prst="ellipse">
            <a:avLst/>
          </a:prstGeom>
          <a:solidFill>
            <a:srgbClr val="0B3B82"/>
          </a:solidFill>
          <a:ln w="6350">
            <a:solidFill>
              <a:srgbClr val="0B3B82"/>
            </a:solidFill>
            <a:prstDash val="solid"/>
          </a:ln>
        </p:spPr>
      </p:sp>
      <p:sp>
        <p:nvSpPr>
          <p:cNvPr id="124" name="Text 122"/>
          <p:cNvSpPr txBox="1"/>
          <p:nvPr/>
        </p:nvSpPr>
        <p:spPr>
          <a:xfrm>
            <a:off x="6108192" y="2862072"/>
            <a:ext cx="347472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相関：R² = 0.88</a:t>
            </a:r>
            <a:endParaRPr lang="en-US" sz="1800" dirty="0"/>
          </a:p>
        </p:txBody>
      </p:sp>
      <p:sp>
        <p:nvSpPr>
          <p:cNvPr id="125" name="Text 123"/>
          <p:cNvSpPr txBox="1"/>
          <p:nvPr/>
        </p:nvSpPr>
        <p:spPr>
          <a:xfrm>
            <a:off x="7274966" y="5660136"/>
            <a:ext cx="1049731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実測値</a:t>
            </a:r>
            <a:endParaRPr lang="en-US" sz="1100" dirty="0"/>
          </a:p>
        </p:txBody>
      </p:sp>
      <p:sp>
        <p:nvSpPr>
          <p:cNvPr id="126" name="Text 124"/>
          <p:cNvSpPr txBox="1"/>
          <p:nvPr/>
        </p:nvSpPr>
        <p:spPr>
          <a:xfrm rot="16200000">
            <a:off x="5577840" y="3876142"/>
            <a:ext cx="27432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予測値</a:t>
            </a:r>
            <a:endParaRPr lang="en-US" sz="1100" dirty="0"/>
          </a:p>
        </p:txBody>
      </p:sp>
      <p:sp>
        <p:nvSpPr>
          <p:cNvPr id="127" name="Shape 125"/>
          <p:cNvSpPr/>
          <p:nvPr/>
        </p:nvSpPr>
        <p:spPr>
          <a:xfrm>
            <a:off x="5715000" y="6144768"/>
            <a:ext cx="73152" cy="73152"/>
          </a:xfrm>
          <a:prstGeom prst="ellipse">
            <a:avLst/>
          </a:prstGeom>
          <a:solidFill>
            <a:srgbClr val="1F559D"/>
          </a:solidFill>
          <a:ln w="12700">
            <a:solidFill>
              <a:srgbClr val="1F559D"/>
            </a:solidFill>
            <a:prstDash val="solid"/>
          </a:ln>
        </p:spPr>
      </p:sp>
      <p:sp>
        <p:nvSpPr>
          <p:cNvPr id="128" name="Text 126"/>
          <p:cNvSpPr txBox="1"/>
          <p:nvPr/>
        </p:nvSpPr>
        <p:spPr>
          <a:xfrm>
            <a:off x="5897880" y="5989320"/>
            <a:ext cx="393192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少ないデータでも高精度</a:t>
            </a:r>
            <a:endParaRPr lang="en-US" sz="1250" dirty="0"/>
          </a:p>
        </p:txBody>
      </p:sp>
      <p:sp>
        <p:nvSpPr>
          <p:cNvPr id="129" name="Shape 127"/>
          <p:cNvSpPr/>
          <p:nvPr/>
        </p:nvSpPr>
        <p:spPr>
          <a:xfrm>
            <a:off x="5715000" y="6601968"/>
            <a:ext cx="73152" cy="73152"/>
          </a:xfrm>
          <a:prstGeom prst="ellipse">
            <a:avLst/>
          </a:prstGeom>
          <a:solidFill>
            <a:srgbClr val="1F559D"/>
          </a:solidFill>
          <a:ln w="12700">
            <a:solidFill>
              <a:srgbClr val="1F559D"/>
            </a:solidFill>
            <a:prstDash val="solid"/>
          </a:ln>
        </p:spPr>
      </p:sp>
      <p:sp>
        <p:nvSpPr>
          <p:cNvPr id="130" name="Text 128"/>
          <p:cNvSpPr txBox="1"/>
          <p:nvPr/>
        </p:nvSpPr>
        <p:spPr>
          <a:xfrm>
            <a:off x="5897880" y="6446520"/>
            <a:ext cx="393192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外挿にも強く、再現性が高い</a:t>
            </a:r>
            <a:endParaRPr lang="en-US" sz="1250" dirty="0"/>
          </a:p>
        </p:txBody>
      </p:sp>
      <p:sp>
        <p:nvSpPr>
          <p:cNvPr id="131" name="Shape 129"/>
          <p:cNvSpPr/>
          <p:nvPr/>
        </p:nvSpPr>
        <p:spPr>
          <a:xfrm>
            <a:off x="10533888" y="2029968"/>
            <a:ext cx="2816352" cy="521208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3970">
            <a:solidFill>
              <a:srgbClr val="B8C9E0"/>
            </a:solidFill>
            <a:prstDash val="solid"/>
          </a:ln>
        </p:spPr>
      </p:sp>
      <p:sp>
        <p:nvSpPr>
          <p:cNvPr id="132" name="Text 130"/>
          <p:cNvSpPr txBox="1"/>
          <p:nvPr/>
        </p:nvSpPr>
        <p:spPr>
          <a:xfrm>
            <a:off x="10789920" y="1938528"/>
            <a:ext cx="2331720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違いを生む要素（例）</a:t>
            </a:r>
            <a:endParaRPr lang="en-US" sz="1600" dirty="0"/>
          </a:p>
        </p:txBody>
      </p:sp>
      <p:pic>
        <p:nvPicPr>
          <p:cNvPr id="133" name="Image 0" descr="/mnt/data/spdm_pptx_assets/gears_0B3B82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63072" y="2686507"/>
            <a:ext cx="530352" cy="424282"/>
          </a:xfrm>
          <a:prstGeom prst="rect">
            <a:avLst/>
          </a:prstGeom>
        </p:spPr>
      </p:pic>
      <p:sp>
        <p:nvSpPr>
          <p:cNvPr id="134" name="Text 131"/>
          <p:cNvSpPr txBox="1"/>
          <p:nvPr/>
        </p:nvSpPr>
        <p:spPr>
          <a:xfrm>
            <a:off x="11612880" y="2496312"/>
            <a:ext cx="1417320" cy="7680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装置・</a:t>
            </a:r>
            <a:endParaRPr lang="en-US" sz="1320" dirty="0"/>
          </a:p>
          <a:p>
            <a:pPr algn="l" indent="0" marL="0">
              <a:buNone/>
            </a:pPr>
            <a:r>
              <a:rPr lang="en-US" sz="132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物理の理解</a:t>
            </a:r>
            <a:endParaRPr lang="en-US" sz="1320" dirty="0"/>
          </a:p>
        </p:txBody>
      </p:sp>
      <p:pic>
        <p:nvPicPr>
          <p:cNvPr id="135" name="Image 1" descr="/mnt/data/spdm_pptx_assets/gear_1F559D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63072" y="3621024"/>
            <a:ext cx="530352" cy="530352"/>
          </a:xfrm>
          <a:prstGeom prst="rect">
            <a:avLst/>
          </a:prstGeom>
        </p:spPr>
      </p:pic>
      <p:sp>
        <p:nvSpPr>
          <p:cNvPr id="136" name="Text 132"/>
          <p:cNvSpPr txBox="1"/>
          <p:nvPr/>
        </p:nvSpPr>
        <p:spPr>
          <a:xfrm>
            <a:off x="11612880" y="3483864"/>
            <a:ext cx="1417320" cy="7680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プラズマ特有関係</a:t>
            </a:r>
            <a:endParaRPr lang="en-US" sz="1320" dirty="0"/>
          </a:p>
        </p:txBody>
      </p:sp>
      <p:pic>
        <p:nvPicPr>
          <p:cNvPr id="137" name="Image 2" descr="/mnt/data/spdm_pptx_assets/atom_0B3B82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63072" y="4608576"/>
            <a:ext cx="530352" cy="530352"/>
          </a:xfrm>
          <a:prstGeom prst="rect">
            <a:avLst/>
          </a:prstGeom>
        </p:spPr>
      </p:pic>
      <p:sp>
        <p:nvSpPr>
          <p:cNvPr id="138" name="Text 133"/>
          <p:cNvSpPr txBox="1"/>
          <p:nvPr/>
        </p:nvSpPr>
        <p:spPr>
          <a:xfrm>
            <a:off x="11612880" y="4471416"/>
            <a:ext cx="1417320" cy="7680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エネルギー・反応機構</a:t>
            </a:r>
            <a:endParaRPr lang="en-US" sz="1320" dirty="0"/>
          </a:p>
        </p:txBody>
      </p:sp>
      <p:pic>
        <p:nvPicPr>
          <p:cNvPr id="139" name="Image 3" descr="/mnt/data/spdm_pptx_assets/user_0B3B82.sv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896219" y="5596128"/>
            <a:ext cx="464058" cy="530352"/>
          </a:xfrm>
          <a:prstGeom prst="rect">
            <a:avLst/>
          </a:prstGeom>
        </p:spPr>
      </p:pic>
      <p:sp>
        <p:nvSpPr>
          <p:cNvPr id="140" name="Text 134"/>
          <p:cNvSpPr txBox="1"/>
          <p:nvPr/>
        </p:nvSpPr>
        <p:spPr>
          <a:xfrm>
            <a:off x="11612880" y="5458968"/>
            <a:ext cx="1417320" cy="7680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工程・レシピの</a:t>
            </a:r>
            <a:endParaRPr lang="en-US" sz="1320" dirty="0"/>
          </a:p>
          <a:p>
            <a:pPr algn="l" indent="0" marL="0">
              <a:buNone/>
            </a:pPr>
            <a:r>
              <a:rPr lang="en-US" sz="132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制約条件</a:t>
            </a:r>
            <a:endParaRPr lang="en-US" sz="1320" dirty="0"/>
          </a:p>
        </p:txBody>
      </p:sp>
      <p:sp>
        <p:nvSpPr>
          <p:cNvPr id="141" name="Shape 135"/>
          <p:cNvSpPr/>
          <p:nvPr/>
        </p:nvSpPr>
        <p:spPr>
          <a:xfrm>
            <a:off x="320040" y="7644384"/>
            <a:ext cx="13030200" cy="877824"/>
          </a:xfrm>
          <a:prstGeom prst="roundRect">
            <a:avLst>
              <a:gd name="adj" fmla="val 8333"/>
            </a:avLst>
          </a:prstGeom>
          <a:solidFill>
            <a:srgbClr val="F4F8FC"/>
          </a:solidFill>
          <a:ln w="13970">
            <a:solidFill>
              <a:srgbClr val="B8C9E0"/>
            </a:solidFill>
            <a:prstDash val="solid"/>
          </a:ln>
        </p:spPr>
      </p:sp>
      <p:sp>
        <p:nvSpPr>
          <p:cNvPr id="142" name="Text 136"/>
          <p:cNvSpPr txBox="1"/>
          <p:nvPr/>
        </p:nvSpPr>
        <p:spPr>
          <a:xfrm>
            <a:off x="576072" y="7699248"/>
            <a:ext cx="12518136" cy="7680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3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シミュレーション × データ × ドメイン知識 ＝ 信頼できる予測とメカニズム理解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" y="27432"/>
            <a:ext cx="13661136" cy="9089136"/>
          </a:xfrm>
          <a:prstGeom prst="rect">
            <a:avLst/>
          </a:prstGeom>
          <a:solidFill>
            <a:srgbClr val="FFFFFF"/>
          </a:solidFill>
          <a:ln w="6350">
            <a:solidFill>
              <a:srgbClr val="E4E9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219456"/>
            <a:ext cx="658368" cy="658368"/>
          </a:xfrm>
          <a:prstGeom prst="rect">
            <a:avLst/>
          </a:prstGeom>
          <a:solidFill>
            <a:srgbClr val="0B3B82"/>
          </a:solidFill>
          <a:ln w="12700">
            <a:solidFill>
              <a:srgbClr val="0B3B8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10896" y="219456"/>
            <a:ext cx="658368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82880"/>
            <a:ext cx="1211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これからの先行技術：今の基盤があるからこそ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417320"/>
            <a:ext cx="3886200" cy="6355080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 w="13970">
            <a:solidFill>
              <a:srgbClr val="B8C9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617720" y="1417320"/>
            <a:ext cx="3886200" cy="6355080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 w="13970">
            <a:solidFill>
              <a:srgbClr val="B8C9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23960" y="1417320"/>
            <a:ext cx="4480560" cy="635508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3970">
            <a:solidFill>
              <a:srgbClr val="B8C9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600200"/>
            <a:ext cx="361188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3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LLM / エージェント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786384" y="2331720"/>
            <a:ext cx="3154680" cy="749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社内データ・モデルを理解した</a:t>
            </a:r>
            <a:endParaRPr lang="en-US" sz="1540" dirty="0"/>
          </a:p>
          <a:p>
            <a:pPr algn="ctr" indent="0" marL="0">
              <a:buNone/>
            </a:pPr>
            <a:r>
              <a:rPr lang="en-US" sz="154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AIが開発を加速</a:t>
            </a:r>
            <a:endParaRPr lang="en-US" sz="1540" dirty="0"/>
          </a:p>
        </p:txBody>
      </p:sp>
      <p:sp>
        <p:nvSpPr>
          <p:cNvPr id="11" name="Shape 9"/>
          <p:cNvSpPr/>
          <p:nvPr/>
        </p:nvSpPr>
        <p:spPr>
          <a:xfrm>
            <a:off x="786384" y="3063240"/>
            <a:ext cx="2971800" cy="2148840"/>
          </a:xfrm>
          <a:prstGeom prst="roundRect">
            <a:avLst>
              <a:gd name="adj" fmla="val 3404"/>
            </a:avLst>
          </a:prstGeom>
          <a:solidFill>
            <a:srgbClr val="FBFCFE"/>
          </a:solidFill>
          <a:ln w="13970">
            <a:solidFill>
              <a:srgbClr val="D5DFEC"/>
            </a:solidFill>
            <a:prstDash val="solid"/>
          </a:ln>
        </p:spPr>
      </p:sp>
      <p:pic>
        <p:nvPicPr>
          <p:cNvPr id="12" name="Image 0" descr="/mnt/data/spdm_pptx_assets/llm_agent_u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3708" y="3191256"/>
            <a:ext cx="1997152" cy="187452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3822192" y="3730752"/>
            <a:ext cx="384048" cy="384048"/>
          </a:xfrm>
          <a:prstGeom prst="rightArrow">
            <a:avLst/>
          </a:prstGeom>
          <a:solidFill>
            <a:srgbClr val="2F6FB6"/>
          </a:solidFill>
          <a:ln w="12700">
            <a:solidFill>
              <a:srgbClr val="2F6FB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77240" y="5696712"/>
            <a:ext cx="73152" cy="73152"/>
          </a:xfrm>
          <a:prstGeom prst="ellipse">
            <a:avLst/>
          </a:prstGeom>
          <a:solidFill>
            <a:srgbClr val="1F559D"/>
          </a:solidFill>
          <a:ln w="12700">
            <a:solidFill>
              <a:srgbClr val="1F559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60120" y="5541264"/>
            <a:ext cx="306324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過去事例の検索・要因分析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777240" y="6208776"/>
            <a:ext cx="73152" cy="73152"/>
          </a:xfrm>
          <a:prstGeom prst="ellipse">
            <a:avLst/>
          </a:prstGeom>
          <a:solidFill>
            <a:srgbClr val="1F559D"/>
          </a:solidFill>
          <a:ln w="12700">
            <a:solidFill>
              <a:srgbClr val="1F559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60120" y="6053328"/>
            <a:ext cx="306324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レポート自動生成・要約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77240" y="6720840"/>
            <a:ext cx="73152" cy="73152"/>
          </a:xfrm>
          <a:prstGeom prst="ellipse">
            <a:avLst/>
          </a:prstGeom>
          <a:solidFill>
            <a:srgbClr val="1F559D"/>
          </a:solidFill>
          <a:ln w="12700">
            <a:solidFill>
              <a:srgbClr val="1F559D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60120" y="6565392"/>
            <a:ext cx="306324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実験計画の提案・壁打ち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4754880" y="1600200"/>
            <a:ext cx="361188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0B3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サロゲートモデルの高度化</a:t>
            </a:r>
            <a:endParaRPr lang="en-US" sz="1820" dirty="0"/>
          </a:p>
        </p:txBody>
      </p:sp>
      <p:sp>
        <p:nvSpPr>
          <p:cNvPr id="21" name="Text 18"/>
          <p:cNvSpPr txBox="1"/>
          <p:nvPr/>
        </p:nvSpPr>
        <p:spPr>
          <a:xfrm>
            <a:off x="5074920" y="2331720"/>
            <a:ext cx="324612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1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高速・高精度・リアルタイム予測</a:t>
            </a:r>
            <a:endParaRPr lang="en-US" sz="1510" dirty="0"/>
          </a:p>
        </p:txBody>
      </p:sp>
      <p:sp>
        <p:nvSpPr>
          <p:cNvPr id="22" name="Shape 19"/>
          <p:cNvSpPr/>
          <p:nvPr/>
        </p:nvSpPr>
        <p:spPr>
          <a:xfrm>
            <a:off x="4855464" y="2971800"/>
            <a:ext cx="749808" cy="201168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D5DFEC"/>
            </a:solidFill>
            <a:prstDash val="solid"/>
          </a:ln>
        </p:spPr>
      </p:sp>
      <p:pic>
        <p:nvPicPr>
          <p:cNvPr id="23" name="Image 1" descr="/mnt/data/spdm_pptx_assets/dynamic_heatmap_0u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184" y="3200923"/>
            <a:ext cx="658368" cy="1279115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4846320" y="4645152"/>
            <a:ext cx="768096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0B3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 μs</a:t>
            </a:r>
            <a:endParaRPr lang="en-US" sz="1120" dirty="0"/>
          </a:p>
        </p:txBody>
      </p:sp>
      <p:sp>
        <p:nvSpPr>
          <p:cNvPr id="25" name="Shape 21"/>
          <p:cNvSpPr/>
          <p:nvPr/>
        </p:nvSpPr>
        <p:spPr>
          <a:xfrm>
            <a:off x="5724144" y="2971800"/>
            <a:ext cx="749808" cy="201168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D5DFEC"/>
            </a:solidFill>
            <a:prstDash val="solid"/>
          </a:ln>
        </p:spPr>
      </p:sp>
      <p:pic>
        <p:nvPicPr>
          <p:cNvPr id="26" name="Image 2" descr="/mnt/data/spdm_pptx_assets/dynamic_heatmap_20u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9864" y="3200923"/>
            <a:ext cx="658368" cy="1279115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5715000" y="4645152"/>
            <a:ext cx="768096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0B3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 μs</a:t>
            </a:r>
            <a:endParaRPr lang="en-US" sz="1120" dirty="0"/>
          </a:p>
        </p:txBody>
      </p:sp>
      <p:sp>
        <p:nvSpPr>
          <p:cNvPr id="28" name="Shape 23"/>
          <p:cNvSpPr/>
          <p:nvPr/>
        </p:nvSpPr>
        <p:spPr>
          <a:xfrm>
            <a:off x="6592824" y="2971800"/>
            <a:ext cx="749808" cy="201168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D5DFEC"/>
            </a:solidFill>
            <a:prstDash val="solid"/>
          </a:ln>
        </p:spPr>
      </p:sp>
      <p:pic>
        <p:nvPicPr>
          <p:cNvPr id="29" name="Image 3" descr="/mnt/data/spdm_pptx_assets/dynamic_heatmap_40u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8544" y="3200923"/>
            <a:ext cx="658368" cy="1279115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6583680" y="4645152"/>
            <a:ext cx="768096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0B3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40 μs</a:t>
            </a:r>
            <a:endParaRPr lang="en-US" sz="1120" dirty="0"/>
          </a:p>
        </p:txBody>
      </p:sp>
      <p:sp>
        <p:nvSpPr>
          <p:cNvPr id="31" name="Shape 25"/>
          <p:cNvSpPr/>
          <p:nvPr/>
        </p:nvSpPr>
        <p:spPr>
          <a:xfrm>
            <a:off x="7461504" y="2971800"/>
            <a:ext cx="749808" cy="201168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D5DFEC"/>
            </a:solidFill>
            <a:prstDash val="solid"/>
          </a:ln>
        </p:spPr>
      </p:sp>
      <p:pic>
        <p:nvPicPr>
          <p:cNvPr id="32" name="Image 4" descr="/mnt/data/spdm_pptx_assets/dynamic_heatmap_60u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7224" y="3200923"/>
            <a:ext cx="658368" cy="1279115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7452360" y="4645152"/>
            <a:ext cx="768096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0B3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60 μs</a:t>
            </a:r>
            <a:endParaRPr lang="en-US" sz="1120" dirty="0"/>
          </a:p>
        </p:txBody>
      </p:sp>
      <p:sp>
        <p:nvSpPr>
          <p:cNvPr id="34" name="Shape 27"/>
          <p:cNvSpPr/>
          <p:nvPr/>
        </p:nvSpPr>
        <p:spPr>
          <a:xfrm>
            <a:off x="4919472" y="5733288"/>
            <a:ext cx="73152" cy="73152"/>
          </a:xfrm>
          <a:prstGeom prst="ellipse">
            <a:avLst/>
          </a:prstGeom>
          <a:solidFill>
            <a:srgbClr val="1F559D"/>
          </a:solidFill>
          <a:ln w="12700">
            <a:solidFill>
              <a:srgbClr val="1F559D"/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5102352" y="5577840"/>
            <a:ext cx="3182112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時間展開する現象を高速で予測（動画化）</a:t>
            </a:r>
            <a:endParaRPr lang="en-US" sz="1280" dirty="0"/>
          </a:p>
        </p:txBody>
      </p:sp>
      <p:sp>
        <p:nvSpPr>
          <p:cNvPr id="36" name="Shape 29"/>
          <p:cNvSpPr/>
          <p:nvPr/>
        </p:nvSpPr>
        <p:spPr>
          <a:xfrm>
            <a:off x="4919472" y="6263640"/>
            <a:ext cx="73152" cy="73152"/>
          </a:xfrm>
          <a:prstGeom prst="ellipse">
            <a:avLst/>
          </a:prstGeom>
          <a:solidFill>
            <a:srgbClr val="1F559D"/>
          </a:solidFill>
          <a:ln w="12700">
            <a:solidFill>
              <a:srgbClr val="1F559D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5102352" y="6108192"/>
            <a:ext cx="3182112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設計検討をリアルタイムに支援</a:t>
            </a:r>
            <a:endParaRPr lang="en-US" sz="1280" dirty="0"/>
          </a:p>
        </p:txBody>
      </p:sp>
      <p:sp>
        <p:nvSpPr>
          <p:cNvPr id="38" name="Text 31"/>
          <p:cNvSpPr txBox="1"/>
          <p:nvPr/>
        </p:nvSpPr>
        <p:spPr>
          <a:xfrm>
            <a:off x="8942832" y="1600200"/>
            <a:ext cx="420624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0B3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シミュレーション × サロゲートの連成</a:t>
            </a:r>
            <a:endParaRPr lang="en-US" sz="1750" dirty="0"/>
          </a:p>
        </p:txBody>
      </p:sp>
      <p:sp>
        <p:nvSpPr>
          <p:cNvPr id="39" name="Text 32"/>
          <p:cNvSpPr txBox="1"/>
          <p:nvPr/>
        </p:nvSpPr>
        <p:spPr>
          <a:xfrm>
            <a:off x="9326880" y="2331720"/>
            <a:ext cx="352044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チャンバー全体を仮想空間で表現</a:t>
            </a:r>
            <a:endParaRPr lang="en-US" sz="1500" dirty="0"/>
          </a:p>
        </p:txBody>
      </p:sp>
      <p:pic>
        <p:nvPicPr>
          <p:cNvPr id="40" name="Image 5" descr="/mnt/data/spdm_pptx_assets/chamber_coupl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70117" y="2788920"/>
            <a:ext cx="2942526" cy="2880360"/>
          </a:xfrm>
          <a:prstGeom prst="rect">
            <a:avLst/>
          </a:prstGeom>
        </p:spPr>
      </p:pic>
      <p:sp>
        <p:nvSpPr>
          <p:cNvPr id="41" name="Shape 33"/>
          <p:cNvSpPr/>
          <p:nvPr/>
        </p:nvSpPr>
        <p:spPr>
          <a:xfrm>
            <a:off x="9235440" y="5961888"/>
            <a:ext cx="73152" cy="73152"/>
          </a:xfrm>
          <a:prstGeom prst="ellipse">
            <a:avLst/>
          </a:prstGeom>
          <a:solidFill>
            <a:srgbClr val="1F559D"/>
          </a:solidFill>
          <a:ln w="12700">
            <a:solidFill>
              <a:srgbClr val="1F559D"/>
            </a:solidFill>
            <a:prstDash val="solid"/>
          </a:ln>
        </p:spPr>
      </p:sp>
      <p:sp>
        <p:nvSpPr>
          <p:cNvPr id="42" name="Text 34"/>
          <p:cNvSpPr txBox="1"/>
          <p:nvPr/>
        </p:nvSpPr>
        <p:spPr>
          <a:xfrm>
            <a:off x="9418320" y="5806440"/>
            <a:ext cx="338328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高精度Simとサロゲートを使い分け</a:t>
            </a:r>
            <a:endParaRPr lang="en-US" sz="1280" dirty="0"/>
          </a:p>
        </p:txBody>
      </p:sp>
      <p:sp>
        <p:nvSpPr>
          <p:cNvPr id="43" name="Shape 35"/>
          <p:cNvSpPr/>
          <p:nvPr/>
        </p:nvSpPr>
        <p:spPr>
          <a:xfrm>
            <a:off x="9235440" y="6510528"/>
            <a:ext cx="73152" cy="73152"/>
          </a:xfrm>
          <a:prstGeom prst="ellipse">
            <a:avLst/>
          </a:prstGeom>
          <a:solidFill>
            <a:srgbClr val="1F559D"/>
          </a:solidFill>
          <a:ln w="12700">
            <a:solidFill>
              <a:srgbClr val="1F559D"/>
            </a:solidFill>
            <a:prstDash val="solid"/>
          </a:ln>
        </p:spPr>
      </p:sp>
      <p:sp>
        <p:nvSpPr>
          <p:cNvPr id="44" name="Text 36"/>
          <p:cNvSpPr txBox="1"/>
          <p:nvPr/>
        </p:nvSpPr>
        <p:spPr>
          <a:xfrm>
            <a:off x="9418320" y="6355080"/>
            <a:ext cx="338328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狭い領域を効率的に・高精度に表現</a:t>
            </a:r>
            <a:endParaRPr lang="en-US" sz="1280" dirty="0"/>
          </a:p>
        </p:txBody>
      </p:sp>
      <p:sp>
        <p:nvSpPr>
          <p:cNvPr id="45" name="Shape 37"/>
          <p:cNvSpPr/>
          <p:nvPr/>
        </p:nvSpPr>
        <p:spPr>
          <a:xfrm>
            <a:off x="411480" y="7955280"/>
            <a:ext cx="12893040" cy="731520"/>
          </a:xfrm>
          <a:prstGeom prst="roundRect">
            <a:avLst>
              <a:gd name="adj" fmla="val 10000"/>
            </a:avLst>
          </a:prstGeom>
          <a:solidFill>
            <a:srgbClr val="F4F8FC"/>
          </a:solidFill>
          <a:ln w="13970">
            <a:solidFill>
              <a:srgbClr val="B8C9E0"/>
            </a:solidFill>
            <a:prstDash val="solid"/>
          </a:ln>
        </p:spPr>
      </p:sp>
      <p:sp>
        <p:nvSpPr>
          <p:cNvPr id="46" name="Text 38"/>
          <p:cNvSpPr txBox="1"/>
          <p:nvPr/>
        </p:nvSpPr>
        <p:spPr>
          <a:xfrm>
            <a:off x="667512" y="8010144"/>
            <a:ext cx="12380976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0B3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使いどころを整理した“連成プラットフォーム”で、仮想的に扱える範囲を拡大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" y="27432"/>
            <a:ext cx="13661136" cy="9089136"/>
          </a:xfrm>
          <a:prstGeom prst="rect">
            <a:avLst/>
          </a:prstGeom>
          <a:solidFill>
            <a:srgbClr val="FFFFFF"/>
          </a:solidFill>
          <a:ln w="6350">
            <a:solidFill>
              <a:srgbClr val="E4E9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219456"/>
            <a:ext cx="658368" cy="658368"/>
          </a:xfrm>
          <a:prstGeom prst="rect">
            <a:avLst/>
          </a:prstGeom>
          <a:solidFill>
            <a:srgbClr val="0B3B82"/>
          </a:solidFill>
          <a:ln w="12700">
            <a:solidFill>
              <a:srgbClr val="0B3B8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10896" y="219456"/>
            <a:ext cx="658368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82880"/>
            <a:ext cx="1211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SPDMがある時・ない時の違い（開発の進め方が変わる）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84582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3970">
            <a:solidFill>
              <a:srgbClr val="B8C9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1993392"/>
            <a:ext cx="123444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SPDMがない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（従来）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965960" y="1508760"/>
            <a:ext cx="0" cy="2212848"/>
          </a:xfrm>
          <a:prstGeom prst="line">
            <a:avLst/>
          </a:prstGeom>
          <a:noFill/>
          <a:ln w="10160">
            <a:solidFill>
              <a:srgbClr val="D8DDE3"/>
            </a:solidFill>
            <a:prstDash val="solid"/>
          </a:ln>
        </p:spPr>
      </p:sp>
      <p:pic>
        <p:nvPicPr>
          <p:cNvPr id="9" name="Image 0" descr="/mnt/data/spdm_pptx_assets/archive_0B3B82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95728" y="1773936"/>
            <a:ext cx="566928" cy="56692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2011680" y="2487168"/>
            <a:ext cx="1335024" cy="749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データ取得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（その他部署）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3383280" y="2148840"/>
            <a:ext cx="310896" cy="274320"/>
          </a:xfrm>
          <a:prstGeom prst="rightArrow">
            <a:avLst/>
          </a:prstGeom>
          <a:solidFill>
            <a:srgbClr val="C8CDD4"/>
          </a:solidFill>
          <a:ln w="12700">
            <a:solidFill>
              <a:srgbClr val="C8CDD4"/>
            </a:solidFill>
            <a:prstDash val="solid"/>
          </a:ln>
        </p:spPr>
      </p:sp>
      <p:pic>
        <p:nvPicPr>
          <p:cNvPr id="12" name="Image 1" descr="/mnt/data/spdm_pptx_assets/clipboard_0B3B82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94226" y="1773936"/>
            <a:ext cx="425196" cy="56692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639312" y="2487168"/>
            <a:ext cx="1335024" cy="749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個別解析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（手作業）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010912" y="2148840"/>
            <a:ext cx="310896" cy="274320"/>
          </a:xfrm>
          <a:prstGeom prst="rightArrow">
            <a:avLst/>
          </a:prstGeom>
          <a:solidFill>
            <a:srgbClr val="C8CDD4"/>
          </a:solidFill>
          <a:ln w="12700">
            <a:solidFill>
              <a:srgbClr val="C8CDD4"/>
            </a:solidFill>
            <a:prstDash val="solid"/>
          </a:ln>
        </p:spPr>
      </p:sp>
      <p:pic>
        <p:nvPicPr>
          <p:cNvPr id="15" name="Image 2" descr="/mnt/data/spdm_pptx_assets/excel_0B3B82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21858" y="1773936"/>
            <a:ext cx="425196" cy="56692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266944" y="2487168"/>
            <a:ext cx="1335024" cy="749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結果の整理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（Excel等）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638544" y="2148840"/>
            <a:ext cx="310896" cy="274320"/>
          </a:xfrm>
          <a:prstGeom prst="rightArrow">
            <a:avLst/>
          </a:prstGeom>
          <a:solidFill>
            <a:srgbClr val="C8CDD4"/>
          </a:solidFill>
          <a:ln w="12700">
            <a:solidFill>
              <a:srgbClr val="C8CDD4"/>
            </a:solidFill>
            <a:prstDash val="solid"/>
          </a:ln>
        </p:spPr>
      </p:sp>
      <p:pic>
        <p:nvPicPr>
          <p:cNvPr id="18" name="Image 3" descr="/mnt/data/spdm_pptx_assets/magnify_0B3B82.sv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78624" y="1773936"/>
            <a:ext cx="566928" cy="56692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894576" y="2487168"/>
            <a:ext cx="1335024" cy="749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判断・検索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（属人）</a:t>
            </a:r>
            <a:endParaRPr lang="en-US" sz="1350" dirty="0"/>
          </a:p>
        </p:txBody>
      </p:sp>
      <p:sp>
        <p:nvSpPr>
          <p:cNvPr id="20" name="Shape 14"/>
          <p:cNvSpPr/>
          <p:nvPr/>
        </p:nvSpPr>
        <p:spPr>
          <a:xfrm>
            <a:off x="8915400" y="2221992"/>
            <a:ext cx="402336" cy="320040"/>
          </a:xfrm>
          <a:prstGeom prst="rightArrow">
            <a:avLst/>
          </a:prstGeom>
          <a:solidFill>
            <a:srgbClr val="C8CDD4"/>
          </a:solidFill>
          <a:ln w="12700">
            <a:solidFill>
              <a:srgbClr val="C8CDD4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9418320" y="1280160"/>
            <a:ext cx="3886200" cy="2697480"/>
          </a:xfrm>
          <a:prstGeom prst="roundRect">
            <a:avLst>
              <a:gd name="adj" fmla="val 2712"/>
            </a:avLst>
          </a:prstGeom>
          <a:solidFill>
            <a:srgbClr val="FCEDEC"/>
          </a:solidFill>
          <a:ln w="13970">
            <a:solidFill>
              <a:srgbClr val="E7A4A0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10625328" y="1481328"/>
            <a:ext cx="141732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30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課題</a:t>
            </a:r>
            <a:endParaRPr lang="en-US" sz="1800" dirty="0"/>
          </a:p>
        </p:txBody>
      </p:sp>
      <p:sp>
        <p:nvSpPr>
          <p:cNvPr id="23" name="Shape 17"/>
          <p:cNvSpPr/>
          <p:nvPr/>
        </p:nvSpPr>
        <p:spPr>
          <a:xfrm>
            <a:off x="9784080" y="2185416"/>
            <a:ext cx="73152" cy="7315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D93025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9966960" y="2029968"/>
            <a:ext cx="297180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探す・集める・作り直すが多い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9784080" y="2670048"/>
            <a:ext cx="73152" cy="7315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D93025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9966960" y="2514600"/>
            <a:ext cx="297180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再利用できず、時間がかかる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9784080" y="3154680"/>
            <a:ext cx="73152" cy="7315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D93025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9966960" y="2999232"/>
            <a:ext cx="297180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担当者に依存し、属人化</a:t>
            </a:r>
            <a:endParaRPr lang="en-US" sz="1300" dirty="0"/>
          </a:p>
        </p:txBody>
      </p:sp>
      <p:sp>
        <p:nvSpPr>
          <p:cNvPr id="29" name="Shape 23"/>
          <p:cNvSpPr/>
          <p:nvPr/>
        </p:nvSpPr>
        <p:spPr>
          <a:xfrm>
            <a:off x="320040" y="4343400"/>
            <a:ext cx="845820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3970">
            <a:solidFill>
              <a:srgbClr val="B8C9E0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320040" y="4343400"/>
            <a:ext cx="1691640" cy="2240280"/>
          </a:xfrm>
          <a:prstGeom prst="roundRect">
            <a:avLst/>
          </a:prstGeom>
          <a:solidFill>
            <a:srgbClr val="078A58"/>
          </a:solidFill>
          <a:ln w="12700">
            <a:solidFill>
              <a:srgbClr val="078A58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420624" y="4873752"/>
            <a:ext cx="1481328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SPDMがある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（当社）</a:t>
            </a:r>
            <a:endParaRPr lang="en-US" sz="1800" dirty="0"/>
          </a:p>
        </p:txBody>
      </p:sp>
      <p:pic>
        <p:nvPicPr>
          <p:cNvPr id="32" name="Image 4" descr="/mnt/data/spdm_pptx_assets/flask_078A58.sv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486025" y="4599432"/>
            <a:ext cx="496062" cy="566928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2039112" y="5276088"/>
            <a:ext cx="1389888" cy="8046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データ・モデル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を統合管理</a:t>
            </a:r>
            <a:endParaRPr lang="en-US" sz="1350" dirty="0"/>
          </a:p>
        </p:txBody>
      </p:sp>
      <p:sp>
        <p:nvSpPr>
          <p:cNvPr id="34" name="Shape 27"/>
          <p:cNvSpPr/>
          <p:nvPr/>
        </p:nvSpPr>
        <p:spPr>
          <a:xfrm>
            <a:off x="3438144" y="4901184"/>
            <a:ext cx="310896" cy="274320"/>
          </a:xfrm>
          <a:prstGeom prst="rightArrow">
            <a:avLst/>
          </a:prstGeom>
          <a:solidFill>
            <a:srgbClr val="B7C9BE"/>
          </a:solidFill>
          <a:ln w="12700">
            <a:solidFill>
              <a:srgbClr val="B7C9BE"/>
            </a:solidFill>
            <a:prstDash val="solid"/>
          </a:ln>
        </p:spPr>
      </p:sp>
      <p:pic>
        <p:nvPicPr>
          <p:cNvPr id="35" name="Image 5" descr="/mnt/data/spdm_pptx_assets/cube_078A58.sv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096512" y="4599432"/>
            <a:ext cx="566928" cy="566928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3685032" y="5276088"/>
            <a:ext cx="1389888" cy="8046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部門間・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自動実行</a:t>
            </a:r>
            <a:endParaRPr lang="en-US" sz="1350" dirty="0"/>
          </a:p>
        </p:txBody>
      </p:sp>
      <p:sp>
        <p:nvSpPr>
          <p:cNvPr id="37" name="Shape 29"/>
          <p:cNvSpPr/>
          <p:nvPr/>
        </p:nvSpPr>
        <p:spPr>
          <a:xfrm>
            <a:off x="5084064" y="4901184"/>
            <a:ext cx="310896" cy="274320"/>
          </a:xfrm>
          <a:prstGeom prst="rightArrow">
            <a:avLst/>
          </a:prstGeom>
          <a:solidFill>
            <a:srgbClr val="B7C9BE"/>
          </a:solidFill>
          <a:ln w="12700">
            <a:solidFill>
              <a:srgbClr val="B7C9BE"/>
            </a:solidFill>
            <a:prstDash val="solid"/>
          </a:ln>
        </p:spPr>
      </p:sp>
      <p:pic>
        <p:nvPicPr>
          <p:cNvPr id="38" name="Image 6" descr="/mnt/data/spdm_pptx_assets/rocket_078A58.sv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724144" y="4599432"/>
            <a:ext cx="566928" cy="566928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5312664" y="5276088"/>
            <a:ext cx="1389888" cy="8046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解析・学習・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最適化</a:t>
            </a:r>
            <a:endParaRPr lang="en-US" sz="1350" dirty="0"/>
          </a:p>
        </p:txBody>
      </p:sp>
      <p:sp>
        <p:nvSpPr>
          <p:cNvPr id="40" name="Shape 31"/>
          <p:cNvSpPr/>
          <p:nvPr/>
        </p:nvSpPr>
        <p:spPr>
          <a:xfrm>
            <a:off x="6711696" y="4901184"/>
            <a:ext cx="310896" cy="274320"/>
          </a:xfrm>
          <a:prstGeom prst="rightArrow">
            <a:avLst/>
          </a:prstGeom>
          <a:solidFill>
            <a:srgbClr val="B7C9BE"/>
          </a:solidFill>
          <a:ln w="12700">
            <a:solidFill>
              <a:srgbClr val="B7C9BE"/>
            </a:solidFill>
            <a:prstDash val="solid"/>
          </a:ln>
        </p:spPr>
      </p:sp>
      <p:pic>
        <p:nvPicPr>
          <p:cNvPr id="41" name="Image 7" descr="/mnt/data/spdm_pptx_assets/rocket_078A58.sv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333488" y="4599432"/>
            <a:ext cx="566928" cy="566928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6922008" y="5276088"/>
            <a:ext cx="1389888" cy="8046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予測・知識の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標準化</a:t>
            </a:r>
            <a:endParaRPr lang="en-US" sz="1350" dirty="0"/>
          </a:p>
        </p:txBody>
      </p:sp>
      <p:sp>
        <p:nvSpPr>
          <p:cNvPr id="43" name="Shape 33"/>
          <p:cNvSpPr/>
          <p:nvPr/>
        </p:nvSpPr>
        <p:spPr>
          <a:xfrm>
            <a:off x="8915400" y="4965192"/>
            <a:ext cx="402336" cy="320040"/>
          </a:xfrm>
          <a:prstGeom prst="rightArrow">
            <a:avLst/>
          </a:prstGeom>
          <a:solidFill>
            <a:srgbClr val="B7C9BE"/>
          </a:solidFill>
          <a:ln w="12700">
            <a:solidFill>
              <a:srgbClr val="B7C9BE"/>
            </a:solidFill>
            <a:prstDash val="solid"/>
          </a:ln>
        </p:spPr>
      </p:sp>
      <p:sp>
        <p:nvSpPr>
          <p:cNvPr id="44" name="Shape 34"/>
          <p:cNvSpPr/>
          <p:nvPr/>
        </p:nvSpPr>
        <p:spPr>
          <a:xfrm>
            <a:off x="9418320" y="4160520"/>
            <a:ext cx="3886200" cy="2697480"/>
          </a:xfrm>
          <a:prstGeom prst="roundRect">
            <a:avLst>
              <a:gd name="adj" fmla="val 2712"/>
            </a:avLst>
          </a:prstGeom>
          <a:solidFill>
            <a:srgbClr val="ECF7F1"/>
          </a:solidFill>
          <a:ln w="13970">
            <a:solidFill>
              <a:srgbClr val="A8D4BE"/>
            </a:solidFill>
            <a:prstDash val="solid"/>
          </a:ln>
        </p:spPr>
      </p:sp>
      <p:sp>
        <p:nvSpPr>
          <p:cNvPr id="45" name="Text 35"/>
          <p:cNvSpPr txBox="1"/>
          <p:nvPr/>
        </p:nvSpPr>
        <p:spPr>
          <a:xfrm>
            <a:off x="10625328" y="4370832"/>
            <a:ext cx="141732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8A5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成果</a:t>
            </a:r>
            <a:endParaRPr lang="en-US" sz="1800" dirty="0"/>
          </a:p>
        </p:txBody>
      </p:sp>
      <p:sp>
        <p:nvSpPr>
          <p:cNvPr id="46" name="Shape 36"/>
          <p:cNvSpPr/>
          <p:nvPr/>
        </p:nvSpPr>
        <p:spPr>
          <a:xfrm>
            <a:off x="9784080" y="5074920"/>
            <a:ext cx="73152" cy="73152"/>
          </a:xfrm>
          <a:prstGeom prst="ellipse">
            <a:avLst/>
          </a:prstGeom>
          <a:solidFill>
            <a:srgbClr val="078A58"/>
          </a:solidFill>
          <a:ln w="12700">
            <a:solidFill>
              <a:srgbClr val="078A58"/>
            </a:solidFill>
            <a:prstDash val="solid"/>
          </a:ln>
        </p:spPr>
      </p:sp>
      <p:sp>
        <p:nvSpPr>
          <p:cNvPr id="47" name="Text 37"/>
          <p:cNvSpPr txBox="1"/>
          <p:nvPr/>
        </p:nvSpPr>
        <p:spPr>
          <a:xfrm>
            <a:off x="9966960" y="4919472"/>
            <a:ext cx="297180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必要な情報がすぐに見つかる</a:t>
            </a:r>
            <a:endParaRPr lang="en-US" sz="1300" dirty="0"/>
          </a:p>
        </p:txBody>
      </p:sp>
      <p:sp>
        <p:nvSpPr>
          <p:cNvPr id="48" name="Shape 38"/>
          <p:cNvSpPr/>
          <p:nvPr/>
        </p:nvSpPr>
        <p:spPr>
          <a:xfrm>
            <a:off x="9784080" y="5568696"/>
            <a:ext cx="73152" cy="73152"/>
          </a:xfrm>
          <a:prstGeom prst="ellipse">
            <a:avLst/>
          </a:prstGeom>
          <a:solidFill>
            <a:srgbClr val="078A58"/>
          </a:solidFill>
          <a:ln w="12700">
            <a:solidFill>
              <a:srgbClr val="078A58"/>
            </a:solidFill>
            <a:prstDash val="solid"/>
          </a:ln>
        </p:spPr>
      </p:sp>
      <p:sp>
        <p:nvSpPr>
          <p:cNvPr id="49" name="Text 39"/>
          <p:cNvSpPr txBox="1"/>
          <p:nvPr/>
        </p:nvSpPr>
        <p:spPr>
          <a:xfrm>
            <a:off x="9966960" y="5413248"/>
            <a:ext cx="297180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部門間で開発スピードが向上</a:t>
            </a:r>
            <a:endParaRPr lang="en-US" sz="1300" dirty="0"/>
          </a:p>
        </p:txBody>
      </p:sp>
      <p:sp>
        <p:nvSpPr>
          <p:cNvPr id="50" name="Shape 40"/>
          <p:cNvSpPr/>
          <p:nvPr/>
        </p:nvSpPr>
        <p:spPr>
          <a:xfrm>
            <a:off x="9784080" y="6062472"/>
            <a:ext cx="73152" cy="73152"/>
          </a:xfrm>
          <a:prstGeom prst="ellipse">
            <a:avLst/>
          </a:prstGeom>
          <a:solidFill>
            <a:srgbClr val="078A58"/>
          </a:solidFill>
          <a:ln w="12700">
            <a:solidFill>
              <a:srgbClr val="078A58"/>
            </a:solidFill>
            <a:prstDash val="solid"/>
          </a:ln>
        </p:spPr>
      </p:sp>
      <p:sp>
        <p:nvSpPr>
          <p:cNvPr id="51" name="Text 41"/>
          <p:cNvSpPr txBox="1"/>
          <p:nvPr/>
        </p:nvSpPr>
        <p:spPr>
          <a:xfrm>
            <a:off x="9966960" y="5907024"/>
            <a:ext cx="297180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78A5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品質・再現性が高く属人化解消</a:t>
            </a:r>
            <a:endParaRPr lang="en-US" sz="1300" dirty="0"/>
          </a:p>
        </p:txBody>
      </p:sp>
      <p:sp>
        <p:nvSpPr>
          <p:cNvPr id="52" name="Shape 42"/>
          <p:cNvSpPr/>
          <p:nvPr/>
        </p:nvSpPr>
        <p:spPr>
          <a:xfrm>
            <a:off x="320040" y="7086600"/>
            <a:ext cx="129844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3970">
            <a:solidFill>
              <a:srgbClr val="B8C9E0"/>
            </a:solidFill>
            <a:prstDash val="solid"/>
          </a:ln>
        </p:spPr>
      </p:sp>
      <p:sp>
        <p:nvSpPr>
          <p:cNvPr id="53" name="Text 43"/>
          <p:cNvSpPr txBox="1"/>
          <p:nvPr/>
        </p:nvSpPr>
        <p:spPr>
          <a:xfrm>
            <a:off x="1143000" y="7251192"/>
            <a:ext cx="1133856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3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コンセプト → 設計 → プロセス → 量産を、データとモデルで一気通貫</a:t>
            </a:r>
            <a:endParaRPr lang="en-US" sz="1900" dirty="0"/>
          </a:p>
        </p:txBody>
      </p:sp>
      <p:sp>
        <p:nvSpPr>
          <p:cNvPr id="54" name="Text 44"/>
          <p:cNvSpPr txBox="1"/>
          <p:nvPr/>
        </p:nvSpPr>
        <p:spPr>
          <a:xfrm>
            <a:off x="2606040" y="7818120"/>
            <a:ext cx="850392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78A5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これが唯一の開発基盤（SPDM）</a:t>
            </a:r>
            <a:endParaRPr lang="en-US" sz="2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" y="27432"/>
            <a:ext cx="13661136" cy="9089136"/>
          </a:xfrm>
          <a:prstGeom prst="rect">
            <a:avLst/>
          </a:prstGeom>
          <a:solidFill>
            <a:srgbClr val="FFFFFF"/>
          </a:solidFill>
          <a:ln w="6350">
            <a:solidFill>
              <a:srgbClr val="E4E9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219456"/>
            <a:ext cx="658368" cy="658368"/>
          </a:xfrm>
          <a:prstGeom prst="rect">
            <a:avLst/>
          </a:prstGeom>
          <a:solidFill>
            <a:srgbClr val="0B3B82"/>
          </a:solidFill>
          <a:ln w="12700">
            <a:solidFill>
              <a:srgbClr val="0B3B8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10896" y="219456"/>
            <a:ext cx="658368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82880"/>
            <a:ext cx="1211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今の部署から倍増して効果を創出する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28600" y="1389888"/>
            <a:ext cx="2907792" cy="4389120"/>
          </a:xfrm>
          <a:prstGeom prst="roundRect">
            <a:avLst>
              <a:gd name="adj" fmla="val 2516"/>
            </a:avLst>
          </a:prstGeom>
          <a:solidFill>
            <a:srgbClr val="FFFFFF"/>
          </a:solidFill>
          <a:ln w="13970">
            <a:solidFill>
              <a:srgbClr val="B8C9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19272" y="1389888"/>
            <a:ext cx="2907792" cy="4389120"/>
          </a:xfrm>
          <a:prstGeom prst="roundRect">
            <a:avLst>
              <a:gd name="adj" fmla="val 2516"/>
            </a:avLst>
          </a:prstGeom>
          <a:solidFill>
            <a:srgbClr val="FFFFFF"/>
          </a:solidFill>
          <a:ln w="13970">
            <a:solidFill>
              <a:srgbClr val="B8C9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28232" y="1389888"/>
            <a:ext cx="2907792" cy="4389120"/>
          </a:xfrm>
          <a:prstGeom prst="roundRect">
            <a:avLst>
              <a:gd name="adj" fmla="val 2516"/>
            </a:avLst>
          </a:prstGeom>
          <a:solidFill>
            <a:srgbClr val="FFFFFF"/>
          </a:solidFill>
          <a:ln w="13970">
            <a:solidFill>
              <a:srgbClr val="B8C9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528048" y="1389888"/>
            <a:ext cx="3931920" cy="43891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3970">
            <a:solidFill>
              <a:srgbClr val="B8C9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5760" y="1572768"/>
            <a:ext cx="2633472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3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協業・成果の広がり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1993392"/>
            <a:ext cx="2267712" cy="0"/>
          </a:xfrm>
          <a:prstGeom prst="line">
            <a:avLst/>
          </a:prstGeom>
          <a:noFill/>
          <a:ln w="12700">
            <a:solidFill>
              <a:srgbClr val="B8C9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267712"/>
            <a:ext cx="2450592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協業部署数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862072"/>
            <a:ext cx="160020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buNone/>
            </a:pPr>
            <a:r>
              <a:rPr lang="en-US" sz="3800" b="1" dirty="0">
                <a:solidFill>
                  <a:srgbClr val="0B3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</a:t>
            </a:r>
            <a:endParaRPr lang="en-US" sz="3800" dirty="0"/>
          </a:p>
        </p:txBody>
      </p:sp>
      <p:sp>
        <p:nvSpPr>
          <p:cNvPr id="14" name="Text 12"/>
          <p:cNvSpPr txBox="1"/>
          <p:nvPr/>
        </p:nvSpPr>
        <p:spPr>
          <a:xfrm>
            <a:off x="2212848" y="3182112"/>
            <a:ext cx="566928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3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部署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3794760"/>
            <a:ext cx="2176272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（継続拡大中）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161288" y="4370832"/>
            <a:ext cx="146304" cy="146304"/>
          </a:xfrm>
          <a:prstGeom prst="ellipse">
            <a:avLst/>
          </a:prstGeom>
          <a:solidFill>
            <a:srgbClr val="0B3B82"/>
          </a:solidFill>
          <a:ln w="12700">
            <a:solidFill>
              <a:srgbClr val="0B3B8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7280" y="4498848"/>
            <a:ext cx="274320" cy="320040"/>
          </a:xfrm>
          <a:prstGeom prst="arc">
            <a:avLst/>
          </a:prstGeom>
          <a:solidFill>
            <a:srgbClr val="FFFFFF">
              <a:alpha val="0"/>
            </a:srgbClr>
          </a:solidFill>
          <a:ln w="16510">
            <a:solidFill>
              <a:srgbClr val="0B3B8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18488" y="4370832"/>
            <a:ext cx="146304" cy="146304"/>
          </a:xfrm>
          <a:prstGeom prst="ellipse">
            <a:avLst/>
          </a:prstGeom>
          <a:solidFill>
            <a:srgbClr val="0B3B82"/>
          </a:solidFill>
          <a:ln w="12700">
            <a:solidFill>
              <a:srgbClr val="0B3B8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54480" y="4498848"/>
            <a:ext cx="274320" cy="320040"/>
          </a:xfrm>
          <a:prstGeom prst="arc">
            <a:avLst/>
          </a:prstGeom>
          <a:solidFill>
            <a:srgbClr val="FFFFFF">
              <a:alpha val="0"/>
            </a:srgbClr>
          </a:solidFill>
          <a:ln w="16510">
            <a:solidFill>
              <a:srgbClr val="0B3B8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75688" y="4370832"/>
            <a:ext cx="146304" cy="146304"/>
          </a:xfrm>
          <a:prstGeom prst="ellipse">
            <a:avLst/>
          </a:prstGeom>
          <a:solidFill>
            <a:srgbClr val="0B3B82"/>
          </a:solidFill>
          <a:ln w="12700">
            <a:solidFill>
              <a:srgbClr val="0B3B8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11680" y="4498848"/>
            <a:ext cx="274320" cy="320040"/>
          </a:xfrm>
          <a:prstGeom prst="arc">
            <a:avLst/>
          </a:prstGeom>
          <a:solidFill>
            <a:srgbClr val="FFFFFF">
              <a:alpha val="0"/>
            </a:srgbClr>
          </a:solidFill>
          <a:ln w="16510">
            <a:solidFill>
              <a:srgbClr val="0B3B8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456432" y="1572768"/>
            <a:ext cx="2633472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3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資産の蓄積・再利用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3657600" y="1993392"/>
            <a:ext cx="2176272" cy="0"/>
          </a:xfrm>
          <a:prstGeom prst="line">
            <a:avLst/>
          </a:prstGeom>
          <a:noFill/>
          <a:ln w="12700">
            <a:solidFill>
              <a:srgbClr val="B8C9E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566160" y="2267712"/>
            <a:ext cx="2359152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再利用資産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3520440" y="2862072"/>
            <a:ext cx="242316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B3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1,000+</a:t>
            </a:r>
            <a:endParaRPr lang="en-US" sz="34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0" y="3236976"/>
            <a:ext cx="310896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3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件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3611880" y="3721608"/>
            <a:ext cx="224028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（モデル・コンテンツ・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パイプライン等）</a:t>
            </a:r>
            <a:endParaRPr lang="en-US" sz="1200" dirty="0"/>
          </a:p>
        </p:txBody>
      </p:sp>
      <p:pic>
        <p:nvPicPr>
          <p:cNvPr id="28" name="Image 0" descr="/mnt/data/spdm_pptx_assets/database_0B3B82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17695" y="4462272"/>
            <a:ext cx="656082" cy="749808"/>
          </a:xfrm>
          <a:prstGeom prst="rect">
            <a:avLst/>
          </a:prstGeom>
        </p:spPr>
      </p:pic>
      <p:sp>
        <p:nvSpPr>
          <p:cNvPr id="29" name="Text 26"/>
          <p:cNvSpPr txBox="1"/>
          <p:nvPr/>
        </p:nvSpPr>
        <p:spPr>
          <a:xfrm>
            <a:off x="6565392" y="1572768"/>
            <a:ext cx="2633472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3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プラットフォーム利用</a:t>
            </a:r>
            <a:endParaRPr lang="en-US" sz="1700" dirty="0"/>
          </a:p>
        </p:txBody>
      </p:sp>
      <p:sp>
        <p:nvSpPr>
          <p:cNvPr id="30" name="Shape 27"/>
          <p:cNvSpPr/>
          <p:nvPr/>
        </p:nvSpPr>
        <p:spPr>
          <a:xfrm>
            <a:off x="6766560" y="1993392"/>
            <a:ext cx="2176272" cy="0"/>
          </a:xfrm>
          <a:prstGeom prst="line">
            <a:avLst/>
          </a:prstGeom>
          <a:noFill/>
          <a:ln w="12700">
            <a:solidFill>
              <a:srgbClr val="B8C9E0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656832" y="2267712"/>
            <a:ext cx="2359152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実行タスク数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6565392" y="2834640"/>
            <a:ext cx="256032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3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11,525,331</a:t>
            </a:r>
            <a:endParaRPr lang="en-US" sz="2800" dirty="0"/>
          </a:p>
        </p:txBody>
      </p:sp>
      <p:sp>
        <p:nvSpPr>
          <p:cNvPr id="33" name="Text 30"/>
          <p:cNvSpPr txBox="1"/>
          <p:nvPr/>
        </p:nvSpPr>
        <p:spPr>
          <a:xfrm>
            <a:off x="8988552" y="3182112"/>
            <a:ext cx="2743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3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件</a:t>
            </a:r>
            <a:endParaRPr lang="en-US" sz="1200" dirty="0"/>
          </a:p>
        </p:txBody>
      </p:sp>
      <p:pic>
        <p:nvPicPr>
          <p:cNvPr id="34" name="Image 1" descr="/mnt/data/spdm_pptx_assets/play_0B3B82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25512" y="4187952"/>
            <a:ext cx="822960" cy="822960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9710928" y="1572768"/>
            <a:ext cx="356616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3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データ・レポート・ユーザー</a:t>
            </a:r>
            <a:endParaRPr lang="en-US" sz="1700" dirty="0"/>
          </a:p>
        </p:txBody>
      </p:sp>
      <p:sp>
        <p:nvSpPr>
          <p:cNvPr id="36" name="Shape 32"/>
          <p:cNvSpPr/>
          <p:nvPr/>
        </p:nvSpPr>
        <p:spPr>
          <a:xfrm>
            <a:off x="9893808" y="1993392"/>
            <a:ext cx="3200400" cy="0"/>
          </a:xfrm>
          <a:prstGeom prst="line">
            <a:avLst/>
          </a:prstGeom>
          <a:noFill/>
          <a:ln w="12700">
            <a:solidFill>
              <a:srgbClr val="B8C9E0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9802368" y="2450592"/>
            <a:ext cx="160020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 データセット数</a:t>
            </a:r>
            <a:endParaRPr lang="en-US" sz="1320" dirty="0"/>
          </a:p>
        </p:txBody>
      </p:sp>
      <p:sp>
        <p:nvSpPr>
          <p:cNvPr id="38" name="Text 34"/>
          <p:cNvSpPr txBox="1"/>
          <p:nvPr/>
        </p:nvSpPr>
        <p:spPr>
          <a:xfrm>
            <a:off x="11567160" y="2331720"/>
            <a:ext cx="1298448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buNone/>
            </a:pPr>
            <a:r>
              <a:rPr lang="en-US" sz="2300" b="1" dirty="0">
                <a:solidFill>
                  <a:srgbClr val="0B3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365,618</a:t>
            </a:r>
            <a:endParaRPr lang="en-US" sz="2300" dirty="0"/>
          </a:p>
        </p:txBody>
      </p:sp>
      <p:sp>
        <p:nvSpPr>
          <p:cNvPr id="39" name="Text 35"/>
          <p:cNvSpPr txBox="1"/>
          <p:nvPr/>
        </p:nvSpPr>
        <p:spPr>
          <a:xfrm>
            <a:off x="12938760" y="2468880"/>
            <a:ext cx="256032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件</a:t>
            </a:r>
            <a:endParaRPr lang="en-US" sz="1150" dirty="0"/>
          </a:p>
        </p:txBody>
      </p:sp>
      <p:sp>
        <p:nvSpPr>
          <p:cNvPr id="40" name="Text 36"/>
          <p:cNvSpPr txBox="1"/>
          <p:nvPr/>
        </p:nvSpPr>
        <p:spPr>
          <a:xfrm>
            <a:off x="9802368" y="3264408"/>
            <a:ext cx="160020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 レポート数</a:t>
            </a:r>
            <a:endParaRPr lang="en-US" sz="1320" dirty="0"/>
          </a:p>
        </p:txBody>
      </p:sp>
      <p:sp>
        <p:nvSpPr>
          <p:cNvPr id="41" name="Text 37"/>
          <p:cNvSpPr txBox="1"/>
          <p:nvPr/>
        </p:nvSpPr>
        <p:spPr>
          <a:xfrm>
            <a:off x="11905488" y="3127248"/>
            <a:ext cx="96012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buNone/>
            </a:pPr>
            <a:r>
              <a:rPr lang="en-US" sz="2300" b="1" dirty="0">
                <a:solidFill>
                  <a:srgbClr val="0B3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362</a:t>
            </a:r>
            <a:endParaRPr lang="en-US" sz="2300" dirty="0"/>
          </a:p>
        </p:txBody>
      </p:sp>
      <p:sp>
        <p:nvSpPr>
          <p:cNvPr id="42" name="Text 38"/>
          <p:cNvSpPr txBox="1"/>
          <p:nvPr/>
        </p:nvSpPr>
        <p:spPr>
          <a:xfrm>
            <a:off x="12938760" y="3264408"/>
            <a:ext cx="256032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件</a:t>
            </a:r>
            <a:endParaRPr lang="en-US" sz="1150" dirty="0"/>
          </a:p>
        </p:txBody>
      </p:sp>
      <p:sp>
        <p:nvSpPr>
          <p:cNvPr id="43" name="Text 39"/>
          <p:cNvSpPr txBox="1"/>
          <p:nvPr/>
        </p:nvSpPr>
        <p:spPr>
          <a:xfrm>
            <a:off x="9802368" y="4078224"/>
            <a:ext cx="160020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 ユーザー数</a:t>
            </a:r>
            <a:endParaRPr lang="en-US" sz="1320" dirty="0"/>
          </a:p>
        </p:txBody>
      </p:sp>
      <p:sp>
        <p:nvSpPr>
          <p:cNvPr id="44" name="Text 40"/>
          <p:cNvSpPr txBox="1"/>
          <p:nvPr/>
        </p:nvSpPr>
        <p:spPr>
          <a:xfrm>
            <a:off x="11905488" y="3941064"/>
            <a:ext cx="96012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buNone/>
            </a:pPr>
            <a:r>
              <a:rPr lang="en-US" sz="2300" b="1" dirty="0">
                <a:solidFill>
                  <a:srgbClr val="0B3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454</a:t>
            </a:r>
            <a:endParaRPr lang="en-US" sz="2300" dirty="0"/>
          </a:p>
        </p:txBody>
      </p:sp>
      <p:sp>
        <p:nvSpPr>
          <p:cNvPr id="45" name="Text 41"/>
          <p:cNvSpPr txBox="1"/>
          <p:nvPr/>
        </p:nvSpPr>
        <p:spPr>
          <a:xfrm>
            <a:off x="12938760" y="4078224"/>
            <a:ext cx="256032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名</a:t>
            </a:r>
            <a:endParaRPr lang="en-US" sz="1150" dirty="0"/>
          </a:p>
        </p:txBody>
      </p:sp>
      <p:pic>
        <p:nvPicPr>
          <p:cNvPr id="46" name="Image 2" descr="/mnt/data/spdm_pptx_assets/user_0B3B82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330559" y="4727448"/>
            <a:ext cx="656082" cy="749808"/>
          </a:xfrm>
          <a:prstGeom prst="rect">
            <a:avLst/>
          </a:prstGeom>
        </p:spPr>
      </p:pic>
      <p:sp>
        <p:nvSpPr>
          <p:cNvPr id="47" name="Shape 42"/>
          <p:cNvSpPr/>
          <p:nvPr/>
        </p:nvSpPr>
        <p:spPr>
          <a:xfrm>
            <a:off x="228600" y="6172200"/>
            <a:ext cx="13231368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3970">
            <a:solidFill>
              <a:srgbClr val="B8C9E0"/>
            </a:solidFill>
            <a:prstDash val="solid"/>
          </a:ln>
        </p:spPr>
      </p:sp>
      <p:sp>
        <p:nvSpPr>
          <p:cNvPr id="48" name="Text 43"/>
          <p:cNvSpPr txBox="1"/>
          <p:nvPr/>
        </p:nvSpPr>
        <p:spPr>
          <a:xfrm>
            <a:off x="5257800" y="6016752"/>
            <a:ext cx="320040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3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顧客への提供価値</a:t>
            </a:r>
            <a:endParaRPr lang="en-US" sz="1700" dirty="0"/>
          </a:p>
        </p:txBody>
      </p:sp>
      <p:sp>
        <p:nvSpPr>
          <p:cNvPr id="49" name="Text 44"/>
          <p:cNvSpPr txBox="1"/>
          <p:nvPr/>
        </p:nvSpPr>
        <p:spPr>
          <a:xfrm>
            <a:off x="1234440" y="6675120"/>
            <a:ext cx="11247120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社内で鍛えたモデル・データ・メカニズムを、予測と根拠とともにお客様へ。</a:t>
            </a:r>
            <a:endParaRPr lang="en-US" sz="1600" dirty="0"/>
          </a:p>
        </p:txBody>
      </p:sp>
      <p:sp>
        <p:nvSpPr>
          <p:cNvPr id="50" name="Text 45"/>
          <p:cNvSpPr txBox="1"/>
          <p:nvPr/>
        </p:nvSpPr>
        <p:spPr>
          <a:xfrm>
            <a:off x="1188720" y="7251192"/>
            <a:ext cx="1133856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B3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開発を加速し、妥当性の高い提案で、競合優位性を確保する</a:t>
            </a:r>
            <a:endParaRPr lang="en-US" sz="2300" dirty="0"/>
          </a:p>
        </p:txBody>
      </p:sp>
      <p:sp>
        <p:nvSpPr>
          <p:cNvPr id="51" name="Text 46"/>
          <p:cNvSpPr txBox="1"/>
          <p:nvPr/>
        </p:nvSpPr>
        <p:spPr>
          <a:xfrm>
            <a:off x="868680" y="7973568"/>
            <a:ext cx="11978640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8A5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そのために、今こそ開発基盤（SPDM）を全社の競争力の中核へ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SPDM 装置開発基盤 — 社長説明資料</dc:title>
  <dc:subject>SPDM executive presentation reconstructed from reference image</dc:subject>
  <dc:creator>OpenAI</dc:creator>
  <cp:lastModifiedBy>OpenAI</cp:lastModifiedBy>
  <cp:revision>1</cp:revision>
  <dcterms:created xsi:type="dcterms:W3CDTF">2026-07-13T21:33:40Z</dcterms:created>
  <dcterms:modified xsi:type="dcterms:W3CDTF">2026-07-13T21:33:40Z</dcterms:modified>
</cp:coreProperties>
</file>